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MiSans" charset="-122" pitchFamily="34"/>
      <p:regular r:id="rId54"/>
    </p:embeddedFont>
    <p:embeddedFont>
      <p:font typeface="思源宋体" charset="-122" pitchFamily="34"/>
      <p:regular r:id="rId5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font" Target="fonts/font1.fntdata"/><Relationship Id="rId5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pic>
        <p:nvPicPr>
          <p:cNvPr id="2" name="Image 0" descr="https://images.stockcake.com/public/e/f/3/ef308318-1f64-472a-b4a2-4610f7d18966/geometric-corporate-pattern-stockcake.jpg">    </p:cNvPr>
          <p:cNvPicPr>
            <a:picLocks noChangeAspect="1"/>
          </p:cNvPicPr>
          <p:nvPr/>
        </p:nvPicPr>
        <p:blipFill>
          <a:blip r:embed="rId1">
            <a:alphaModFix amt="2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E3A5F">
                  <a:alpha val="90000"/>
                </a:srgbClr>
              </a:gs>
              <a:gs pos="50000">
                <a:srgbClr val="1E3A5F">
                  <a:alpha val="80000"/>
                </a:srgbClr>
              </a:gs>
              <a:gs pos="100000">
                <a:srgbClr val="1E3A5F">
                  <a:alpha val="70000"/>
                </a:srgbClr>
              </a:gs>
            </a:gsLst>
            <a:lin ang="2700000" scaled="1"/>
          </a:gradFill>
          <a:ln/>
        </p:spPr>
      </p:sp>
      <p:sp>
        <p:nvSpPr>
          <p:cNvPr id="4" name="Shape 1"/>
          <p:cNvSpPr/>
          <p:nvPr/>
        </p:nvSpPr>
        <p:spPr>
          <a:xfrm>
            <a:off x="381000" y="938213"/>
            <a:ext cx="3038475" cy="381000"/>
          </a:xfrm>
          <a:custGeom>
            <a:avLst/>
            <a:gdLst/>
            <a:ahLst/>
            <a:cxnLst/>
            <a:rect l="l" t="t" r="r" b="b"/>
            <a:pathLst>
              <a:path w="3038475" h="381000">
                <a:moveTo>
                  <a:pt x="0" y="0"/>
                </a:moveTo>
                <a:lnTo>
                  <a:pt x="3038475" y="0"/>
                </a:lnTo>
                <a:lnTo>
                  <a:pt x="3038475" y="381000"/>
                </a:lnTo>
                <a:lnTo>
                  <a:pt x="0" y="381000"/>
                </a:lnTo>
                <a:lnTo>
                  <a:pt x="0" y="0"/>
                </a:lnTo>
                <a:close/>
              </a:path>
            </a:pathLst>
          </a:custGeom>
          <a:solidFill>
            <a:srgbClr val="C49A2C"/>
          </a:solidFill>
          <a:ln/>
        </p:spPr>
      </p:sp>
      <p:sp>
        <p:nvSpPr>
          <p:cNvPr id="5" name="Text 2"/>
          <p:cNvSpPr/>
          <p:nvPr/>
        </p:nvSpPr>
        <p:spPr>
          <a:xfrm>
            <a:off x="381000" y="938213"/>
            <a:ext cx="3114675" cy="381000"/>
          </a:xfrm>
          <a:prstGeom prst="rect">
            <a:avLst/>
          </a:prstGeom>
          <a:noFill/>
          <a:ln/>
        </p:spPr>
        <p:txBody>
          <a:bodyPr wrap="square" lIns="190500" tIns="76200" rIns="190500" bIns="76200" rtlCol="0" anchor="ctr"/>
          <a:lstStyle/>
          <a:p>
            <a:pPr>
              <a:lnSpc>
                <a:spcPct val="130000"/>
              </a:lnSpc>
            </a:pPr>
            <a:r>
              <a:rPr lang="en-US" sz="1200" b="1" spc="120" kern="0" dirty="0">
                <a:solidFill>
                  <a:srgbClr val="F8F9FA"/>
                </a:solidFill>
                <a:latin typeface="MiSans" pitchFamily="34" charset="0"/>
                <a:ea typeface="MiSans" pitchFamily="34" charset="-122"/>
                <a:cs typeface="MiSans" pitchFamily="34" charset="-120"/>
              </a:rPr>
              <a:t>INDUCTION MODULE — DAY 4</a:t>
            </a:r>
            <a:endParaRPr lang="en-US" sz="1600" dirty="0"/>
          </a:p>
        </p:txBody>
      </p:sp>
      <p:sp>
        <p:nvSpPr>
          <p:cNvPr id="6" name="Text 3"/>
          <p:cNvSpPr/>
          <p:nvPr/>
        </p:nvSpPr>
        <p:spPr>
          <a:xfrm>
            <a:off x="381000" y="1547813"/>
            <a:ext cx="11715750" cy="2143125"/>
          </a:xfrm>
          <a:prstGeom prst="rect">
            <a:avLst/>
          </a:prstGeom>
          <a:noFill/>
          <a:ln/>
        </p:spPr>
        <p:txBody>
          <a:bodyPr wrap="square" lIns="0" tIns="0" rIns="0" bIns="0" rtlCol="0" anchor="ctr"/>
          <a:lstStyle/>
          <a:p>
            <a:pPr>
              <a:lnSpc>
                <a:spcPct val="100000"/>
              </a:lnSpc>
            </a:pPr>
            <a:r>
              <a:rPr lang="en-US" sz="4500" b="1" dirty="0">
                <a:solidFill>
                  <a:srgbClr val="F8F9FA"/>
                </a:solidFill>
                <a:latin typeface="MiSans" pitchFamily="34" charset="0"/>
                <a:ea typeface="MiSans" pitchFamily="34" charset="-122"/>
                <a:cs typeface="MiSans" pitchFamily="34" charset="-120"/>
              </a:rPr>
              <a:t>Meridian Progress Index:</a:t>
            </a:r>
            <a:endParaRPr lang="en-US" sz="1600" dirty="0"/>
          </a:p>
          <a:p>
            <a:pPr>
              <a:lnSpc>
                <a:spcPct val="100000"/>
              </a:lnSpc>
            </a:pPr>
            <a:r>
              <a:rPr lang="en-US" sz="4500" b="1" dirty="0">
                <a:solidFill>
                  <a:srgbClr val="C49A2C"/>
                </a:solidFill>
                <a:latin typeface="MiSans" pitchFamily="34" charset="0"/>
                <a:ea typeface="MiSans" pitchFamily="34" charset="-122"/>
                <a:cs typeface="MiSans" pitchFamily="34" charset="-120"/>
              </a:rPr>
              <a:t>Theoretical Foundations</a:t>
            </a:r>
            <a:endParaRPr lang="en-US" sz="1600" dirty="0"/>
          </a:p>
          <a:p>
            <a:pPr>
              <a:lnSpc>
                <a:spcPct val="100000"/>
              </a:lnSpc>
            </a:pPr>
            <a:r>
              <a:rPr lang="en-US" sz="4500" b="1" dirty="0">
                <a:solidFill>
                  <a:srgbClr val="F8F9FA"/>
                </a:solidFill>
                <a:latin typeface="MiSans" pitchFamily="34" charset="0"/>
                <a:ea typeface="MiSans" pitchFamily="34" charset="-122"/>
                <a:cs typeface="MiSans" pitchFamily="34" charset="-120"/>
              </a:rPr>
              <a:t>and Implementation Framework</a:t>
            </a:r>
            <a:endParaRPr lang="en-US" sz="1600" dirty="0"/>
          </a:p>
        </p:txBody>
      </p:sp>
      <p:sp>
        <p:nvSpPr>
          <p:cNvPr id="7" name="Shape 4"/>
          <p:cNvSpPr/>
          <p:nvPr/>
        </p:nvSpPr>
        <p:spPr>
          <a:xfrm>
            <a:off x="381000" y="3995738"/>
            <a:ext cx="1219200" cy="57150"/>
          </a:xfrm>
          <a:custGeom>
            <a:avLst/>
            <a:gdLst/>
            <a:ahLst/>
            <a:cxnLst/>
            <a:rect l="l" t="t" r="r" b="b"/>
            <a:pathLst>
              <a:path w="1219200" h="57150">
                <a:moveTo>
                  <a:pt x="0" y="0"/>
                </a:moveTo>
                <a:lnTo>
                  <a:pt x="1219200" y="0"/>
                </a:lnTo>
                <a:lnTo>
                  <a:pt x="1219200" y="57150"/>
                </a:lnTo>
                <a:lnTo>
                  <a:pt x="0" y="57150"/>
                </a:lnTo>
                <a:lnTo>
                  <a:pt x="0" y="0"/>
                </a:lnTo>
                <a:close/>
              </a:path>
            </a:pathLst>
          </a:custGeom>
          <a:solidFill>
            <a:srgbClr val="C49A2C"/>
          </a:solidFill>
          <a:ln/>
        </p:spPr>
      </p:sp>
      <p:sp>
        <p:nvSpPr>
          <p:cNvPr id="8" name="Text 5"/>
          <p:cNvSpPr/>
          <p:nvPr/>
        </p:nvSpPr>
        <p:spPr>
          <a:xfrm>
            <a:off x="381000" y="4357688"/>
            <a:ext cx="11525250"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MiSans" pitchFamily="34" charset="0"/>
                <a:ea typeface="MiSans" pitchFamily="34" charset="-122"/>
                <a:cs typeface="MiSans" pitchFamily="34" charset="-120"/>
              </a:rPr>
              <a:t>Paul Axel Hart, PhD</a:t>
            </a:r>
            <a:endParaRPr lang="en-US" sz="1600" dirty="0"/>
          </a:p>
        </p:txBody>
      </p:sp>
      <p:sp>
        <p:nvSpPr>
          <p:cNvPr id="9" name="Text 6"/>
          <p:cNvSpPr/>
          <p:nvPr/>
        </p:nvSpPr>
        <p:spPr>
          <a:xfrm>
            <a:off x="381000" y="4738688"/>
            <a:ext cx="11525250" cy="266700"/>
          </a:xfrm>
          <a:prstGeom prst="rect">
            <a:avLst/>
          </a:prstGeom>
          <a:noFill/>
          <a:ln/>
        </p:spPr>
        <p:txBody>
          <a:bodyPr wrap="square" lIns="0" tIns="0" rIns="0" bIns="0" rtlCol="0" anchor="ctr"/>
          <a:lstStyle/>
          <a:p>
            <a:pPr>
              <a:lnSpc>
                <a:spcPct val="120000"/>
              </a:lnSpc>
            </a:pPr>
            <a:r>
              <a:rPr lang="en-US" sz="1500" dirty="0">
                <a:solidFill>
                  <a:srgbClr val="F8F9FA"/>
                </a:solidFill>
                <a:latin typeface="MiSans" pitchFamily="34" charset="0"/>
                <a:ea typeface="MiSans" pitchFamily="34" charset="-122"/>
                <a:cs typeface="MiSans" pitchFamily="34" charset="-120"/>
              </a:rPr>
              <a:t>Head of Training &amp; Development</a:t>
            </a:r>
            <a:endParaRPr lang="en-US" sz="1600" dirty="0"/>
          </a:p>
        </p:txBody>
      </p:sp>
      <p:sp>
        <p:nvSpPr>
          <p:cNvPr id="10" name="Text 7"/>
          <p:cNvSpPr/>
          <p:nvPr/>
        </p:nvSpPr>
        <p:spPr>
          <a:xfrm>
            <a:off x="381000" y="5119688"/>
            <a:ext cx="11525250" cy="266700"/>
          </a:xfrm>
          <a:prstGeom prst="rect">
            <a:avLst/>
          </a:prstGeom>
          <a:noFill/>
          <a:ln/>
        </p:spPr>
        <p:txBody>
          <a:bodyPr wrap="square" lIns="0" tIns="0" rIns="0" bIns="0" rtlCol="0" anchor="ctr"/>
          <a:lstStyle/>
          <a:p>
            <a:pPr>
              <a:lnSpc>
                <a:spcPct val="120000"/>
              </a:lnSpc>
            </a:pPr>
            <a:r>
              <a:rPr lang="en-US" sz="1500" b="1" dirty="0">
                <a:solidFill>
                  <a:srgbClr val="C49A2C"/>
                </a:solidFill>
                <a:latin typeface="MiSans" pitchFamily="34" charset="0"/>
                <a:ea typeface="MiSans" pitchFamily="34" charset="-122"/>
                <a:cs typeface="MiSans" pitchFamily="34" charset="-120"/>
              </a:rPr>
              <a:t>Meridian Education Group</a:t>
            </a:r>
            <a:endParaRPr lang="en-US" sz="1600" dirty="0"/>
          </a:p>
        </p:txBody>
      </p:sp>
      <p:sp>
        <p:nvSpPr>
          <p:cNvPr id="11" name="Text 8"/>
          <p:cNvSpPr/>
          <p:nvPr/>
        </p:nvSpPr>
        <p:spPr>
          <a:xfrm>
            <a:off x="381000" y="5981700"/>
            <a:ext cx="933450" cy="228600"/>
          </a:xfrm>
          <a:prstGeom prst="rect">
            <a:avLst/>
          </a:prstGeom>
          <a:noFill/>
          <a:ln/>
        </p:spPr>
        <p:txBody>
          <a:bodyPr wrap="square" lIns="0" tIns="0" rIns="0" bIns="0" rtlCol="0" anchor="ctr"/>
          <a:lstStyle/>
          <a:p>
            <a:pPr>
              <a:lnSpc>
                <a:spcPct val="130000"/>
              </a:lnSpc>
            </a:pPr>
            <a:r>
              <a:rPr lang="en-US" sz="1200" dirty="0">
                <a:solidFill>
                  <a:srgbClr val="F8F9FA">
                    <a:alpha val="70000"/>
                  </a:srgbClr>
                </a:solidFill>
                <a:latin typeface="MiSans" pitchFamily="34" charset="0"/>
                <a:ea typeface="MiSans" pitchFamily="34" charset="-122"/>
                <a:cs typeface="MiSans" pitchFamily="34" charset="-120"/>
              </a:rPr>
              <a:t>2019 Edition</a:t>
            </a:r>
            <a:endParaRPr lang="en-US" sz="1600" dirty="0"/>
          </a:p>
        </p:txBody>
      </p:sp>
      <p:sp>
        <p:nvSpPr>
          <p:cNvPr id="12" name="Text 9"/>
          <p:cNvSpPr/>
          <p:nvPr/>
        </p:nvSpPr>
        <p:spPr>
          <a:xfrm>
            <a:off x="381000" y="6248400"/>
            <a:ext cx="933450" cy="228600"/>
          </a:xfrm>
          <a:prstGeom prst="rect">
            <a:avLst/>
          </a:prstGeom>
          <a:noFill/>
          <a:ln/>
        </p:spPr>
        <p:txBody>
          <a:bodyPr wrap="square" lIns="0" tIns="0" rIns="0" bIns="0" rtlCol="0" anchor="ctr"/>
          <a:lstStyle/>
          <a:p>
            <a:pPr>
              <a:lnSpc>
                <a:spcPct val="130000"/>
              </a:lnSpc>
            </a:pPr>
            <a:r>
              <a:rPr lang="en-US" sz="1200" dirty="0">
                <a:solidFill>
                  <a:srgbClr val="F8F9FA">
                    <a:alpha val="70000"/>
                  </a:srgbClr>
                </a:solidFill>
                <a:latin typeface="MiSans" pitchFamily="34" charset="0"/>
                <a:ea typeface="MiSans" pitchFamily="34" charset="-122"/>
                <a:cs typeface="MiSans" pitchFamily="34" charset="-120"/>
              </a:rPr>
              <a:t>v3 FINAL</a:t>
            </a:r>
            <a:endParaRPr lang="en-US" sz="1600" dirty="0"/>
          </a:p>
        </p:txBody>
      </p:sp>
      <p:sp>
        <p:nvSpPr>
          <p:cNvPr id="13" name="Text 10"/>
          <p:cNvSpPr/>
          <p:nvPr/>
        </p:nvSpPr>
        <p:spPr>
          <a:xfrm>
            <a:off x="7780496" y="5943600"/>
            <a:ext cx="4029075" cy="228600"/>
          </a:xfrm>
          <a:prstGeom prst="rect">
            <a:avLst/>
          </a:prstGeom>
          <a:noFill/>
          <a:ln/>
        </p:spPr>
        <p:txBody>
          <a:bodyPr wrap="square" lIns="0" tIns="0" rIns="0" bIns="0" rtlCol="0" anchor="ctr"/>
          <a:lstStyle/>
          <a:p>
            <a:pPr algn="r">
              <a:lnSpc>
                <a:spcPct val="130000"/>
              </a:lnSpc>
            </a:pPr>
            <a:r>
              <a:rPr lang="en-US" sz="1200" dirty="0">
                <a:solidFill>
                  <a:srgbClr val="F8F9FA">
                    <a:alpha val="50000"/>
                  </a:srgbClr>
                </a:solidFill>
                <a:latin typeface="MiSans" pitchFamily="34" charset="0"/>
                <a:ea typeface="MiSans" pitchFamily="34" charset="-122"/>
                <a:cs typeface="MiSans" pitchFamily="34" charset="-120"/>
              </a:rPr>
              <a:t>Transforming Outcomes Through Evidence-Led Practice</a:t>
            </a:r>
            <a:endParaRPr lang="en-US" sz="1600" dirty="0"/>
          </a:p>
        </p:txBody>
      </p:sp>
      <p:sp>
        <p:nvSpPr>
          <p:cNvPr id="14" name="Text 11"/>
          <p:cNvSpPr/>
          <p:nvPr/>
        </p:nvSpPr>
        <p:spPr>
          <a:xfrm>
            <a:off x="7780496" y="6248400"/>
            <a:ext cx="4029075" cy="228600"/>
          </a:xfrm>
          <a:prstGeom prst="rect">
            <a:avLst/>
          </a:prstGeom>
          <a:noFill/>
          <a:ln/>
        </p:spPr>
        <p:txBody>
          <a:bodyPr wrap="square" lIns="0" tIns="0" rIns="0" bIns="0" rtlCol="0" anchor="ctr"/>
          <a:lstStyle/>
          <a:p>
            <a:pPr algn="r">
              <a:lnSpc>
                <a:spcPct val="130000"/>
              </a:lnSpc>
            </a:pPr>
            <a:r>
              <a:rPr lang="en-US" sz="1200" dirty="0">
                <a:solidFill>
                  <a:srgbClr val="F8F9FA">
                    <a:alpha val="30000"/>
                  </a:srgbClr>
                </a:solidFill>
                <a:latin typeface="MiSans" pitchFamily="34" charset="0"/>
                <a:ea typeface="MiSans" pitchFamily="34" charset="-122"/>
                <a:cs typeface="MiSans" pitchFamily="34" charset="-120"/>
              </a:rPr>
              <a:t>— Meridian Education Group</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19100"/>
            <a:ext cx="3248025"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MiSans" pitchFamily="34" charset="0"/>
                <a:ea typeface="MiSans" pitchFamily="34" charset="-122"/>
                <a:cs typeface="MiSans" pitchFamily="34" charset="-120"/>
              </a:rPr>
              <a:t>Session Objectives</a:t>
            </a:r>
            <a:endParaRPr lang="en-US" sz="1600" dirty="0"/>
          </a:p>
        </p:txBody>
      </p:sp>
      <p:sp>
        <p:nvSpPr>
          <p:cNvPr id="4" name="Text 2"/>
          <p:cNvSpPr/>
          <p:nvPr/>
        </p:nvSpPr>
        <p:spPr>
          <a:xfrm>
            <a:off x="571500" y="914400"/>
            <a:ext cx="11325225" cy="266700"/>
          </a:xfrm>
          <a:prstGeom prst="rect">
            <a:avLst/>
          </a:prstGeom>
          <a:noFill/>
          <a:ln/>
        </p:spPr>
        <p:txBody>
          <a:bodyPr wrap="square" lIns="0" tIns="0" rIns="0" bIns="0" rtlCol="0" anchor="ctr"/>
          <a:lstStyle/>
          <a:p>
            <a:pPr>
              <a:lnSpc>
                <a:spcPct val="130000"/>
              </a:lnSpc>
            </a:pPr>
            <a:r>
              <a:rPr lang="en-US" sz="1350" dirty="0">
                <a:solidFill>
                  <a:srgbClr val="6C757D"/>
                </a:solidFill>
                <a:latin typeface="MiSans" pitchFamily="34" charset="0"/>
                <a:ea typeface="MiSans" pitchFamily="34" charset="-122"/>
                <a:cs typeface="MiSans" pitchFamily="34" charset="-120"/>
              </a:rPr>
              <a:t>By the conclusion of this module, participants will be able to:</a:t>
            </a:r>
            <a:endParaRPr lang="en-US" sz="1600" dirty="0"/>
          </a:p>
        </p:txBody>
      </p:sp>
      <p:sp>
        <p:nvSpPr>
          <p:cNvPr id="5" name="Shape 3"/>
          <p:cNvSpPr/>
          <p:nvPr/>
        </p:nvSpPr>
        <p:spPr>
          <a:xfrm>
            <a:off x="381000" y="13335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6" name="Text 4"/>
          <p:cNvSpPr/>
          <p:nvPr/>
        </p:nvSpPr>
        <p:spPr>
          <a:xfrm>
            <a:off x="333375" y="13335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1</a:t>
            </a:r>
            <a:endParaRPr lang="en-US" sz="1600" dirty="0"/>
          </a:p>
        </p:txBody>
      </p:sp>
      <p:sp>
        <p:nvSpPr>
          <p:cNvPr id="7" name="Shape 5"/>
          <p:cNvSpPr/>
          <p:nvPr/>
        </p:nvSpPr>
        <p:spPr>
          <a:xfrm>
            <a:off x="933450" y="1333500"/>
            <a:ext cx="10877550" cy="723900"/>
          </a:xfrm>
          <a:custGeom>
            <a:avLst/>
            <a:gdLst/>
            <a:ahLst/>
            <a:cxnLst/>
            <a:rect l="l" t="t" r="r" b="b"/>
            <a:pathLst>
              <a:path w="10877550" h="723900">
                <a:moveTo>
                  <a:pt x="0" y="0"/>
                </a:moveTo>
                <a:lnTo>
                  <a:pt x="10877550" y="0"/>
                </a:lnTo>
                <a:lnTo>
                  <a:pt x="10877550" y="723900"/>
                </a:lnTo>
                <a:lnTo>
                  <a:pt x="0" y="723900"/>
                </a:lnTo>
                <a:lnTo>
                  <a:pt x="0" y="0"/>
                </a:lnTo>
                <a:close/>
              </a:path>
            </a:pathLst>
          </a:custGeom>
          <a:solidFill>
            <a:srgbClr val="FFFFFF"/>
          </a:solidFill>
          <a:ln/>
        </p:spPr>
      </p:sp>
      <p:sp>
        <p:nvSpPr>
          <p:cNvPr id="8" name="Shape 6"/>
          <p:cNvSpPr/>
          <p:nvPr/>
        </p:nvSpPr>
        <p:spPr>
          <a:xfrm>
            <a:off x="933450" y="133350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1E3A5F"/>
          </a:solidFill>
          <a:ln/>
        </p:spPr>
      </p:sp>
      <p:sp>
        <p:nvSpPr>
          <p:cNvPr id="9" name="Text 7"/>
          <p:cNvSpPr/>
          <p:nvPr/>
        </p:nvSpPr>
        <p:spPr>
          <a:xfrm>
            <a:off x="1066800" y="1447800"/>
            <a:ext cx="107061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Articulate the </a:t>
            </a:r>
            <a:pPr>
              <a:lnSpc>
                <a:spcPct val="140000"/>
              </a:lnSpc>
            </a:pPr>
            <a:r>
              <a:rPr lang="en-US" sz="1200" b="1" dirty="0">
                <a:solidFill>
                  <a:srgbClr val="2D3436"/>
                </a:solidFill>
                <a:latin typeface="MiSans" pitchFamily="34" charset="0"/>
                <a:ea typeface="MiSans" pitchFamily="34" charset="-122"/>
                <a:cs typeface="MiSans" pitchFamily="34" charset="-120"/>
              </a:rPr>
              <a:t>epistemological foundations</a:t>
            </a:r>
            <a:pPr>
              <a:lnSpc>
                <a:spcPct val="140000"/>
              </a:lnSpc>
            </a:pPr>
            <a:r>
              <a:rPr lang="en-US" sz="1200" dirty="0">
                <a:solidFill>
                  <a:srgbClr val="2D3436"/>
                </a:solidFill>
                <a:latin typeface="MiSans" pitchFamily="34" charset="0"/>
                <a:ea typeface="MiSans" pitchFamily="34" charset="-122"/>
                <a:cs typeface="MiSans" pitchFamily="34" charset="-120"/>
              </a:rPr>
              <a:t> of educational measurement as they pertain to the MPI framework, including the theoretical lineage from Vygotsky through Hattie</a:t>
            </a:r>
            <a:endParaRPr lang="en-US" sz="1600" dirty="0"/>
          </a:p>
        </p:txBody>
      </p:sp>
      <p:sp>
        <p:nvSpPr>
          <p:cNvPr id="10" name="Shape 8"/>
          <p:cNvSpPr/>
          <p:nvPr/>
        </p:nvSpPr>
        <p:spPr>
          <a:xfrm>
            <a:off x="381000" y="21336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11" name="Text 9"/>
          <p:cNvSpPr/>
          <p:nvPr/>
        </p:nvSpPr>
        <p:spPr>
          <a:xfrm>
            <a:off x="333375" y="21336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2</a:t>
            </a:r>
            <a:endParaRPr lang="en-US" sz="1600" dirty="0"/>
          </a:p>
        </p:txBody>
      </p:sp>
      <p:sp>
        <p:nvSpPr>
          <p:cNvPr id="12" name="Shape 10"/>
          <p:cNvSpPr/>
          <p:nvPr/>
        </p:nvSpPr>
        <p:spPr>
          <a:xfrm>
            <a:off x="933450" y="2133600"/>
            <a:ext cx="10877550" cy="723900"/>
          </a:xfrm>
          <a:custGeom>
            <a:avLst/>
            <a:gdLst/>
            <a:ahLst/>
            <a:cxnLst/>
            <a:rect l="l" t="t" r="r" b="b"/>
            <a:pathLst>
              <a:path w="10877550" h="723900">
                <a:moveTo>
                  <a:pt x="0" y="0"/>
                </a:moveTo>
                <a:lnTo>
                  <a:pt x="10877550" y="0"/>
                </a:lnTo>
                <a:lnTo>
                  <a:pt x="10877550" y="723900"/>
                </a:lnTo>
                <a:lnTo>
                  <a:pt x="0" y="723900"/>
                </a:lnTo>
                <a:lnTo>
                  <a:pt x="0" y="0"/>
                </a:lnTo>
                <a:close/>
              </a:path>
            </a:pathLst>
          </a:custGeom>
          <a:solidFill>
            <a:srgbClr val="FFFFFF"/>
          </a:solidFill>
          <a:ln/>
        </p:spPr>
      </p:sp>
      <p:sp>
        <p:nvSpPr>
          <p:cNvPr id="13" name="Shape 11"/>
          <p:cNvSpPr/>
          <p:nvPr/>
        </p:nvSpPr>
        <p:spPr>
          <a:xfrm>
            <a:off x="933450" y="213360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1E3A5F"/>
          </a:solidFill>
          <a:ln/>
        </p:spPr>
      </p:sp>
      <p:sp>
        <p:nvSpPr>
          <p:cNvPr id="14" name="Text 12"/>
          <p:cNvSpPr/>
          <p:nvPr/>
        </p:nvSpPr>
        <p:spPr>
          <a:xfrm>
            <a:off x="1066800" y="2247900"/>
            <a:ext cx="107061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Situate the MPI's </a:t>
            </a:r>
            <a:pPr>
              <a:lnSpc>
                <a:spcPct val="140000"/>
              </a:lnSpc>
            </a:pPr>
            <a:r>
              <a:rPr lang="en-US" sz="1200" b="1" dirty="0">
                <a:solidFill>
                  <a:srgbClr val="2D3436"/>
                </a:solidFill>
                <a:latin typeface="MiSans" pitchFamily="34" charset="0"/>
                <a:ea typeface="MiSans" pitchFamily="34" charset="-122"/>
                <a:cs typeface="MiSans" pitchFamily="34" charset="-120"/>
              </a:rPr>
              <a:t>three-strand structure</a:t>
            </a:r>
            <a:pPr>
              <a:lnSpc>
                <a:spcPct val="140000"/>
              </a:lnSpc>
            </a:pPr>
            <a:r>
              <a:rPr lang="en-US" sz="1200" dirty="0">
                <a:solidFill>
                  <a:srgbClr val="2D3436"/>
                </a:solidFill>
                <a:latin typeface="MiSans" pitchFamily="34" charset="0"/>
                <a:ea typeface="MiSans" pitchFamily="34" charset="-122"/>
                <a:cs typeface="MiSans" pitchFamily="34" charset="-120"/>
              </a:rPr>
              <a:t> within the broader landscape of visible learning and formative assessment research, recognising the interdependence of the strands</a:t>
            </a:r>
            <a:endParaRPr lang="en-US" sz="1600" dirty="0"/>
          </a:p>
        </p:txBody>
      </p:sp>
      <p:sp>
        <p:nvSpPr>
          <p:cNvPr id="15" name="Shape 13"/>
          <p:cNvSpPr/>
          <p:nvPr/>
        </p:nvSpPr>
        <p:spPr>
          <a:xfrm>
            <a:off x="381000" y="29337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C49A2C"/>
          </a:solidFill>
          <a:ln/>
        </p:spPr>
      </p:sp>
      <p:sp>
        <p:nvSpPr>
          <p:cNvPr id="16" name="Text 14"/>
          <p:cNvSpPr/>
          <p:nvPr/>
        </p:nvSpPr>
        <p:spPr>
          <a:xfrm>
            <a:off x="333375" y="29337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3</a:t>
            </a:r>
            <a:endParaRPr lang="en-US" sz="1600" dirty="0"/>
          </a:p>
        </p:txBody>
      </p:sp>
      <p:sp>
        <p:nvSpPr>
          <p:cNvPr id="17" name="Shape 15"/>
          <p:cNvSpPr/>
          <p:nvPr/>
        </p:nvSpPr>
        <p:spPr>
          <a:xfrm>
            <a:off x="933450" y="2933700"/>
            <a:ext cx="10877550" cy="723900"/>
          </a:xfrm>
          <a:custGeom>
            <a:avLst/>
            <a:gdLst/>
            <a:ahLst/>
            <a:cxnLst/>
            <a:rect l="l" t="t" r="r" b="b"/>
            <a:pathLst>
              <a:path w="10877550" h="723900">
                <a:moveTo>
                  <a:pt x="0" y="0"/>
                </a:moveTo>
                <a:lnTo>
                  <a:pt x="10877550" y="0"/>
                </a:lnTo>
                <a:lnTo>
                  <a:pt x="10877550" y="723900"/>
                </a:lnTo>
                <a:lnTo>
                  <a:pt x="0" y="723900"/>
                </a:lnTo>
                <a:lnTo>
                  <a:pt x="0" y="0"/>
                </a:lnTo>
                <a:close/>
              </a:path>
            </a:pathLst>
          </a:custGeom>
          <a:solidFill>
            <a:srgbClr val="FFFFFF"/>
          </a:solidFill>
          <a:ln/>
        </p:spPr>
      </p:sp>
      <p:sp>
        <p:nvSpPr>
          <p:cNvPr id="18" name="Shape 16"/>
          <p:cNvSpPr/>
          <p:nvPr/>
        </p:nvSpPr>
        <p:spPr>
          <a:xfrm>
            <a:off x="933450" y="293370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C49A2C"/>
          </a:solidFill>
          <a:ln/>
        </p:spPr>
      </p:sp>
      <p:sp>
        <p:nvSpPr>
          <p:cNvPr id="19" name="Text 17"/>
          <p:cNvSpPr/>
          <p:nvPr/>
        </p:nvSpPr>
        <p:spPr>
          <a:xfrm>
            <a:off x="1066800" y="3048000"/>
            <a:ext cx="10706100" cy="495300"/>
          </a:xfrm>
          <a:prstGeom prst="rect">
            <a:avLst/>
          </a:prstGeom>
          <a:noFill/>
          <a:ln/>
        </p:spPr>
        <p:txBody>
          <a:bodyPr wrap="square" lIns="0" tIns="0" rIns="0" bIns="0" rtlCol="0" anchor="ctr"/>
          <a:lstStyle/>
          <a:p>
            <a:pPr>
              <a:lnSpc>
                <a:spcPct val="140000"/>
              </a:lnSpc>
            </a:pPr>
            <a:r>
              <a:rPr lang="en-US" sz="1200" b="1" dirty="0">
                <a:solidFill>
                  <a:srgbClr val="2D3436"/>
                </a:solidFill>
                <a:latin typeface="MiSans" pitchFamily="34" charset="0"/>
                <a:ea typeface="MiSans" pitchFamily="34" charset="-122"/>
                <a:cs typeface="MiSans" pitchFamily="34" charset="-120"/>
              </a:rPr>
              <a:t>Distinguish between progress and attainment</a:t>
            </a:r>
            <a:pPr>
              <a:lnSpc>
                <a:spcPct val="140000"/>
              </a:lnSpc>
            </a:pPr>
            <a:r>
              <a:rPr lang="en-US" sz="1200" dirty="0">
                <a:solidFill>
                  <a:srgbClr val="2D3436"/>
                </a:solidFill>
                <a:latin typeface="MiSans" pitchFamily="34" charset="0"/>
                <a:ea typeface="MiSans" pitchFamily="34" charset="-122"/>
                <a:cs typeface="MiSans" pitchFamily="34" charset="-120"/>
              </a:rPr>
              <a:t> as outcome measures, and understand why this distinction is methodologically consequential for all MPI-related analysis</a:t>
            </a:r>
            <a:endParaRPr lang="en-US" sz="1600" dirty="0"/>
          </a:p>
        </p:txBody>
      </p:sp>
      <p:sp>
        <p:nvSpPr>
          <p:cNvPr id="20" name="Shape 18"/>
          <p:cNvSpPr/>
          <p:nvPr/>
        </p:nvSpPr>
        <p:spPr>
          <a:xfrm>
            <a:off x="381000" y="37338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21" name="Text 19"/>
          <p:cNvSpPr/>
          <p:nvPr/>
        </p:nvSpPr>
        <p:spPr>
          <a:xfrm>
            <a:off x="333375" y="37338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4</a:t>
            </a:r>
            <a:endParaRPr lang="en-US" sz="1600" dirty="0"/>
          </a:p>
        </p:txBody>
      </p:sp>
      <p:sp>
        <p:nvSpPr>
          <p:cNvPr id="22" name="Shape 20"/>
          <p:cNvSpPr/>
          <p:nvPr/>
        </p:nvSpPr>
        <p:spPr>
          <a:xfrm>
            <a:off x="933450" y="3733800"/>
            <a:ext cx="10877550" cy="723900"/>
          </a:xfrm>
          <a:custGeom>
            <a:avLst/>
            <a:gdLst/>
            <a:ahLst/>
            <a:cxnLst/>
            <a:rect l="l" t="t" r="r" b="b"/>
            <a:pathLst>
              <a:path w="10877550" h="723900">
                <a:moveTo>
                  <a:pt x="0" y="0"/>
                </a:moveTo>
                <a:lnTo>
                  <a:pt x="10877550" y="0"/>
                </a:lnTo>
                <a:lnTo>
                  <a:pt x="10877550" y="723900"/>
                </a:lnTo>
                <a:lnTo>
                  <a:pt x="0" y="723900"/>
                </a:lnTo>
                <a:lnTo>
                  <a:pt x="0" y="0"/>
                </a:lnTo>
                <a:close/>
              </a:path>
            </a:pathLst>
          </a:custGeom>
          <a:solidFill>
            <a:srgbClr val="FFFFFF"/>
          </a:solidFill>
          <a:ln/>
        </p:spPr>
      </p:sp>
      <p:sp>
        <p:nvSpPr>
          <p:cNvPr id="23" name="Shape 21"/>
          <p:cNvSpPr/>
          <p:nvPr/>
        </p:nvSpPr>
        <p:spPr>
          <a:xfrm>
            <a:off x="933450" y="373380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1E3A5F"/>
          </a:solidFill>
          <a:ln/>
        </p:spPr>
      </p:sp>
      <p:sp>
        <p:nvSpPr>
          <p:cNvPr id="24" name="Text 22"/>
          <p:cNvSpPr/>
          <p:nvPr/>
        </p:nvSpPr>
        <p:spPr>
          <a:xfrm>
            <a:off x="1066800" y="3848100"/>
            <a:ext cx="107061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Evaluate the </a:t>
            </a:r>
            <a:pPr>
              <a:lnSpc>
                <a:spcPct val="140000"/>
              </a:lnSpc>
            </a:pPr>
            <a:r>
              <a:rPr lang="en-US" sz="1200" b="1" dirty="0">
                <a:solidFill>
                  <a:srgbClr val="2D3436"/>
                </a:solidFill>
                <a:latin typeface="MiSans" pitchFamily="34" charset="0"/>
                <a:ea typeface="MiSans" pitchFamily="34" charset="-122"/>
                <a:cs typeface="MiSans" pitchFamily="34" charset="-120"/>
              </a:rPr>
              <a:t>evidentiary basis</a:t>
            </a:r>
            <a:pPr>
              <a:lnSpc>
                <a:spcPct val="140000"/>
              </a:lnSpc>
            </a:pPr>
            <a:r>
              <a:rPr lang="en-US" sz="1200" dirty="0">
                <a:solidFill>
                  <a:srgbClr val="2D3436"/>
                </a:solidFill>
                <a:latin typeface="MiSans" pitchFamily="34" charset="0"/>
                <a:ea typeface="MiSans" pitchFamily="34" charset="-122"/>
                <a:cs typeface="MiSans" pitchFamily="34" charset="-120"/>
              </a:rPr>
              <a:t> for programme impact claims at a level appropriate for client-facing communication, including accurate citation of the 0.61 effect size</a:t>
            </a:r>
            <a:endParaRPr lang="en-US" sz="1600" dirty="0"/>
          </a:p>
        </p:txBody>
      </p:sp>
      <p:sp>
        <p:nvSpPr>
          <p:cNvPr id="25" name="Shape 23"/>
          <p:cNvSpPr/>
          <p:nvPr/>
        </p:nvSpPr>
        <p:spPr>
          <a:xfrm>
            <a:off x="381000" y="45339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26" name="Text 24"/>
          <p:cNvSpPr/>
          <p:nvPr/>
        </p:nvSpPr>
        <p:spPr>
          <a:xfrm>
            <a:off x="333375" y="45339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5</a:t>
            </a:r>
            <a:endParaRPr lang="en-US" sz="1600" dirty="0"/>
          </a:p>
        </p:txBody>
      </p:sp>
      <p:sp>
        <p:nvSpPr>
          <p:cNvPr id="27" name="Shape 25"/>
          <p:cNvSpPr/>
          <p:nvPr/>
        </p:nvSpPr>
        <p:spPr>
          <a:xfrm>
            <a:off x="933450" y="4533900"/>
            <a:ext cx="10877550" cy="476250"/>
          </a:xfrm>
          <a:custGeom>
            <a:avLst/>
            <a:gdLst/>
            <a:ahLst/>
            <a:cxnLst/>
            <a:rect l="l" t="t" r="r" b="b"/>
            <a:pathLst>
              <a:path w="10877550" h="476250">
                <a:moveTo>
                  <a:pt x="0" y="0"/>
                </a:moveTo>
                <a:lnTo>
                  <a:pt x="10877550" y="0"/>
                </a:lnTo>
                <a:lnTo>
                  <a:pt x="10877550" y="476250"/>
                </a:lnTo>
                <a:lnTo>
                  <a:pt x="0" y="476250"/>
                </a:lnTo>
                <a:lnTo>
                  <a:pt x="0" y="0"/>
                </a:lnTo>
                <a:close/>
              </a:path>
            </a:pathLst>
          </a:custGeom>
          <a:solidFill>
            <a:srgbClr val="FFFFFF"/>
          </a:solidFill>
          <a:ln/>
        </p:spPr>
      </p:sp>
      <p:sp>
        <p:nvSpPr>
          <p:cNvPr id="28" name="Shape 26"/>
          <p:cNvSpPr/>
          <p:nvPr/>
        </p:nvSpPr>
        <p:spPr>
          <a:xfrm>
            <a:off x="933450" y="4533900"/>
            <a:ext cx="38100" cy="476250"/>
          </a:xfrm>
          <a:custGeom>
            <a:avLst/>
            <a:gdLst/>
            <a:ahLst/>
            <a:cxnLst/>
            <a:rect l="l" t="t" r="r" b="b"/>
            <a:pathLst>
              <a:path w="38100" h="476250">
                <a:moveTo>
                  <a:pt x="0" y="0"/>
                </a:moveTo>
                <a:lnTo>
                  <a:pt x="38100" y="0"/>
                </a:lnTo>
                <a:lnTo>
                  <a:pt x="38100" y="476250"/>
                </a:lnTo>
                <a:lnTo>
                  <a:pt x="0" y="476250"/>
                </a:lnTo>
                <a:lnTo>
                  <a:pt x="0" y="0"/>
                </a:lnTo>
                <a:close/>
              </a:path>
            </a:pathLst>
          </a:custGeom>
          <a:solidFill>
            <a:srgbClr val="1E3A5F"/>
          </a:solidFill>
          <a:ln/>
        </p:spPr>
      </p:sp>
      <p:sp>
        <p:nvSpPr>
          <p:cNvPr id="29" name="Text 27"/>
          <p:cNvSpPr/>
          <p:nvPr/>
        </p:nvSpPr>
        <p:spPr>
          <a:xfrm>
            <a:off x="1066800" y="4648200"/>
            <a:ext cx="10706100" cy="2476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Recognise the </a:t>
            </a:r>
            <a:pPr>
              <a:lnSpc>
                <a:spcPct val="140000"/>
              </a:lnSpc>
            </a:pPr>
            <a:r>
              <a:rPr lang="en-US" sz="1200" b="1" dirty="0">
                <a:solidFill>
                  <a:srgbClr val="2D3436"/>
                </a:solidFill>
                <a:latin typeface="MiSans" pitchFamily="34" charset="0"/>
                <a:ea typeface="MiSans" pitchFamily="34" charset="-122"/>
                <a:cs typeface="MiSans" pitchFamily="34" charset="-120"/>
              </a:rPr>
              <a:t>limits of aggregate data</a:t>
            </a:r>
            <a:pPr>
              <a:lnSpc>
                <a:spcPct val="140000"/>
              </a:lnSpc>
            </a:pPr>
            <a:r>
              <a:rPr lang="en-US" sz="1200" dirty="0">
                <a:solidFill>
                  <a:srgbClr val="2D3436"/>
                </a:solidFill>
                <a:latin typeface="MiSans" pitchFamily="34" charset="0"/>
                <a:ea typeface="MiSans" pitchFamily="34" charset="-122"/>
                <a:cs typeface="MiSans" pitchFamily="34" charset="-120"/>
              </a:rPr>
              <a:t> in programme evaluation and the conditions under which school-level variation becomes interpretable</a:t>
            </a:r>
            <a:endParaRPr lang="en-US" sz="1600" dirty="0"/>
          </a:p>
        </p:txBody>
      </p:sp>
      <p:sp>
        <p:nvSpPr>
          <p:cNvPr id="30" name="Shape 28"/>
          <p:cNvSpPr/>
          <p:nvPr/>
        </p:nvSpPr>
        <p:spPr>
          <a:xfrm>
            <a:off x="400050" y="6019800"/>
            <a:ext cx="11410950" cy="457200"/>
          </a:xfrm>
          <a:custGeom>
            <a:avLst/>
            <a:gdLst/>
            <a:ahLst/>
            <a:cxnLst/>
            <a:rect l="l" t="t" r="r" b="b"/>
            <a:pathLst>
              <a:path w="11410950" h="457200">
                <a:moveTo>
                  <a:pt x="0" y="0"/>
                </a:moveTo>
                <a:lnTo>
                  <a:pt x="11410950" y="0"/>
                </a:lnTo>
                <a:lnTo>
                  <a:pt x="11410950" y="457200"/>
                </a:lnTo>
                <a:lnTo>
                  <a:pt x="0" y="457200"/>
                </a:lnTo>
                <a:lnTo>
                  <a:pt x="0" y="0"/>
                </a:lnTo>
                <a:close/>
              </a:path>
            </a:pathLst>
          </a:custGeom>
          <a:solidFill>
            <a:srgbClr val="C49A2C">
              <a:alpha val="10196"/>
            </a:srgbClr>
          </a:solidFill>
          <a:ln/>
        </p:spPr>
      </p:sp>
      <p:sp>
        <p:nvSpPr>
          <p:cNvPr id="31" name="Shape 29"/>
          <p:cNvSpPr/>
          <p:nvPr/>
        </p:nvSpPr>
        <p:spPr>
          <a:xfrm>
            <a:off x="400050" y="60198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C49A2C"/>
          </a:solidFill>
          <a:ln/>
        </p:spPr>
      </p:sp>
      <p:sp>
        <p:nvSpPr>
          <p:cNvPr id="32" name="Text 30"/>
          <p:cNvSpPr/>
          <p:nvPr/>
        </p:nvSpPr>
        <p:spPr>
          <a:xfrm>
            <a:off x="533400" y="6134100"/>
            <a:ext cx="11239500" cy="228600"/>
          </a:xfrm>
          <a:prstGeom prst="rect">
            <a:avLst/>
          </a:prstGeom>
          <a:noFill/>
          <a:ln/>
        </p:spPr>
        <p:txBody>
          <a:bodyPr wrap="square" lIns="0" tIns="0" rIns="0" bIns="0" rtlCol="0" anchor="ctr"/>
          <a:lstStyle/>
          <a:p>
            <a:pPr>
              <a:lnSpc>
                <a:spcPct val="130000"/>
              </a:lnSpc>
            </a:pPr>
            <a:r>
              <a:rPr lang="en-US" sz="1200" b="1" dirty="0">
                <a:solidFill>
                  <a:srgbClr val="1E3A5F"/>
                </a:solidFill>
                <a:latin typeface="MiSans" pitchFamily="34" charset="0"/>
                <a:ea typeface="MiSans" pitchFamily="34" charset="-122"/>
                <a:cs typeface="MiSans" pitchFamily="34" charset="-120"/>
              </a:rPr>
              <a:t>Note:</a:t>
            </a:r>
            <a:pPr>
              <a:lnSpc>
                <a:spcPct val="130000"/>
              </a:lnSpc>
            </a:pPr>
            <a:r>
              <a:rPr lang="en-US" sz="1200" dirty="0">
                <a:solidFill>
                  <a:srgbClr val="1E3A5F"/>
                </a:solidFill>
                <a:latin typeface="MiSans" pitchFamily="34" charset="0"/>
                <a:ea typeface="MiSans" pitchFamily="34" charset="-122"/>
                <a:cs typeface="MiSans" pitchFamily="34" charset="-120"/>
              </a:rPr>
              <a:t> These objectives are framed at a level of abstraction that renders them technically accurate and practically difficult to operationalise.</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19100"/>
            <a:ext cx="325755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MiSans" pitchFamily="34" charset="0"/>
                <a:ea typeface="MiSans" pitchFamily="34" charset="-122"/>
                <a:cs typeface="MiSans" pitchFamily="34" charset="-120"/>
              </a:rPr>
              <a:t>About This Module</a:t>
            </a:r>
            <a:endParaRPr lang="en-US" sz="1600" dirty="0"/>
          </a:p>
        </p:txBody>
      </p:sp>
      <p:sp>
        <p:nvSpPr>
          <p:cNvPr id="4" name="Shape 2"/>
          <p:cNvSpPr/>
          <p:nvPr/>
        </p:nvSpPr>
        <p:spPr>
          <a:xfrm>
            <a:off x="381000" y="1009650"/>
            <a:ext cx="5638800" cy="2552700"/>
          </a:xfrm>
          <a:custGeom>
            <a:avLst/>
            <a:gdLst/>
            <a:ahLst/>
            <a:cxnLst/>
            <a:rect l="l" t="t" r="r" b="b"/>
            <a:pathLst>
              <a:path w="5638800" h="2552700">
                <a:moveTo>
                  <a:pt x="0" y="0"/>
                </a:moveTo>
                <a:lnTo>
                  <a:pt x="5638800" y="0"/>
                </a:lnTo>
                <a:lnTo>
                  <a:pt x="5638800" y="2552700"/>
                </a:lnTo>
                <a:lnTo>
                  <a:pt x="0" y="2552700"/>
                </a:lnTo>
                <a:lnTo>
                  <a:pt x="0" y="0"/>
                </a:lnTo>
                <a:close/>
              </a:path>
            </a:pathLst>
          </a:custGeom>
          <a:solidFill>
            <a:srgbClr val="FFFFFF"/>
          </a:solidFill>
          <a:ln/>
        </p:spPr>
      </p:sp>
      <p:sp>
        <p:nvSpPr>
          <p:cNvPr id="5" name="Shape 3"/>
          <p:cNvSpPr/>
          <p:nvPr/>
        </p:nvSpPr>
        <p:spPr>
          <a:xfrm>
            <a:off x="381000" y="10096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1E3A5F"/>
          </a:solidFill>
          <a:ln/>
        </p:spPr>
      </p:sp>
      <p:sp>
        <p:nvSpPr>
          <p:cNvPr id="6" name="Shape 4"/>
          <p:cNvSpPr/>
          <p:nvPr/>
        </p:nvSpPr>
        <p:spPr>
          <a:xfrm>
            <a:off x="557213" y="1219200"/>
            <a:ext cx="190500" cy="190500"/>
          </a:xfrm>
          <a:custGeom>
            <a:avLst/>
            <a:gdLst/>
            <a:ahLst/>
            <a:cxnLst/>
            <a:rect l="l" t="t" r="r" b="b"/>
            <a:pathLst>
              <a:path w="190500" h="190500">
                <a:moveTo>
                  <a:pt x="95250" y="52574"/>
                </a:moveTo>
                <a:lnTo>
                  <a:pt x="95250" y="167655"/>
                </a:lnTo>
                <a:lnTo>
                  <a:pt x="95436" y="167580"/>
                </a:lnTo>
                <a:cubicBezTo>
                  <a:pt x="115751" y="159134"/>
                  <a:pt x="137554" y="154781"/>
                  <a:pt x="159544" y="154781"/>
                </a:cubicBezTo>
                <a:lnTo>
                  <a:pt x="166688" y="154781"/>
                </a:lnTo>
                <a:lnTo>
                  <a:pt x="166688" y="35719"/>
                </a:lnTo>
                <a:lnTo>
                  <a:pt x="159544" y="35719"/>
                </a:lnTo>
                <a:cubicBezTo>
                  <a:pt x="143842" y="35719"/>
                  <a:pt x="128253" y="38844"/>
                  <a:pt x="113742" y="44872"/>
                </a:cubicBezTo>
                <a:cubicBezTo>
                  <a:pt x="107491" y="47476"/>
                  <a:pt x="101315" y="50043"/>
                  <a:pt x="95250" y="52574"/>
                </a:cubicBezTo>
                <a:close/>
                <a:moveTo>
                  <a:pt x="85911" y="22882"/>
                </a:moveTo>
                <a:lnTo>
                  <a:pt x="95250" y="26789"/>
                </a:lnTo>
                <a:lnTo>
                  <a:pt x="104589" y="22882"/>
                </a:lnTo>
                <a:cubicBezTo>
                  <a:pt x="122002" y="15627"/>
                  <a:pt x="140680" y="11906"/>
                  <a:pt x="159544" y="11906"/>
                </a:cubicBezTo>
                <a:lnTo>
                  <a:pt x="172641" y="11906"/>
                </a:lnTo>
                <a:cubicBezTo>
                  <a:pt x="182500" y="11906"/>
                  <a:pt x="190500" y="19906"/>
                  <a:pt x="190500" y="29766"/>
                </a:cubicBezTo>
                <a:lnTo>
                  <a:pt x="190500" y="160734"/>
                </a:lnTo>
                <a:cubicBezTo>
                  <a:pt x="190500" y="170594"/>
                  <a:pt x="182500" y="178594"/>
                  <a:pt x="172641" y="178594"/>
                </a:cubicBezTo>
                <a:lnTo>
                  <a:pt x="159544" y="178594"/>
                </a:lnTo>
                <a:cubicBezTo>
                  <a:pt x="140680" y="178594"/>
                  <a:pt x="122002" y="182314"/>
                  <a:pt x="104589" y="189570"/>
                </a:cubicBezTo>
                <a:lnTo>
                  <a:pt x="99826" y="191542"/>
                </a:lnTo>
                <a:cubicBezTo>
                  <a:pt x="96887" y="192770"/>
                  <a:pt x="93613" y="192770"/>
                  <a:pt x="90674" y="191542"/>
                </a:cubicBezTo>
                <a:lnTo>
                  <a:pt x="85911" y="189570"/>
                </a:lnTo>
                <a:cubicBezTo>
                  <a:pt x="68498" y="182314"/>
                  <a:pt x="49820" y="178594"/>
                  <a:pt x="30956" y="178594"/>
                </a:cubicBezTo>
                <a:lnTo>
                  <a:pt x="17859" y="178594"/>
                </a:lnTo>
                <a:cubicBezTo>
                  <a:pt x="8000" y="178594"/>
                  <a:pt x="0" y="170594"/>
                  <a:pt x="0" y="160734"/>
                </a:cubicBezTo>
                <a:lnTo>
                  <a:pt x="0" y="29766"/>
                </a:lnTo>
                <a:cubicBezTo>
                  <a:pt x="0" y="19906"/>
                  <a:pt x="8000" y="11906"/>
                  <a:pt x="17859" y="11906"/>
                </a:cubicBezTo>
                <a:lnTo>
                  <a:pt x="30956" y="11906"/>
                </a:lnTo>
                <a:cubicBezTo>
                  <a:pt x="49820" y="11906"/>
                  <a:pt x="68498" y="15627"/>
                  <a:pt x="85911" y="22882"/>
                </a:cubicBezTo>
                <a:close/>
              </a:path>
            </a:pathLst>
          </a:custGeom>
          <a:solidFill>
            <a:srgbClr val="C49A2C"/>
          </a:solidFill>
          <a:ln/>
        </p:spPr>
      </p:sp>
      <p:sp>
        <p:nvSpPr>
          <p:cNvPr id="7" name="Text 5"/>
          <p:cNvSpPr/>
          <p:nvPr/>
        </p:nvSpPr>
        <p:spPr>
          <a:xfrm>
            <a:off x="771525" y="1181100"/>
            <a:ext cx="5191125"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MiSans" pitchFamily="34" charset="0"/>
                <a:ea typeface="MiSans" pitchFamily="34" charset="-122"/>
                <a:cs typeface="MiSans" pitchFamily="34" charset="-120"/>
              </a:rPr>
              <a:t>Purpose and Scope</a:t>
            </a:r>
            <a:endParaRPr lang="en-US" sz="1600" dirty="0"/>
          </a:p>
        </p:txBody>
      </p:sp>
      <p:sp>
        <p:nvSpPr>
          <p:cNvPr id="8" name="Text 6"/>
          <p:cNvSpPr/>
          <p:nvPr/>
        </p:nvSpPr>
        <p:spPr>
          <a:xfrm>
            <a:off x="533400" y="1562100"/>
            <a:ext cx="541020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This induction module provides new Meridian staff with the </a:t>
            </a:r>
            <a:pPr>
              <a:lnSpc>
                <a:spcPct val="140000"/>
              </a:lnSpc>
            </a:pPr>
            <a:r>
              <a:rPr lang="en-US" sz="1200" b="1" dirty="0">
                <a:solidFill>
                  <a:srgbClr val="2D3436"/>
                </a:solidFill>
                <a:latin typeface="MiSans" pitchFamily="34" charset="0"/>
                <a:ea typeface="MiSans" pitchFamily="34" charset="-122"/>
                <a:cs typeface="MiSans" pitchFamily="34" charset="-120"/>
              </a:rPr>
              <a:t>theoretical grounding</a:t>
            </a:r>
            <a:pPr>
              <a:lnSpc>
                <a:spcPct val="140000"/>
              </a:lnSpc>
            </a:pPr>
            <a:r>
              <a:rPr lang="en-US" sz="1200" dirty="0">
                <a:solidFill>
                  <a:srgbClr val="2D3436"/>
                </a:solidFill>
                <a:latin typeface="MiSans" pitchFamily="34" charset="0"/>
                <a:ea typeface="MiSans" pitchFamily="34" charset="-122"/>
                <a:cs typeface="MiSans" pitchFamily="34" charset="-120"/>
              </a:rPr>
              <a:t> necessary to understand, articulate, and defend the MPI's evidence base in professional contexts.</a:t>
            </a:r>
            <a:endParaRPr lang="en-US" sz="1600" dirty="0"/>
          </a:p>
        </p:txBody>
      </p:sp>
      <p:sp>
        <p:nvSpPr>
          <p:cNvPr id="9" name="Text 7"/>
          <p:cNvSpPr/>
          <p:nvPr/>
        </p:nvSpPr>
        <p:spPr>
          <a:xfrm>
            <a:off x="533400" y="2419350"/>
            <a:ext cx="5410200" cy="9906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module draws on </a:t>
            </a:r>
            <a:pPr>
              <a:lnSpc>
                <a:spcPct val="140000"/>
              </a:lnSpc>
            </a:pPr>
            <a:r>
              <a:rPr lang="en-US" sz="1200" dirty="0">
                <a:solidFill>
                  <a:srgbClr val="2D3436"/>
                </a:solidFill>
                <a:highlight>
                  <a:srgbClr val="C49A2C">
                    <a:alpha val="20000"/>
                  </a:srgbClr>
                </a:highlight>
                <a:latin typeface="MiSans" pitchFamily="34" charset="0"/>
                <a:ea typeface="MiSans" pitchFamily="34" charset="-122"/>
                <a:cs typeface="MiSans" pitchFamily="34" charset="-120"/>
              </a:rPr>
              <a:t>over five decades of educational research </a:t>
            </a:r>
            <a:pPr>
              <a:lnSpc>
                <a:spcPct val="140000"/>
              </a:lnSpc>
            </a:pPr>
            <a:r>
              <a:rPr lang="en-US" sz="1200" dirty="0">
                <a:solidFill>
                  <a:srgbClr val="2D3436"/>
                </a:solidFill>
                <a:latin typeface="MiSans" pitchFamily="34" charset="0"/>
                <a:ea typeface="MiSans" pitchFamily="34" charset="-122"/>
                <a:cs typeface="MiSans" pitchFamily="34" charset="-120"/>
              </a:rPr>
              <a:t>, from Bloom's foundational taxonomy work through Hattie's meta-analytic synthesis and the formative assessment tradition established by Black and Wiliam.</a:t>
            </a:r>
            <a:endParaRPr lang="en-US" sz="1600" dirty="0"/>
          </a:p>
        </p:txBody>
      </p:sp>
      <p:sp>
        <p:nvSpPr>
          <p:cNvPr id="10" name="Shape 8"/>
          <p:cNvSpPr/>
          <p:nvPr/>
        </p:nvSpPr>
        <p:spPr>
          <a:xfrm>
            <a:off x="381000" y="3676650"/>
            <a:ext cx="5638800" cy="2286000"/>
          </a:xfrm>
          <a:custGeom>
            <a:avLst/>
            <a:gdLst/>
            <a:ahLst/>
            <a:cxnLst/>
            <a:rect l="l" t="t" r="r" b="b"/>
            <a:pathLst>
              <a:path w="5638800" h="2286000">
                <a:moveTo>
                  <a:pt x="0" y="0"/>
                </a:moveTo>
                <a:lnTo>
                  <a:pt x="5638800" y="0"/>
                </a:lnTo>
                <a:lnTo>
                  <a:pt x="5638800" y="2286000"/>
                </a:lnTo>
                <a:lnTo>
                  <a:pt x="0" y="2286000"/>
                </a:lnTo>
                <a:lnTo>
                  <a:pt x="0" y="0"/>
                </a:lnTo>
                <a:close/>
              </a:path>
            </a:pathLst>
          </a:custGeom>
          <a:solidFill>
            <a:srgbClr val="1E3A5F"/>
          </a:solidFill>
          <a:ln/>
        </p:spPr>
      </p:sp>
      <p:sp>
        <p:nvSpPr>
          <p:cNvPr id="11" name="Shape 9"/>
          <p:cNvSpPr/>
          <p:nvPr/>
        </p:nvSpPr>
        <p:spPr>
          <a:xfrm>
            <a:off x="557213" y="386715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C49A2C"/>
          </a:solidFill>
          <a:ln/>
        </p:spPr>
      </p:sp>
      <p:sp>
        <p:nvSpPr>
          <p:cNvPr id="12" name="Text 10"/>
          <p:cNvSpPr/>
          <p:nvPr/>
        </p:nvSpPr>
        <p:spPr>
          <a:xfrm>
            <a:off x="771525" y="3829050"/>
            <a:ext cx="519112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MiSans" pitchFamily="34" charset="0"/>
                <a:ea typeface="MiSans" pitchFamily="34" charset="-122"/>
                <a:cs typeface="MiSans" pitchFamily="34" charset="-120"/>
              </a:rPr>
              <a:t>What This Module Is Not</a:t>
            </a:r>
            <a:endParaRPr lang="en-US" sz="1600" dirty="0"/>
          </a:p>
        </p:txBody>
      </p:sp>
      <p:sp>
        <p:nvSpPr>
          <p:cNvPr id="13" name="Text 11"/>
          <p:cNvSpPr/>
          <p:nvPr/>
        </p:nvSpPr>
        <p:spPr>
          <a:xfrm>
            <a:off x="533400" y="4210050"/>
            <a:ext cx="5410200" cy="74295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It is </a:t>
            </a:r>
            <a:pPr>
              <a:lnSpc>
                <a:spcPct val="140000"/>
              </a:lnSpc>
            </a:pPr>
            <a:r>
              <a:rPr lang="en-US" sz="1200" b="1" dirty="0">
                <a:solidFill>
                  <a:srgbClr val="F8F9FA"/>
                </a:solidFill>
                <a:latin typeface="MiSans" pitchFamily="34" charset="0"/>
                <a:ea typeface="MiSans" pitchFamily="34" charset="-122"/>
                <a:cs typeface="MiSans" pitchFamily="34" charset="-120"/>
              </a:rPr>
              <a:t>not a practical guide</a:t>
            </a:r>
            <a:pPr>
              <a:lnSpc>
                <a:spcPct val="140000"/>
              </a:lnSpc>
            </a:pPr>
            <a:r>
              <a:rPr lang="en-US" sz="1200" dirty="0">
                <a:solidFill>
                  <a:srgbClr val="F8F9FA"/>
                </a:solidFill>
                <a:latin typeface="MiSans" pitchFamily="34" charset="0"/>
                <a:ea typeface="MiSans" pitchFamily="34" charset="-122"/>
                <a:cs typeface="MiSans" pitchFamily="34" charset="-120"/>
              </a:rPr>
              <a:t> to data collection, report writing, or client management. Those competencies are assumed to be acquired through other means.</a:t>
            </a:r>
            <a:endParaRPr lang="en-US" sz="1600" dirty="0"/>
          </a:p>
        </p:txBody>
      </p:sp>
      <p:sp>
        <p:nvSpPr>
          <p:cNvPr id="14" name="Text 12"/>
          <p:cNvSpPr/>
          <p:nvPr/>
        </p:nvSpPr>
        <p:spPr>
          <a:xfrm>
            <a:off x="533400" y="5067300"/>
            <a:ext cx="5410200" cy="74295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What this module provides is the </a:t>
            </a:r>
            <a:pPr>
              <a:lnSpc>
                <a:spcPct val="140000"/>
              </a:lnSpc>
            </a:pPr>
            <a:r>
              <a:rPr lang="en-US" sz="1200" b="1" dirty="0">
                <a:solidFill>
                  <a:srgbClr val="F8F9FA"/>
                </a:solidFill>
                <a:latin typeface="MiSans" pitchFamily="34" charset="0"/>
                <a:ea typeface="MiSans" pitchFamily="34" charset="-122"/>
                <a:cs typeface="MiSans" pitchFamily="34" charset="-120"/>
              </a:rPr>
              <a:t>intellectual architecture beneath the practice</a:t>
            </a:r>
            <a:pPr>
              <a:lnSpc>
                <a:spcPct val="140000"/>
              </a:lnSpc>
            </a:pPr>
            <a:r>
              <a:rPr lang="en-US" sz="1200" dirty="0">
                <a:solidFill>
                  <a:srgbClr val="F8F9FA"/>
                </a:solidFill>
                <a:latin typeface="MiSans" pitchFamily="34" charset="0"/>
                <a:ea typeface="MiSans" pitchFamily="34" charset="-122"/>
                <a:cs typeface="MiSans" pitchFamily="34" charset="-120"/>
              </a:rPr>
              <a:t> — the set of assumptions, findings, and theoretical commitments that make the MPI's claims coherent.</a:t>
            </a:r>
            <a:endParaRPr lang="en-US" sz="1600" dirty="0"/>
          </a:p>
        </p:txBody>
      </p:sp>
      <p:sp>
        <p:nvSpPr>
          <p:cNvPr id="15" name="Shape 13"/>
          <p:cNvSpPr/>
          <p:nvPr/>
        </p:nvSpPr>
        <p:spPr>
          <a:xfrm>
            <a:off x="6172200" y="1009650"/>
            <a:ext cx="5638800" cy="2914650"/>
          </a:xfrm>
          <a:custGeom>
            <a:avLst/>
            <a:gdLst/>
            <a:ahLst/>
            <a:cxnLst/>
            <a:rect l="l" t="t" r="r" b="b"/>
            <a:pathLst>
              <a:path w="5638800" h="2914650">
                <a:moveTo>
                  <a:pt x="0" y="0"/>
                </a:moveTo>
                <a:lnTo>
                  <a:pt x="5638800" y="0"/>
                </a:lnTo>
                <a:lnTo>
                  <a:pt x="5638800" y="2914650"/>
                </a:lnTo>
                <a:lnTo>
                  <a:pt x="0" y="2914650"/>
                </a:lnTo>
                <a:lnTo>
                  <a:pt x="0" y="0"/>
                </a:lnTo>
                <a:close/>
              </a:path>
            </a:pathLst>
          </a:custGeom>
          <a:solidFill>
            <a:srgbClr val="FFFFFF"/>
          </a:solidFill>
          <a:ln/>
        </p:spPr>
      </p:sp>
      <p:sp>
        <p:nvSpPr>
          <p:cNvPr id="16" name="Shape 14"/>
          <p:cNvSpPr/>
          <p:nvPr/>
        </p:nvSpPr>
        <p:spPr>
          <a:xfrm>
            <a:off x="6172200" y="10096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C49A2C"/>
          </a:solidFill>
          <a:ln/>
        </p:spPr>
      </p:sp>
      <p:sp>
        <p:nvSpPr>
          <p:cNvPr id="17" name="Shape 15"/>
          <p:cNvSpPr/>
          <p:nvPr/>
        </p:nvSpPr>
        <p:spPr>
          <a:xfrm>
            <a:off x="6336506" y="1219200"/>
            <a:ext cx="214313" cy="190500"/>
          </a:xfrm>
          <a:custGeom>
            <a:avLst/>
            <a:gdLst/>
            <a:ahLst/>
            <a:cxnLst/>
            <a:rect l="l" t="t" r="r" b="b"/>
            <a:pathLst>
              <a:path w="214313" h="190500">
                <a:moveTo>
                  <a:pt x="17859" y="72851"/>
                </a:moveTo>
                <a:lnTo>
                  <a:pt x="95696" y="104887"/>
                </a:lnTo>
                <a:cubicBezTo>
                  <a:pt x="99343" y="106375"/>
                  <a:pt x="103212" y="107156"/>
                  <a:pt x="107156" y="107156"/>
                </a:cubicBezTo>
                <a:cubicBezTo>
                  <a:pt x="111100" y="107156"/>
                  <a:pt x="114970" y="106375"/>
                  <a:pt x="118616" y="104887"/>
                </a:cubicBezTo>
                <a:lnTo>
                  <a:pt x="208806" y="67754"/>
                </a:lnTo>
                <a:cubicBezTo>
                  <a:pt x="212154" y="66377"/>
                  <a:pt x="214313" y="63140"/>
                  <a:pt x="214313" y="59531"/>
                </a:cubicBezTo>
                <a:cubicBezTo>
                  <a:pt x="214313" y="55922"/>
                  <a:pt x="212154" y="52685"/>
                  <a:pt x="208806" y="51308"/>
                </a:cubicBezTo>
                <a:lnTo>
                  <a:pt x="118616" y="14176"/>
                </a:lnTo>
                <a:cubicBezTo>
                  <a:pt x="114970" y="12688"/>
                  <a:pt x="111100" y="11906"/>
                  <a:pt x="107156" y="11906"/>
                </a:cubicBezTo>
                <a:cubicBezTo>
                  <a:pt x="103212" y="11906"/>
                  <a:pt x="99343" y="12688"/>
                  <a:pt x="95696" y="14176"/>
                </a:cubicBezTo>
                <a:lnTo>
                  <a:pt x="5507" y="51308"/>
                </a:lnTo>
                <a:cubicBezTo>
                  <a:pt x="2158" y="52685"/>
                  <a:pt x="0" y="55922"/>
                  <a:pt x="0" y="59531"/>
                </a:cubicBezTo>
                <a:lnTo>
                  <a:pt x="0" y="169664"/>
                </a:lnTo>
                <a:cubicBezTo>
                  <a:pt x="0" y="174613"/>
                  <a:pt x="3981" y="178594"/>
                  <a:pt x="8930" y="178594"/>
                </a:cubicBezTo>
                <a:cubicBezTo>
                  <a:pt x="13878" y="178594"/>
                  <a:pt x="17859" y="174613"/>
                  <a:pt x="17859" y="169664"/>
                </a:cubicBezTo>
                <a:lnTo>
                  <a:pt x="17859" y="72851"/>
                </a:lnTo>
                <a:close/>
                <a:moveTo>
                  <a:pt x="35719" y="99529"/>
                </a:moveTo>
                <a:lnTo>
                  <a:pt x="35719" y="142875"/>
                </a:lnTo>
                <a:cubicBezTo>
                  <a:pt x="35719" y="162595"/>
                  <a:pt x="67717" y="178594"/>
                  <a:pt x="107156" y="178594"/>
                </a:cubicBezTo>
                <a:cubicBezTo>
                  <a:pt x="146596" y="178594"/>
                  <a:pt x="178594" y="162595"/>
                  <a:pt x="178594" y="142875"/>
                </a:cubicBezTo>
                <a:lnTo>
                  <a:pt x="178594" y="99492"/>
                </a:lnTo>
                <a:lnTo>
                  <a:pt x="125425" y="121407"/>
                </a:lnTo>
                <a:cubicBezTo>
                  <a:pt x="119621" y="123788"/>
                  <a:pt x="113444" y="125016"/>
                  <a:pt x="107156" y="125016"/>
                </a:cubicBezTo>
                <a:cubicBezTo>
                  <a:pt x="100868" y="125016"/>
                  <a:pt x="94692" y="123788"/>
                  <a:pt x="88888" y="121407"/>
                </a:cubicBezTo>
                <a:lnTo>
                  <a:pt x="35719" y="99492"/>
                </a:lnTo>
                <a:close/>
              </a:path>
            </a:pathLst>
          </a:custGeom>
          <a:solidFill>
            <a:srgbClr val="C49A2C"/>
          </a:solidFill>
          <a:ln/>
        </p:spPr>
      </p:sp>
      <p:sp>
        <p:nvSpPr>
          <p:cNvPr id="18" name="Text 16"/>
          <p:cNvSpPr/>
          <p:nvPr/>
        </p:nvSpPr>
        <p:spPr>
          <a:xfrm>
            <a:off x="6562725" y="1181100"/>
            <a:ext cx="5191125"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MiSans" pitchFamily="34" charset="0"/>
                <a:ea typeface="MiSans" pitchFamily="34" charset="-122"/>
                <a:cs typeface="MiSans" pitchFamily="34" charset="-120"/>
              </a:rPr>
              <a:t>Theoretical Foundations Covered</a:t>
            </a:r>
            <a:endParaRPr lang="en-US" sz="1600" dirty="0"/>
          </a:p>
        </p:txBody>
      </p:sp>
      <p:sp>
        <p:nvSpPr>
          <p:cNvPr id="19" name="Shape 17"/>
          <p:cNvSpPr/>
          <p:nvPr/>
        </p:nvSpPr>
        <p:spPr>
          <a:xfrm>
            <a:off x="6324600" y="1562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1E3A5F"/>
          </a:solidFill>
          <a:ln/>
        </p:spPr>
      </p:sp>
      <p:sp>
        <p:nvSpPr>
          <p:cNvPr id="20" name="Text 18"/>
          <p:cNvSpPr/>
          <p:nvPr/>
        </p:nvSpPr>
        <p:spPr>
          <a:xfrm>
            <a:off x="6291263" y="1562100"/>
            <a:ext cx="371475" cy="304800"/>
          </a:xfrm>
          <a:prstGeom prst="rect">
            <a:avLst/>
          </a:prstGeom>
          <a:noFill/>
          <a:ln/>
        </p:spPr>
        <p:txBody>
          <a:bodyPr wrap="square" lIns="0" tIns="0" rIns="0" bIns="0" rtlCol="0" anchor="ctr"/>
          <a:lstStyle/>
          <a:p>
            <a:pPr algn="ctr">
              <a:lnSpc>
                <a:spcPct val="120000"/>
              </a:lnSpc>
            </a:pPr>
            <a:r>
              <a:rPr lang="en-US" sz="1050" b="1" dirty="0">
                <a:solidFill>
                  <a:srgbClr val="F8F9FA"/>
                </a:solidFill>
                <a:latin typeface="MiSans" pitchFamily="34" charset="0"/>
                <a:ea typeface="MiSans" pitchFamily="34" charset="-122"/>
                <a:cs typeface="MiSans" pitchFamily="34" charset="-120"/>
              </a:rPr>
              <a:t>1</a:t>
            </a:r>
            <a:endParaRPr lang="en-US" sz="1600" dirty="0"/>
          </a:p>
        </p:txBody>
      </p:sp>
      <p:sp>
        <p:nvSpPr>
          <p:cNvPr id="21" name="Text 19"/>
          <p:cNvSpPr/>
          <p:nvPr/>
        </p:nvSpPr>
        <p:spPr>
          <a:xfrm>
            <a:off x="6743700" y="1562100"/>
            <a:ext cx="4991100" cy="495300"/>
          </a:xfrm>
          <a:prstGeom prst="rect">
            <a:avLst/>
          </a:prstGeom>
          <a:noFill/>
          <a:ln/>
        </p:spPr>
        <p:txBody>
          <a:bodyPr wrap="square" lIns="0" tIns="0" rIns="0" bIns="0" rtlCol="0" anchor="ctr"/>
          <a:lstStyle/>
          <a:p>
            <a:pPr>
              <a:lnSpc>
                <a:spcPct val="140000"/>
              </a:lnSpc>
            </a:pPr>
            <a:r>
              <a:rPr lang="en-US" sz="1200" b="1" dirty="0">
                <a:solidFill>
                  <a:srgbClr val="2D3436"/>
                </a:solidFill>
                <a:latin typeface="MiSans" pitchFamily="34" charset="0"/>
                <a:ea typeface="MiSans" pitchFamily="34" charset="-122"/>
                <a:cs typeface="MiSans" pitchFamily="34" charset="-120"/>
              </a:rPr>
              <a:t>Vygotsky's Zone of Proximal Development</a:t>
            </a:r>
            <a:pPr>
              <a:lnSpc>
                <a:spcPct val="140000"/>
              </a:lnSpc>
            </a:pPr>
            <a:r>
              <a:rPr lang="en-US" sz="1200" dirty="0">
                <a:solidFill>
                  <a:srgbClr val="2D3436"/>
                </a:solidFill>
                <a:latin typeface="MiSans" pitchFamily="34" charset="0"/>
                <a:ea typeface="MiSans" pitchFamily="34" charset="-122"/>
                <a:cs typeface="MiSans" pitchFamily="34" charset="-120"/>
              </a:rPr>
              <a:t> — the theoretical cornerstone of the MPI's three-strand architecture</a:t>
            </a:r>
            <a:endParaRPr lang="en-US" sz="1600" dirty="0"/>
          </a:p>
        </p:txBody>
      </p:sp>
      <p:sp>
        <p:nvSpPr>
          <p:cNvPr id="22" name="Shape 20"/>
          <p:cNvSpPr/>
          <p:nvPr/>
        </p:nvSpPr>
        <p:spPr>
          <a:xfrm>
            <a:off x="6324600" y="2133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1E3A5F"/>
          </a:solidFill>
          <a:ln/>
        </p:spPr>
      </p:sp>
      <p:sp>
        <p:nvSpPr>
          <p:cNvPr id="23" name="Text 21"/>
          <p:cNvSpPr/>
          <p:nvPr/>
        </p:nvSpPr>
        <p:spPr>
          <a:xfrm>
            <a:off x="6291263" y="2133600"/>
            <a:ext cx="371475" cy="304800"/>
          </a:xfrm>
          <a:prstGeom prst="rect">
            <a:avLst/>
          </a:prstGeom>
          <a:noFill/>
          <a:ln/>
        </p:spPr>
        <p:txBody>
          <a:bodyPr wrap="square" lIns="0" tIns="0" rIns="0" bIns="0" rtlCol="0" anchor="ctr"/>
          <a:lstStyle/>
          <a:p>
            <a:pPr algn="ctr">
              <a:lnSpc>
                <a:spcPct val="120000"/>
              </a:lnSpc>
            </a:pPr>
            <a:r>
              <a:rPr lang="en-US" sz="1050" b="1" dirty="0">
                <a:solidFill>
                  <a:srgbClr val="F8F9FA"/>
                </a:solidFill>
                <a:latin typeface="MiSans" pitchFamily="34" charset="0"/>
                <a:ea typeface="MiSans" pitchFamily="34" charset="-122"/>
                <a:cs typeface="MiSans" pitchFamily="34" charset="-120"/>
              </a:rPr>
              <a:t>2</a:t>
            </a:r>
            <a:endParaRPr lang="en-US" sz="1600" dirty="0"/>
          </a:p>
        </p:txBody>
      </p:sp>
      <p:sp>
        <p:nvSpPr>
          <p:cNvPr id="24" name="Text 22"/>
          <p:cNvSpPr/>
          <p:nvPr/>
        </p:nvSpPr>
        <p:spPr>
          <a:xfrm>
            <a:off x="6743700" y="2133600"/>
            <a:ext cx="4991100" cy="495300"/>
          </a:xfrm>
          <a:prstGeom prst="rect">
            <a:avLst/>
          </a:prstGeom>
          <a:noFill/>
          <a:ln/>
        </p:spPr>
        <p:txBody>
          <a:bodyPr wrap="square" lIns="0" tIns="0" rIns="0" bIns="0" rtlCol="0" anchor="ctr"/>
          <a:lstStyle/>
          <a:p>
            <a:pPr>
              <a:lnSpc>
                <a:spcPct val="140000"/>
              </a:lnSpc>
            </a:pPr>
            <a:r>
              <a:rPr lang="en-US" sz="1200" b="1" dirty="0">
                <a:solidFill>
                  <a:srgbClr val="2D3436"/>
                </a:solidFill>
                <a:latin typeface="MiSans" pitchFamily="34" charset="0"/>
                <a:ea typeface="MiSans" pitchFamily="34" charset="-122"/>
                <a:cs typeface="MiSans" pitchFamily="34" charset="-120"/>
              </a:rPr>
              <a:t>Bloom's Taxonomy</a:t>
            </a:r>
            <a:pPr>
              <a:lnSpc>
                <a:spcPct val="140000"/>
              </a:lnSpc>
            </a:pPr>
            <a:r>
              <a:rPr lang="en-US" sz="1200" dirty="0">
                <a:solidFill>
                  <a:srgbClr val="2D3436"/>
                </a:solidFill>
                <a:latin typeface="MiSans" pitchFamily="34" charset="0"/>
                <a:ea typeface="MiSans" pitchFamily="34" charset="-122"/>
                <a:cs typeface="MiSans" pitchFamily="34" charset="-120"/>
              </a:rPr>
              <a:t> — the hierarchical model of cognitive demand underpinning curriculum sequencing</a:t>
            </a:r>
            <a:endParaRPr lang="en-US" sz="1600" dirty="0"/>
          </a:p>
        </p:txBody>
      </p:sp>
      <p:sp>
        <p:nvSpPr>
          <p:cNvPr id="25" name="Shape 23"/>
          <p:cNvSpPr/>
          <p:nvPr/>
        </p:nvSpPr>
        <p:spPr>
          <a:xfrm>
            <a:off x="6324600" y="27051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1E3A5F"/>
          </a:solidFill>
          <a:ln/>
        </p:spPr>
      </p:sp>
      <p:sp>
        <p:nvSpPr>
          <p:cNvPr id="26" name="Text 24"/>
          <p:cNvSpPr/>
          <p:nvPr/>
        </p:nvSpPr>
        <p:spPr>
          <a:xfrm>
            <a:off x="6291263" y="2705100"/>
            <a:ext cx="371475" cy="304800"/>
          </a:xfrm>
          <a:prstGeom prst="rect">
            <a:avLst/>
          </a:prstGeom>
          <a:noFill/>
          <a:ln/>
        </p:spPr>
        <p:txBody>
          <a:bodyPr wrap="square" lIns="0" tIns="0" rIns="0" bIns="0" rtlCol="0" anchor="ctr"/>
          <a:lstStyle/>
          <a:p>
            <a:pPr algn="ctr">
              <a:lnSpc>
                <a:spcPct val="120000"/>
              </a:lnSpc>
            </a:pPr>
            <a:r>
              <a:rPr lang="en-US" sz="1050" b="1" dirty="0">
                <a:solidFill>
                  <a:srgbClr val="F8F9FA"/>
                </a:solidFill>
                <a:latin typeface="MiSans" pitchFamily="34" charset="0"/>
                <a:ea typeface="MiSans" pitchFamily="34" charset="-122"/>
                <a:cs typeface="MiSans" pitchFamily="34" charset="-120"/>
              </a:rPr>
              <a:t>3</a:t>
            </a:r>
            <a:endParaRPr lang="en-US" sz="1600" dirty="0"/>
          </a:p>
        </p:txBody>
      </p:sp>
      <p:sp>
        <p:nvSpPr>
          <p:cNvPr id="27" name="Text 25"/>
          <p:cNvSpPr/>
          <p:nvPr/>
        </p:nvSpPr>
        <p:spPr>
          <a:xfrm>
            <a:off x="6743700" y="2705100"/>
            <a:ext cx="4991100" cy="495300"/>
          </a:xfrm>
          <a:prstGeom prst="rect">
            <a:avLst/>
          </a:prstGeom>
          <a:noFill/>
          <a:ln/>
        </p:spPr>
        <p:txBody>
          <a:bodyPr wrap="square" lIns="0" tIns="0" rIns="0" bIns="0" rtlCol="0" anchor="ctr"/>
          <a:lstStyle/>
          <a:p>
            <a:pPr>
              <a:lnSpc>
                <a:spcPct val="140000"/>
              </a:lnSpc>
            </a:pPr>
            <a:r>
              <a:rPr lang="en-US" sz="1200" b="1" dirty="0">
                <a:solidFill>
                  <a:srgbClr val="2D3436"/>
                </a:solidFill>
                <a:latin typeface="MiSans" pitchFamily="34" charset="0"/>
                <a:ea typeface="MiSans" pitchFamily="34" charset="-122"/>
                <a:cs typeface="MiSans" pitchFamily="34" charset="-120"/>
              </a:rPr>
              <a:t>Black and Wiliam's Formative Assessment Research</a:t>
            </a:r>
            <a:pPr>
              <a:lnSpc>
                <a:spcPct val="140000"/>
              </a:lnSpc>
            </a:pPr>
            <a:r>
              <a:rPr lang="en-US" sz="1200" dirty="0">
                <a:solidFill>
                  <a:srgbClr val="2D3436"/>
                </a:solidFill>
                <a:latin typeface="MiSans" pitchFamily="34" charset="0"/>
                <a:ea typeface="MiSans" pitchFamily="34" charset="-122"/>
                <a:cs typeface="MiSans" pitchFamily="34" charset="-120"/>
              </a:rPr>
              <a:t> — the evidence base for the feedback loop</a:t>
            </a:r>
            <a:endParaRPr lang="en-US" sz="1600" dirty="0"/>
          </a:p>
        </p:txBody>
      </p:sp>
      <p:sp>
        <p:nvSpPr>
          <p:cNvPr id="28" name="Shape 26"/>
          <p:cNvSpPr/>
          <p:nvPr/>
        </p:nvSpPr>
        <p:spPr>
          <a:xfrm>
            <a:off x="6324600" y="32766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1E3A5F"/>
          </a:solidFill>
          <a:ln/>
        </p:spPr>
      </p:sp>
      <p:sp>
        <p:nvSpPr>
          <p:cNvPr id="29" name="Text 27"/>
          <p:cNvSpPr/>
          <p:nvPr/>
        </p:nvSpPr>
        <p:spPr>
          <a:xfrm>
            <a:off x="6291263" y="3276600"/>
            <a:ext cx="371475" cy="304800"/>
          </a:xfrm>
          <a:prstGeom prst="rect">
            <a:avLst/>
          </a:prstGeom>
          <a:noFill/>
          <a:ln/>
        </p:spPr>
        <p:txBody>
          <a:bodyPr wrap="square" lIns="0" tIns="0" rIns="0" bIns="0" rtlCol="0" anchor="ctr"/>
          <a:lstStyle/>
          <a:p>
            <a:pPr algn="ctr">
              <a:lnSpc>
                <a:spcPct val="120000"/>
              </a:lnSpc>
            </a:pPr>
            <a:r>
              <a:rPr lang="en-US" sz="1050" b="1" dirty="0">
                <a:solidFill>
                  <a:srgbClr val="F8F9FA"/>
                </a:solidFill>
                <a:latin typeface="MiSans" pitchFamily="34" charset="0"/>
                <a:ea typeface="MiSans" pitchFamily="34" charset="-122"/>
                <a:cs typeface="MiSans" pitchFamily="34" charset="-120"/>
              </a:rPr>
              <a:t>4</a:t>
            </a:r>
            <a:endParaRPr lang="en-US" sz="1600" dirty="0"/>
          </a:p>
        </p:txBody>
      </p:sp>
      <p:sp>
        <p:nvSpPr>
          <p:cNvPr id="30" name="Text 28"/>
          <p:cNvSpPr/>
          <p:nvPr/>
        </p:nvSpPr>
        <p:spPr>
          <a:xfrm>
            <a:off x="6743700" y="3276600"/>
            <a:ext cx="4991100" cy="495300"/>
          </a:xfrm>
          <a:prstGeom prst="rect">
            <a:avLst/>
          </a:prstGeom>
          <a:noFill/>
          <a:ln/>
        </p:spPr>
        <p:txBody>
          <a:bodyPr wrap="square" lIns="0" tIns="0" rIns="0" bIns="0" rtlCol="0" anchor="ctr"/>
          <a:lstStyle/>
          <a:p>
            <a:pPr>
              <a:lnSpc>
                <a:spcPct val="140000"/>
              </a:lnSpc>
            </a:pPr>
            <a:r>
              <a:rPr lang="en-US" sz="1200" b="1" dirty="0">
                <a:solidFill>
                  <a:srgbClr val="2D3436"/>
                </a:solidFill>
                <a:latin typeface="MiSans" pitchFamily="34" charset="0"/>
                <a:ea typeface="MiSans" pitchFamily="34" charset="-122"/>
                <a:cs typeface="MiSans" pitchFamily="34" charset="-120"/>
              </a:rPr>
              <a:t>Hattie's Visible Learning Synthesis</a:t>
            </a:r>
            <a:pPr>
              <a:lnSpc>
                <a:spcPct val="140000"/>
              </a:lnSpc>
            </a:pPr>
            <a:r>
              <a:rPr lang="en-US" sz="1200" dirty="0">
                <a:solidFill>
                  <a:srgbClr val="2D3436"/>
                </a:solidFill>
                <a:latin typeface="MiSans" pitchFamily="34" charset="0"/>
                <a:ea typeface="MiSans" pitchFamily="34" charset="-122"/>
                <a:cs typeface="MiSans" pitchFamily="34" charset="-120"/>
              </a:rPr>
              <a:t> — the meta-analytic warrant for design choices and the 0.4 hinge point</a:t>
            </a:r>
            <a:endParaRPr lang="en-US" sz="1600" dirty="0"/>
          </a:p>
        </p:txBody>
      </p:sp>
      <p:sp>
        <p:nvSpPr>
          <p:cNvPr id="31" name="Shape 29"/>
          <p:cNvSpPr/>
          <p:nvPr/>
        </p:nvSpPr>
        <p:spPr>
          <a:xfrm>
            <a:off x="6191250" y="4038600"/>
            <a:ext cx="5619750" cy="800100"/>
          </a:xfrm>
          <a:custGeom>
            <a:avLst/>
            <a:gdLst/>
            <a:ahLst/>
            <a:cxnLst/>
            <a:rect l="l" t="t" r="r" b="b"/>
            <a:pathLst>
              <a:path w="5619750" h="800100">
                <a:moveTo>
                  <a:pt x="0" y="0"/>
                </a:moveTo>
                <a:lnTo>
                  <a:pt x="5619750" y="0"/>
                </a:lnTo>
                <a:lnTo>
                  <a:pt x="5619750" y="800100"/>
                </a:lnTo>
                <a:lnTo>
                  <a:pt x="0" y="800100"/>
                </a:lnTo>
                <a:lnTo>
                  <a:pt x="0" y="0"/>
                </a:lnTo>
                <a:close/>
              </a:path>
            </a:pathLst>
          </a:custGeom>
          <a:solidFill>
            <a:srgbClr val="C49A2C">
              <a:alpha val="10196"/>
            </a:srgbClr>
          </a:solidFill>
          <a:ln/>
        </p:spPr>
      </p:sp>
      <p:sp>
        <p:nvSpPr>
          <p:cNvPr id="32" name="Shape 30"/>
          <p:cNvSpPr/>
          <p:nvPr/>
        </p:nvSpPr>
        <p:spPr>
          <a:xfrm>
            <a:off x="6191250" y="4038600"/>
            <a:ext cx="38100" cy="800100"/>
          </a:xfrm>
          <a:custGeom>
            <a:avLst/>
            <a:gdLst/>
            <a:ahLst/>
            <a:cxnLst/>
            <a:rect l="l" t="t" r="r" b="b"/>
            <a:pathLst>
              <a:path w="38100" h="800100">
                <a:moveTo>
                  <a:pt x="0" y="0"/>
                </a:moveTo>
                <a:lnTo>
                  <a:pt x="38100" y="0"/>
                </a:lnTo>
                <a:lnTo>
                  <a:pt x="38100" y="800100"/>
                </a:lnTo>
                <a:lnTo>
                  <a:pt x="0" y="800100"/>
                </a:lnTo>
                <a:lnTo>
                  <a:pt x="0" y="0"/>
                </a:lnTo>
                <a:close/>
              </a:path>
            </a:pathLst>
          </a:custGeom>
          <a:solidFill>
            <a:srgbClr val="C49A2C"/>
          </a:solidFill>
          <a:ln/>
        </p:spPr>
      </p:sp>
      <p:sp>
        <p:nvSpPr>
          <p:cNvPr id="33" name="Shape 31"/>
          <p:cNvSpPr/>
          <p:nvPr/>
        </p:nvSpPr>
        <p:spPr>
          <a:xfrm>
            <a:off x="6381750" y="4243388"/>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C49A2C"/>
          </a:solidFill>
          <a:ln/>
        </p:spPr>
      </p:sp>
      <p:sp>
        <p:nvSpPr>
          <p:cNvPr id="34" name="Text 32"/>
          <p:cNvSpPr/>
          <p:nvPr/>
        </p:nvSpPr>
        <p:spPr>
          <a:xfrm>
            <a:off x="6610350" y="4191000"/>
            <a:ext cx="5124450" cy="495300"/>
          </a:xfrm>
          <a:prstGeom prst="rect">
            <a:avLst/>
          </a:prstGeom>
          <a:noFill/>
          <a:ln/>
        </p:spPr>
        <p:txBody>
          <a:bodyPr wrap="square" lIns="0" tIns="0" rIns="0" bIns="0" rtlCol="0" anchor="ctr"/>
          <a:lstStyle/>
          <a:p>
            <a:pPr>
              <a:lnSpc>
                <a:spcPct val="140000"/>
              </a:lnSpc>
            </a:pPr>
            <a:r>
              <a:rPr lang="en-US" sz="1200" b="1" dirty="0">
                <a:solidFill>
                  <a:srgbClr val="1E3A5F"/>
                </a:solidFill>
                <a:latin typeface="MiSans" pitchFamily="34" charset="0"/>
                <a:ea typeface="MiSans" pitchFamily="34" charset="-122"/>
                <a:cs typeface="MiSans" pitchFamily="34" charset="-120"/>
              </a:rPr>
              <a:t>Participant Advisory:</a:t>
            </a:r>
            <a:pPr>
              <a:lnSpc>
                <a:spcPct val="140000"/>
              </a:lnSpc>
            </a:pPr>
            <a:r>
              <a:rPr lang="en-US" sz="1200" dirty="0">
                <a:solidFill>
                  <a:srgbClr val="1E3A5F"/>
                </a:solidFill>
                <a:latin typeface="MiSans" pitchFamily="34" charset="0"/>
                <a:ea typeface="MiSans" pitchFamily="34" charset="-122"/>
                <a:cs typeface="MiSans" pitchFamily="34" charset="-120"/>
              </a:rPr>
              <a:t> The material is dense, not all of it will be immediately applicable to your assigned tasks, and this is by design.</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19100"/>
            <a:ext cx="6248400"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MiSans" pitchFamily="34" charset="0"/>
                <a:ea typeface="MiSans" pitchFamily="34" charset="-122"/>
                <a:cs typeface="MiSans" pitchFamily="34" charset="-120"/>
              </a:rPr>
              <a:t>The MPI in Context: A Brief Overview</a:t>
            </a:r>
            <a:endParaRPr lang="en-US" sz="1600" dirty="0"/>
          </a:p>
        </p:txBody>
      </p:sp>
      <p:sp>
        <p:nvSpPr>
          <p:cNvPr id="4" name="Shape 2"/>
          <p:cNvSpPr/>
          <p:nvPr/>
        </p:nvSpPr>
        <p:spPr>
          <a:xfrm>
            <a:off x="381000" y="1085850"/>
            <a:ext cx="6800850" cy="2381250"/>
          </a:xfrm>
          <a:custGeom>
            <a:avLst/>
            <a:gdLst/>
            <a:ahLst/>
            <a:cxnLst/>
            <a:rect l="l" t="t" r="r" b="b"/>
            <a:pathLst>
              <a:path w="6800850" h="2381250">
                <a:moveTo>
                  <a:pt x="0" y="0"/>
                </a:moveTo>
                <a:lnTo>
                  <a:pt x="6800850" y="0"/>
                </a:lnTo>
                <a:lnTo>
                  <a:pt x="6800850" y="2381250"/>
                </a:lnTo>
                <a:lnTo>
                  <a:pt x="0" y="2381250"/>
                </a:lnTo>
                <a:lnTo>
                  <a:pt x="0" y="0"/>
                </a:lnTo>
                <a:close/>
              </a:path>
            </a:pathLst>
          </a:custGeom>
          <a:solidFill>
            <a:srgbClr val="FFFFFF"/>
          </a:solidFill>
          <a:ln/>
        </p:spPr>
      </p:sp>
      <p:sp>
        <p:nvSpPr>
          <p:cNvPr id="5" name="Shape 3"/>
          <p:cNvSpPr/>
          <p:nvPr/>
        </p:nvSpPr>
        <p:spPr>
          <a:xfrm>
            <a:off x="381000" y="1085850"/>
            <a:ext cx="6800850" cy="38100"/>
          </a:xfrm>
          <a:custGeom>
            <a:avLst/>
            <a:gdLst/>
            <a:ahLst/>
            <a:cxnLst/>
            <a:rect l="l" t="t" r="r" b="b"/>
            <a:pathLst>
              <a:path w="6800850" h="38100">
                <a:moveTo>
                  <a:pt x="0" y="0"/>
                </a:moveTo>
                <a:lnTo>
                  <a:pt x="6800850" y="0"/>
                </a:lnTo>
                <a:lnTo>
                  <a:pt x="6800850" y="38100"/>
                </a:lnTo>
                <a:lnTo>
                  <a:pt x="0" y="38100"/>
                </a:lnTo>
                <a:lnTo>
                  <a:pt x="0" y="0"/>
                </a:lnTo>
                <a:close/>
              </a:path>
            </a:pathLst>
          </a:custGeom>
          <a:solidFill>
            <a:srgbClr val="1E3A5F"/>
          </a:solidFill>
          <a:ln/>
        </p:spPr>
      </p:sp>
      <p:sp>
        <p:nvSpPr>
          <p:cNvPr id="6" name="Text 4"/>
          <p:cNvSpPr/>
          <p:nvPr/>
        </p:nvSpPr>
        <p:spPr>
          <a:xfrm>
            <a:off x="571500" y="1295400"/>
            <a:ext cx="6515100" cy="266700"/>
          </a:xfrm>
          <a:prstGeom prst="rect">
            <a:avLst/>
          </a:prstGeom>
          <a:noFill/>
          <a:ln/>
        </p:spPr>
        <p:txBody>
          <a:bodyPr wrap="square" lIns="0" tIns="0" rIns="0" bIns="0" rtlCol="0" anchor="ctr"/>
          <a:lstStyle/>
          <a:p>
            <a:pPr>
              <a:lnSpc>
                <a:spcPct val="120000"/>
              </a:lnSpc>
            </a:pPr>
            <a:r>
              <a:rPr lang="en-US" sz="1500" b="1" dirty="0">
                <a:solidFill>
                  <a:srgbClr val="1E3A5F"/>
                </a:solidFill>
                <a:latin typeface="MiSans" pitchFamily="34" charset="0"/>
                <a:ea typeface="MiSans" pitchFamily="34" charset="-122"/>
                <a:cs typeface="MiSans" pitchFamily="34" charset="-120"/>
              </a:rPr>
              <a:t>Programme Definition</a:t>
            </a:r>
            <a:endParaRPr lang="en-US" sz="1600" dirty="0"/>
          </a:p>
        </p:txBody>
      </p:sp>
      <p:sp>
        <p:nvSpPr>
          <p:cNvPr id="7" name="Text 5"/>
          <p:cNvSpPr/>
          <p:nvPr/>
        </p:nvSpPr>
        <p:spPr>
          <a:xfrm>
            <a:off x="571500" y="1676400"/>
            <a:ext cx="649605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a:t>
            </a:r>
            <a:pPr>
              <a:lnSpc>
                <a:spcPct val="140000"/>
              </a:lnSpc>
            </a:pPr>
            <a:r>
              <a:rPr lang="en-US" sz="1200" b="1" dirty="0">
                <a:solidFill>
                  <a:srgbClr val="2D3436"/>
                </a:solidFill>
                <a:latin typeface="MiSans" pitchFamily="34" charset="0"/>
                <a:ea typeface="MiSans" pitchFamily="34" charset="-122"/>
                <a:cs typeface="MiSans" pitchFamily="34" charset="-120"/>
              </a:rPr>
              <a:t>Meridian Progress Index (MPI)</a:t>
            </a:r>
            <a:pPr>
              <a:lnSpc>
                <a:spcPct val="140000"/>
              </a:lnSpc>
            </a:pPr>
            <a:r>
              <a:rPr lang="en-US" sz="1200" dirty="0">
                <a:solidFill>
                  <a:srgbClr val="2D3436"/>
                </a:solidFill>
                <a:latin typeface="MiSans" pitchFamily="34" charset="0"/>
                <a:ea typeface="MiSans" pitchFamily="34" charset="-122"/>
                <a:cs typeface="MiSans" pitchFamily="34" charset="-120"/>
              </a:rPr>
              <a:t> is a curriculum framework and staff development programme designed for deployment in </a:t>
            </a:r>
            <a:pPr>
              <a:lnSpc>
                <a:spcPct val="140000"/>
              </a:lnSpc>
            </a:pPr>
            <a:r>
              <a:rPr lang="en-US" sz="1200" dirty="0">
                <a:solidFill>
                  <a:srgbClr val="2D3436"/>
                </a:solidFill>
                <a:highlight>
                  <a:srgbClr val="C49A2C">
                    <a:alpha val="20000"/>
                  </a:srgbClr>
                </a:highlight>
                <a:latin typeface="MiSans" pitchFamily="34" charset="0"/>
                <a:ea typeface="MiSans" pitchFamily="34" charset="-122"/>
                <a:cs typeface="MiSans" pitchFamily="34" charset="-120"/>
              </a:rPr>
              <a:t>secondary schools and local authority partnerships across England </a:t>
            </a:r>
            <a:pPr>
              <a:lnSpc>
                <a:spcPct val="140000"/>
              </a:lnSpc>
            </a:pPr>
            <a:r>
              <a:rPr lang="en-US" sz="1200" dirty="0">
                <a:solidFill>
                  <a:srgbClr val="2D3436"/>
                </a:solidFill>
                <a:latin typeface="MiSans" pitchFamily="34" charset="0"/>
                <a:ea typeface="MiSans" pitchFamily="34" charset="-122"/>
                <a:cs typeface="MiSans" pitchFamily="34" charset="-120"/>
              </a:rPr>
              <a:t>.</a:t>
            </a:r>
            <a:endParaRPr lang="en-US" sz="1600" dirty="0"/>
          </a:p>
        </p:txBody>
      </p:sp>
      <p:sp>
        <p:nvSpPr>
          <p:cNvPr id="8" name="Text 6"/>
          <p:cNvSpPr/>
          <p:nvPr/>
        </p:nvSpPr>
        <p:spPr>
          <a:xfrm>
            <a:off x="571500" y="2533650"/>
            <a:ext cx="6496050" cy="742950"/>
          </a:xfrm>
          <a:prstGeom prst="rect">
            <a:avLst/>
          </a:prstGeom>
          <a:noFill/>
          <a:ln/>
        </p:spPr>
        <p:txBody>
          <a:bodyPr wrap="square" lIns="0" tIns="0" rIns="0" bIns="0" rtlCol="0" anchor="ctr"/>
          <a:lstStyle/>
          <a:p>
            <a:pPr>
              <a:lnSpc>
                <a:spcPct val="140000"/>
              </a:lnSpc>
            </a:pPr>
            <a:r>
              <a:rPr lang="en-US" sz="1200" b="1" dirty="0">
                <a:solidFill>
                  <a:srgbClr val="2D3436"/>
                </a:solidFill>
                <a:latin typeface="MiSans" pitchFamily="34" charset="0"/>
                <a:ea typeface="MiSans" pitchFamily="34" charset="-122"/>
                <a:cs typeface="MiSans" pitchFamily="34" charset="-120"/>
              </a:rPr>
              <a:t>First piloted in 2014</a:t>
            </a:r>
            <a:pPr>
              <a:lnSpc>
                <a:spcPct val="140000"/>
              </a:lnSpc>
            </a:pPr>
            <a:r>
              <a:rPr lang="en-US" sz="1200" dirty="0">
                <a:solidFill>
                  <a:srgbClr val="2D3436"/>
                </a:solidFill>
                <a:latin typeface="MiSans" pitchFamily="34" charset="0"/>
                <a:ea typeface="MiSans" pitchFamily="34" charset="-122"/>
                <a:cs typeface="MiSans" pitchFamily="34" charset="-120"/>
              </a:rPr>
              <a:t> and formally launched in 2016, the MPI represents Meridian Education Group's primary evidence-based product offering. It is currently contracted to </a:t>
            </a:r>
            <a:pPr>
              <a:lnSpc>
                <a:spcPct val="140000"/>
              </a:lnSpc>
            </a:pPr>
            <a:r>
              <a:rPr lang="en-US" sz="1200" b="1" dirty="0">
                <a:solidFill>
                  <a:srgbClr val="2D3436"/>
                </a:solidFill>
                <a:latin typeface="MiSans" pitchFamily="34" charset="0"/>
                <a:ea typeface="MiSans" pitchFamily="34" charset="-122"/>
                <a:cs typeface="MiSans" pitchFamily="34" charset="-120"/>
              </a:rPr>
              <a:t>thirty-one partner schools</a:t>
            </a:r>
            <a:pPr>
              <a:lnSpc>
                <a:spcPct val="140000"/>
              </a:lnSpc>
            </a:pPr>
            <a:r>
              <a:rPr lang="en-US" sz="1200" dirty="0">
                <a:solidFill>
                  <a:srgbClr val="2D3436"/>
                </a:solidFill>
                <a:latin typeface="MiSans" pitchFamily="34" charset="0"/>
                <a:ea typeface="MiSans" pitchFamily="34" charset="-122"/>
                <a:cs typeface="MiSans" pitchFamily="34" charset="-120"/>
              </a:rPr>
              <a:t> across eleven local authority areas.</a:t>
            </a:r>
            <a:endParaRPr lang="en-US" sz="1600" dirty="0"/>
          </a:p>
        </p:txBody>
      </p:sp>
      <p:sp>
        <p:nvSpPr>
          <p:cNvPr id="9" name="Shape 7"/>
          <p:cNvSpPr/>
          <p:nvPr/>
        </p:nvSpPr>
        <p:spPr>
          <a:xfrm>
            <a:off x="381000" y="3619500"/>
            <a:ext cx="6800850" cy="2762250"/>
          </a:xfrm>
          <a:custGeom>
            <a:avLst/>
            <a:gdLst/>
            <a:ahLst/>
            <a:cxnLst/>
            <a:rect l="l" t="t" r="r" b="b"/>
            <a:pathLst>
              <a:path w="6800850" h="2762250">
                <a:moveTo>
                  <a:pt x="0" y="0"/>
                </a:moveTo>
                <a:lnTo>
                  <a:pt x="6800850" y="0"/>
                </a:lnTo>
                <a:lnTo>
                  <a:pt x="6800850" y="2762250"/>
                </a:lnTo>
                <a:lnTo>
                  <a:pt x="0" y="2762250"/>
                </a:lnTo>
                <a:lnTo>
                  <a:pt x="0" y="0"/>
                </a:lnTo>
                <a:close/>
              </a:path>
            </a:pathLst>
          </a:custGeom>
          <a:solidFill>
            <a:srgbClr val="1E3A5F"/>
          </a:solidFill>
          <a:ln/>
        </p:spPr>
      </p:sp>
      <p:sp>
        <p:nvSpPr>
          <p:cNvPr id="10" name="Text 8"/>
          <p:cNvSpPr/>
          <p:nvPr/>
        </p:nvSpPr>
        <p:spPr>
          <a:xfrm>
            <a:off x="571500" y="3810000"/>
            <a:ext cx="6515100"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MiSans" pitchFamily="34" charset="0"/>
                <a:ea typeface="MiSans" pitchFamily="34" charset="-122"/>
                <a:cs typeface="MiSans" pitchFamily="34" charset="-120"/>
              </a:rPr>
              <a:t>The Three-Strand Model</a:t>
            </a:r>
            <a:endParaRPr lang="en-US" sz="1600" dirty="0"/>
          </a:p>
        </p:txBody>
      </p:sp>
      <p:sp>
        <p:nvSpPr>
          <p:cNvPr id="11" name="Text 9"/>
          <p:cNvSpPr/>
          <p:nvPr/>
        </p:nvSpPr>
        <p:spPr>
          <a:xfrm>
            <a:off x="571500" y="4191000"/>
            <a:ext cx="6496050" cy="24765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The MPI operates on a </a:t>
            </a:r>
            <a:pPr>
              <a:lnSpc>
                <a:spcPct val="140000"/>
              </a:lnSpc>
            </a:pPr>
            <a:r>
              <a:rPr lang="en-US" sz="1200" b="1" dirty="0">
                <a:solidFill>
                  <a:srgbClr val="F8F9FA"/>
                </a:solidFill>
                <a:latin typeface="MiSans" pitchFamily="34" charset="0"/>
                <a:ea typeface="MiSans" pitchFamily="34" charset="-122"/>
                <a:cs typeface="MiSans" pitchFamily="34" charset="-120"/>
              </a:rPr>
              <a:t>three-strand model</a:t>
            </a:r>
            <a:pPr>
              <a:lnSpc>
                <a:spcPct val="140000"/>
              </a:lnSpc>
            </a:pPr>
            <a:r>
              <a:rPr lang="en-US" sz="1200" dirty="0">
                <a:solidFill>
                  <a:srgbClr val="F8F9FA"/>
                </a:solidFill>
                <a:latin typeface="MiSans" pitchFamily="34" charset="0"/>
                <a:ea typeface="MiSans" pitchFamily="34" charset="-122"/>
                <a:cs typeface="MiSans" pitchFamily="34" charset="-120"/>
              </a:rPr>
              <a:t>:</a:t>
            </a:r>
            <a:endParaRPr lang="en-US" sz="1600" dirty="0"/>
          </a:p>
        </p:txBody>
      </p:sp>
      <p:sp>
        <p:nvSpPr>
          <p:cNvPr id="12" name="Shape 10"/>
          <p:cNvSpPr/>
          <p:nvPr/>
        </p:nvSpPr>
        <p:spPr>
          <a:xfrm>
            <a:off x="571500" y="455295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C49A2C"/>
          </a:solidFill>
          <a:ln/>
        </p:spPr>
      </p:sp>
      <p:sp>
        <p:nvSpPr>
          <p:cNvPr id="13" name="Text 11"/>
          <p:cNvSpPr/>
          <p:nvPr/>
        </p:nvSpPr>
        <p:spPr>
          <a:xfrm>
            <a:off x="533400" y="4552950"/>
            <a:ext cx="381000" cy="304800"/>
          </a:xfrm>
          <a:prstGeom prst="rect">
            <a:avLst/>
          </a:prstGeom>
          <a:noFill/>
          <a:ln/>
        </p:spPr>
        <p:txBody>
          <a:bodyPr wrap="square" lIns="0" tIns="0" rIns="0" bIns="0" rtlCol="0" anchor="ctr"/>
          <a:lstStyle/>
          <a:p>
            <a:pPr algn="ctr">
              <a:lnSpc>
                <a:spcPct val="130000"/>
              </a:lnSpc>
            </a:pPr>
            <a:r>
              <a:rPr lang="en-US" sz="1200" b="1" dirty="0">
                <a:solidFill>
                  <a:srgbClr val="F8F9FA"/>
                </a:solidFill>
                <a:latin typeface="MiSans" pitchFamily="34" charset="0"/>
                <a:ea typeface="MiSans" pitchFamily="34" charset="-122"/>
                <a:cs typeface="MiSans" pitchFamily="34" charset="-120"/>
              </a:rPr>
              <a:t>1</a:t>
            </a:r>
            <a:endParaRPr lang="en-US" sz="1600" dirty="0"/>
          </a:p>
        </p:txBody>
      </p:sp>
      <p:sp>
        <p:nvSpPr>
          <p:cNvPr id="14" name="Text 12"/>
          <p:cNvSpPr/>
          <p:nvPr/>
        </p:nvSpPr>
        <p:spPr>
          <a:xfrm>
            <a:off x="990600" y="4567238"/>
            <a:ext cx="2578259" cy="200025"/>
          </a:xfrm>
          <a:prstGeom prst="rect">
            <a:avLst/>
          </a:prstGeom>
          <a:noFill/>
          <a:ln/>
        </p:spPr>
        <p:txBody>
          <a:bodyPr wrap="square" lIns="0" tIns="0" rIns="0" bIns="0" rtlCol="0" anchor="ctr"/>
          <a:lstStyle/>
          <a:p>
            <a:pPr>
              <a:lnSpc>
                <a:spcPct val="130000"/>
              </a:lnSpc>
            </a:pPr>
            <a:r>
              <a:rPr lang="en-US" sz="1200" b="1" dirty="0">
                <a:solidFill>
                  <a:srgbClr val="F8F9FA"/>
                </a:solidFill>
                <a:latin typeface="MiSans" pitchFamily="34" charset="0"/>
                <a:ea typeface="MiSans" pitchFamily="34" charset="-122"/>
                <a:cs typeface="MiSans" pitchFamily="34" charset="-120"/>
              </a:rPr>
              <a:t>Structured curriculum sequencing</a:t>
            </a:r>
            <a:endParaRPr lang="en-US" sz="1600" dirty="0"/>
          </a:p>
        </p:txBody>
      </p:sp>
      <p:sp>
        <p:nvSpPr>
          <p:cNvPr id="15" name="Shape 13"/>
          <p:cNvSpPr/>
          <p:nvPr/>
        </p:nvSpPr>
        <p:spPr>
          <a:xfrm>
            <a:off x="571500" y="493395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C49A2C"/>
          </a:solidFill>
          <a:ln/>
        </p:spPr>
      </p:sp>
      <p:sp>
        <p:nvSpPr>
          <p:cNvPr id="16" name="Text 14"/>
          <p:cNvSpPr/>
          <p:nvPr/>
        </p:nvSpPr>
        <p:spPr>
          <a:xfrm>
            <a:off x="533400" y="4933950"/>
            <a:ext cx="381000" cy="304800"/>
          </a:xfrm>
          <a:prstGeom prst="rect">
            <a:avLst/>
          </a:prstGeom>
          <a:noFill/>
          <a:ln/>
        </p:spPr>
        <p:txBody>
          <a:bodyPr wrap="square" lIns="0" tIns="0" rIns="0" bIns="0" rtlCol="0" anchor="ctr"/>
          <a:lstStyle/>
          <a:p>
            <a:pPr algn="ctr">
              <a:lnSpc>
                <a:spcPct val="130000"/>
              </a:lnSpc>
            </a:pPr>
            <a:r>
              <a:rPr lang="en-US" sz="1200" b="1" dirty="0">
                <a:solidFill>
                  <a:srgbClr val="F8F9FA"/>
                </a:solidFill>
                <a:latin typeface="MiSans" pitchFamily="34" charset="0"/>
                <a:ea typeface="MiSans" pitchFamily="34" charset="-122"/>
                <a:cs typeface="MiSans" pitchFamily="34" charset="-120"/>
              </a:rPr>
              <a:t>2</a:t>
            </a:r>
            <a:endParaRPr lang="en-US" sz="1600" dirty="0"/>
          </a:p>
        </p:txBody>
      </p:sp>
      <p:sp>
        <p:nvSpPr>
          <p:cNvPr id="17" name="Text 15"/>
          <p:cNvSpPr/>
          <p:nvPr/>
        </p:nvSpPr>
        <p:spPr>
          <a:xfrm>
            <a:off x="990600" y="4948238"/>
            <a:ext cx="2551589" cy="200025"/>
          </a:xfrm>
          <a:prstGeom prst="rect">
            <a:avLst/>
          </a:prstGeom>
          <a:noFill/>
          <a:ln/>
        </p:spPr>
        <p:txBody>
          <a:bodyPr wrap="square" lIns="0" tIns="0" rIns="0" bIns="0" rtlCol="0" anchor="ctr"/>
          <a:lstStyle/>
          <a:p>
            <a:pPr>
              <a:lnSpc>
                <a:spcPct val="130000"/>
              </a:lnSpc>
            </a:pPr>
            <a:r>
              <a:rPr lang="en-US" sz="1200" b="1" dirty="0">
                <a:solidFill>
                  <a:srgbClr val="F8F9FA"/>
                </a:solidFill>
                <a:latin typeface="MiSans" pitchFamily="34" charset="0"/>
                <a:ea typeface="MiSans" pitchFamily="34" charset="-122"/>
                <a:cs typeface="MiSans" pitchFamily="34" charset="-120"/>
              </a:rPr>
              <a:t>Formative assessment integration</a:t>
            </a:r>
            <a:endParaRPr lang="en-US" sz="1600" dirty="0"/>
          </a:p>
        </p:txBody>
      </p:sp>
      <p:sp>
        <p:nvSpPr>
          <p:cNvPr id="18" name="Shape 16"/>
          <p:cNvSpPr/>
          <p:nvPr/>
        </p:nvSpPr>
        <p:spPr>
          <a:xfrm>
            <a:off x="571500" y="531495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C49A2C"/>
          </a:solidFill>
          <a:ln/>
        </p:spPr>
      </p:sp>
      <p:sp>
        <p:nvSpPr>
          <p:cNvPr id="19" name="Text 17"/>
          <p:cNvSpPr/>
          <p:nvPr/>
        </p:nvSpPr>
        <p:spPr>
          <a:xfrm>
            <a:off x="533400" y="5314950"/>
            <a:ext cx="381000" cy="304800"/>
          </a:xfrm>
          <a:prstGeom prst="rect">
            <a:avLst/>
          </a:prstGeom>
          <a:noFill/>
          <a:ln/>
        </p:spPr>
        <p:txBody>
          <a:bodyPr wrap="square" lIns="0" tIns="0" rIns="0" bIns="0" rtlCol="0" anchor="ctr"/>
          <a:lstStyle/>
          <a:p>
            <a:pPr algn="ctr">
              <a:lnSpc>
                <a:spcPct val="130000"/>
              </a:lnSpc>
            </a:pPr>
            <a:r>
              <a:rPr lang="en-US" sz="1200" b="1" dirty="0">
                <a:solidFill>
                  <a:srgbClr val="F8F9FA"/>
                </a:solidFill>
                <a:latin typeface="MiSans" pitchFamily="34" charset="0"/>
                <a:ea typeface="MiSans" pitchFamily="34" charset="-122"/>
                <a:cs typeface="MiSans" pitchFamily="34" charset="-120"/>
              </a:rPr>
              <a:t>3</a:t>
            </a:r>
            <a:endParaRPr lang="en-US" sz="1600" dirty="0"/>
          </a:p>
        </p:txBody>
      </p:sp>
      <p:sp>
        <p:nvSpPr>
          <p:cNvPr id="20" name="Text 18"/>
          <p:cNvSpPr/>
          <p:nvPr/>
        </p:nvSpPr>
        <p:spPr>
          <a:xfrm>
            <a:off x="990600" y="5329238"/>
            <a:ext cx="3238659" cy="200025"/>
          </a:xfrm>
          <a:prstGeom prst="rect">
            <a:avLst/>
          </a:prstGeom>
          <a:noFill/>
          <a:ln/>
        </p:spPr>
        <p:txBody>
          <a:bodyPr wrap="square" lIns="0" tIns="0" rIns="0" bIns="0" rtlCol="0" anchor="ctr"/>
          <a:lstStyle/>
          <a:p>
            <a:pPr>
              <a:lnSpc>
                <a:spcPct val="130000"/>
              </a:lnSpc>
            </a:pPr>
            <a:r>
              <a:rPr lang="en-US" sz="1200" b="1" dirty="0">
                <a:solidFill>
                  <a:srgbClr val="F8F9FA"/>
                </a:solidFill>
                <a:latin typeface="MiSans" pitchFamily="34" charset="0"/>
                <a:ea typeface="MiSans" pitchFamily="34" charset="-122"/>
                <a:cs typeface="MiSans" pitchFamily="34" charset="-120"/>
              </a:rPr>
              <a:t>Professional development for subject leads</a:t>
            </a:r>
            <a:endParaRPr lang="en-US" sz="1600" dirty="0"/>
          </a:p>
        </p:txBody>
      </p:sp>
      <p:sp>
        <p:nvSpPr>
          <p:cNvPr id="21" name="Text 19"/>
          <p:cNvSpPr/>
          <p:nvPr/>
        </p:nvSpPr>
        <p:spPr>
          <a:xfrm>
            <a:off x="571500" y="5734050"/>
            <a:ext cx="6496050" cy="4572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These strands are not independent. Schools implementing only one or two strands are not, in the MPI's own terms, implementing the programme.</a:t>
            </a:r>
            <a:endParaRPr lang="en-US" sz="1600" dirty="0"/>
          </a:p>
        </p:txBody>
      </p:sp>
      <p:sp>
        <p:nvSpPr>
          <p:cNvPr id="22" name="Shape 20"/>
          <p:cNvSpPr/>
          <p:nvPr/>
        </p:nvSpPr>
        <p:spPr>
          <a:xfrm>
            <a:off x="7330440" y="1066800"/>
            <a:ext cx="4476750" cy="3124200"/>
          </a:xfrm>
          <a:custGeom>
            <a:avLst/>
            <a:gdLst/>
            <a:ahLst/>
            <a:cxnLst/>
            <a:rect l="l" t="t" r="r" b="b"/>
            <a:pathLst>
              <a:path w="4476750" h="3124200">
                <a:moveTo>
                  <a:pt x="0" y="0"/>
                </a:moveTo>
                <a:lnTo>
                  <a:pt x="4476750" y="0"/>
                </a:lnTo>
                <a:lnTo>
                  <a:pt x="4476750" y="3124200"/>
                </a:lnTo>
                <a:lnTo>
                  <a:pt x="0" y="3124200"/>
                </a:lnTo>
                <a:lnTo>
                  <a:pt x="0" y="0"/>
                </a:lnTo>
                <a:close/>
              </a:path>
            </a:pathLst>
          </a:custGeom>
          <a:solidFill>
            <a:srgbClr val="C49A2C"/>
          </a:solidFill>
          <a:ln/>
        </p:spPr>
      </p:sp>
      <p:sp>
        <p:nvSpPr>
          <p:cNvPr id="23" name="Text 21"/>
          <p:cNvSpPr/>
          <p:nvPr/>
        </p:nvSpPr>
        <p:spPr>
          <a:xfrm>
            <a:off x="7473315" y="1257300"/>
            <a:ext cx="4191000" cy="2667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Published Effect Size</a:t>
            </a:r>
            <a:endParaRPr lang="en-US" sz="1600" dirty="0"/>
          </a:p>
        </p:txBody>
      </p:sp>
      <p:sp>
        <p:nvSpPr>
          <p:cNvPr id="24" name="Text 22"/>
          <p:cNvSpPr/>
          <p:nvPr/>
        </p:nvSpPr>
        <p:spPr>
          <a:xfrm>
            <a:off x="7349490" y="1676400"/>
            <a:ext cx="4438650" cy="685800"/>
          </a:xfrm>
          <a:prstGeom prst="rect">
            <a:avLst/>
          </a:prstGeom>
          <a:noFill/>
          <a:ln/>
        </p:spPr>
        <p:txBody>
          <a:bodyPr wrap="square" lIns="0" tIns="0" rIns="0" bIns="0" rtlCol="0" anchor="ctr"/>
          <a:lstStyle/>
          <a:p>
            <a:pPr algn="ctr">
              <a:lnSpc>
                <a:spcPct val="80000"/>
              </a:lnSpc>
            </a:pPr>
            <a:r>
              <a:rPr lang="en-US" sz="5400" b="1" dirty="0">
                <a:solidFill>
                  <a:srgbClr val="F8F9FA"/>
                </a:solidFill>
                <a:latin typeface="MiSans" pitchFamily="34" charset="0"/>
                <a:ea typeface="MiSans" pitchFamily="34" charset="-122"/>
                <a:cs typeface="MiSans" pitchFamily="34" charset="-120"/>
              </a:rPr>
              <a:t>0.61</a:t>
            </a:r>
            <a:endParaRPr lang="en-US" sz="1600" dirty="0"/>
          </a:p>
        </p:txBody>
      </p:sp>
      <p:sp>
        <p:nvSpPr>
          <p:cNvPr id="25" name="Text 23"/>
          <p:cNvSpPr/>
          <p:nvPr/>
        </p:nvSpPr>
        <p:spPr>
          <a:xfrm>
            <a:off x="7473315" y="2438400"/>
            <a:ext cx="4191000" cy="266700"/>
          </a:xfrm>
          <a:prstGeom prst="rect">
            <a:avLst/>
          </a:prstGeom>
          <a:noFill/>
          <a:ln/>
        </p:spPr>
        <p:txBody>
          <a:bodyPr wrap="square" lIns="0" tIns="0" rIns="0" bIns="0" rtlCol="0" anchor="ctr"/>
          <a:lstStyle/>
          <a:p>
            <a:pPr algn="ctr">
              <a:lnSpc>
                <a:spcPct val="120000"/>
              </a:lnSpc>
            </a:pPr>
            <a:r>
              <a:rPr lang="en-US" sz="1500" dirty="0">
                <a:solidFill>
                  <a:srgbClr val="F8F9FA"/>
                </a:solidFill>
                <a:latin typeface="MiSans" pitchFamily="34" charset="0"/>
                <a:ea typeface="MiSans" pitchFamily="34" charset="-122"/>
                <a:cs typeface="MiSans" pitchFamily="34" charset="-120"/>
              </a:rPr>
              <a:t>Cohen's d</a:t>
            </a:r>
            <a:endParaRPr lang="en-US" sz="1600" dirty="0"/>
          </a:p>
        </p:txBody>
      </p:sp>
      <p:sp>
        <p:nvSpPr>
          <p:cNvPr id="26" name="Shape 24"/>
          <p:cNvSpPr/>
          <p:nvPr/>
        </p:nvSpPr>
        <p:spPr>
          <a:xfrm>
            <a:off x="7539990" y="29003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8F9FA"/>
          </a:solidFill>
          <a:ln/>
        </p:spPr>
      </p:sp>
      <p:sp>
        <p:nvSpPr>
          <p:cNvPr id="27" name="Text 25"/>
          <p:cNvSpPr/>
          <p:nvPr/>
        </p:nvSpPr>
        <p:spPr>
          <a:xfrm>
            <a:off x="7768590" y="2857500"/>
            <a:ext cx="39243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Based on 2022–2024 data</a:t>
            </a:r>
            <a:endParaRPr lang="en-US" sz="1600" dirty="0"/>
          </a:p>
        </p:txBody>
      </p:sp>
      <p:sp>
        <p:nvSpPr>
          <p:cNvPr id="28" name="Shape 26"/>
          <p:cNvSpPr/>
          <p:nvPr/>
        </p:nvSpPr>
        <p:spPr>
          <a:xfrm>
            <a:off x="7539990" y="32051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8F9FA"/>
          </a:solidFill>
          <a:ln/>
        </p:spPr>
      </p:sp>
      <p:sp>
        <p:nvSpPr>
          <p:cNvPr id="29" name="Text 27"/>
          <p:cNvSpPr/>
          <p:nvPr/>
        </p:nvSpPr>
        <p:spPr>
          <a:xfrm>
            <a:off x="7768590" y="3162300"/>
            <a:ext cx="39243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31 partner schools</a:t>
            </a:r>
            <a:endParaRPr lang="en-US" sz="1600" dirty="0"/>
          </a:p>
        </p:txBody>
      </p:sp>
      <p:sp>
        <p:nvSpPr>
          <p:cNvPr id="30" name="Shape 28"/>
          <p:cNvSpPr/>
          <p:nvPr/>
        </p:nvSpPr>
        <p:spPr>
          <a:xfrm>
            <a:off x="7539990" y="35099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8F9FA"/>
          </a:solidFill>
          <a:ln/>
        </p:spPr>
      </p:sp>
      <p:sp>
        <p:nvSpPr>
          <p:cNvPr id="31" name="Text 29"/>
          <p:cNvSpPr/>
          <p:nvPr/>
        </p:nvSpPr>
        <p:spPr>
          <a:xfrm>
            <a:off x="7768590" y="3467100"/>
            <a:ext cx="39243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Well above 0.4 hinge point</a:t>
            </a:r>
            <a:endParaRPr lang="en-US" sz="1600" dirty="0"/>
          </a:p>
        </p:txBody>
      </p:sp>
      <p:sp>
        <p:nvSpPr>
          <p:cNvPr id="32" name="Shape 30"/>
          <p:cNvSpPr/>
          <p:nvPr/>
        </p:nvSpPr>
        <p:spPr>
          <a:xfrm>
            <a:off x="7539990" y="38147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8F9FA"/>
          </a:solidFill>
          <a:ln/>
        </p:spPr>
      </p:sp>
      <p:sp>
        <p:nvSpPr>
          <p:cNvPr id="33" name="Text 31"/>
          <p:cNvSpPr/>
          <p:nvPr/>
        </p:nvSpPr>
        <p:spPr>
          <a:xfrm>
            <a:off x="7768590" y="3771900"/>
            <a:ext cx="39243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Comparable to formative assessment interventions</a:t>
            </a:r>
            <a:endParaRPr lang="en-US" sz="1600" dirty="0"/>
          </a:p>
        </p:txBody>
      </p:sp>
      <p:sp>
        <p:nvSpPr>
          <p:cNvPr id="34" name="Shape 32"/>
          <p:cNvSpPr/>
          <p:nvPr/>
        </p:nvSpPr>
        <p:spPr>
          <a:xfrm>
            <a:off x="7349490" y="4343400"/>
            <a:ext cx="4457700" cy="1676400"/>
          </a:xfrm>
          <a:custGeom>
            <a:avLst/>
            <a:gdLst/>
            <a:ahLst/>
            <a:cxnLst/>
            <a:rect l="l" t="t" r="r" b="b"/>
            <a:pathLst>
              <a:path w="4457700" h="1676400">
                <a:moveTo>
                  <a:pt x="0" y="0"/>
                </a:moveTo>
                <a:lnTo>
                  <a:pt x="4457700" y="0"/>
                </a:lnTo>
                <a:lnTo>
                  <a:pt x="4457700" y="1676400"/>
                </a:lnTo>
                <a:lnTo>
                  <a:pt x="0" y="1676400"/>
                </a:lnTo>
                <a:lnTo>
                  <a:pt x="0" y="0"/>
                </a:lnTo>
                <a:close/>
              </a:path>
            </a:pathLst>
          </a:custGeom>
          <a:solidFill>
            <a:srgbClr val="FFFFFF"/>
          </a:solidFill>
          <a:ln/>
        </p:spPr>
      </p:sp>
      <p:sp>
        <p:nvSpPr>
          <p:cNvPr id="35" name="Shape 33"/>
          <p:cNvSpPr/>
          <p:nvPr/>
        </p:nvSpPr>
        <p:spPr>
          <a:xfrm>
            <a:off x="7349490" y="4343400"/>
            <a:ext cx="38100" cy="1676400"/>
          </a:xfrm>
          <a:custGeom>
            <a:avLst/>
            <a:gdLst/>
            <a:ahLst/>
            <a:cxnLst/>
            <a:rect l="l" t="t" r="r" b="b"/>
            <a:pathLst>
              <a:path w="38100" h="1676400">
                <a:moveTo>
                  <a:pt x="0" y="0"/>
                </a:moveTo>
                <a:lnTo>
                  <a:pt x="38100" y="0"/>
                </a:lnTo>
                <a:lnTo>
                  <a:pt x="38100" y="1676400"/>
                </a:lnTo>
                <a:lnTo>
                  <a:pt x="0" y="1676400"/>
                </a:lnTo>
                <a:lnTo>
                  <a:pt x="0" y="0"/>
                </a:lnTo>
                <a:close/>
              </a:path>
            </a:pathLst>
          </a:custGeom>
          <a:solidFill>
            <a:srgbClr val="C49A2C"/>
          </a:solidFill>
          <a:ln/>
        </p:spPr>
      </p:sp>
      <p:sp>
        <p:nvSpPr>
          <p:cNvPr id="36" name="Text 34"/>
          <p:cNvSpPr/>
          <p:nvPr/>
        </p:nvSpPr>
        <p:spPr>
          <a:xfrm>
            <a:off x="7520940" y="4495800"/>
            <a:ext cx="4219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Effect Size Interpretation</a:t>
            </a:r>
            <a:endParaRPr lang="en-US" sz="1600" dirty="0"/>
          </a:p>
        </p:txBody>
      </p:sp>
      <p:sp>
        <p:nvSpPr>
          <p:cNvPr id="37" name="Text 35"/>
          <p:cNvSpPr/>
          <p:nvPr/>
        </p:nvSpPr>
        <p:spPr>
          <a:xfrm>
            <a:off x="7520940" y="4838700"/>
            <a:ext cx="1371600" cy="228600"/>
          </a:xfrm>
          <a:prstGeom prst="rect">
            <a:avLst/>
          </a:prstGeom>
          <a:noFill/>
          <a:ln/>
        </p:spPr>
        <p:txBody>
          <a:bodyPr wrap="square" lIns="0" tIns="0" rIns="0" bIns="0" rtlCol="0" anchor="ctr"/>
          <a:lstStyle/>
          <a:p>
            <a:pPr>
              <a:lnSpc>
                <a:spcPct val="130000"/>
              </a:lnSpc>
            </a:pPr>
            <a:r>
              <a:rPr lang="en-US" sz="1200" dirty="0">
                <a:solidFill>
                  <a:srgbClr val="2D3436"/>
                </a:solidFill>
                <a:latin typeface="MiSans" pitchFamily="34" charset="0"/>
                <a:ea typeface="MiSans" pitchFamily="34" charset="-122"/>
                <a:cs typeface="MiSans" pitchFamily="34" charset="-120"/>
              </a:rPr>
              <a:t>0.2 — Small effect</a:t>
            </a:r>
            <a:endParaRPr lang="en-US" sz="1600" dirty="0"/>
          </a:p>
        </p:txBody>
      </p:sp>
      <p:sp>
        <p:nvSpPr>
          <p:cNvPr id="38" name="Shape 36"/>
          <p:cNvSpPr/>
          <p:nvPr/>
        </p:nvSpPr>
        <p:spPr>
          <a:xfrm>
            <a:off x="10744200" y="4914900"/>
            <a:ext cx="914400" cy="76200"/>
          </a:xfrm>
          <a:custGeom>
            <a:avLst/>
            <a:gdLst/>
            <a:ahLst/>
            <a:cxnLst/>
            <a:rect l="l" t="t" r="r" b="b"/>
            <a:pathLst>
              <a:path w="914400" h="76200">
                <a:moveTo>
                  <a:pt x="0" y="0"/>
                </a:moveTo>
                <a:lnTo>
                  <a:pt x="914400" y="0"/>
                </a:lnTo>
                <a:lnTo>
                  <a:pt x="914400" y="76200"/>
                </a:lnTo>
                <a:lnTo>
                  <a:pt x="0" y="76200"/>
                </a:lnTo>
                <a:lnTo>
                  <a:pt x="0" y="0"/>
                </a:lnTo>
                <a:close/>
              </a:path>
            </a:pathLst>
          </a:custGeom>
          <a:solidFill>
            <a:srgbClr val="E5E7EB"/>
          </a:solidFill>
          <a:ln/>
        </p:spPr>
      </p:sp>
      <p:sp>
        <p:nvSpPr>
          <p:cNvPr id="39" name="Shape 37"/>
          <p:cNvSpPr/>
          <p:nvPr/>
        </p:nvSpPr>
        <p:spPr>
          <a:xfrm>
            <a:off x="10744200" y="4914900"/>
            <a:ext cx="228600" cy="76200"/>
          </a:xfrm>
          <a:custGeom>
            <a:avLst/>
            <a:gdLst/>
            <a:ahLst/>
            <a:cxnLst/>
            <a:rect l="l" t="t" r="r" b="b"/>
            <a:pathLst>
              <a:path w="228600" h="76200">
                <a:moveTo>
                  <a:pt x="0" y="0"/>
                </a:moveTo>
                <a:lnTo>
                  <a:pt x="228600" y="0"/>
                </a:lnTo>
                <a:lnTo>
                  <a:pt x="228600" y="76200"/>
                </a:lnTo>
                <a:lnTo>
                  <a:pt x="0" y="76200"/>
                </a:lnTo>
                <a:lnTo>
                  <a:pt x="0" y="0"/>
                </a:lnTo>
                <a:close/>
              </a:path>
            </a:pathLst>
          </a:custGeom>
          <a:solidFill>
            <a:srgbClr val="6C757D"/>
          </a:solidFill>
          <a:ln/>
        </p:spPr>
      </p:sp>
      <p:sp>
        <p:nvSpPr>
          <p:cNvPr id="40" name="Text 38"/>
          <p:cNvSpPr/>
          <p:nvPr/>
        </p:nvSpPr>
        <p:spPr>
          <a:xfrm>
            <a:off x="7520940" y="5105400"/>
            <a:ext cx="1562100" cy="228600"/>
          </a:xfrm>
          <a:prstGeom prst="rect">
            <a:avLst/>
          </a:prstGeom>
          <a:noFill/>
          <a:ln/>
        </p:spPr>
        <p:txBody>
          <a:bodyPr wrap="square" lIns="0" tIns="0" rIns="0" bIns="0" rtlCol="0" anchor="ctr"/>
          <a:lstStyle/>
          <a:p>
            <a:pPr>
              <a:lnSpc>
                <a:spcPct val="130000"/>
              </a:lnSpc>
            </a:pPr>
            <a:r>
              <a:rPr lang="en-US" sz="1200" dirty="0">
                <a:solidFill>
                  <a:srgbClr val="2D3436"/>
                </a:solidFill>
                <a:latin typeface="MiSans" pitchFamily="34" charset="0"/>
                <a:ea typeface="MiSans" pitchFamily="34" charset="-122"/>
                <a:cs typeface="MiSans" pitchFamily="34" charset="-120"/>
              </a:rPr>
              <a:t>0.5 — Medium effect</a:t>
            </a:r>
            <a:endParaRPr lang="en-US" sz="1600" dirty="0"/>
          </a:p>
        </p:txBody>
      </p:sp>
      <p:sp>
        <p:nvSpPr>
          <p:cNvPr id="41" name="Shape 39"/>
          <p:cNvSpPr/>
          <p:nvPr/>
        </p:nvSpPr>
        <p:spPr>
          <a:xfrm>
            <a:off x="10744200" y="5181600"/>
            <a:ext cx="914400" cy="76200"/>
          </a:xfrm>
          <a:custGeom>
            <a:avLst/>
            <a:gdLst/>
            <a:ahLst/>
            <a:cxnLst/>
            <a:rect l="l" t="t" r="r" b="b"/>
            <a:pathLst>
              <a:path w="914400" h="76200">
                <a:moveTo>
                  <a:pt x="0" y="0"/>
                </a:moveTo>
                <a:lnTo>
                  <a:pt x="914400" y="0"/>
                </a:lnTo>
                <a:lnTo>
                  <a:pt x="914400" y="76200"/>
                </a:lnTo>
                <a:lnTo>
                  <a:pt x="0" y="76200"/>
                </a:lnTo>
                <a:lnTo>
                  <a:pt x="0" y="0"/>
                </a:lnTo>
                <a:close/>
              </a:path>
            </a:pathLst>
          </a:custGeom>
          <a:solidFill>
            <a:srgbClr val="E5E7EB"/>
          </a:solidFill>
          <a:ln/>
        </p:spPr>
      </p:sp>
      <p:sp>
        <p:nvSpPr>
          <p:cNvPr id="42" name="Shape 40"/>
          <p:cNvSpPr/>
          <p:nvPr/>
        </p:nvSpPr>
        <p:spPr>
          <a:xfrm>
            <a:off x="10744200" y="5181600"/>
            <a:ext cx="571500" cy="76200"/>
          </a:xfrm>
          <a:custGeom>
            <a:avLst/>
            <a:gdLst/>
            <a:ahLst/>
            <a:cxnLst/>
            <a:rect l="l" t="t" r="r" b="b"/>
            <a:pathLst>
              <a:path w="571500" h="76200">
                <a:moveTo>
                  <a:pt x="0" y="0"/>
                </a:moveTo>
                <a:lnTo>
                  <a:pt x="571500" y="0"/>
                </a:lnTo>
                <a:lnTo>
                  <a:pt x="571500" y="76200"/>
                </a:lnTo>
                <a:lnTo>
                  <a:pt x="0" y="76200"/>
                </a:lnTo>
                <a:lnTo>
                  <a:pt x="0" y="0"/>
                </a:lnTo>
                <a:close/>
              </a:path>
            </a:pathLst>
          </a:custGeom>
          <a:solidFill>
            <a:srgbClr val="1E3A5F"/>
          </a:solidFill>
          <a:ln/>
        </p:spPr>
      </p:sp>
      <p:sp>
        <p:nvSpPr>
          <p:cNvPr id="43" name="Text 41"/>
          <p:cNvSpPr/>
          <p:nvPr/>
        </p:nvSpPr>
        <p:spPr>
          <a:xfrm>
            <a:off x="7520940" y="5372100"/>
            <a:ext cx="1400175" cy="228600"/>
          </a:xfrm>
          <a:prstGeom prst="rect">
            <a:avLst/>
          </a:prstGeom>
          <a:noFill/>
          <a:ln/>
        </p:spPr>
        <p:txBody>
          <a:bodyPr wrap="square" lIns="0" tIns="0" rIns="0" bIns="0" rtlCol="0" anchor="ctr"/>
          <a:lstStyle/>
          <a:p>
            <a:pPr>
              <a:lnSpc>
                <a:spcPct val="130000"/>
              </a:lnSpc>
            </a:pPr>
            <a:r>
              <a:rPr lang="en-US" sz="1200" dirty="0">
                <a:solidFill>
                  <a:srgbClr val="2D3436"/>
                </a:solidFill>
                <a:latin typeface="MiSans" pitchFamily="34" charset="0"/>
                <a:ea typeface="MiSans" pitchFamily="34" charset="-122"/>
                <a:cs typeface="MiSans" pitchFamily="34" charset="-120"/>
              </a:rPr>
              <a:t>0.8 — Large effect</a:t>
            </a:r>
            <a:endParaRPr lang="en-US" sz="1600" dirty="0"/>
          </a:p>
        </p:txBody>
      </p:sp>
      <p:sp>
        <p:nvSpPr>
          <p:cNvPr id="44" name="Shape 42"/>
          <p:cNvSpPr/>
          <p:nvPr/>
        </p:nvSpPr>
        <p:spPr>
          <a:xfrm>
            <a:off x="10744200" y="5448300"/>
            <a:ext cx="914400" cy="76200"/>
          </a:xfrm>
          <a:custGeom>
            <a:avLst/>
            <a:gdLst/>
            <a:ahLst/>
            <a:cxnLst/>
            <a:rect l="l" t="t" r="r" b="b"/>
            <a:pathLst>
              <a:path w="914400" h="76200">
                <a:moveTo>
                  <a:pt x="0" y="0"/>
                </a:moveTo>
                <a:lnTo>
                  <a:pt x="914400" y="0"/>
                </a:lnTo>
                <a:lnTo>
                  <a:pt x="914400" y="76200"/>
                </a:lnTo>
                <a:lnTo>
                  <a:pt x="0" y="76200"/>
                </a:lnTo>
                <a:lnTo>
                  <a:pt x="0" y="0"/>
                </a:lnTo>
                <a:close/>
              </a:path>
            </a:pathLst>
          </a:custGeom>
          <a:solidFill>
            <a:srgbClr val="E5E7EB"/>
          </a:solidFill>
          <a:ln/>
        </p:spPr>
      </p:sp>
      <p:sp>
        <p:nvSpPr>
          <p:cNvPr id="45" name="Shape 43"/>
          <p:cNvSpPr/>
          <p:nvPr/>
        </p:nvSpPr>
        <p:spPr>
          <a:xfrm>
            <a:off x="10744200" y="5448300"/>
            <a:ext cx="914400" cy="76200"/>
          </a:xfrm>
          <a:custGeom>
            <a:avLst/>
            <a:gdLst/>
            <a:ahLst/>
            <a:cxnLst/>
            <a:rect l="l" t="t" r="r" b="b"/>
            <a:pathLst>
              <a:path w="914400" h="76200">
                <a:moveTo>
                  <a:pt x="0" y="0"/>
                </a:moveTo>
                <a:lnTo>
                  <a:pt x="914400" y="0"/>
                </a:lnTo>
                <a:lnTo>
                  <a:pt x="914400" y="76200"/>
                </a:lnTo>
                <a:lnTo>
                  <a:pt x="0" y="76200"/>
                </a:lnTo>
                <a:lnTo>
                  <a:pt x="0" y="0"/>
                </a:lnTo>
                <a:close/>
              </a:path>
            </a:pathLst>
          </a:custGeom>
          <a:solidFill>
            <a:srgbClr val="1E3A5F"/>
          </a:solidFill>
          <a:ln/>
        </p:spPr>
      </p:sp>
      <p:sp>
        <p:nvSpPr>
          <p:cNvPr id="46" name="Text 44"/>
          <p:cNvSpPr/>
          <p:nvPr/>
        </p:nvSpPr>
        <p:spPr>
          <a:xfrm>
            <a:off x="7520940" y="5638800"/>
            <a:ext cx="742950" cy="228600"/>
          </a:xfrm>
          <a:prstGeom prst="rect">
            <a:avLst/>
          </a:prstGeom>
          <a:noFill/>
          <a:ln/>
        </p:spPr>
        <p:txBody>
          <a:bodyPr wrap="square" lIns="0" tIns="0" rIns="0" bIns="0" rtlCol="0" anchor="ctr"/>
          <a:lstStyle/>
          <a:p>
            <a:pPr>
              <a:lnSpc>
                <a:spcPct val="130000"/>
              </a:lnSpc>
            </a:pPr>
            <a:r>
              <a:rPr lang="en-US" sz="1200" b="1" dirty="0">
                <a:solidFill>
                  <a:srgbClr val="C49A2C"/>
                </a:solidFill>
                <a:latin typeface="MiSans" pitchFamily="34" charset="0"/>
                <a:ea typeface="MiSans" pitchFamily="34" charset="-122"/>
                <a:cs typeface="MiSans" pitchFamily="34" charset="-120"/>
              </a:rPr>
              <a:t>MPI: 0.61</a:t>
            </a:r>
            <a:endParaRPr lang="en-US" sz="1600" dirty="0"/>
          </a:p>
        </p:txBody>
      </p:sp>
      <p:sp>
        <p:nvSpPr>
          <p:cNvPr id="47" name="Shape 45"/>
          <p:cNvSpPr/>
          <p:nvPr/>
        </p:nvSpPr>
        <p:spPr>
          <a:xfrm>
            <a:off x="10744200" y="5695950"/>
            <a:ext cx="914400" cy="114300"/>
          </a:xfrm>
          <a:custGeom>
            <a:avLst/>
            <a:gdLst/>
            <a:ahLst/>
            <a:cxnLst/>
            <a:rect l="l" t="t" r="r" b="b"/>
            <a:pathLst>
              <a:path w="914400" h="114300">
                <a:moveTo>
                  <a:pt x="0" y="0"/>
                </a:moveTo>
                <a:lnTo>
                  <a:pt x="914400" y="0"/>
                </a:lnTo>
                <a:lnTo>
                  <a:pt x="914400" y="114300"/>
                </a:lnTo>
                <a:lnTo>
                  <a:pt x="0" y="114300"/>
                </a:lnTo>
                <a:lnTo>
                  <a:pt x="0" y="0"/>
                </a:lnTo>
                <a:close/>
              </a:path>
            </a:pathLst>
          </a:custGeom>
          <a:solidFill>
            <a:srgbClr val="E5E7EB"/>
          </a:solidFill>
          <a:ln/>
        </p:spPr>
      </p:sp>
      <p:sp>
        <p:nvSpPr>
          <p:cNvPr id="48" name="Shape 46"/>
          <p:cNvSpPr/>
          <p:nvPr/>
        </p:nvSpPr>
        <p:spPr>
          <a:xfrm>
            <a:off x="10744200" y="5695950"/>
            <a:ext cx="695325" cy="114300"/>
          </a:xfrm>
          <a:custGeom>
            <a:avLst/>
            <a:gdLst/>
            <a:ahLst/>
            <a:cxnLst/>
            <a:rect l="l" t="t" r="r" b="b"/>
            <a:pathLst>
              <a:path w="695325" h="114300">
                <a:moveTo>
                  <a:pt x="0" y="0"/>
                </a:moveTo>
                <a:lnTo>
                  <a:pt x="695325" y="0"/>
                </a:lnTo>
                <a:lnTo>
                  <a:pt x="695325" y="114300"/>
                </a:lnTo>
                <a:lnTo>
                  <a:pt x="0" y="114300"/>
                </a:lnTo>
                <a:lnTo>
                  <a:pt x="0" y="0"/>
                </a:lnTo>
                <a:close/>
              </a:path>
            </a:pathLst>
          </a:custGeom>
          <a:solidFill>
            <a:srgbClr val="C49A2C"/>
          </a:solidFill>
          <a:ln/>
        </p:spPr>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19100"/>
            <a:ext cx="5591175" cy="381000"/>
          </a:xfrm>
          <a:prstGeom prst="rect">
            <a:avLst/>
          </a:prstGeom>
          <a:noFill/>
          <a:ln/>
        </p:spPr>
        <p:txBody>
          <a:bodyPr wrap="square" lIns="0" tIns="0" rIns="0" bIns="0" rtlCol="0" anchor="ctr"/>
          <a:lstStyle/>
          <a:p>
            <a:pPr>
              <a:lnSpc>
                <a:spcPct val="90000"/>
              </a:lnSpc>
            </a:pPr>
            <a:r>
              <a:rPr lang="en-US" sz="2700" b="1" dirty="0">
                <a:solidFill>
                  <a:srgbClr val="1E3A5F"/>
                </a:solidFill>
                <a:latin typeface="MiSans" pitchFamily="34" charset="0"/>
                <a:ea typeface="MiSans" pitchFamily="34" charset="-122"/>
                <a:cs typeface="MiSans" pitchFamily="34" charset="-120"/>
              </a:rPr>
              <a:t>Module Structure and Navigation</a:t>
            </a:r>
            <a:endParaRPr lang="en-US" sz="1600" dirty="0"/>
          </a:p>
        </p:txBody>
      </p:sp>
      <p:sp>
        <p:nvSpPr>
          <p:cNvPr id="4" name="Shape 2"/>
          <p:cNvSpPr/>
          <p:nvPr/>
        </p:nvSpPr>
        <p:spPr>
          <a:xfrm>
            <a:off x="400050" y="1066800"/>
            <a:ext cx="5638800" cy="1257300"/>
          </a:xfrm>
          <a:custGeom>
            <a:avLst/>
            <a:gdLst/>
            <a:ahLst/>
            <a:cxnLst/>
            <a:rect l="l" t="t" r="r" b="b"/>
            <a:pathLst>
              <a:path w="5638800" h="1257300">
                <a:moveTo>
                  <a:pt x="0" y="0"/>
                </a:moveTo>
                <a:lnTo>
                  <a:pt x="5638800" y="0"/>
                </a:lnTo>
                <a:lnTo>
                  <a:pt x="5638800" y="1257300"/>
                </a:lnTo>
                <a:lnTo>
                  <a:pt x="0" y="1257300"/>
                </a:lnTo>
                <a:lnTo>
                  <a:pt x="0" y="0"/>
                </a:lnTo>
                <a:close/>
              </a:path>
            </a:pathLst>
          </a:custGeom>
          <a:solidFill>
            <a:srgbClr val="FFFFFF"/>
          </a:solidFill>
          <a:ln/>
        </p:spPr>
      </p:sp>
      <p:sp>
        <p:nvSpPr>
          <p:cNvPr id="5" name="Shape 3"/>
          <p:cNvSpPr/>
          <p:nvPr/>
        </p:nvSpPr>
        <p:spPr>
          <a:xfrm>
            <a:off x="400050" y="10668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1E3A5F"/>
          </a:solidFill>
          <a:ln/>
        </p:spPr>
      </p:sp>
      <p:sp>
        <p:nvSpPr>
          <p:cNvPr id="6" name="Shape 4"/>
          <p:cNvSpPr/>
          <p:nvPr/>
        </p:nvSpPr>
        <p:spPr>
          <a:xfrm>
            <a:off x="533400" y="11811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1E3A5F"/>
          </a:solidFill>
          <a:ln/>
        </p:spPr>
      </p:sp>
      <p:sp>
        <p:nvSpPr>
          <p:cNvPr id="7" name="Text 5"/>
          <p:cNvSpPr/>
          <p:nvPr/>
        </p:nvSpPr>
        <p:spPr>
          <a:xfrm>
            <a:off x="485775" y="1181100"/>
            <a:ext cx="552450" cy="4572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I</a:t>
            </a:r>
            <a:endParaRPr lang="en-US" sz="1600" dirty="0"/>
          </a:p>
        </p:txBody>
      </p:sp>
      <p:sp>
        <p:nvSpPr>
          <p:cNvPr id="8" name="Text 6"/>
          <p:cNvSpPr/>
          <p:nvPr/>
        </p:nvSpPr>
        <p:spPr>
          <a:xfrm>
            <a:off x="1104900" y="1181100"/>
            <a:ext cx="19240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Historical Foundations</a:t>
            </a:r>
            <a:endParaRPr lang="en-US" sz="1600" dirty="0"/>
          </a:p>
        </p:txBody>
      </p:sp>
      <p:sp>
        <p:nvSpPr>
          <p:cNvPr id="9" name="Text 7"/>
          <p:cNvSpPr/>
          <p:nvPr/>
        </p:nvSpPr>
        <p:spPr>
          <a:xfrm>
            <a:off x="1104900" y="1447800"/>
            <a:ext cx="19050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MiSans" pitchFamily="34" charset="0"/>
                <a:ea typeface="MiSans" pitchFamily="34" charset="-122"/>
                <a:cs typeface="MiSans" pitchFamily="34" charset="-120"/>
              </a:rPr>
              <a:t>Slides 6–13</a:t>
            </a:r>
            <a:endParaRPr lang="en-US" sz="1600" dirty="0"/>
          </a:p>
        </p:txBody>
      </p:sp>
      <p:sp>
        <p:nvSpPr>
          <p:cNvPr id="10" name="Text 8"/>
          <p:cNvSpPr/>
          <p:nvPr/>
        </p:nvSpPr>
        <p:spPr>
          <a:xfrm>
            <a:off x="533400" y="1714500"/>
            <a:ext cx="546735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Bloom's taxonomy, Hattie's visible learning synthesis, and Black and Wiliam's formative assessment research.</a:t>
            </a:r>
            <a:endParaRPr lang="en-US" sz="1600" dirty="0"/>
          </a:p>
        </p:txBody>
      </p:sp>
      <p:sp>
        <p:nvSpPr>
          <p:cNvPr id="11" name="Shape 9"/>
          <p:cNvSpPr/>
          <p:nvPr/>
        </p:nvSpPr>
        <p:spPr>
          <a:xfrm>
            <a:off x="400050" y="2400300"/>
            <a:ext cx="5638800" cy="1257300"/>
          </a:xfrm>
          <a:custGeom>
            <a:avLst/>
            <a:gdLst/>
            <a:ahLst/>
            <a:cxnLst/>
            <a:rect l="l" t="t" r="r" b="b"/>
            <a:pathLst>
              <a:path w="5638800" h="1257300">
                <a:moveTo>
                  <a:pt x="0" y="0"/>
                </a:moveTo>
                <a:lnTo>
                  <a:pt x="5638800" y="0"/>
                </a:lnTo>
                <a:lnTo>
                  <a:pt x="5638800" y="1257300"/>
                </a:lnTo>
                <a:lnTo>
                  <a:pt x="0" y="1257300"/>
                </a:lnTo>
                <a:lnTo>
                  <a:pt x="0" y="0"/>
                </a:lnTo>
                <a:close/>
              </a:path>
            </a:pathLst>
          </a:custGeom>
          <a:solidFill>
            <a:srgbClr val="FFFFFF"/>
          </a:solidFill>
          <a:ln/>
        </p:spPr>
      </p:sp>
      <p:sp>
        <p:nvSpPr>
          <p:cNvPr id="12" name="Shape 10"/>
          <p:cNvSpPr/>
          <p:nvPr/>
        </p:nvSpPr>
        <p:spPr>
          <a:xfrm>
            <a:off x="400050" y="24003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C49A2C"/>
          </a:solidFill>
          <a:ln/>
        </p:spPr>
      </p:sp>
      <p:sp>
        <p:nvSpPr>
          <p:cNvPr id="13" name="Shape 11"/>
          <p:cNvSpPr/>
          <p:nvPr/>
        </p:nvSpPr>
        <p:spPr>
          <a:xfrm>
            <a:off x="533400" y="25146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C49A2C"/>
          </a:solidFill>
          <a:ln/>
        </p:spPr>
      </p:sp>
      <p:sp>
        <p:nvSpPr>
          <p:cNvPr id="14" name="Text 12"/>
          <p:cNvSpPr/>
          <p:nvPr/>
        </p:nvSpPr>
        <p:spPr>
          <a:xfrm>
            <a:off x="485775" y="2514600"/>
            <a:ext cx="552450" cy="4572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II</a:t>
            </a:r>
            <a:endParaRPr lang="en-US" sz="1600" dirty="0"/>
          </a:p>
        </p:txBody>
      </p:sp>
      <p:sp>
        <p:nvSpPr>
          <p:cNvPr id="15" name="Text 13"/>
          <p:cNvSpPr/>
          <p:nvPr/>
        </p:nvSpPr>
        <p:spPr>
          <a:xfrm>
            <a:off x="1104900" y="2514600"/>
            <a:ext cx="23907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Theoretical Basis of the MPI</a:t>
            </a:r>
            <a:endParaRPr lang="en-US" sz="1600" dirty="0"/>
          </a:p>
        </p:txBody>
      </p:sp>
      <p:sp>
        <p:nvSpPr>
          <p:cNvPr id="16" name="Text 14"/>
          <p:cNvSpPr/>
          <p:nvPr/>
        </p:nvSpPr>
        <p:spPr>
          <a:xfrm>
            <a:off x="1104900" y="2781300"/>
            <a:ext cx="2371725"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MiSans" pitchFamily="34" charset="0"/>
                <a:ea typeface="MiSans" pitchFamily="34" charset="-122"/>
                <a:cs typeface="MiSans" pitchFamily="34" charset="-120"/>
              </a:rPr>
              <a:t>Slides 15–27</a:t>
            </a:r>
            <a:endParaRPr lang="en-US" sz="1600" dirty="0"/>
          </a:p>
        </p:txBody>
      </p:sp>
      <p:sp>
        <p:nvSpPr>
          <p:cNvPr id="17" name="Text 15"/>
          <p:cNvSpPr/>
          <p:nvPr/>
        </p:nvSpPr>
        <p:spPr>
          <a:xfrm>
            <a:off x="533400" y="3048000"/>
            <a:ext cx="546735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Vygotsky's proximal development model and its mapping onto the MPI's three-strand architecture.</a:t>
            </a:r>
            <a:endParaRPr lang="en-US" sz="1600" dirty="0"/>
          </a:p>
        </p:txBody>
      </p:sp>
      <p:sp>
        <p:nvSpPr>
          <p:cNvPr id="18" name="Shape 16"/>
          <p:cNvSpPr/>
          <p:nvPr/>
        </p:nvSpPr>
        <p:spPr>
          <a:xfrm>
            <a:off x="400050" y="3733800"/>
            <a:ext cx="5638800" cy="1257300"/>
          </a:xfrm>
          <a:custGeom>
            <a:avLst/>
            <a:gdLst/>
            <a:ahLst/>
            <a:cxnLst/>
            <a:rect l="l" t="t" r="r" b="b"/>
            <a:pathLst>
              <a:path w="5638800" h="1257300">
                <a:moveTo>
                  <a:pt x="0" y="0"/>
                </a:moveTo>
                <a:lnTo>
                  <a:pt x="5638800" y="0"/>
                </a:lnTo>
                <a:lnTo>
                  <a:pt x="5638800" y="1257300"/>
                </a:lnTo>
                <a:lnTo>
                  <a:pt x="0" y="1257300"/>
                </a:lnTo>
                <a:lnTo>
                  <a:pt x="0" y="0"/>
                </a:lnTo>
                <a:close/>
              </a:path>
            </a:pathLst>
          </a:custGeom>
          <a:solidFill>
            <a:srgbClr val="FFFFFF"/>
          </a:solidFill>
          <a:ln/>
        </p:spPr>
      </p:sp>
      <p:sp>
        <p:nvSpPr>
          <p:cNvPr id="19" name="Shape 17"/>
          <p:cNvSpPr/>
          <p:nvPr/>
        </p:nvSpPr>
        <p:spPr>
          <a:xfrm>
            <a:off x="400050" y="37338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1E3A5F"/>
          </a:solidFill>
          <a:ln/>
        </p:spPr>
      </p:sp>
      <p:sp>
        <p:nvSpPr>
          <p:cNvPr id="20" name="Shape 18"/>
          <p:cNvSpPr/>
          <p:nvPr/>
        </p:nvSpPr>
        <p:spPr>
          <a:xfrm>
            <a:off x="533400" y="38481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1E3A5F"/>
          </a:solidFill>
          <a:ln/>
        </p:spPr>
      </p:sp>
      <p:sp>
        <p:nvSpPr>
          <p:cNvPr id="21" name="Text 19"/>
          <p:cNvSpPr/>
          <p:nvPr/>
        </p:nvSpPr>
        <p:spPr>
          <a:xfrm>
            <a:off x="485775" y="3848100"/>
            <a:ext cx="552450" cy="4572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III</a:t>
            </a:r>
            <a:endParaRPr lang="en-US" sz="1600" dirty="0"/>
          </a:p>
        </p:txBody>
      </p:sp>
      <p:sp>
        <p:nvSpPr>
          <p:cNvPr id="22" name="Text 20"/>
          <p:cNvSpPr/>
          <p:nvPr/>
        </p:nvSpPr>
        <p:spPr>
          <a:xfrm>
            <a:off x="1104900" y="3848100"/>
            <a:ext cx="20002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Progress vs Attainment</a:t>
            </a:r>
            <a:endParaRPr lang="en-US" sz="1600" dirty="0"/>
          </a:p>
        </p:txBody>
      </p:sp>
      <p:sp>
        <p:nvSpPr>
          <p:cNvPr id="23" name="Text 21"/>
          <p:cNvSpPr/>
          <p:nvPr/>
        </p:nvSpPr>
        <p:spPr>
          <a:xfrm>
            <a:off x="1104900" y="4114800"/>
            <a:ext cx="1981200"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MiSans" pitchFamily="34" charset="0"/>
                <a:ea typeface="MiSans" pitchFamily="34" charset="-122"/>
                <a:cs typeface="MiSans" pitchFamily="34" charset="-120"/>
              </a:rPr>
              <a:t>Slide 28</a:t>
            </a:r>
            <a:endParaRPr lang="en-US" sz="1600" dirty="0"/>
          </a:p>
        </p:txBody>
      </p:sp>
      <p:sp>
        <p:nvSpPr>
          <p:cNvPr id="24" name="Text 22"/>
          <p:cNvSpPr/>
          <p:nvPr/>
        </p:nvSpPr>
        <p:spPr>
          <a:xfrm>
            <a:off x="533400" y="4381500"/>
            <a:ext cx="546735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A critical conceptual distinction with direct methodological implications for all MPI-related work.</a:t>
            </a:r>
            <a:endParaRPr lang="en-US" sz="1600" dirty="0"/>
          </a:p>
        </p:txBody>
      </p:sp>
      <p:sp>
        <p:nvSpPr>
          <p:cNvPr id="25" name="Shape 23"/>
          <p:cNvSpPr/>
          <p:nvPr/>
        </p:nvSpPr>
        <p:spPr>
          <a:xfrm>
            <a:off x="6172200" y="1066800"/>
            <a:ext cx="5638800" cy="1257300"/>
          </a:xfrm>
          <a:custGeom>
            <a:avLst/>
            <a:gdLst/>
            <a:ahLst/>
            <a:cxnLst/>
            <a:rect l="l" t="t" r="r" b="b"/>
            <a:pathLst>
              <a:path w="5638800" h="1257300">
                <a:moveTo>
                  <a:pt x="0" y="0"/>
                </a:moveTo>
                <a:lnTo>
                  <a:pt x="5638800" y="0"/>
                </a:lnTo>
                <a:lnTo>
                  <a:pt x="5638800" y="1257300"/>
                </a:lnTo>
                <a:lnTo>
                  <a:pt x="0" y="1257300"/>
                </a:lnTo>
                <a:lnTo>
                  <a:pt x="0" y="0"/>
                </a:lnTo>
                <a:close/>
              </a:path>
            </a:pathLst>
          </a:custGeom>
          <a:solidFill>
            <a:srgbClr val="FFFFFF"/>
          </a:solidFill>
          <a:ln/>
        </p:spPr>
      </p:sp>
      <p:sp>
        <p:nvSpPr>
          <p:cNvPr id="26" name="Shape 24"/>
          <p:cNvSpPr/>
          <p:nvPr/>
        </p:nvSpPr>
        <p:spPr>
          <a:xfrm>
            <a:off x="6172200" y="10668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1E3A5F"/>
          </a:solidFill>
          <a:ln/>
        </p:spPr>
      </p:sp>
      <p:sp>
        <p:nvSpPr>
          <p:cNvPr id="27" name="Shape 25"/>
          <p:cNvSpPr/>
          <p:nvPr/>
        </p:nvSpPr>
        <p:spPr>
          <a:xfrm>
            <a:off x="6305550" y="11811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1E3A5F"/>
          </a:solidFill>
          <a:ln/>
        </p:spPr>
      </p:sp>
      <p:sp>
        <p:nvSpPr>
          <p:cNvPr id="28" name="Text 26"/>
          <p:cNvSpPr/>
          <p:nvPr/>
        </p:nvSpPr>
        <p:spPr>
          <a:xfrm>
            <a:off x="6257925" y="1181100"/>
            <a:ext cx="552450" cy="4572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IV</a:t>
            </a:r>
            <a:endParaRPr lang="en-US" sz="1600" dirty="0"/>
          </a:p>
        </p:txBody>
      </p:sp>
      <p:sp>
        <p:nvSpPr>
          <p:cNvPr id="29" name="Text 27"/>
          <p:cNvSpPr/>
          <p:nvPr/>
        </p:nvSpPr>
        <p:spPr>
          <a:xfrm>
            <a:off x="6877050" y="1181100"/>
            <a:ext cx="21621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Implementation and Data</a:t>
            </a:r>
            <a:endParaRPr lang="en-US" sz="1600" dirty="0"/>
          </a:p>
        </p:txBody>
      </p:sp>
      <p:sp>
        <p:nvSpPr>
          <p:cNvPr id="30" name="Text 28"/>
          <p:cNvSpPr/>
          <p:nvPr/>
        </p:nvSpPr>
        <p:spPr>
          <a:xfrm>
            <a:off x="6877050" y="1447800"/>
            <a:ext cx="2143125"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MiSans" pitchFamily="34" charset="0"/>
                <a:ea typeface="MiSans" pitchFamily="34" charset="-122"/>
                <a:cs typeface="MiSans" pitchFamily="34" charset="-120"/>
              </a:rPr>
              <a:t>Slides 29–40</a:t>
            </a:r>
            <a:endParaRPr lang="en-US" sz="1600" dirty="0"/>
          </a:p>
        </p:txBody>
      </p:sp>
      <p:sp>
        <p:nvSpPr>
          <p:cNvPr id="31" name="Text 29"/>
          <p:cNvSpPr/>
          <p:nvPr/>
        </p:nvSpPr>
        <p:spPr>
          <a:xfrm>
            <a:off x="6305550" y="1714500"/>
            <a:ext cx="546735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Formative assessment integration in practice, school-level case studies, and data collection overview.</a:t>
            </a:r>
            <a:endParaRPr lang="en-US" sz="1600" dirty="0"/>
          </a:p>
        </p:txBody>
      </p:sp>
      <p:sp>
        <p:nvSpPr>
          <p:cNvPr id="32" name="Shape 30"/>
          <p:cNvSpPr/>
          <p:nvPr/>
        </p:nvSpPr>
        <p:spPr>
          <a:xfrm>
            <a:off x="6172200" y="2400300"/>
            <a:ext cx="5638800" cy="1009650"/>
          </a:xfrm>
          <a:custGeom>
            <a:avLst/>
            <a:gdLst/>
            <a:ahLst/>
            <a:cxnLst/>
            <a:rect l="l" t="t" r="r" b="b"/>
            <a:pathLst>
              <a:path w="5638800" h="1009650">
                <a:moveTo>
                  <a:pt x="0" y="0"/>
                </a:moveTo>
                <a:lnTo>
                  <a:pt x="5638800" y="0"/>
                </a:lnTo>
                <a:lnTo>
                  <a:pt x="5638800" y="1009650"/>
                </a:lnTo>
                <a:lnTo>
                  <a:pt x="0" y="1009650"/>
                </a:lnTo>
                <a:lnTo>
                  <a:pt x="0" y="0"/>
                </a:lnTo>
                <a:close/>
              </a:path>
            </a:pathLst>
          </a:custGeom>
          <a:solidFill>
            <a:srgbClr val="FFFFFF"/>
          </a:solidFill>
          <a:ln/>
        </p:spPr>
      </p:sp>
      <p:sp>
        <p:nvSpPr>
          <p:cNvPr id="33" name="Shape 31"/>
          <p:cNvSpPr/>
          <p:nvPr/>
        </p:nvSpPr>
        <p:spPr>
          <a:xfrm>
            <a:off x="6172200" y="2400300"/>
            <a:ext cx="38100" cy="1009650"/>
          </a:xfrm>
          <a:custGeom>
            <a:avLst/>
            <a:gdLst/>
            <a:ahLst/>
            <a:cxnLst/>
            <a:rect l="l" t="t" r="r" b="b"/>
            <a:pathLst>
              <a:path w="38100" h="1009650">
                <a:moveTo>
                  <a:pt x="0" y="0"/>
                </a:moveTo>
                <a:lnTo>
                  <a:pt x="38100" y="0"/>
                </a:lnTo>
                <a:lnTo>
                  <a:pt x="38100" y="1009650"/>
                </a:lnTo>
                <a:lnTo>
                  <a:pt x="0" y="1009650"/>
                </a:lnTo>
                <a:lnTo>
                  <a:pt x="0" y="0"/>
                </a:lnTo>
                <a:close/>
              </a:path>
            </a:pathLst>
          </a:custGeom>
          <a:solidFill>
            <a:srgbClr val="C49A2C"/>
          </a:solidFill>
          <a:ln/>
        </p:spPr>
      </p:sp>
      <p:sp>
        <p:nvSpPr>
          <p:cNvPr id="34" name="Shape 32"/>
          <p:cNvSpPr/>
          <p:nvPr/>
        </p:nvSpPr>
        <p:spPr>
          <a:xfrm>
            <a:off x="6305550" y="25146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C49A2C"/>
          </a:solidFill>
          <a:ln/>
        </p:spPr>
      </p:sp>
      <p:sp>
        <p:nvSpPr>
          <p:cNvPr id="35" name="Text 33"/>
          <p:cNvSpPr/>
          <p:nvPr/>
        </p:nvSpPr>
        <p:spPr>
          <a:xfrm>
            <a:off x="6257925" y="2514600"/>
            <a:ext cx="552450" cy="4572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V</a:t>
            </a:r>
            <a:endParaRPr lang="en-US" sz="1600" dirty="0"/>
          </a:p>
        </p:txBody>
      </p:sp>
      <p:sp>
        <p:nvSpPr>
          <p:cNvPr id="36" name="Text 34"/>
          <p:cNvSpPr/>
          <p:nvPr/>
        </p:nvSpPr>
        <p:spPr>
          <a:xfrm>
            <a:off x="6877050" y="2514600"/>
            <a:ext cx="22764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Further Reading and Close</a:t>
            </a:r>
            <a:endParaRPr lang="en-US" sz="1600" dirty="0"/>
          </a:p>
        </p:txBody>
      </p:sp>
      <p:sp>
        <p:nvSpPr>
          <p:cNvPr id="37" name="Text 35"/>
          <p:cNvSpPr/>
          <p:nvPr/>
        </p:nvSpPr>
        <p:spPr>
          <a:xfrm>
            <a:off x="6877050" y="2781300"/>
            <a:ext cx="2257425" cy="190500"/>
          </a:xfrm>
          <a:prstGeom prst="rect">
            <a:avLst/>
          </a:prstGeom>
          <a:noFill/>
          <a:ln/>
        </p:spPr>
        <p:txBody>
          <a:bodyPr wrap="square" lIns="0" tIns="0" rIns="0" bIns="0" rtlCol="0" anchor="ctr"/>
          <a:lstStyle/>
          <a:p>
            <a:pPr>
              <a:lnSpc>
                <a:spcPct val="120000"/>
              </a:lnSpc>
            </a:pPr>
            <a:r>
              <a:rPr lang="en-US" sz="1050" dirty="0">
                <a:solidFill>
                  <a:srgbClr val="6C757D"/>
                </a:solidFill>
                <a:latin typeface="MiSans" pitchFamily="34" charset="0"/>
                <a:ea typeface="MiSans" pitchFamily="34" charset="-122"/>
                <a:cs typeface="MiSans" pitchFamily="34" charset="-120"/>
              </a:rPr>
              <a:t>Slides 41–46</a:t>
            </a:r>
            <a:endParaRPr lang="en-US" sz="1600" dirty="0"/>
          </a:p>
        </p:txBody>
      </p:sp>
      <p:sp>
        <p:nvSpPr>
          <p:cNvPr id="38" name="Text 36"/>
          <p:cNvSpPr/>
          <p:nvPr/>
        </p:nvSpPr>
        <p:spPr>
          <a:xfrm>
            <a:off x="6305550" y="3048000"/>
            <a:ext cx="5467350" cy="2476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Bibliographic resources, contact information, and concluding remarks.</a:t>
            </a:r>
            <a:endParaRPr lang="en-US" sz="1600" dirty="0"/>
          </a:p>
        </p:txBody>
      </p:sp>
      <p:sp>
        <p:nvSpPr>
          <p:cNvPr id="39" name="Shape 37"/>
          <p:cNvSpPr/>
          <p:nvPr/>
        </p:nvSpPr>
        <p:spPr>
          <a:xfrm>
            <a:off x="6153150" y="3486150"/>
            <a:ext cx="5657850" cy="1524000"/>
          </a:xfrm>
          <a:custGeom>
            <a:avLst/>
            <a:gdLst/>
            <a:ahLst/>
            <a:cxnLst/>
            <a:rect l="l" t="t" r="r" b="b"/>
            <a:pathLst>
              <a:path w="5657850" h="1524000">
                <a:moveTo>
                  <a:pt x="0" y="0"/>
                </a:moveTo>
                <a:lnTo>
                  <a:pt x="5657850" y="0"/>
                </a:lnTo>
                <a:lnTo>
                  <a:pt x="5657850" y="1524000"/>
                </a:lnTo>
                <a:lnTo>
                  <a:pt x="0" y="1524000"/>
                </a:lnTo>
                <a:lnTo>
                  <a:pt x="0" y="0"/>
                </a:lnTo>
                <a:close/>
              </a:path>
            </a:pathLst>
          </a:custGeom>
          <a:solidFill>
            <a:srgbClr val="1E3A5F"/>
          </a:solidFill>
          <a:ln/>
        </p:spPr>
      </p:sp>
      <p:sp>
        <p:nvSpPr>
          <p:cNvPr id="40" name="Shape 38"/>
          <p:cNvSpPr/>
          <p:nvPr/>
        </p:nvSpPr>
        <p:spPr>
          <a:xfrm>
            <a:off x="6329363" y="368617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5009" y="53578"/>
                </a:moveTo>
                <a:cubicBezTo>
                  <a:pt x="75009" y="47664"/>
                  <a:pt x="79811" y="42863"/>
                  <a:pt x="85725" y="42863"/>
                </a:cubicBezTo>
                <a:cubicBezTo>
                  <a:pt x="91639" y="42863"/>
                  <a:pt x="96441" y="47664"/>
                  <a:pt x="96441" y="53578"/>
                </a:cubicBezTo>
                <a:cubicBezTo>
                  <a:pt x="96441" y="59492"/>
                  <a:pt x="91639" y="64294"/>
                  <a:pt x="85725" y="64294"/>
                </a:cubicBezTo>
                <a:cubicBezTo>
                  <a:pt x="79811" y="64294"/>
                  <a:pt x="75009" y="59492"/>
                  <a:pt x="75009" y="53578"/>
                </a:cubicBezTo>
                <a:close/>
                <a:moveTo>
                  <a:pt x="72330" y="75009"/>
                </a:moveTo>
                <a:lnTo>
                  <a:pt x="88404" y="75009"/>
                </a:lnTo>
                <a:cubicBezTo>
                  <a:pt x="92858" y="75009"/>
                  <a:pt x="96441" y="78592"/>
                  <a:pt x="96441" y="83046"/>
                </a:cubicBezTo>
                <a:lnTo>
                  <a:pt x="96441" y="112514"/>
                </a:lnTo>
                <a:lnTo>
                  <a:pt x="99120" y="112514"/>
                </a:lnTo>
                <a:cubicBezTo>
                  <a:pt x="103573" y="112514"/>
                  <a:pt x="107156" y="116097"/>
                  <a:pt x="107156" y="120551"/>
                </a:cubicBezTo>
                <a:cubicBezTo>
                  <a:pt x="107156" y="125004"/>
                  <a:pt x="103573" y="128588"/>
                  <a:pt x="99120" y="128588"/>
                </a:cubicBezTo>
                <a:lnTo>
                  <a:pt x="72330" y="128588"/>
                </a:lnTo>
                <a:cubicBezTo>
                  <a:pt x="67877" y="128588"/>
                  <a:pt x="64294" y="125004"/>
                  <a:pt x="64294" y="120551"/>
                </a:cubicBezTo>
                <a:cubicBezTo>
                  <a:pt x="64294" y="116097"/>
                  <a:pt x="67877" y="112514"/>
                  <a:pt x="72330" y="112514"/>
                </a:cubicBezTo>
                <a:lnTo>
                  <a:pt x="80367" y="112514"/>
                </a:lnTo>
                <a:lnTo>
                  <a:pt x="80367" y="91083"/>
                </a:lnTo>
                <a:lnTo>
                  <a:pt x="72330" y="91083"/>
                </a:lnTo>
                <a:cubicBezTo>
                  <a:pt x="67877" y="91083"/>
                  <a:pt x="64294" y="87500"/>
                  <a:pt x="64294" y="83046"/>
                </a:cubicBezTo>
                <a:cubicBezTo>
                  <a:pt x="64294" y="78592"/>
                  <a:pt x="67877" y="75009"/>
                  <a:pt x="72330" y="75009"/>
                </a:cubicBezTo>
                <a:close/>
              </a:path>
            </a:pathLst>
          </a:custGeom>
          <a:solidFill>
            <a:srgbClr val="C49A2C"/>
          </a:solidFill>
          <a:ln/>
        </p:spPr>
      </p:sp>
      <p:sp>
        <p:nvSpPr>
          <p:cNvPr id="41" name="Text 39"/>
          <p:cNvSpPr/>
          <p:nvPr/>
        </p:nvSpPr>
        <p:spPr>
          <a:xfrm>
            <a:off x="6524625" y="3638550"/>
            <a:ext cx="5219700" cy="266700"/>
          </a:xfrm>
          <a:prstGeom prst="rect">
            <a:avLst/>
          </a:prstGeom>
          <a:noFill/>
          <a:ln/>
        </p:spPr>
        <p:txBody>
          <a:bodyPr wrap="square" lIns="0" tIns="0" rIns="0" bIns="0" rtlCol="0" anchor="ctr"/>
          <a:lstStyle/>
          <a:p>
            <a:pPr>
              <a:lnSpc>
                <a:spcPct val="130000"/>
              </a:lnSpc>
            </a:pPr>
            <a:r>
              <a:rPr lang="en-US" sz="1350" b="1" dirty="0">
                <a:solidFill>
                  <a:srgbClr val="F8F9FA"/>
                </a:solidFill>
                <a:latin typeface="MiSans" pitchFamily="34" charset="0"/>
                <a:ea typeface="MiSans" pitchFamily="34" charset="-122"/>
                <a:cs typeface="MiSans" pitchFamily="34" charset="-120"/>
              </a:rPr>
              <a:t>Important Notes</a:t>
            </a:r>
            <a:endParaRPr lang="en-US" sz="1600" dirty="0"/>
          </a:p>
        </p:txBody>
      </p:sp>
      <p:sp>
        <p:nvSpPr>
          <p:cNvPr id="42" name="Shape 40"/>
          <p:cNvSpPr/>
          <p:nvPr/>
        </p:nvSpPr>
        <p:spPr>
          <a:xfrm>
            <a:off x="6324600" y="4062412"/>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49A2C"/>
          </a:solidFill>
          <a:ln/>
        </p:spPr>
      </p:sp>
      <p:sp>
        <p:nvSpPr>
          <p:cNvPr id="43" name="Text 41"/>
          <p:cNvSpPr/>
          <p:nvPr/>
        </p:nvSpPr>
        <p:spPr>
          <a:xfrm>
            <a:off x="6553200" y="4019550"/>
            <a:ext cx="51816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The module </a:t>
            </a:r>
            <a:pPr>
              <a:lnSpc>
                <a:spcPct val="130000"/>
              </a:lnSpc>
            </a:pPr>
            <a:r>
              <a:rPr lang="en-US" sz="1200" b="1" dirty="0">
                <a:solidFill>
                  <a:srgbClr val="F8F9FA"/>
                </a:solidFill>
                <a:latin typeface="MiSans" pitchFamily="34" charset="0"/>
                <a:ea typeface="MiSans" pitchFamily="34" charset="-122"/>
                <a:cs typeface="MiSans" pitchFamily="34" charset="-120"/>
              </a:rPr>
              <a:t>auto-advances</a:t>
            </a:r>
            <a:pPr>
              <a:lnSpc>
                <a:spcPct val="130000"/>
              </a:lnSpc>
            </a:pPr>
            <a:r>
              <a:rPr lang="en-US" sz="1200" dirty="0">
                <a:solidFill>
                  <a:srgbClr val="F8F9FA"/>
                </a:solidFill>
                <a:latin typeface="MiSans" pitchFamily="34" charset="0"/>
                <a:ea typeface="MiSans" pitchFamily="34" charset="-122"/>
                <a:cs typeface="MiSans" pitchFamily="34" charset="-120"/>
              </a:rPr>
              <a:t> and cannot be paused.</a:t>
            </a:r>
            <a:endParaRPr lang="en-US" sz="1600" dirty="0"/>
          </a:p>
        </p:txBody>
      </p:sp>
      <p:sp>
        <p:nvSpPr>
          <p:cNvPr id="44" name="Shape 42"/>
          <p:cNvSpPr/>
          <p:nvPr/>
        </p:nvSpPr>
        <p:spPr>
          <a:xfrm>
            <a:off x="6324600" y="4367213"/>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49A2C"/>
          </a:solidFill>
          <a:ln/>
        </p:spPr>
      </p:sp>
      <p:sp>
        <p:nvSpPr>
          <p:cNvPr id="45" name="Text 43"/>
          <p:cNvSpPr/>
          <p:nvPr/>
        </p:nvSpPr>
        <p:spPr>
          <a:xfrm>
            <a:off x="6553200" y="4324350"/>
            <a:ext cx="51816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Questions should be directed to the presenter </a:t>
            </a:r>
            <a:pPr>
              <a:lnSpc>
                <a:spcPct val="130000"/>
              </a:lnSpc>
            </a:pPr>
            <a:r>
              <a:rPr lang="en-US" sz="1200" b="1" dirty="0">
                <a:solidFill>
                  <a:srgbClr val="F8F9FA"/>
                </a:solidFill>
                <a:latin typeface="MiSans" pitchFamily="34" charset="0"/>
                <a:ea typeface="MiSans" pitchFamily="34" charset="-122"/>
                <a:cs typeface="MiSans" pitchFamily="34" charset="-120"/>
              </a:rPr>
              <a:t>following the session</a:t>
            </a:r>
            <a:pPr>
              <a:lnSpc>
                <a:spcPct val="130000"/>
              </a:lnSpc>
            </a:pPr>
            <a:r>
              <a:rPr lang="en-US" sz="1200" dirty="0">
                <a:solidFill>
                  <a:srgbClr val="F8F9FA"/>
                </a:solidFill>
                <a:latin typeface="MiSans" pitchFamily="34" charset="0"/>
                <a:ea typeface="MiSans" pitchFamily="34" charset="-122"/>
                <a:cs typeface="MiSans" pitchFamily="34" charset="-120"/>
              </a:rPr>
              <a:t>.</a:t>
            </a:r>
            <a:endParaRPr lang="en-US" sz="1600" dirty="0"/>
          </a:p>
        </p:txBody>
      </p:sp>
      <p:sp>
        <p:nvSpPr>
          <p:cNvPr id="46" name="Shape 44"/>
          <p:cNvSpPr/>
          <p:nvPr/>
        </p:nvSpPr>
        <p:spPr>
          <a:xfrm>
            <a:off x="6324600" y="4672013"/>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C49A2C"/>
          </a:solidFill>
          <a:ln/>
        </p:spPr>
      </p:sp>
      <p:sp>
        <p:nvSpPr>
          <p:cNvPr id="47" name="Text 45"/>
          <p:cNvSpPr/>
          <p:nvPr/>
        </p:nvSpPr>
        <p:spPr>
          <a:xfrm>
            <a:off x="6553200" y="4629150"/>
            <a:ext cx="5181600"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Slide 47 contains </a:t>
            </a:r>
            <a:pPr>
              <a:lnSpc>
                <a:spcPct val="130000"/>
              </a:lnSpc>
            </a:pPr>
            <a:r>
              <a:rPr lang="en-US" sz="1200" b="1" dirty="0">
                <a:solidFill>
                  <a:srgbClr val="F8F9FA"/>
                </a:solidFill>
                <a:latin typeface="MiSans" pitchFamily="34" charset="0"/>
                <a:ea typeface="MiSans" pitchFamily="34" charset="-122"/>
                <a:cs typeface="MiSans" pitchFamily="34" charset="-120"/>
              </a:rPr>
              <a:t>supplementary material</a:t>
            </a:r>
            <a:pPr>
              <a:lnSpc>
                <a:spcPct val="130000"/>
              </a:lnSpc>
            </a:pPr>
            <a:r>
              <a:rPr lang="en-US" sz="1200" dirty="0">
                <a:solidFill>
                  <a:srgbClr val="F8F9FA"/>
                </a:solidFill>
                <a:latin typeface="MiSans" pitchFamily="34" charset="0"/>
                <a:ea typeface="MiSans" pitchFamily="34" charset="-122"/>
                <a:cs typeface="MiSans" pitchFamily="34" charset="-120"/>
              </a:rPr>
              <a:t>.</a:t>
            </a:r>
            <a:endParaRPr lang="en-US" sz="1600" dirty="0"/>
          </a:p>
        </p:txBody>
      </p:sp>
      <p:sp>
        <p:nvSpPr>
          <p:cNvPr id="48" name="Shape 46"/>
          <p:cNvSpPr/>
          <p:nvPr/>
        </p:nvSpPr>
        <p:spPr>
          <a:xfrm>
            <a:off x="400050" y="5791200"/>
            <a:ext cx="11410950" cy="685800"/>
          </a:xfrm>
          <a:custGeom>
            <a:avLst/>
            <a:gdLst/>
            <a:ahLst/>
            <a:cxnLst/>
            <a:rect l="l" t="t" r="r" b="b"/>
            <a:pathLst>
              <a:path w="11410950" h="685800">
                <a:moveTo>
                  <a:pt x="0" y="0"/>
                </a:moveTo>
                <a:lnTo>
                  <a:pt x="11410950" y="0"/>
                </a:lnTo>
                <a:lnTo>
                  <a:pt x="11410950" y="685800"/>
                </a:lnTo>
                <a:lnTo>
                  <a:pt x="0" y="685800"/>
                </a:lnTo>
                <a:lnTo>
                  <a:pt x="0" y="0"/>
                </a:lnTo>
                <a:close/>
              </a:path>
            </a:pathLst>
          </a:custGeom>
          <a:solidFill>
            <a:srgbClr val="C49A2C">
              <a:alpha val="10196"/>
            </a:srgbClr>
          </a:solidFill>
          <a:ln/>
        </p:spPr>
      </p:sp>
      <p:sp>
        <p:nvSpPr>
          <p:cNvPr id="49" name="Shape 47"/>
          <p:cNvSpPr/>
          <p:nvPr/>
        </p:nvSpPr>
        <p:spPr>
          <a:xfrm>
            <a:off x="400050" y="5791200"/>
            <a:ext cx="38100" cy="685800"/>
          </a:xfrm>
          <a:custGeom>
            <a:avLst/>
            <a:gdLst/>
            <a:ahLst/>
            <a:cxnLst/>
            <a:rect l="l" t="t" r="r" b="b"/>
            <a:pathLst>
              <a:path w="38100" h="685800">
                <a:moveTo>
                  <a:pt x="0" y="0"/>
                </a:moveTo>
                <a:lnTo>
                  <a:pt x="38100" y="0"/>
                </a:lnTo>
                <a:lnTo>
                  <a:pt x="38100" y="685800"/>
                </a:lnTo>
                <a:lnTo>
                  <a:pt x="0" y="685800"/>
                </a:lnTo>
                <a:lnTo>
                  <a:pt x="0" y="0"/>
                </a:lnTo>
                <a:close/>
              </a:path>
            </a:pathLst>
          </a:custGeom>
          <a:solidFill>
            <a:srgbClr val="C49A2C"/>
          </a:solidFill>
          <a:ln/>
        </p:spPr>
      </p:sp>
      <p:sp>
        <p:nvSpPr>
          <p:cNvPr id="50" name="Shape 48"/>
          <p:cNvSpPr/>
          <p:nvPr/>
        </p:nvSpPr>
        <p:spPr>
          <a:xfrm>
            <a:off x="561975" y="5948363"/>
            <a:ext cx="133350" cy="152400"/>
          </a:xfrm>
          <a:custGeom>
            <a:avLst/>
            <a:gdLst/>
            <a:ahLst/>
            <a:cxnLst/>
            <a:rect l="l" t="t" r="r" b="b"/>
            <a:pathLst>
              <a:path w="133350" h="152400">
                <a:moveTo>
                  <a:pt x="114300" y="152400"/>
                </a:moveTo>
                <a:lnTo>
                  <a:pt x="28575" y="152400"/>
                </a:lnTo>
                <a:cubicBezTo>
                  <a:pt x="12799" y="152400"/>
                  <a:pt x="0" y="139601"/>
                  <a:pt x="0" y="123825"/>
                </a:cubicBezTo>
                <a:lnTo>
                  <a:pt x="0" y="28575"/>
                </a:lnTo>
                <a:cubicBezTo>
                  <a:pt x="0" y="12799"/>
                  <a:pt x="12799" y="0"/>
                  <a:pt x="28575" y="0"/>
                </a:cubicBezTo>
                <a:lnTo>
                  <a:pt x="119062" y="0"/>
                </a:lnTo>
                <a:cubicBezTo>
                  <a:pt x="126950" y="0"/>
                  <a:pt x="133350" y="6400"/>
                  <a:pt x="133350" y="14288"/>
                </a:cubicBezTo>
                <a:lnTo>
                  <a:pt x="133350" y="100013"/>
                </a:lnTo>
                <a:cubicBezTo>
                  <a:pt x="133350" y="106234"/>
                  <a:pt x="129361" y="111532"/>
                  <a:pt x="123825" y="113496"/>
                </a:cubicBezTo>
                <a:lnTo>
                  <a:pt x="123825" y="133350"/>
                </a:lnTo>
                <a:cubicBezTo>
                  <a:pt x="129094" y="133350"/>
                  <a:pt x="133350" y="137606"/>
                  <a:pt x="133350" y="142875"/>
                </a:cubicBezTo>
                <a:cubicBezTo>
                  <a:pt x="133350" y="148144"/>
                  <a:pt x="129094" y="152400"/>
                  <a:pt x="123825" y="152400"/>
                </a:cubicBezTo>
                <a:lnTo>
                  <a:pt x="114300" y="152400"/>
                </a:lnTo>
                <a:close/>
                <a:moveTo>
                  <a:pt x="28575" y="114300"/>
                </a:moveTo>
                <a:cubicBezTo>
                  <a:pt x="23306" y="114300"/>
                  <a:pt x="19050" y="118556"/>
                  <a:pt x="19050" y="123825"/>
                </a:cubicBezTo>
                <a:cubicBezTo>
                  <a:pt x="19050" y="129094"/>
                  <a:pt x="23306" y="133350"/>
                  <a:pt x="28575" y="133350"/>
                </a:cubicBezTo>
                <a:lnTo>
                  <a:pt x="104775" y="133350"/>
                </a:lnTo>
                <a:lnTo>
                  <a:pt x="104775" y="114300"/>
                </a:lnTo>
                <a:lnTo>
                  <a:pt x="28575" y="114300"/>
                </a:lnTo>
                <a:close/>
                <a:moveTo>
                  <a:pt x="38100" y="45244"/>
                </a:moveTo>
                <a:cubicBezTo>
                  <a:pt x="38100" y="49203"/>
                  <a:pt x="41285" y="52388"/>
                  <a:pt x="45244" y="52388"/>
                </a:cubicBezTo>
                <a:lnTo>
                  <a:pt x="97631" y="52388"/>
                </a:lnTo>
                <a:cubicBezTo>
                  <a:pt x="101590" y="52388"/>
                  <a:pt x="104775" y="49203"/>
                  <a:pt x="104775" y="45244"/>
                </a:cubicBezTo>
                <a:cubicBezTo>
                  <a:pt x="104775" y="41285"/>
                  <a:pt x="101590" y="38100"/>
                  <a:pt x="97631" y="38100"/>
                </a:cubicBezTo>
                <a:lnTo>
                  <a:pt x="45244" y="38100"/>
                </a:lnTo>
                <a:cubicBezTo>
                  <a:pt x="41285" y="38100"/>
                  <a:pt x="38100" y="41285"/>
                  <a:pt x="38100" y="45244"/>
                </a:cubicBezTo>
                <a:close/>
                <a:moveTo>
                  <a:pt x="45244" y="66675"/>
                </a:moveTo>
                <a:cubicBezTo>
                  <a:pt x="41285" y="66675"/>
                  <a:pt x="38100" y="69860"/>
                  <a:pt x="38100" y="73819"/>
                </a:cubicBezTo>
                <a:cubicBezTo>
                  <a:pt x="38100" y="77778"/>
                  <a:pt x="41285" y="80962"/>
                  <a:pt x="45244" y="80962"/>
                </a:cubicBezTo>
                <a:lnTo>
                  <a:pt x="97631" y="80962"/>
                </a:lnTo>
                <a:cubicBezTo>
                  <a:pt x="101590" y="80962"/>
                  <a:pt x="104775" y="77778"/>
                  <a:pt x="104775" y="73819"/>
                </a:cubicBezTo>
                <a:cubicBezTo>
                  <a:pt x="104775" y="69860"/>
                  <a:pt x="101590" y="66675"/>
                  <a:pt x="97631" y="66675"/>
                </a:cubicBezTo>
                <a:lnTo>
                  <a:pt x="45244" y="66675"/>
                </a:lnTo>
                <a:close/>
              </a:path>
            </a:pathLst>
          </a:custGeom>
          <a:solidFill>
            <a:srgbClr val="C49A2C"/>
          </a:solidFill>
          <a:ln/>
        </p:spPr>
      </p:sp>
      <p:sp>
        <p:nvSpPr>
          <p:cNvPr id="51" name="Text 49"/>
          <p:cNvSpPr/>
          <p:nvPr/>
        </p:nvSpPr>
        <p:spPr>
          <a:xfrm>
            <a:off x="781050" y="5905500"/>
            <a:ext cx="10991850" cy="457200"/>
          </a:xfrm>
          <a:prstGeom prst="rect">
            <a:avLst/>
          </a:prstGeom>
          <a:noFill/>
          <a:ln/>
        </p:spPr>
        <p:txBody>
          <a:bodyPr wrap="square" lIns="0" tIns="0" rIns="0" bIns="0" rtlCol="0" anchor="ctr"/>
          <a:lstStyle/>
          <a:p>
            <a:pPr>
              <a:lnSpc>
                <a:spcPct val="130000"/>
              </a:lnSpc>
            </a:pPr>
            <a:r>
              <a:rPr lang="en-US" sz="1200" b="1" dirty="0">
                <a:solidFill>
                  <a:srgbClr val="1E3A5F"/>
                </a:solidFill>
                <a:latin typeface="MiSans" pitchFamily="34" charset="0"/>
                <a:ea typeface="MiSans" pitchFamily="34" charset="-122"/>
                <a:cs typeface="MiSans" pitchFamily="34" charset="-120"/>
              </a:rPr>
              <a:t>Required Reading:</a:t>
            </a:r>
            <a:pPr>
              <a:lnSpc>
                <a:spcPct val="130000"/>
              </a:lnSpc>
            </a:pPr>
            <a:r>
              <a:rPr lang="en-US" sz="1200" dirty="0">
                <a:solidFill>
                  <a:srgbClr val="1E3A5F"/>
                </a:solidFill>
                <a:latin typeface="MiSans" pitchFamily="34" charset="0"/>
                <a:ea typeface="MiSans" pitchFamily="34" charset="-122"/>
                <a:cs typeface="MiSans" pitchFamily="34" charset="-120"/>
              </a:rPr>
              <a:t> MPI Technical Handbook, Chapters 3, 6, 7, 9, and 11. Available in SynergyDrive: Paul's Files &gt; Reading &gt; Essential &gt; Sub-subfolder: Essential</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pic>
        <p:nvPicPr>
          <p:cNvPr id="2" name="Image 0" descr="https://images.stockcake.com/public/e/f/3/ef308318-1f64-472a-b4a2-4610f7d18966/geometric-corporate-pattern-stockcake.jpg">    </p:cNvPr>
          <p:cNvPicPr>
            <a:picLocks noChangeAspect="1"/>
          </p:cNvPicPr>
          <p:nvPr/>
        </p:nvPicPr>
        <p:blipFill>
          <a:blip r:embed="rId1">
            <a:alphaModFix amt="1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E3A5F">
                  <a:alpha val="95000"/>
                </a:srgbClr>
              </a:gs>
              <a:gs pos="100000">
                <a:srgbClr val="1E3A5F">
                  <a:alpha val="85000"/>
                </a:srgbClr>
              </a:gs>
            </a:gsLst>
            <a:lin ang="0" scaled="1"/>
          </a:gradFill>
          <a:ln/>
        </p:spPr>
      </p:sp>
      <p:sp>
        <p:nvSpPr>
          <p:cNvPr id="4" name="Shape 1"/>
          <p:cNvSpPr/>
          <p:nvPr/>
        </p:nvSpPr>
        <p:spPr>
          <a:xfrm>
            <a:off x="381000" y="1438275"/>
            <a:ext cx="1276350" cy="381000"/>
          </a:xfrm>
          <a:custGeom>
            <a:avLst/>
            <a:gdLst/>
            <a:ahLst/>
            <a:cxnLst/>
            <a:rect l="l" t="t" r="r" b="b"/>
            <a:pathLst>
              <a:path w="1276350" h="381000">
                <a:moveTo>
                  <a:pt x="0" y="0"/>
                </a:moveTo>
                <a:lnTo>
                  <a:pt x="1276350" y="0"/>
                </a:lnTo>
                <a:lnTo>
                  <a:pt x="1276350" y="381000"/>
                </a:lnTo>
                <a:lnTo>
                  <a:pt x="0" y="381000"/>
                </a:lnTo>
                <a:lnTo>
                  <a:pt x="0" y="0"/>
                </a:lnTo>
                <a:close/>
              </a:path>
            </a:pathLst>
          </a:custGeom>
          <a:solidFill>
            <a:srgbClr val="C49A2C"/>
          </a:solidFill>
          <a:ln/>
        </p:spPr>
      </p:sp>
      <p:sp>
        <p:nvSpPr>
          <p:cNvPr id="5" name="Text 2"/>
          <p:cNvSpPr/>
          <p:nvPr/>
        </p:nvSpPr>
        <p:spPr>
          <a:xfrm>
            <a:off x="381000" y="1438275"/>
            <a:ext cx="1352550" cy="381000"/>
          </a:xfrm>
          <a:prstGeom prst="rect">
            <a:avLst/>
          </a:prstGeom>
          <a:noFill/>
          <a:ln/>
        </p:spPr>
        <p:txBody>
          <a:bodyPr wrap="square" lIns="190500" tIns="76200" rIns="190500" bIns="76200" rtlCol="0" anchor="ctr"/>
          <a:lstStyle/>
          <a:p>
            <a:pPr>
              <a:lnSpc>
                <a:spcPct val="130000"/>
              </a:lnSpc>
            </a:pPr>
            <a:r>
              <a:rPr lang="en-US" sz="1200" b="1" spc="120" kern="0" dirty="0">
                <a:solidFill>
                  <a:srgbClr val="F8F9FA"/>
                </a:solidFill>
                <a:latin typeface="MiSans" pitchFamily="34" charset="0"/>
                <a:ea typeface="MiSans" pitchFamily="34" charset="-122"/>
                <a:cs typeface="MiSans" pitchFamily="34" charset="-120"/>
              </a:rPr>
              <a:t>SECTION I</a:t>
            </a:r>
            <a:endParaRPr lang="en-US" sz="1600" dirty="0"/>
          </a:p>
        </p:txBody>
      </p:sp>
      <p:sp>
        <p:nvSpPr>
          <p:cNvPr id="6" name="Text 3"/>
          <p:cNvSpPr/>
          <p:nvPr/>
        </p:nvSpPr>
        <p:spPr>
          <a:xfrm>
            <a:off x="381000" y="2047875"/>
            <a:ext cx="11715750" cy="1428750"/>
          </a:xfrm>
          <a:prstGeom prst="rect">
            <a:avLst/>
          </a:prstGeom>
          <a:noFill/>
          <a:ln/>
        </p:spPr>
        <p:txBody>
          <a:bodyPr wrap="square" lIns="0" tIns="0" rIns="0" bIns="0" rtlCol="0" anchor="ctr"/>
          <a:lstStyle/>
          <a:p>
            <a:pPr>
              <a:lnSpc>
                <a:spcPct val="100000"/>
              </a:lnSpc>
            </a:pPr>
            <a:r>
              <a:rPr lang="en-US" sz="4500" b="1" dirty="0">
                <a:solidFill>
                  <a:srgbClr val="F8F9FA"/>
                </a:solidFill>
                <a:latin typeface="MiSans" pitchFamily="34" charset="0"/>
                <a:ea typeface="MiSans" pitchFamily="34" charset="-122"/>
                <a:cs typeface="MiSans" pitchFamily="34" charset="-120"/>
              </a:rPr>
              <a:t>Historical Foundations of</a:t>
            </a:r>
            <a:endParaRPr lang="en-US" sz="1600" dirty="0"/>
          </a:p>
          <a:p>
            <a:pPr>
              <a:lnSpc>
                <a:spcPct val="100000"/>
              </a:lnSpc>
            </a:pPr>
            <a:r>
              <a:rPr lang="en-US" sz="4500" b="1" dirty="0">
                <a:solidFill>
                  <a:srgbClr val="C49A2C"/>
                </a:solidFill>
                <a:latin typeface="MiSans" pitchFamily="34" charset="0"/>
                <a:ea typeface="MiSans" pitchFamily="34" charset="-122"/>
                <a:cs typeface="MiSans" pitchFamily="34" charset="-120"/>
              </a:rPr>
              <a:t>Educational Measurement</a:t>
            </a:r>
            <a:endParaRPr lang="en-US" sz="1600" dirty="0"/>
          </a:p>
        </p:txBody>
      </p:sp>
      <p:sp>
        <p:nvSpPr>
          <p:cNvPr id="7" name="Shape 4"/>
          <p:cNvSpPr/>
          <p:nvPr/>
        </p:nvSpPr>
        <p:spPr>
          <a:xfrm>
            <a:off x="381000" y="3705225"/>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49A2C"/>
          </a:solidFill>
          <a:ln/>
        </p:spPr>
      </p:sp>
      <p:sp>
        <p:nvSpPr>
          <p:cNvPr id="8" name="Text 5"/>
          <p:cNvSpPr/>
          <p:nvPr/>
        </p:nvSpPr>
        <p:spPr>
          <a:xfrm>
            <a:off x="381000" y="3990975"/>
            <a:ext cx="7429500" cy="742950"/>
          </a:xfrm>
          <a:prstGeom prst="rect">
            <a:avLst/>
          </a:prstGeom>
          <a:noFill/>
          <a:ln/>
        </p:spPr>
        <p:txBody>
          <a:bodyPr wrap="square" lIns="0" tIns="0" rIns="0" bIns="0" rtlCol="0" anchor="ctr"/>
          <a:lstStyle/>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From Taxonomies to Meta-Analyses:</a:t>
            </a:r>
            <a:endParaRPr lang="en-US" sz="1600" dirty="0"/>
          </a:p>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The Intellectual Lineage of the MPI</a:t>
            </a:r>
            <a:endParaRPr lang="en-US" sz="1600" dirty="0"/>
          </a:p>
        </p:txBody>
      </p:sp>
      <p:sp>
        <p:nvSpPr>
          <p:cNvPr id="9" name="Shape 6"/>
          <p:cNvSpPr/>
          <p:nvPr/>
        </p:nvSpPr>
        <p:spPr>
          <a:xfrm>
            <a:off x="409575" y="5191125"/>
            <a:ext cx="228600" cy="228600"/>
          </a:xfrm>
          <a:custGeom>
            <a:avLst/>
            <a:gdLst/>
            <a:ahLst/>
            <a:cxnLst/>
            <a:rect l="l" t="t" r="r" b="b"/>
            <a:pathLst>
              <a:path w="228600" h="228600">
                <a:moveTo>
                  <a:pt x="114300" y="63088"/>
                </a:moveTo>
                <a:lnTo>
                  <a:pt x="114300" y="201186"/>
                </a:lnTo>
                <a:lnTo>
                  <a:pt x="114523" y="201097"/>
                </a:lnTo>
                <a:cubicBezTo>
                  <a:pt x="138901" y="190961"/>
                  <a:pt x="165065" y="185738"/>
                  <a:pt x="191453" y="185738"/>
                </a:cubicBezTo>
                <a:lnTo>
                  <a:pt x="200025" y="185738"/>
                </a:lnTo>
                <a:lnTo>
                  <a:pt x="200025" y="42863"/>
                </a:lnTo>
                <a:lnTo>
                  <a:pt x="191453" y="42863"/>
                </a:lnTo>
                <a:cubicBezTo>
                  <a:pt x="172611" y="42863"/>
                  <a:pt x="153903" y="46613"/>
                  <a:pt x="136490" y="53846"/>
                </a:cubicBezTo>
                <a:cubicBezTo>
                  <a:pt x="128989" y="56971"/>
                  <a:pt x="121578" y="60052"/>
                  <a:pt x="114300" y="63088"/>
                </a:cubicBezTo>
                <a:close/>
                <a:moveTo>
                  <a:pt x="103093" y="27459"/>
                </a:moveTo>
                <a:lnTo>
                  <a:pt x="114300" y="32147"/>
                </a:lnTo>
                <a:lnTo>
                  <a:pt x="125507" y="27459"/>
                </a:lnTo>
                <a:cubicBezTo>
                  <a:pt x="146402" y="18752"/>
                  <a:pt x="168816" y="14288"/>
                  <a:pt x="191453" y="14288"/>
                </a:cubicBezTo>
                <a:lnTo>
                  <a:pt x="207169" y="14288"/>
                </a:lnTo>
                <a:cubicBezTo>
                  <a:pt x="219001" y="14288"/>
                  <a:pt x="228600" y="23887"/>
                  <a:pt x="228600" y="35719"/>
                </a:cubicBezTo>
                <a:lnTo>
                  <a:pt x="228600" y="192881"/>
                </a:lnTo>
                <a:cubicBezTo>
                  <a:pt x="228600" y="204713"/>
                  <a:pt x="219001" y="214313"/>
                  <a:pt x="207169" y="214313"/>
                </a:cubicBezTo>
                <a:lnTo>
                  <a:pt x="191453" y="214313"/>
                </a:lnTo>
                <a:cubicBezTo>
                  <a:pt x="168816" y="214313"/>
                  <a:pt x="146402" y="218777"/>
                  <a:pt x="125507" y="227484"/>
                </a:cubicBezTo>
                <a:lnTo>
                  <a:pt x="119792" y="229850"/>
                </a:lnTo>
                <a:cubicBezTo>
                  <a:pt x="116265" y="231324"/>
                  <a:pt x="112335" y="231324"/>
                  <a:pt x="108808" y="229850"/>
                </a:cubicBezTo>
                <a:lnTo>
                  <a:pt x="103093" y="227484"/>
                </a:lnTo>
                <a:cubicBezTo>
                  <a:pt x="82198" y="218777"/>
                  <a:pt x="59784" y="214313"/>
                  <a:pt x="37148" y="214313"/>
                </a:cubicBezTo>
                <a:lnTo>
                  <a:pt x="21431" y="214313"/>
                </a:lnTo>
                <a:cubicBezTo>
                  <a:pt x="9599" y="214313"/>
                  <a:pt x="0" y="204713"/>
                  <a:pt x="0" y="192881"/>
                </a:cubicBezTo>
                <a:lnTo>
                  <a:pt x="0" y="35719"/>
                </a:lnTo>
                <a:cubicBezTo>
                  <a:pt x="0" y="23887"/>
                  <a:pt x="9599" y="14288"/>
                  <a:pt x="21431" y="14288"/>
                </a:cubicBezTo>
                <a:lnTo>
                  <a:pt x="37148" y="14288"/>
                </a:lnTo>
                <a:cubicBezTo>
                  <a:pt x="59784" y="14288"/>
                  <a:pt x="82198" y="18752"/>
                  <a:pt x="103093" y="27459"/>
                </a:cubicBezTo>
                <a:close/>
              </a:path>
            </a:pathLst>
          </a:custGeom>
          <a:solidFill>
            <a:srgbClr val="C49A2C"/>
          </a:solidFill>
          <a:ln/>
        </p:spPr>
      </p:sp>
      <p:sp>
        <p:nvSpPr>
          <p:cNvPr id="10" name="Text 7"/>
          <p:cNvSpPr/>
          <p:nvPr/>
        </p:nvSpPr>
        <p:spPr>
          <a:xfrm>
            <a:off x="819150" y="5191125"/>
            <a:ext cx="3362325" cy="228600"/>
          </a:xfrm>
          <a:prstGeom prst="rect">
            <a:avLst/>
          </a:prstGeom>
          <a:noFill/>
          <a:ln/>
        </p:spPr>
        <p:txBody>
          <a:bodyPr wrap="square" lIns="0" tIns="0" rIns="0" bIns="0" rtlCol="0" anchor="ctr"/>
          <a:lstStyle/>
          <a:p>
            <a:pPr>
              <a:lnSpc>
                <a:spcPct val="130000"/>
              </a:lnSpc>
            </a:pPr>
            <a:r>
              <a:rPr lang="en-US" sz="1200" dirty="0">
                <a:solidFill>
                  <a:srgbClr val="F8F9FA">
                    <a:alpha val="70000"/>
                  </a:srgbClr>
                </a:solidFill>
                <a:latin typeface="MiSans" pitchFamily="34" charset="0"/>
                <a:ea typeface="MiSans" pitchFamily="34" charset="-122"/>
                <a:cs typeface="MiSans" pitchFamily="34" charset="-120"/>
              </a:rPr>
              <a:t>Slides 6–13 | Bloom • Hattie • Black &amp; Wiliam</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78928" y="378928"/>
            <a:ext cx="75786" cy="454713"/>
          </a:xfrm>
          <a:custGeom>
            <a:avLst/>
            <a:gdLst/>
            <a:ahLst/>
            <a:cxnLst/>
            <a:rect l="l" t="t" r="r" b="b"/>
            <a:pathLst>
              <a:path w="75786" h="454713">
                <a:moveTo>
                  <a:pt x="0" y="0"/>
                </a:moveTo>
                <a:lnTo>
                  <a:pt x="75786" y="0"/>
                </a:lnTo>
                <a:lnTo>
                  <a:pt x="75786" y="454713"/>
                </a:lnTo>
                <a:lnTo>
                  <a:pt x="0" y="454713"/>
                </a:lnTo>
                <a:lnTo>
                  <a:pt x="0" y="0"/>
                </a:lnTo>
                <a:close/>
              </a:path>
            </a:pathLst>
          </a:custGeom>
          <a:solidFill>
            <a:srgbClr val="1E3A5F"/>
          </a:solidFill>
          <a:ln/>
        </p:spPr>
      </p:sp>
      <p:sp>
        <p:nvSpPr>
          <p:cNvPr id="3" name="Text 1"/>
          <p:cNvSpPr/>
          <p:nvPr/>
        </p:nvSpPr>
        <p:spPr>
          <a:xfrm>
            <a:off x="568392" y="435767"/>
            <a:ext cx="8686918" cy="341035"/>
          </a:xfrm>
          <a:prstGeom prst="rect">
            <a:avLst/>
          </a:prstGeom>
          <a:noFill/>
          <a:ln/>
        </p:spPr>
        <p:txBody>
          <a:bodyPr wrap="square" lIns="0" tIns="0" rIns="0" bIns="0" rtlCol="0" anchor="ctr"/>
          <a:lstStyle/>
          <a:p>
            <a:pPr>
              <a:lnSpc>
                <a:spcPct val="100000"/>
              </a:lnSpc>
            </a:pPr>
            <a:r>
              <a:rPr lang="en-US" sz="2238" b="1" dirty="0">
                <a:solidFill>
                  <a:srgbClr val="1E3A5F"/>
                </a:solidFill>
                <a:latin typeface="MiSans" pitchFamily="34" charset="0"/>
                <a:ea typeface="MiSans" pitchFamily="34" charset="-122"/>
                <a:cs typeface="MiSans" pitchFamily="34" charset="-120"/>
              </a:rPr>
              <a:t>Bloom's Taxonomy: A Hierarchical Model of Cognitive Function</a:t>
            </a:r>
            <a:endParaRPr lang="en-US" sz="1600" dirty="0"/>
          </a:p>
        </p:txBody>
      </p:sp>
      <p:sp>
        <p:nvSpPr>
          <p:cNvPr id="4" name="Text 2"/>
          <p:cNvSpPr/>
          <p:nvPr/>
        </p:nvSpPr>
        <p:spPr>
          <a:xfrm>
            <a:off x="568392" y="909427"/>
            <a:ext cx="11320466" cy="227357"/>
          </a:xfrm>
          <a:prstGeom prst="rect">
            <a:avLst/>
          </a:prstGeom>
          <a:noFill/>
          <a:ln/>
        </p:spPr>
        <p:txBody>
          <a:bodyPr wrap="square" lIns="0" tIns="0" rIns="0" bIns="0" rtlCol="0" anchor="ctr"/>
          <a:lstStyle/>
          <a:p>
            <a:pPr>
              <a:lnSpc>
                <a:spcPct val="130000"/>
              </a:lnSpc>
            </a:pPr>
            <a:r>
              <a:rPr lang="en-US" sz="1193" dirty="0">
                <a:solidFill>
                  <a:srgbClr val="6C757D"/>
                </a:solidFill>
                <a:latin typeface="MiSans" pitchFamily="34" charset="0"/>
                <a:ea typeface="MiSans" pitchFamily="34" charset="-122"/>
                <a:cs typeface="MiSans" pitchFamily="34" charset="-120"/>
              </a:rPr>
              <a:t>Benjamin Bloom (1956) | Revised by Anderson &amp; Krathwohl (2001)</a:t>
            </a:r>
            <a:endParaRPr lang="en-US" sz="1600" dirty="0"/>
          </a:p>
        </p:txBody>
      </p:sp>
      <p:sp>
        <p:nvSpPr>
          <p:cNvPr id="5" name="Shape 3"/>
          <p:cNvSpPr/>
          <p:nvPr/>
        </p:nvSpPr>
        <p:spPr>
          <a:xfrm>
            <a:off x="378928" y="1307301"/>
            <a:ext cx="5646023" cy="2709333"/>
          </a:xfrm>
          <a:custGeom>
            <a:avLst/>
            <a:gdLst/>
            <a:ahLst/>
            <a:cxnLst/>
            <a:rect l="l" t="t" r="r" b="b"/>
            <a:pathLst>
              <a:path w="5646023" h="2709333">
                <a:moveTo>
                  <a:pt x="0" y="0"/>
                </a:moveTo>
                <a:lnTo>
                  <a:pt x="5646023" y="0"/>
                </a:lnTo>
                <a:lnTo>
                  <a:pt x="5646023" y="2709333"/>
                </a:lnTo>
                <a:lnTo>
                  <a:pt x="0" y="2709333"/>
                </a:lnTo>
                <a:lnTo>
                  <a:pt x="0" y="0"/>
                </a:lnTo>
                <a:close/>
              </a:path>
            </a:pathLst>
          </a:custGeom>
          <a:solidFill>
            <a:srgbClr val="FFFFFF"/>
          </a:solidFill>
          <a:ln/>
        </p:spPr>
      </p:sp>
      <p:sp>
        <p:nvSpPr>
          <p:cNvPr id="6" name="Shape 4"/>
          <p:cNvSpPr/>
          <p:nvPr/>
        </p:nvSpPr>
        <p:spPr>
          <a:xfrm>
            <a:off x="378928" y="1307301"/>
            <a:ext cx="5646023" cy="37893"/>
          </a:xfrm>
          <a:custGeom>
            <a:avLst/>
            <a:gdLst/>
            <a:ahLst/>
            <a:cxnLst/>
            <a:rect l="l" t="t" r="r" b="b"/>
            <a:pathLst>
              <a:path w="5646023" h="37893">
                <a:moveTo>
                  <a:pt x="0" y="0"/>
                </a:moveTo>
                <a:lnTo>
                  <a:pt x="5646023" y="0"/>
                </a:lnTo>
                <a:lnTo>
                  <a:pt x="5646023" y="37893"/>
                </a:lnTo>
                <a:lnTo>
                  <a:pt x="0" y="37893"/>
                </a:lnTo>
                <a:lnTo>
                  <a:pt x="0" y="0"/>
                </a:lnTo>
                <a:close/>
              </a:path>
            </a:pathLst>
          </a:custGeom>
          <a:solidFill>
            <a:srgbClr val="1E3A5F"/>
          </a:solidFill>
          <a:ln/>
        </p:spPr>
      </p:sp>
      <p:sp>
        <p:nvSpPr>
          <p:cNvPr id="7" name="Text 5"/>
          <p:cNvSpPr/>
          <p:nvPr/>
        </p:nvSpPr>
        <p:spPr>
          <a:xfrm>
            <a:off x="530499" y="1477818"/>
            <a:ext cx="5428140" cy="265249"/>
          </a:xfrm>
          <a:prstGeom prst="rect">
            <a:avLst/>
          </a:prstGeom>
          <a:noFill/>
          <a:ln/>
        </p:spPr>
        <p:txBody>
          <a:bodyPr wrap="square" lIns="0" tIns="0" rIns="0" bIns="0" rtlCol="0" anchor="ctr"/>
          <a:lstStyle/>
          <a:p>
            <a:pPr>
              <a:lnSpc>
                <a:spcPct val="130000"/>
              </a:lnSpc>
            </a:pPr>
            <a:r>
              <a:rPr lang="en-US" sz="1343" b="1" dirty="0">
                <a:solidFill>
                  <a:srgbClr val="1E3A5F"/>
                </a:solidFill>
                <a:latin typeface="MiSans" pitchFamily="34" charset="0"/>
                <a:ea typeface="MiSans" pitchFamily="34" charset="-122"/>
                <a:cs typeface="MiSans" pitchFamily="34" charset="-120"/>
              </a:rPr>
              <a:t>Original Taxonomy (1956)</a:t>
            </a:r>
            <a:endParaRPr lang="en-US" sz="1600" dirty="0"/>
          </a:p>
        </p:txBody>
      </p:sp>
      <p:sp>
        <p:nvSpPr>
          <p:cNvPr id="8" name="Shape 6"/>
          <p:cNvSpPr/>
          <p:nvPr/>
        </p:nvSpPr>
        <p:spPr>
          <a:xfrm>
            <a:off x="530499" y="1856746"/>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6C757D"/>
          </a:solidFill>
          <a:ln/>
        </p:spPr>
      </p:sp>
      <p:sp>
        <p:nvSpPr>
          <p:cNvPr id="9" name="Text 7"/>
          <p:cNvSpPr/>
          <p:nvPr/>
        </p:nvSpPr>
        <p:spPr>
          <a:xfrm>
            <a:off x="497343" y="1856746"/>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1</a:t>
            </a:r>
            <a:endParaRPr lang="en-US" sz="1600" dirty="0"/>
          </a:p>
        </p:txBody>
      </p:sp>
      <p:sp>
        <p:nvSpPr>
          <p:cNvPr id="10" name="Text 8"/>
          <p:cNvSpPr/>
          <p:nvPr/>
        </p:nvSpPr>
        <p:spPr>
          <a:xfrm>
            <a:off x="947319" y="1908848"/>
            <a:ext cx="886375"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Knowledge</a:t>
            </a:r>
            <a:endParaRPr lang="en-US" sz="1600" dirty="0"/>
          </a:p>
        </p:txBody>
      </p:sp>
      <p:sp>
        <p:nvSpPr>
          <p:cNvPr id="11" name="Shape 9"/>
          <p:cNvSpPr/>
          <p:nvPr/>
        </p:nvSpPr>
        <p:spPr>
          <a:xfrm>
            <a:off x="530499" y="2197781"/>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6C757D"/>
          </a:solidFill>
          <a:ln/>
        </p:spPr>
      </p:sp>
      <p:sp>
        <p:nvSpPr>
          <p:cNvPr id="12" name="Text 10"/>
          <p:cNvSpPr/>
          <p:nvPr/>
        </p:nvSpPr>
        <p:spPr>
          <a:xfrm>
            <a:off x="497343" y="2197781"/>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2</a:t>
            </a:r>
            <a:endParaRPr lang="en-US" sz="1600" dirty="0"/>
          </a:p>
        </p:txBody>
      </p:sp>
      <p:sp>
        <p:nvSpPr>
          <p:cNvPr id="13" name="Text 11"/>
          <p:cNvSpPr/>
          <p:nvPr/>
        </p:nvSpPr>
        <p:spPr>
          <a:xfrm>
            <a:off x="947319" y="2249883"/>
            <a:ext cx="1222516"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Comprehension</a:t>
            </a:r>
            <a:endParaRPr lang="en-US" sz="1600" dirty="0"/>
          </a:p>
        </p:txBody>
      </p:sp>
      <p:sp>
        <p:nvSpPr>
          <p:cNvPr id="14" name="Shape 12"/>
          <p:cNvSpPr/>
          <p:nvPr/>
        </p:nvSpPr>
        <p:spPr>
          <a:xfrm>
            <a:off x="530499" y="2538816"/>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1E3A5F"/>
          </a:solidFill>
          <a:ln/>
        </p:spPr>
      </p:sp>
      <p:sp>
        <p:nvSpPr>
          <p:cNvPr id="15" name="Text 13"/>
          <p:cNvSpPr/>
          <p:nvPr/>
        </p:nvSpPr>
        <p:spPr>
          <a:xfrm>
            <a:off x="497343" y="2538816"/>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3</a:t>
            </a:r>
            <a:endParaRPr lang="en-US" sz="1600" dirty="0"/>
          </a:p>
        </p:txBody>
      </p:sp>
      <p:sp>
        <p:nvSpPr>
          <p:cNvPr id="16" name="Text 14"/>
          <p:cNvSpPr/>
          <p:nvPr/>
        </p:nvSpPr>
        <p:spPr>
          <a:xfrm>
            <a:off x="947319" y="2590918"/>
            <a:ext cx="895375"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Application</a:t>
            </a:r>
            <a:endParaRPr lang="en-US" sz="1600" dirty="0"/>
          </a:p>
        </p:txBody>
      </p:sp>
      <p:sp>
        <p:nvSpPr>
          <p:cNvPr id="17" name="Shape 15"/>
          <p:cNvSpPr/>
          <p:nvPr/>
        </p:nvSpPr>
        <p:spPr>
          <a:xfrm>
            <a:off x="530499" y="2879851"/>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1E3A5F"/>
          </a:solidFill>
          <a:ln/>
        </p:spPr>
      </p:sp>
      <p:sp>
        <p:nvSpPr>
          <p:cNvPr id="18" name="Text 16"/>
          <p:cNvSpPr/>
          <p:nvPr/>
        </p:nvSpPr>
        <p:spPr>
          <a:xfrm>
            <a:off x="497343" y="2879851"/>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4</a:t>
            </a:r>
            <a:endParaRPr lang="en-US" sz="1600" dirty="0"/>
          </a:p>
        </p:txBody>
      </p:sp>
      <p:sp>
        <p:nvSpPr>
          <p:cNvPr id="19" name="Text 17"/>
          <p:cNvSpPr/>
          <p:nvPr/>
        </p:nvSpPr>
        <p:spPr>
          <a:xfrm>
            <a:off x="947319" y="2931953"/>
            <a:ext cx="666439"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Analysis</a:t>
            </a:r>
            <a:endParaRPr lang="en-US" sz="1600" dirty="0"/>
          </a:p>
        </p:txBody>
      </p:sp>
      <p:sp>
        <p:nvSpPr>
          <p:cNvPr id="20" name="Shape 18"/>
          <p:cNvSpPr/>
          <p:nvPr/>
        </p:nvSpPr>
        <p:spPr>
          <a:xfrm>
            <a:off x="530499" y="3220886"/>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1E3A5F"/>
          </a:solidFill>
          <a:ln/>
        </p:spPr>
      </p:sp>
      <p:sp>
        <p:nvSpPr>
          <p:cNvPr id="21" name="Text 19"/>
          <p:cNvSpPr/>
          <p:nvPr/>
        </p:nvSpPr>
        <p:spPr>
          <a:xfrm>
            <a:off x="497343" y="3220886"/>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5</a:t>
            </a:r>
            <a:endParaRPr lang="en-US" sz="1600" dirty="0"/>
          </a:p>
        </p:txBody>
      </p:sp>
      <p:sp>
        <p:nvSpPr>
          <p:cNvPr id="22" name="Text 20"/>
          <p:cNvSpPr/>
          <p:nvPr/>
        </p:nvSpPr>
        <p:spPr>
          <a:xfrm>
            <a:off x="947319" y="3272988"/>
            <a:ext cx="768434"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Synthesis</a:t>
            </a:r>
            <a:endParaRPr lang="en-US" sz="1600" dirty="0"/>
          </a:p>
        </p:txBody>
      </p:sp>
      <p:sp>
        <p:nvSpPr>
          <p:cNvPr id="23" name="Shape 21"/>
          <p:cNvSpPr/>
          <p:nvPr/>
        </p:nvSpPr>
        <p:spPr>
          <a:xfrm>
            <a:off x="530499" y="3561921"/>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C49A2C"/>
          </a:solidFill>
          <a:ln/>
        </p:spPr>
      </p:sp>
      <p:sp>
        <p:nvSpPr>
          <p:cNvPr id="24" name="Text 22"/>
          <p:cNvSpPr/>
          <p:nvPr/>
        </p:nvSpPr>
        <p:spPr>
          <a:xfrm>
            <a:off x="497343" y="3561921"/>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6</a:t>
            </a:r>
            <a:endParaRPr lang="en-US" sz="1600" dirty="0"/>
          </a:p>
        </p:txBody>
      </p:sp>
      <p:sp>
        <p:nvSpPr>
          <p:cNvPr id="25" name="Text 23"/>
          <p:cNvSpPr/>
          <p:nvPr/>
        </p:nvSpPr>
        <p:spPr>
          <a:xfrm>
            <a:off x="947319" y="3599814"/>
            <a:ext cx="1515711" cy="22735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Evaluation (highest)</a:t>
            </a:r>
            <a:endParaRPr lang="en-US" sz="1600" dirty="0"/>
          </a:p>
        </p:txBody>
      </p:sp>
      <p:sp>
        <p:nvSpPr>
          <p:cNvPr id="26" name="Shape 24"/>
          <p:cNvSpPr/>
          <p:nvPr/>
        </p:nvSpPr>
        <p:spPr>
          <a:xfrm>
            <a:off x="378928" y="4149259"/>
            <a:ext cx="5646023" cy="2709333"/>
          </a:xfrm>
          <a:custGeom>
            <a:avLst/>
            <a:gdLst/>
            <a:ahLst/>
            <a:cxnLst/>
            <a:rect l="l" t="t" r="r" b="b"/>
            <a:pathLst>
              <a:path w="5646023" h="2709333">
                <a:moveTo>
                  <a:pt x="0" y="0"/>
                </a:moveTo>
                <a:lnTo>
                  <a:pt x="5646023" y="0"/>
                </a:lnTo>
                <a:lnTo>
                  <a:pt x="5646023" y="2709333"/>
                </a:lnTo>
                <a:lnTo>
                  <a:pt x="0" y="2709333"/>
                </a:lnTo>
                <a:lnTo>
                  <a:pt x="0" y="0"/>
                </a:lnTo>
                <a:close/>
              </a:path>
            </a:pathLst>
          </a:custGeom>
          <a:solidFill>
            <a:srgbClr val="FFFFFF"/>
          </a:solidFill>
          <a:ln/>
        </p:spPr>
      </p:sp>
      <p:sp>
        <p:nvSpPr>
          <p:cNvPr id="27" name="Shape 25"/>
          <p:cNvSpPr/>
          <p:nvPr/>
        </p:nvSpPr>
        <p:spPr>
          <a:xfrm>
            <a:off x="378928" y="4149259"/>
            <a:ext cx="5646023" cy="37893"/>
          </a:xfrm>
          <a:custGeom>
            <a:avLst/>
            <a:gdLst/>
            <a:ahLst/>
            <a:cxnLst/>
            <a:rect l="l" t="t" r="r" b="b"/>
            <a:pathLst>
              <a:path w="5646023" h="37893">
                <a:moveTo>
                  <a:pt x="0" y="0"/>
                </a:moveTo>
                <a:lnTo>
                  <a:pt x="5646023" y="0"/>
                </a:lnTo>
                <a:lnTo>
                  <a:pt x="5646023" y="37893"/>
                </a:lnTo>
                <a:lnTo>
                  <a:pt x="0" y="37893"/>
                </a:lnTo>
                <a:lnTo>
                  <a:pt x="0" y="0"/>
                </a:lnTo>
                <a:close/>
              </a:path>
            </a:pathLst>
          </a:custGeom>
          <a:solidFill>
            <a:srgbClr val="C49A2C"/>
          </a:solidFill>
          <a:ln/>
        </p:spPr>
      </p:sp>
      <p:sp>
        <p:nvSpPr>
          <p:cNvPr id="28" name="Text 26"/>
          <p:cNvSpPr/>
          <p:nvPr/>
        </p:nvSpPr>
        <p:spPr>
          <a:xfrm>
            <a:off x="530499" y="4319776"/>
            <a:ext cx="5428140" cy="265249"/>
          </a:xfrm>
          <a:prstGeom prst="rect">
            <a:avLst/>
          </a:prstGeom>
          <a:noFill/>
          <a:ln/>
        </p:spPr>
        <p:txBody>
          <a:bodyPr wrap="square" lIns="0" tIns="0" rIns="0" bIns="0" rtlCol="0" anchor="ctr"/>
          <a:lstStyle/>
          <a:p>
            <a:pPr>
              <a:lnSpc>
                <a:spcPct val="130000"/>
              </a:lnSpc>
            </a:pPr>
            <a:r>
              <a:rPr lang="en-US" sz="1343" b="1" dirty="0">
                <a:solidFill>
                  <a:srgbClr val="1E3A5F"/>
                </a:solidFill>
                <a:latin typeface="MiSans" pitchFamily="34" charset="0"/>
                <a:ea typeface="MiSans" pitchFamily="34" charset="-122"/>
                <a:cs typeface="MiSans" pitchFamily="34" charset="-120"/>
              </a:rPr>
              <a:t>Revised Taxonomy (2001)</a:t>
            </a:r>
            <a:endParaRPr lang="en-US" sz="1600" dirty="0"/>
          </a:p>
        </p:txBody>
      </p:sp>
      <p:sp>
        <p:nvSpPr>
          <p:cNvPr id="29" name="Shape 27"/>
          <p:cNvSpPr/>
          <p:nvPr/>
        </p:nvSpPr>
        <p:spPr>
          <a:xfrm>
            <a:off x="530499" y="4698704"/>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6C757D"/>
          </a:solidFill>
          <a:ln/>
        </p:spPr>
      </p:sp>
      <p:sp>
        <p:nvSpPr>
          <p:cNvPr id="30" name="Text 28"/>
          <p:cNvSpPr/>
          <p:nvPr/>
        </p:nvSpPr>
        <p:spPr>
          <a:xfrm>
            <a:off x="497343" y="4698704"/>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1</a:t>
            </a:r>
            <a:endParaRPr lang="en-US" sz="1600" dirty="0"/>
          </a:p>
        </p:txBody>
      </p:sp>
      <p:sp>
        <p:nvSpPr>
          <p:cNvPr id="31" name="Text 29"/>
          <p:cNvSpPr/>
          <p:nvPr/>
        </p:nvSpPr>
        <p:spPr>
          <a:xfrm>
            <a:off x="947319" y="4750807"/>
            <a:ext cx="1093522"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Remembering</a:t>
            </a:r>
            <a:endParaRPr lang="en-US" sz="1600" dirty="0"/>
          </a:p>
        </p:txBody>
      </p:sp>
      <p:sp>
        <p:nvSpPr>
          <p:cNvPr id="32" name="Shape 30"/>
          <p:cNvSpPr/>
          <p:nvPr/>
        </p:nvSpPr>
        <p:spPr>
          <a:xfrm>
            <a:off x="530499" y="5039739"/>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6C757D"/>
          </a:solidFill>
          <a:ln/>
        </p:spPr>
      </p:sp>
      <p:sp>
        <p:nvSpPr>
          <p:cNvPr id="33" name="Text 31"/>
          <p:cNvSpPr/>
          <p:nvPr/>
        </p:nvSpPr>
        <p:spPr>
          <a:xfrm>
            <a:off x="497343" y="5039739"/>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2</a:t>
            </a:r>
            <a:endParaRPr lang="en-US" sz="1600" dirty="0"/>
          </a:p>
        </p:txBody>
      </p:sp>
      <p:sp>
        <p:nvSpPr>
          <p:cNvPr id="34" name="Text 32"/>
          <p:cNvSpPr/>
          <p:nvPr/>
        </p:nvSpPr>
        <p:spPr>
          <a:xfrm>
            <a:off x="947319" y="5091841"/>
            <a:ext cx="1145941"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Understanding</a:t>
            </a:r>
            <a:endParaRPr lang="en-US" sz="1600" dirty="0"/>
          </a:p>
        </p:txBody>
      </p:sp>
      <p:sp>
        <p:nvSpPr>
          <p:cNvPr id="35" name="Shape 33"/>
          <p:cNvSpPr/>
          <p:nvPr/>
        </p:nvSpPr>
        <p:spPr>
          <a:xfrm>
            <a:off x="530499" y="5380774"/>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1E3A5F"/>
          </a:solidFill>
          <a:ln/>
        </p:spPr>
      </p:sp>
      <p:sp>
        <p:nvSpPr>
          <p:cNvPr id="36" name="Text 34"/>
          <p:cNvSpPr/>
          <p:nvPr/>
        </p:nvSpPr>
        <p:spPr>
          <a:xfrm>
            <a:off x="497343" y="5380774"/>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3</a:t>
            </a:r>
            <a:endParaRPr lang="en-US" sz="1600" dirty="0"/>
          </a:p>
        </p:txBody>
      </p:sp>
      <p:sp>
        <p:nvSpPr>
          <p:cNvPr id="37" name="Text 35"/>
          <p:cNvSpPr/>
          <p:nvPr/>
        </p:nvSpPr>
        <p:spPr>
          <a:xfrm>
            <a:off x="947319" y="5432876"/>
            <a:ext cx="713805"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Applying</a:t>
            </a:r>
            <a:endParaRPr lang="en-US" sz="1600" dirty="0"/>
          </a:p>
        </p:txBody>
      </p:sp>
      <p:sp>
        <p:nvSpPr>
          <p:cNvPr id="38" name="Shape 36"/>
          <p:cNvSpPr/>
          <p:nvPr/>
        </p:nvSpPr>
        <p:spPr>
          <a:xfrm>
            <a:off x="530499" y="5721809"/>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1E3A5F"/>
          </a:solidFill>
          <a:ln/>
        </p:spPr>
      </p:sp>
      <p:sp>
        <p:nvSpPr>
          <p:cNvPr id="39" name="Text 37"/>
          <p:cNvSpPr/>
          <p:nvPr/>
        </p:nvSpPr>
        <p:spPr>
          <a:xfrm>
            <a:off x="497343" y="5721809"/>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4</a:t>
            </a:r>
            <a:endParaRPr lang="en-US" sz="1600" dirty="0"/>
          </a:p>
        </p:txBody>
      </p:sp>
      <p:sp>
        <p:nvSpPr>
          <p:cNvPr id="40" name="Text 38"/>
          <p:cNvSpPr/>
          <p:nvPr/>
        </p:nvSpPr>
        <p:spPr>
          <a:xfrm>
            <a:off x="947319" y="5773911"/>
            <a:ext cx="776802"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Analysing</a:t>
            </a:r>
            <a:endParaRPr lang="en-US" sz="1600" dirty="0"/>
          </a:p>
        </p:txBody>
      </p:sp>
      <p:sp>
        <p:nvSpPr>
          <p:cNvPr id="41" name="Shape 39"/>
          <p:cNvSpPr/>
          <p:nvPr/>
        </p:nvSpPr>
        <p:spPr>
          <a:xfrm>
            <a:off x="530499" y="6062844"/>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1E3A5F"/>
          </a:solidFill>
          <a:ln/>
        </p:spPr>
      </p:sp>
      <p:sp>
        <p:nvSpPr>
          <p:cNvPr id="42" name="Text 40"/>
          <p:cNvSpPr/>
          <p:nvPr/>
        </p:nvSpPr>
        <p:spPr>
          <a:xfrm>
            <a:off x="497343" y="6062844"/>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5</a:t>
            </a:r>
            <a:endParaRPr lang="en-US" sz="1600" dirty="0"/>
          </a:p>
        </p:txBody>
      </p:sp>
      <p:sp>
        <p:nvSpPr>
          <p:cNvPr id="43" name="Text 41"/>
          <p:cNvSpPr/>
          <p:nvPr/>
        </p:nvSpPr>
        <p:spPr>
          <a:xfrm>
            <a:off x="947319" y="6114946"/>
            <a:ext cx="832378" cy="19893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Evaluating</a:t>
            </a:r>
            <a:endParaRPr lang="en-US" sz="1600" dirty="0"/>
          </a:p>
        </p:txBody>
      </p:sp>
      <p:sp>
        <p:nvSpPr>
          <p:cNvPr id="44" name="Shape 42"/>
          <p:cNvSpPr/>
          <p:nvPr/>
        </p:nvSpPr>
        <p:spPr>
          <a:xfrm>
            <a:off x="530499" y="6403879"/>
            <a:ext cx="303142" cy="303142"/>
          </a:xfrm>
          <a:custGeom>
            <a:avLst/>
            <a:gdLst/>
            <a:ahLst/>
            <a:cxnLst/>
            <a:rect l="l" t="t" r="r" b="b"/>
            <a:pathLst>
              <a:path w="303142" h="303142">
                <a:moveTo>
                  <a:pt x="0" y="0"/>
                </a:moveTo>
                <a:lnTo>
                  <a:pt x="303142" y="0"/>
                </a:lnTo>
                <a:lnTo>
                  <a:pt x="303142" y="303142"/>
                </a:lnTo>
                <a:lnTo>
                  <a:pt x="0" y="303142"/>
                </a:lnTo>
                <a:lnTo>
                  <a:pt x="0" y="0"/>
                </a:lnTo>
                <a:close/>
              </a:path>
            </a:pathLst>
          </a:custGeom>
          <a:solidFill>
            <a:srgbClr val="C49A2C"/>
          </a:solidFill>
          <a:ln/>
        </p:spPr>
      </p:sp>
      <p:sp>
        <p:nvSpPr>
          <p:cNvPr id="45" name="Text 43"/>
          <p:cNvSpPr/>
          <p:nvPr/>
        </p:nvSpPr>
        <p:spPr>
          <a:xfrm>
            <a:off x="497343" y="6403879"/>
            <a:ext cx="369455" cy="303142"/>
          </a:xfrm>
          <a:prstGeom prst="rect">
            <a:avLst/>
          </a:prstGeom>
          <a:noFill/>
          <a:ln/>
        </p:spPr>
        <p:txBody>
          <a:bodyPr wrap="square" lIns="0" tIns="0" rIns="0" bIns="0" rtlCol="0" anchor="ctr"/>
          <a:lstStyle/>
          <a:p>
            <a:pPr algn="ctr">
              <a:lnSpc>
                <a:spcPct val="120000"/>
              </a:lnSpc>
            </a:pPr>
            <a:r>
              <a:rPr lang="en-US" sz="1044" b="1" dirty="0">
                <a:solidFill>
                  <a:srgbClr val="F8F9FA"/>
                </a:solidFill>
                <a:latin typeface="MiSans" pitchFamily="34" charset="0"/>
                <a:ea typeface="MiSans" pitchFamily="34" charset="-122"/>
                <a:cs typeface="MiSans" pitchFamily="34" charset="-120"/>
              </a:rPr>
              <a:t>6</a:t>
            </a:r>
            <a:endParaRPr lang="en-US" sz="1600" dirty="0"/>
          </a:p>
        </p:txBody>
      </p:sp>
      <p:sp>
        <p:nvSpPr>
          <p:cNvPr id="46" name="Text 44"/>
          <p:cNvSpPr/>
          <p:nvPr/>
        </p:nvSpPr>
        <p:spPr>
          <a:xfrm>
            <a:off x="947319" y="6441772"/>
            <a:ext cx="1383086" cy="227357"/>
          </a:xfrm>
          <a:prstGeom prst="rect">
            <a:avLst/>
          </a:prstGeom>
          <a:noFill/>
          <a:ln/>
        </p:spPr>
        <p:txBody>
          <a:bodyPr wrap="square" lIns="0" tIns="0" rIns="0" bIns="0" rtlCol="0" anchor="ctr"/>
          <a:lstStyle/>
          <a:p>
            <a:pPr>
              <a:lnSpc>
                <a:spcPct val="130000"/>
              </a:lnSpc>
            </a:pPr>
            <a:r>
              <a:rPr lang="en-US" sz="1193" b="1" dirty="0">
                <a:solidFill>
                  <a:srgbClr val="2D3436"/>
                </a:solidFill>
                <a:latin typeface="MiSans" pitchFamily="34" charset="0"/>
                <a:ea typeface="MiSans" pitchFamily="34" charset="-122"/>
                <a:cs typeface="MiSans" pitchFamily="34" charset="-120"/>
              </a:rPr>
              <a:t>Creating (highest)</a:t>
            </a:r>
            <a:endParaRPr lang="en-US" sz="1600" dirty="0"/>
          </a:p>
        </p:txBody>
      </p:sp>
      <p:sp>
        <p:nvSpPr>
          <p:cNvPr id="47" name="Shape 45"/>
          <p:cNvSpPr/>
          <p:nvPr/>
        </p:nvSpPr>
        <p:spPr>
          <a:xfrm>
            <a:off x="6172417" y="1288354"/>
            <a:ext cx="5646023" cy="2027263"/>
          </a:xfrm>
          <a:custGeom>
            <a:avLst/>
            <a:gdLst/>
            <a:ahLst/>
            <a:cxnLst/>
            <a:rect l="l" t="t" r="r" b="b"/>
            <a:pathLst>
              <a:path w="5646023" h="2027263">
                <a:moveTo>
                  <a:pt x="0" y="0"/>
                </a:moveTo>
                <a:lnTo>
                  <a:pt x="5646023" y="0"/>
                </a:lnTo>
                <a:lnTo>
                  <a:pt x="5646023" y="2027263"/>
                </a:lnTo>
                <a:lnTo>
                  <a:pt x="0" y="2027263"/>
                </a:lnTo>
                <a:lnTo>
                  <a:pt x="0" y="0"/>
                </a:lnTo>
                <a:close/>
              </a:path>
            </a:pathLst>
          </a:custGeom>
          <a:solidFill>
            <a:srgbClr val="1E3A5F"/>
          </a:solidFill>
          <a:ln/>
        </p:spPr>
      </p:sp>
      <p:sp>
        <p:nvSpPr>
          <p:cNvPr id="48" name="Text 46"/>
          <p:cNvSpPr/>
          <p:nvPr/>
        </p:nvSpPr>
        <p:spPr>
          <a:xfrm>
            <a:off x="6323988" y="1439925"/>
            <a:ext cx="5428140" cy="265249"/>
          </a:xfrm>
          <a:prstGeom prst="rect">
            <a:avLst/>
          </a:prstGeom>
          <a:noFill/>
          <a:ln/>
        </p:spPr>
        <p:txBody>
          <a:bodyPr wrap="square" lIns="0" tIns="0" rIns="0" bIns="0" rtlCol="0" anchor="ctr"/>
          <a:lstStyle/>
          <a:p>
            <a:pPr>
              <a:lnSpc>
                <a:spcPct val="130000"/>
              </a:lnSpc>
            </a:pPr>
            <a:r>
              <a:rPr lang="en-US" sz="1343" b="1" dirty="0">
                <a:solidFill>
                  <a:srgbClr val="F8F9FA"/>
                </a:solidFill>
                <a:latin typeface="MiSans" pitchFamily="34" charset="0"/>
                <a:ea typeface="MiSans" pitchFamily="34" charset="-122"/>
                <a:cs typeface="MiSans" pitchFamily="34" charset="-120"/>
              </a:rPr>
              <a:t>Why the Revision Matters</a:t>
            </a:r>
            <a:endParaRPr lang="en-US" sz="1600" dirty="0"/>
          </a:p>
        </p:txBody>
      </p:sp>
      <p:sp>
        <p:nvSpPr>
          <p:cNvPr id="49" name="Text 47"/>
          <p:cNvSpPr/>
          <p:nvPr/>
        </p:nvSpPr>
        <p:spPr>
          <a:xfrm>
            <a:off x="6323988" y="1818853"/>
            <a:ext cx="5418667" cy="738909"/>
          </a:xfrm>
          <a:prstGeom prst="rect">
            <a:avLst/>
          </a:prstGeom>
          <a:noFill/>
          <a:ln/>
        </p:spPr>
        <p:txBody>
          <a:bodyPr wrap="square" lIns="0" tIns="0" rIns="0" bIns="0" rtlCol="0" anchor="ctr"/>
          <a:lstStyle/>
          <a:p>
            <a:pPr>
              <a:lnSpc>
                <a:spcPct val="140000"/>
              </a:lnSpc>
            </a:pPr>
            <a:r>
              <a:rPr lang="en-US" sz="1193" dirty="0">
                <a:solidFill>
                  <a:srgbClr val="F8F9FA"/>
                </a:solidFill>
                <a:latin typeface="MiSans" pitchFamily="34" charset="0"/>
                <a:ea typeface="MiSans" pitchFamily="34" charset="-122"/>
                <a:cs typeface="MiSans" pitchFamily="34" charset="-120"/>
              </a:rPr>
              <a:t>The 2001 revision is significant because it recognises </a:t>
            </a:r>
            <a:pPr>
              <a:lnSpc>
                <a:spcPct val="140000"/>
              </a:lnSpc>
            </a:pPr>
            <a:r>
              <a:rPr lang="en-US" sz="1193" b="1" dirty="0">
                <a:solidFill>
                  <a:srgbClr val="F8F9FA"/>
                </a:solidFill>
                <a:latin typeface="MiSans" pitchFamily="34" charset="0"/>
                <a:ea typeface="MiSans" pitchFamily="34" charset="-122"/>
                <a:cs typeface="MiSans" pitchFamily="34" charset="-120"/>
              </a:rPr>
              <a:t>Creating as the highest-order cognitive function</a:t>
            </a:r>
            <a:pPr>
              <a:lnSpc>
                <a:spcPct val="140000"/>
              </a:lnSpc>
            </a:pPr>
            <a:r>
              <a:rPr lang="en-US" sz="1193" dirty="0">
                <a:solidFill>
                  <a:srgbClr val="F8F9FA"/>
                </a:solidFill>
                <a:latin typeface="MiSans" pitchFamily="34" charset="0"/>
                <a:ea typeface="MiSans" pitchFamily="34" charset="-122"/>
                <a:cs typeface="MiSans" pitchFamily="34" charset="-120"/>
              </a:rPr>
              <a:t>, whereas the original taxonomy placed Evaluation at the apex.</a:t>
            </a:r>
            <a:endParaRPr lang="en-US" sz="1600" dirty="0"/>
          </a:p>
        </p:txBody>
      </p:sp>
      <p:sp>
        <p:nvSpPr>
          <p:cNvPr id="50" name="Text 48"/>
          <p:cNvSpPr/>
          <p:nvPr/>
        </p:nvSpPr>
        <p:spPr>
          <a:xfrm>
            <a:off x="6323988" y="2671441"/>
            <a:ext cx="5418667" cy="492606"/>
          </a:xfrm>
          <a:prstGeom prst="rect">
            <a:avLst/>
          </a:prstGeom>
          <a:noFill/>
          <a:ln/>
        </p:spPr>
        <p:txBody>
          <a:bodyPr wrap="square" lIns="0" tIns="0" rIns="0" bIns="0" rtlCol="0" anchor="ctr"/>
          <a:lstStyle/>
          <a:p>
            <a:pPr>
              <a:lnSpc>
                <a:spcPct val="140000"/>
              </a:lnSpc>
            </a:pPr>
            <a:r>
              <a:rPr lang="en-US" sz="1193" dirty="0">
                <a:solidFill>
                  <a:srgbClr val="F8F9FA"/>
                </a:solidFill>
                <a:latin typeface="MiSans" pitchFamily="34" charset="0"/>
                <a:ea typeface="MiSans" pitchFamily="34" charset="-122"/>
                <a:cs typeface="MiSans" pitchFamily="34" charset="-120"/>
              </a:rPr>
              <a:t>This restructuring reflects contemporary understanding of cognitive processes and has direct implications for curriculum design.</a:t>
            </a:r>
            <a:endParaRPr lang="en-US" sz="1600" dirty="0"/>
          </a:p>
        </p:txBody>
      </p:sp>
      <p:sp>
        <p:nvSpPr>
          <p:cNvPr id="51" name="Shape 49"/>
          <p:cNvSpPr/>
          <p:nvPr/>
        </p:nvSpPr>
        <p:spPr>
          <a:xfrm>
            <a:off x="6191363" y="3429296"/>
            <a:ext cx="5627077" cy="2804065"/>
          </a:xfrm>
          <a:custGeom>
            <a:avLst/>
            <a:gdLst/>
            <a:ahLst/>
            <a:cxnLst/>
            <a:rect l="l" t="t" r="r" b="b"/>
            <a:pathLst>
              <a:path w="5627077" h="2804065">
                <a:moveTo>
                  <a:pt x="0" y="0"/>
                </a:moveTo>
                <a:lnTo>
                  <a:pt x="5627077" y="0"/>
                </a:lnTo>
                <a:lnTo>
                  <a:pt x="5627077" y="2804065"/>
                </a:lnTo>
                <a:lnTo>
                  <a:pt x="0" y="2804065"/>
                </a:lnTo>
                <a:lnTo>
                  <a:pt x="0" y="0"/>
                </a:lnTo>
                <a:close/>
              </a:path>
            </a:pathLst>
          </a:custGeom>
          <a:solidFill>
            <a:srgbClr val="FFFFFF"/>
          </a:solidFill>
          <a:ln/>
        </p:spPr>
      </p:sp>
      <p:sp>
        <p:nvSpPr>
          <p:cNvPr id="52" name="Shape 50"/>
          <p:cNvSpPr/>
          <p:nvPr/>
        </p:nvSpPr>
        <p:spPr>
          <a:xfrm>
            <a:off x="6191363" y="3429296"/>
            <a:ext cx="37893" cy="2804065"/>
          </a:xfrm>
          <a:custGeom>
            <a:avLst/>
            <a:gdLst/>
            <a:ahLst/>
            <a:cxnLst/>
            <a:rect l="l" t="t" r="r" b="b"/>
            <a:pathLst>
              <a:path w="37893" h="2804065">
                <a:moveTo>
                  <a:pt x="0" y="0"/>
                </a:moveTo>
                <a:lnTo>
                  <a:pt x="37893" y="0"/>
                </a:lnTo>
                <a:lnTo>
                  <a:pt x="37893" y="2804065"/>
                </a:lnTo>
                <a:lnTo>
                  <a:pt x="0" y="2804065"/>
                </a:lnTo>
                <a:lnTo>
                  <a:pt x="0" y="0"/>
                </a:lnTo>
                <a:close/>
              </a:path>
            </a:pathLst>
          </a:custGeom>
          <a:solidFill>
            <a:srgbClr val="C49A2C"/>
          </a:solidFill>
          <a:ln/>
        </p:spPr>
      </p:sp>
      <p:sp>
        <p:nvSpPr>
          <p:cNvPr id="53" name="Text 51"/>
          <p:cNvSpPr/>
          <p:nvPr/>
        </p:nvSpPr>
        <p:spPr>
          <a:xfrm>
            <a:off x="6361881" y="3580867"/>
            <a:ext cx="5390247" cy="265249"/>
          </a:xfrm>
          <a:prstGeom prst="rect">
            <a:avLst/>
          </a:prstGeom>
          <a:noFill/>
          <a:ln/>
        </p:spPr>
        <p:txBody>
          <a:bodyPr wrap="square" lIns="0" tIns="0" rIns="0" bIns="0" rtlCol="0" anchor="ctr"/>
          <a:lstStyle/>
          <a:p>
            <a:pPr>
              <a:lnSpc>
                <a:spcPct val="130000"/>
              </a:lnSpc>
            </a:pPr>
            <a:r>
              <a:rPr lang="en-US" sz="1343" b="1" dirty="0">
                <a:solidFill>
                  <a:srgbClr val="1E3A5F"/>
                </a:solidFill>
                <a:latin typeface="MiSans" pitchFamily="34" charset="0"/>
                <a:ea typeface="MiSans" pitchFamily="34" charset="-122"/>
                <a:cs typeface="MiSans" pitchFamily="34" charset="-120"/>
              </a:rPr>
              <a:t>Implications for the MPI</a:t>
            </a:r>
            <a:endParaRPr lang="en-US" sz="1600" dirty="0"/>
          </a:p>
        </p:txBody>
      </p:sp>
      <p:sp>
        <p:nvSpPr>
          <p:cNvPr id="54" name="Text 52"/>
          <p:cNvSpPr/>
          <p:nvPr/>
        </p:nvSpPr>
        <p:spPr>
          <a:xfrm>
            <a:off x="6361881" y="3959795"/>
            <a:ext cx="5380774" cy="492606"/>
          </a:xfrm>
          <a:prstGeom prst="rect">
            <a:avLst/>
          </a:prstGeom>
          <a:noFill/>
          <a:ln/>
        </p:spPr>
        <p:txBody>
          <a:bodyPr wrap="square" lIns="0" tIns="0" rIns="0" bIns="0" rtlCol="0" anchor="ctr"/>
          <a:lstStyle/>
          <a:p>
            <a:pPr>
              <a:lnSpc>
                <a:spcPct val="140000"/>
              </a:lnSpc>
            </a:pPr>
            <a:r>
              <a:rPr lang="en-US" sz="1193" dirty="0">
                <a:solidFill>
                  <a:srgbClr val="2D3436"/>
                </a:solidFill>
                <a:latin typeface="MiSans" pitchFamily="34" charset="0"/>
                <a:ea typeface="MiSans" pitchFamily="34" charset="-122"/>
                <a:cs typeface="MiSans" pitchFamily="34" charset="-120"/>
              </a:rPr>
              <a:t>For the MPI's purposes, the taxonomy matters because it provides the </a:t>
            </a:r>
            <a:pPr>
              <a:lnSpc>
                <a:spcPct val="140000"/>
              </a:lnSpc>
            </a:pPr>
            <a:r>
              <a:rPr lang="en-US" sz="1193" b="1" dirty="0">
                <a:solidFill>
                  <a:srgbClr val="2D3436"/>
                </a:solidFill>
                <a:latin typeface="MiSans" pitchFamily="34" charset="0"/>
                <a:ea typeface="MiSans" pitchFamily="34" charset="-122"/>
                <a:cs typeface="MiSans" pitchFamily="34" charset="-120"/>
              </a:rPr>
              <a:t>structural logic for curriculum sequencing</a:t>
            </a:r>
            <a:pPr>
              <a:lnSpc>
                <a:spcPct val="140000"/>
              </a:lnSpc>
            </a:pPr>
            <a:r>
              <a:rPr lang="en-US" sz="1193" dirty="0">
                <a:solidFill>
                  <a:srgbClr val="2D3436"/>
                </a:solidFill>
                <a:latin typeface="MiSans" pitchFamily="34" charset="0"/>
                <a:ea typeface="MiSans" pitchFamily="34" charset="-122"/>
                <a:cs typeface="MiSans" pitchFamily="34" charset="-120"/>
              </a:rPr>
              <a:t>:</a:t>
            </a:r>
            <a:endParaRPr lang="en-US" sz="1600" dirty="0"/>
          </a:p>
        </p:txBody>
      </p:sp>
      <p:sp>
        <p:nvSpPr>
          <p:cNvPr id="55" name="Shape 53"/>
          <p:cNvSpPr/>
          <p:nvPr/>
        </p:nvSpPr>
        <p:spPr>
          <a:xfrm>
            <a:off x="6380827" y="4608709"/>
            <a:ext cx="151571" cy="151571"/>
          </a:xfrm>
          <a:custGeom>
            <a:avLst/>
            <a:gdLst/>
            <a:ahLst/>
            <a:cxnLst/>
            <a:rect l="l" t="t" r="r" b="b"/>
            <a:pathLst>
              <a:path w="151571" h="151571">
                <a:moveTo>
                  <a:pt x="148788" y="82476"/>
                </a:moveTo>
                <a:cubicBezTo>
                  <a:pt x="152489" y="78776"/>
                  <a:pt x="152489" y="72766"/>
                  <a:pt x="148788" y="69066"/>
                </a:cubicBezTo>
                <a:lnTo>
                  <a:pt x="101422" y="21700"/>
                </a:lnTo>
                <a:cubicBezTo>
                  <a:pt x="97722" y="17999"/>
                  <a:pt x="91712" y="17999"/>
                  <a:pt x="88012" y="21700"/>
                </a:cubicBezTo>
                <a:cubicBezTo>
                  <a:pt x="84311" y="25400"/>
                  <a:pt x="84311" y="31410"/>
                  <a:pt x="88012" y="35110"/>
                </a:cubicBezTo>
                <a:lnTo>
                  <a:pt x="119214" y="66312"/>
                </a:lnTo>
                <a:lnTo>
                  <a:pt x="9473" y="66312"/>
                </a:lnTo>
                <a:cubicBezTo>
                  <a:pt x="4233" y="66312"/>
                  <a:pt x="0" y="70546"/>
                  <a:pt x="0" y="75786"/>
                </a:cubicBezTo>
                <a:cubicBezTo>
                  <a:pt x="0" y="81025"/>
                  <a:pt x="4233" y="85259"/>
                  <a:pt x="9473" y="85259"/>
                </a:cubicBezTo>
                <a:lnTo>
                  <a:pt x="119214" y="85259"/>
                </a:lnTo>
                <a:lnTo>
                  <a:pt x="88012" y="116461"/>
                </a:lnTo>
                <a:cubicBezTo>
                  <a:pt x="84311" y="120162"/>
                  <a:pt x="84311" y="126171"/>
                  <a:pt x="88012" y="129872"/>
                </a:cubicBezTo>
                <a:cubicBezTo>
                  <a:pt x="91712" y="133572"/>
                  <a:pt x="97722" y="133572"/>
                  <a:pt x="101422" y="129872"/>
                </a:cubicBezTo>
                <a:lnTo>
                  <a:pt x="148788" y="82506"/>
                </a:lnTo>
                <a:close/>
              </a:path>
            </a:pathLst>
          </a:custGeom>
          <a:solidFill>
            <a:srgbClr val="C49A2C"/>
          </a:solidFill>
          <a:ln/>
        </p:spPr>
      </p:sp>
      <p:sp>
        <p:nvSpPr>
          <p:cNvPr id="56" name="Text 54"/>
          <p:cNvSpPr/>
          <p:nvPr/>
        </p:nvSpPr>
        <p:spPr>
          <a:xfrm>
            <a:off x="6607875" y="4566079"/>
            <a:ext cx="5134780" cy="454713"/>
          </a:xfrm>
          <a:prstGeom prst="rect">
            <a:avLst/>
          </a:prstGeom>
          <a:noFill/>
          <a:ln/>
        </p:spPr>
        <p:txBody>
          <a:bodyPr wrap="square" lIns="0" tIns="0" rIns="0" bIns="0" rtlCol="0" anchor="ctr"/>
          <a:lstStyle/>
          <a:p>
            <a:pPr>
              <a:lnSpc>
                <a:spcPct val="130000"/>
              </a:lnSpc>
            </a:pPr>
            <a:r>
              <a:rPr lang="en-US" sz="1193" dirty="0">
                <a:solidFill>
                  <a:srgbClr val="2D3436"/>
                </a:solidFill>
                <a:latin typeface="MiSans" pitchFamily="34" charset="0"/>
                <a:ea typeface="MiSans" pitchFamily="34" charset="-122"/>
                <a:cs typeface="MiSans" pitchFamily="34" charset="-120"/>
              </a:rPr>
              <a:t>The framework ensures pupils encounter content at </a:t>
            </a:r>
            <a:pPr>
              <a:lnSpc>
                <a:spcPct val="130000"/>
              </a:lnSpc>
            </a:pPr>
            <a:r>
              <a:rPr lang="en-US" sz="1193" b="1" dirty="0">
                <a:solidFill>
                  <a:srgbClr val="2D3436"/>
                </a:solidFill>
                <a:latin typeface="MiSans" pitchFamily="34" charset="0"/>
                <a:ea typeface="MiSans" pitchFamily="34" charset="-122"/>
                <a:cs typeface="MiSans" pitchFamily="34" charset="-120"/>
              </a:rPr>
              <a:t>increasing levels of cognitive demand</a:t>
            </a:r>
            <a:endParaRPr lang="en-US" sz="1600" dirty="0"/>
          </a:p>
        </p:txBody>
      </p:sp>
      <p:sp>
        <p:nvSpPr>
          <p:cNvPr id="57" name="Shape 55"/>
          <p:cNvSpPr/>
          <p:nvPr/>
        </p:nvSpPr>
        <p:spPr>
          <a:xfrm>
            <a:off x="6380827" y="5139207"/>
            <a:ext cx="151571" cy="151571"/>
          </a:xfrm>
          <a:custGeom>
            <a:avLst/>
            <a:gdLst/>
            <a:ahLst/>
            <a:cxnLst/>
            <a:rect l="l" t="t" r="r" b="b"/>
            <a:pathLst>
              <a:path w="151571" h="151571">
                <a:moveTo>
                  <a:pt x="148788" y="82476"/>
                </a:moveTo>
                <a:cubicBezTo>
                  <a:pt x="152489" y="78776"/>
                  <a:pt x="152489" y="72766"/>
                  <a:pt x="148788" y="69066"/>
                </a:cubicBezTo>
                <a:lnTo>
                  <a:pt x="101422" y="21700"/>
                </a:lnTo>
                <a:cubicBezTo>
                  <a:pt x="97722" y="17999"/>
                  <a:pt x="91712" y="17999"/>
                  <a:pt x="88012" y="21700"/>
                </a:cubicBezTo>
                <a:cubicBezTo>
                  <a:pt x="84311" y="25400"/>
                  <a:pt x="84311" y="31410"/>
                  <a:pt x="88012" y="35110"/>
                </a:cubicBezTo>
                <a:lnTo>
                  <a:pt x="119214" y="66312"/>
                </a:lnTo>
                <a:lnTo>
                  <a:pt x="9473" y="66312"/>
                </a:lnTo>
                <a:cubicBezTo>
                  <a:pt x="4233" y="66312"/>
                  <a:pt x="0" y="70546"/>
                  <a:pt x="0" y="75786"/>
                </a:cubicBezTo>
                <a:cubicBezTo>
                  <a:pt x="0" y="81025"/>
                  <a:pt x="4233" y="85259"/>
                  <a:pt x="9473" y="85259"/>
                </a:cubicBezTo>
                <a:lnTo>
                  <a:pt x="119214" y="85259"/>
                </a:lnTo>
                <a:lnTo>
                  <a:pt x="88012" y="116461"/>
                </a:lnTo>
                <a:cubicBezTo>
                  <a:pt x="84311" y="120162"/>
                  <a:pt x="84311" y="126171"/>
                  <a:pt x="88012" y="129872"/>
                </a:cubicBezTo>
                <a:cubicBezTo>
                  <a:pt x="91712" y="133572"/>
                  <a:pt x="97722" y="133572"/>
                  <a:pt x="101422" y="129872"/>
                </a:cubicBezTo>
                <a:lnTo>
                  <a:pt x="148788" y="82506"/>
                </a:lnTo>
                <a:close/>
              </a:path>
            </a:pathLst>
          </a:custGeom>
          <a:solidFill>
            <a:srgbClr val="C49A2C"/>
          </a:solidFill>
          <a:ln/>
        </p:spPr>
      </p:sp>
      <p:sp>
        <p:nvSpPr>
          <p:cNvPr id="58" name="Text 56"/>
          <p:cNvSpPr/>
          <p:nvPr/>
        </p:nvSpPr>
        <p:spPr>
          <a:xfrm>
            <a:off x="6607875" y="5096578"/>
            <a:ext cx="5134780" cy="454713"/>
          </a:xfrm>
          <a:prstGeom prst="rect">
            <a:avLst/>
          </a:prstGeom>
          <a:noFill/>
          <a:ln/>
        </p:spPr>
        <p:txBody>
          <a:bodyPr wrap="square" lIns="0" tIns="0" rIns="0" bIns="0" rtlCol="0" anchor="ctr"/>
          <a:lstStyle/>
          <a:p>
            <a:pPr>
              <a:lnSpc>
                <a:spcPct val="130000"/>
              </a:lnSpc>
            </a:pPr>
            <a:r>
              <a:rPr lang="en-US" sz="1193" dirty="0">
                <a:solidFill>
                  <a:srgbClr val="2D3436"/>
                </a:solidFill>
                <a:latin typeface="MiSans" pitchFamily="34" charset="0"/>
                <a:ea typeface="MiSans" pitchFamily="34" charset="-122"/>
                <a:cs typeface="MiSans" pitchFamily="34" charset="-120"/>
              </a:rPr>
              <a:t>Formative assessment provides the feedback mechanism that determines whether progression is warranted</a:t>
            </a:r>
            <a:endParaRPr lang="en-US" sz="1600" dirty="0"/>
          </a:p>
        </p:txBody>
      </p:sp>
      <p:sp>
        <p:nvSpPr>
          <p:cNvPr id="59" name="Shape 57"/>
          <p:cNvSpPr/>
          <p:nvPr/>
        </p:nvSpPr>
        <p:spPr>
          <a:xfrm>
            <a:off x="6380827" y="5669706"/>
            <a:ext cx="151571" cy="151571"/>
          </a:xfrm>
          <a:custGeom>
            <a:avLst/>
            <a:gdLst/>
            <a:ahLst/>
            <a:cxnLst/>
            <a:rect l="l" t="t" r="r" b="b"/>
            <a:pathLst>
              <a:path w="151571" h="151571">
                <a:moveTo>
                  <a:pt x="148788" y="82476"/>
                </a:moveTo>
                <a:cubicBezTo>
                  <a:pt x="152489" y="78776"/>
                  <a:pt x="152489" y="72766"/>
                  <a:pt x="148788" y="69066"/>
                </a:cubicBezTo>
                <a:lnTo>
                  <a:pt x="101422" y="21700"/>
                </a:lnTo>
                <a:cubicBezTo>
                  <a:pt x="97722" y="17999"/>
                  <a:pt x="91712" y="17999"/>
                  <a:pt x="88012" y="21700"/>
                </a:cubicBezTo>
                <a:cubicBezTo>
                  <a:pt x="84311" y="25400"/>
                  <a:pt x="84311" y="31410"/>
                  <a:pt x="88012" y="35110"/>
                </a:cubicBezTo>
                <a:lnTo>
                  <a:pt x="119214" y="66312"/>
                </a:lnTo>
                <a:lnTo>
                  <a:pt x="9473" y="66312"/>
                </a:lnTo>
                <a:cubicBezTo>
                  <a:pt x="4233" y="66312"/>
                  <a:pt x="0" y="70546"/>
                  <a:pt x="0" y="75786"/>
                </a:cubicBezTo>
                <a:cubicBezTo>
                  <a:pt x="0" y="81025"/>
                  <a:pt x="4233" y="85259"/>
                  <a:pt x="9473" y="85259"/>
                </a:cubicBezTo>
                <a:lnTo>
                  <a:pt x="119214" y="85259"/>
                </a:lnTo>
                <a:lnTo>
                  <a:pt x="88012" y="116461"/>
                </a:lnTo>
                <a:cubicBezTo>
                  <a:pt x="84311" y="120162"/>
                  <a:pt x="84311" y="126171"/>
                  <a:pt x="88012" y="129872"/>
                </a:cubicBezTo>
                <a:cubicBezTo>
                  <a:pt x="91712" y="133572"/>
                  <a:pt x="97722" y="133572"/>
                  <a:pt x="101422" y="129872"/>
                </a:cubicBezTo>
                <a:lnTo>
                  <a:pt x="148788" y="82506"/>
                </a:lnTo>
                <a:close/>
              </a:path>
            </a:pathLst>
          </a:custGeom>
          <a:solidFill>
            <a:srgbClr val="C49A2C"/>
          </a:solidFill>
          <a:ln/>
        </p:spPr>
      </p:sp>
      <p:sp>
        <p:nvSpPr>
          <p:cNvPr id="60" name="Text 58"/>
          <p:cNvSpPr/>
          <p:nvPr/>
        </p:nvSpPr>
        <p:spPr>
          <a:xfrm>
            <a:off x="6607875" y="5627077"/>
            <a:ext cx="5134780" cy="454713"/>
          </a:xfrm>
          <a:prstGeom prst="rect">
            <a:avLst/>
          </a:prstGeom>
          <a:noFill/>
          <a:ln/>
        </p:spPr>
        <p:txBody>
          <a:bodyPr wrap="square" lIns="0" tIns="0" rIns="0" bIns="0" rtlCol="0" anchor="ctr"/>
          <a:lstStyle/>
          <a:p>
            <a:pPr>
              <a:lnSpc>
                <a:spcPct val="130000"/>
              </a:lnSpc>
            </a:pPr>
            <a:r>
              <a:rPr lang="en-US" sz="1193" dirty="0">
                <a:solidFill>
                  <a:srgbClr val="2D3436"/>
                </a:solidFill>
                <a:latin typeface="MiSans" pitchFamily="34" charset="0"/>
                <a:ea typeface="MiSans" pitchFamily="34" charset="-122"/>
                <a:cs typeface="MiSans" pitchFamily="34" charset="-120"/>
              </a:rPr>
              <a:t>A pupil who cannot demonstrate Understanding should not be exposed to Applying-level content</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50849" y="350849"/>
            <a:ext cx="70170" cy="421019"/>
          </a:xfrm>
          <a:custGeom>
            <a:avLst/>
            <a:gdLst/>
            <a:ahLst/>
            <a:cxnLst/>
            <a:rect l="l" t="t" r="r" b="b"/>
            <a:pathLst>
              <a:path w="70170" h="421019">
                <a:moveTo>
                  <a:pt x="0" y="0"/>
                </a:moveTo>
                <a:lnTo>
                  <a:pt x="70170" y="0"/>
                </a:lnTo>
                <a:lnTo>
                  <a:pt x="70170" y="421019"/>
                </a:lnTo>
                <a:lnTo>
                  <a:pt x="0" y="421019"/>
                </a:lnTo>
                <a:lnTo>
                  <a:pt x="0" y="0"/>
                </a:lnTo>
                <a:close/>
              </a:path>
            </a:pathLst>
          </a:custGeom>
          <a:solidFill>
            <a:srgbClr val="1E3A5F"/>
          </a:solidFill>
          <a:ln/>
        </p:spPr>
      </p:sp>
      <p:sp>
        <p:nvSpPr>
          <p:cNvPr id="3" name="Text 1"/>
          <p:cNvSpPr/>
          <p:nvPr/>
        </p:nvSpPr>
        <p:spPr>
          <a:xfrm>
            <a:off x="526273" y="385934"/>
            <a:ext cx="8402832" cy="350849"/>
          </a:xfrm>
          <a:prstGeom prst="rect">
            <a:avLst/>
          </a:prstGeom>
          <a:noFill/>
          <a:ln/>
        </p:spPr>
        <p:txBody>
          <a:bodyPr wrap="square" lIns="0" tIns="0" rIns="0" bIns="0" rtlCol="0" anchor="ctr"/>
          <a:lstStyle/>
          <a:p>
            <a:pPr>
              <a:lnSpc>
                <a:spcPct val="90000"/>
              </a:lnSpc>
            </a:pPr>
            <a:r>
              <a:rPr lang="en-US" sz="2486" b="1" dirty="0">
                <a:solidFill>
                  <a:srgbClr val="1E3A5F"/>
                </a:solidFill>
                <a:latin typeface="MiSans" pitchFamily="34" charset="0"/>
                <a:ea typeface="MiSans" pitchFamily="34" charset="-122"/>
                <a:cs typeface="MiSans" pitchFamily="34" charset="-120"/>
              </a:rPr>
              <a:t>Bloom's Taxonomy: Implications for Curriculum Design</a:t>
            </a:r>
            <a:endParaRPr lang="en-US" sz="1600" dirty="0"/>
          </a:p>
        </p:txBody>
      </p:sp>
      <p:sp>
        <p:nvSpPr>
          <p:cNvPr id="4" name="Text 2"/>
          <p:cNvSpPr/>
          <p:nvPr/>
        </p:nvSpPr>
        <p:spPr>
          <a:xfrm>
            <a:off x="526273" y="806953"/>
            <a:ext cx="11385047" cy="210509"/>
          </a:xfrm>
          <a:prstGeom prst="rect">
            <a:avLst/>
          </a:prstGeom>
          <a:noFill/>
          <a:ln/>
        </p:spPr>
        <p:txBody>
          <a:bodyPr wrap="square" lIns="0" tIns="0" rIns="0" bIns="0" rtlCol="0" anchor="ctr"/>
          <a:lstStyle/>
          <a:p>
            <a:pPr>
              <a:lnSpc>
                <a:spcPct val="120000"/>
              </a:lnSpc>
            </a:pPr>
            <a:r>
              <a:rPr lang="en-US" sz="1105" dirty="0">
                <a:solidFill>
                  <a:srgbClr val="6C757D"/>
                </a:solidFill>
                <a:latin typeface="MiSans" pitchFamily="34" charset="0"/>
                <a:ea typeface="MiSans" pitchFamily="34" charset="-122"/>
                <a:cs typeface="MiSans" pitchFamily="34" charset="-120"/>
              </a:rPr>
              <a:t>The practical application of the taxonomy to the MPI's first strand</a:t>
            </a:r>
            <a:endParaRPr lang="en-US" sz="1600" dirty="0"/>
          </a:p>
        </p:txBody>
      </p:sp>
      <p:sp>
        <p:nvSpPr>
          <p:cNvPr id="5" name="Shape 3"/>
          <p:cNvSpPr/>
          <p:nvPr/>
        </p:nvSpPr>
        <p:spPr>
          <a:xfrm>
            <a:off x="350849" y="1105174"/>
            <a:ext cx="5674981" cy="2350688"/>
          </a:xfrm>
          <a:custGeom>
            <a:avLst/>
            <a:gdLst/>
            <a:ahLst/>
            <a:cxnLst/>
            <a:rect l="l" t="t" r="r" b="b"/>
            <a:pathLst>
              <a:path w="5674981" h="2350688">
                <a:moveTo>
                  <a:pt x="0" y="0"/>
                </a:moveTo>
                <a:lnTo>
                  <a:pt x="5674981" y="0"/>
                </a:lnTo>
                <a:lnTo>
                  <a:pt x="5674981" y="2350688"/>
                </a:lnTo>
                <a:lnTo>
                  <a:pt x="0" y="2350688"/>
                </a:lnTo>
                <a:lnTo>
                  <a:pt x="0" y="0"/>
                </a:lnTo>
                <a:close/>
              </a:path>
            </a:pathLst>
          </a:custGeom>
          <a:solidFill>
            <a:srgbClr val="FFFFFF"/>
          </a:solidFill>
          <a:ln/>
        </p:spPr>
      </p:sp>
      <p:sp>
        <p:nvSpPr>
          <p:cNvPr id="6" name="Shape 4"/>
          <p:cNvSpPr/>
          <p:nvPr/>
        </p:nvSpPr>
        <p:spPr>
          <a:xfrm>
            <a:off x="350849" y="1105174"/>
            <a:ext cx="5674981" cy="35085"/>
          </a:xfrm>
          <a:custGeom>
            <a:avLst/>
            <a:gdLst/>
            <a:ahLst/>
            <a:cxnLst/>
            <a:rect l="l" t="t" r="r" b="b"/>
            <a:pathLst>
              <a:path w="5674981" h="35085">
                <a:moveTo>
                  <a:pt x="0" y="0"/>
                </a:moveTo>
                <a:lnTo>
                  <a:pt x="5674981" y="0"/>
                </a:lnTo>
                <a:lnTo>
                  <a:pt x="5674981" y="35085"/>
                </a:lnTo>
                <a:lnTo>
                  <a:pt x="0" y="35085"/>
                </a:lnTo>
                <a:lnTo>
                  <a:pt x="0" y="0"/>
                </a:lnTo>
                <a:close/>
              </a:path>
            </a:pathLst>
          </a:custGeom>
          <a:solidFill>
            <a:srgbClr val="1E3A5F"/>
          </a:solidFill>
          <a:ln/>
        </p:spPr>
      </p:sp>
      <p:sp>
        <p:nvSpPr>
          <p:cNvPr id="7" name="Shape 5"/>
          <p:cNvSpPr/>
          <p:nvPr/>
        </p:nvSpPr>
        <p:spPr>
          <a:xfrm>
            <a:off x="513117" y="1298141"/>
            <a:ext cx="175424" cy="175424"/>
          </a:xfrm>
          <a:custGeom>
            <a:avLst/>
            <a:gdLst/>
            <a:ahLst/>
            <a:cxnLst/>
            <a:rect l="l" t="t" r="r" b="b"/>
            <a:pathLst>
              <a:path w="175424" h="175424">
                <a:moveTo>
                  <a:pt x="65784" y="21928"/>
                </a:moveTo>
                <a:cubicBezTo>
                  <a:pt x="65784" y="15864"/>
                  <a:pt x="70684" y="10964"/>
                  <a:pt x="76748" y="10964"/>
                </a:cubicBezTo>
                <a:lnTo>
                  <a:pt x="98676" y="10964"/>
                </a:lnTo>
                <a:cubicBezTo>
                  <a:pt x="104741" y="10964"/>
                  <a:pt x="109640" y="15864"/>
                  <a:pt x="109640" y="21928"/>
                </a:cubicBezTo>
                <a:lnTo>
                  <a:pt x="109640" y="43856"/>
                </a:lnTo>
                <a:cubicBezTo>
                  <a:pt x="109640" y="49921"/>
                  <a:pt x="104741" y="54820"/>
                  <a:pt x="98676" y="54820"/>
                </a:cubicBezTo>
                <a:lnTo>
                  <a:pt x="95935" y="54820"/>
                </a:lnTo>
                <a:lnTo>
                  <a:pt x="95935" y="76748"/>
                </a:lnTo>
                <a:lnTo>
                  <a:pt x="137050" y="76748"/>
                </a:lnTo>
                <a:cubicBezTo>
                  <a:pt x="150687" y="76748"/>
                  <a:pt x="161719" y="87781"/>
                  <a:pt x="161719" y="101417"/>
                </a:cubicBezTo>
                <a:lnTo>
                  <a:pt x="161719" y="120604"/>
                </a:lnTo>
                <a:lnTo>
                  <a:pt x="164460" y="120604"/>
                </a:lnTo>
                <a:cubicBezTo>
                  <a:pt x="170525" y="120604"/>
                  <a:pt x="175424" y="125504"/>
                  <a:pt x="175424" y="131568"/>
                </a:cubicBezTo>
                <a:lnTo>
                  <a:pt x="175424" y="153496"/>
                </a:lnTo>
                <a:cubicBezTo>
                  <a:pt x="175424" y="159561"/>
                  <a:pt x="170525" y="164460"/>
                  <a:pt x="164460" y="164460"/>
                </a:cubicBezTo>
                <a:lnTo>
                  <a:pt x="142532" y="164460"/>
                </a:lnTo>
                <a:cubicBezTo>
                  <a:pt x="136468" y="164460"/>
                  <a:pt x="131568" y="159561"/>
                  <a:pt x="131568" y="153496"/>
                </a:cubicBezTo>
                <a:lnTo>
                  <a:pt x="131568" y="131568"/>
                </a:lnTo>
                <a:cubicBezTo>
                  <a:pt x="131568" y="125504"/>
                  <a:pt x="136468" y="120604"/>
                  <a:pt x="142532" y="120604"/>
                </a:cubicBezTo>
                <a:lnTo>
                  <a:pt x="145273" y="120604"/>
                </a:lnTo>
                <a:lnTo>
                  <a:pt x="145273" y="101417"/>
                </a:lnTo>
                <a:cubicBezTo>
                  <a:pt x="145273" y="96860"/>
                  <a:pt x="141607" y="93194"/>
                  <a:pt x="137050" y="93194"/>
                </a:cubicBezTo>
                <a:lnTo>
                  <a:pt x="95935" y="93194"/>
                </a:lnTo>
                <a:lnTo>
                  <a:pt x="95935" y="120604"/>
                </a:lnTo>
                <a:lnTo>
                  <a:pt x="98676" y="120604"/>
                </a:lnTo>
                <a:cubicBezTo>
                  <a:pt x="104741" y="120604"/>
                  <a:pt x="109640" y="125504"/>
                  <a:pt x="109640" y="131568"/>
                </a:cubicBezTo>
                <a:lnTo>
                  <a:pt x="109640" y="153496"/>
                </a:lnTo>
                <a:cubicBezTo>
                  <a:pt x="109640" y="159561"/>
                  <a:pt x="104741" y="164460"/>
                  <a:pt x="98676" y="164460"/>
                </a:cubicBezTo>
                <a:lnTo>
                  <a:pt x="76748" y="164460"/>
                </a:lnTo>
                <a:cubicBezTo>
                  <a:pt x="70684" y="164460"/>
                  <a:pt x="65784" y="159561"/>
                  <a:pt x="65784" y="153496"/>
                </a:cubicBezTo>
                <a:lnTo>
                  <a:pt x="65784" y="131568"/>
                </a:lnTo>
                <a:cubicBezTo>
                  <a:pt x="65784" y="125504"/>
                  <a:pt x="70684" y="120604"/>
                  <a:pt x="76748" y="120604"/>
                </a:cubicBezTo>
                <a:lnTo>
                  <a:pt x="79489" y="120604"/>
                </a:lnTo>
                <a:lnTo>
                  <a:pt x="79489" y="93194"/>
                </a:lnTo>
                <a:lnTo>
                  <a:pt x="38374" y="93194"/>
                </a:lnTo>
                <a:cubicBezTo>
                  <a:pt x="33817" y="93194"/>
                  <a:pt x="30151" y="96860"/>
                  <a:pt x="30151" y="101417"/>
                </a:cubicBezTo>
                <a:lnTo>
                  <a:pt x="30151" y="120604"/>
                </a:lnTo>
                <a:lnTo>
                  <a:pt x="32892" y="120604"/>
                </a:lnTo>
                <a:cubicBezTo>
                  <a:pt x="38957" y="120604"/>
                  <a:pt x="43856" y="125504"/>
                  <a:pt x="43856" y="131568"/>
                </a:cubicBezTo>
                <a:lnTo>
                  <a:pt x="43856" y="153496"/>
                </a:lnTo>
                <a:cubicBezTo>
                  <a:pt x="43856" y="159561"/>
                  <a:pt x="38957" y="164460"/>
                  <a:pt x="32892" y="164460"/>
                </a:cubicBezTo>
                <a:lnTo>
                  <a:pt x="10964" y="164460"/>
                </a:lnTo>
                <a:cubicBezTo>
                  <a:pt x="4900" y="164460"/>
                  <a:pt x="0" y="159561"/>
                  <a:pt x="0" y="153496"/>
                </a:cubicBezTo>
                <a:lnTo>
                  <a:pt x="0" y="131568"/>
                </a:lnTo>
                <a:cubicBezTo>
                  <a:pt x="0" y="125504"/>
                  <a:pt x="4900" y="120604"/>
                  <a:pt x="10964" y="120604"/>
                </a:cubicBezTo>
                <a:lnTo>
                  <a:pt x="13705" y="120604"/>
                </a:lnTo>
                <a:lnTo>
                  <a:pt x="13705" y="101417"/>
                </a:lnTo>
                <a:cubicBezTo>
                  <a:pt x="13705" y="87781"/>
                  <a:pt x="24738" y="76748"/>
                  <a:pt x="38374" y="76748"/>
                </a:cubicBezTo>
                <a:lnTo>
                  <a:pt x="79489" y="76748"/>
                </a:lnTo>
                <a:lnTo>
                  <a:pt x="79489" y="54820"/>
                </a:lnTo>
                <a:lnTo>
                  <a:pt x="76748" y="54820"/>
                </a:lnTo>
                <a:cubicBezTo>
                  <a:pt x="70684" y="54820"/>
                  <a:pt x="65784" y="49921"/>
                  <a:pt x="65784" y="43856"/>
                </a:cubicBezTo>
                <a:lnTo>
                  <a:pt x="65784" y="21928"/>
                </a:lnTo>
                <a:close/>
              </a:path>
            </a:pathLst>
          </a:custGeom>
          <a:solidFill>
            <a:srgbClr val="C49A2C"/>
          </a:solidFill>
          <a:ln/>
        </p:spPr>
      </p:sp>
      <p:sp>
        <p:nvSpPr>
          <p:cNvPr id="8" name="Text 6"/>
          <p:cNvSpPr/>
          <p:nvPr/>
        </p:nvSpPr>
        <p:spPr>
          <a:xfrm>
            <a:off x="710469" y="1263056"/>
            <a:ext cx="5262734" cy="245594"/>
          </a:xfrm>
          <a:prstGeom prst="rect">
            <a:avLst/>
          </a:prstGeom>
          <a:noFill/>
          <a:ln/>
        </p:spPr>
        <p:txBody>
          <a:bodyPr wrap="square" lIns="0" tIns="0" rIns="0" bIns="0" rtlCol="0" anchor="ctr"/>
          <a:lstStyle/>
          <a:p>
            <a:pPr>
              <a:lnSpc>
                <a:spcPct val="120000"/>
              </a:lnSpc>
            </a:pPr>
            <a:r>
              <a:rPr lang="en-US" sz="1381" b="1" dirty="0">
                <a:solidFill>
                  <a:srgbClr val="1E3A5F"/>
                </a:solidFill>
                <a:latin typeface="MiSans" pitchFamily="34" charset="0"/>
                <a:ea typeface="MiSans" pitchFamily="34" charset="-122"/>
                <a:cs typeface="MiSans" pitchFamily="34" charset="-120"/>
              </a:rPr>
              <a:t>Curriculum Sequencing Logic</a:t>
            </a:r>
            <a:endParaRPr lang="en-US" sz="1600" dirty="0"/>
          </a:p>
        </p:txBody>
      </p:sp>
      <p:sp>
        <p:nvSpPr>
          <p:cNvPr id="9" name="Text 7"/>
          <p:cNvSpPr/>
          <p:nvPr/>
        </p:nvSpPr>
        <p:spPr>
          <a:xfrm>
            <a:off x="491188" y="1613905"/>
            <a:ext cx="5464472" cy="684155"/>
          </a:xfrm>
          <a:prstGeom prst="rect">
            <a:avLst/>
          </a:prstGeom>
          <a:noFill/>
          <a:ln/>
        </p:spPr>
        <p:txBody>
          <a:bodyPr wrap="square" lIns="0" tIns="0" rIns="0" bIns="0" rtlCol="0" anchor="ctr"/>
          <a:lstStyle/>
          <a:p>
            <a:pPr>
              <a:lnSpc>
                <a:spcPct val="140000"/>
              </a:lnSpc>
            </a:pPr>
            <a:r>
              <a:rPr lang="en-US" sz="1105" dirty="0">
                <a:solidFill>
                  <a:srgbClr val="2D3436"/>
                </a:solidFill>
                <a:latin typeface="MiSans" pitchFamily="34" charset="0"/>
                <a:ea typeface="MiSans" pitchFamily="34" charset="-122"/>
                <a:cs typeface="MiSans" pitchFamily="34" charset="-120"/>
              </a:rPr>
              <a:t>The practical implication of Bloom's taxonomy for the MPI's first strand — </a:t>
            </a:r>
            <a:pPr>
              <a:lnSpc>
                <a:spcPct val="140000"/>
              </a:lnSpc>
            </a:pPr>
            <a:r>
              <a:rPr lang="en-US" sz="1105" b="1" dirty="0">
                <a:solidFill>
                  <a:srgbClr val="2D3436"/>
                </a:solidFill>
                <a:latin typeface="MiSans" pitchFamily="34" charset="0"/>
                <a:ea typeface="MiSans" pitchFamily="34" charset="-122"/>
                <a:cs typeface="MiSans" pitchFamily="34" charset="-120"/>
              </a:rPr>
              <a:t>structured curriculum sequencing</a:t>
            </a:r>
            <a:pPr>
              <a:lnSpc>
                <a:spcPct val="140000"/>
              </a:lnSpc>
            </a:pPr>
            <a:r>
              <a:rPr lang="en-US" sz="1105" dirty="0">
                <a:solidFill>
                  <a:srgbClr val="2D3436"/>
                </a:solidFill>
                <a:latin typeface="MiSans" pitchFamily="34" charset="0"/>
                <a:ea typeface="MiSans" pitchFamily="34" charset="-122"/>
                <a:cs typeface="MiSans" pitchFamily="34" charset="-120"/>
              </a:rPr>
              <a:t> — is that curricular content must be organised </a:t>
            </a:r>
            <a:pPr>
              <a:lnSpc>
                <a:spcPct val="140000"/>
              </a:lnSpc>
            </a:pPr>
            <a:r>
              <a:rPr lang="en-US" sz="1105" dirty="0">
                <a:solidFill>
                  <a:srgbClr val="2D3436"/>
                </a:solidFill>
                <a:highlight>
                  <a:srgbClr val="C49A2C">
                    <a:alpha val="20000"/>
                  </a:srgbClr>
                </a:highlight>
                <a:latin typeface="MiSans" pitchFamily="34" charset="0"/>
                <a:ea typeface="MiSans" pitchFamily="34" charset="-122"/>
                <a:cs typeface="MiSans" pitchFamily="34" charset="-120"/>
              </a:rPr>
              <a:t>not merely by topic or chronology but by cognitive demand </a:t>
            </a:r>
            <a:pPr>
              <a:lnSpc>
                <a:spcPct val="140000"/>
              </a:lnSpc>
            </a:pPr>
            <a:r>
              <a:rPr lang="en-US" sz="1105" dirty="0">
                <a:solidFill>
                  <a:srgbClr val="2D3436"/>
                </a:solidFill>
                <a:latin typeface="MiSans" pitchFamily="34" charset="0"/>
                <a:ea typeface="MiSans" pitchFamily="34" charset="-122"/>
                <a:cs typeface="MiSans" pitchFamily="34" charset="-120"/>
              </a:rPr>
              <a:t>.</a:t>
            </a:r>
            <a:endParaRPr lang="en-US" sz="1600" dirty="0"/>
          </a:p>
        </p:txBody>
      </p:sp>
      <p:sp>
        <p:nvSpPr>
          <p:cNvPr id="10" name="Text 8"/>
          <p:cNvSpPr/>
          <p:nvPr/>
        </p:nvSpPr>
        <p:spPr>
          <a:xfrm>
            <a:off x="491188" y="2403315"/>
            <a:ext cx="5464472" cy="912207"/>
          </a:xfrm>
          <a:prstGeom prst="rect">
            <a:avLst/>
          </a:prstGeom>
          <a:noFill/>
          <a:ln/>
        </p:spPr>
        <p:txBody>
          <a:bodyPr wrap="square" lIns="0" tIns="0" rIns="0" bIns="0" rtlCol="0" anchor="ctr"/>
          <a:lstStyle/>
          <a:p>
            <a:pPr>
              <a:lnSpc>
                <a:spcPct val="140000"/>
              </a:lnSpc>
            </a:pPr>
            <a:r>
              <a:rPr lang="en-US" sz="1105" dirty="0">
                <a:solidFill>
                  <a:srgbClr val="2D3436"/>
                </a:solidFill>
                <a:latin typeface="MiSans" pitchFamily="34" charset="0"/>
                <a:ea typeface="MiSans" pitchFamily="34" charset="-122"/>
                <a:cs typeface="MiSans" pitchFamily="34" charset="-120"/>
              </a:rPr>
              <a:t>A well-sequenced curriculum does not simply move from one topic to the next; it moves from </a:t>
            </a:r>
            <a:pPr>
              <a:lnSpc>
                <a:spcPct val="140000"/>
              </a:lnSpc>
            </a:pPr>
            <a:r>
              <a:rPr lang="en-US" sz="1105" b="1" dirty="0">
                <a:solidFill>
                  <a:srgbClr val="2D3436"/>
                </a:solidFill>
                <a:latin typeface="MiSans" pitchFamily="34" charset="0"/>
                <a:ea typeface="MiSans" pitchFamily="34" charset="-122"/>
                <a:cs typeface="MiSans" pitchFamily="34" charset="-120"/>
              </a:rPr>
              <a:t>lower-order to higher-order engagement</a:t>
            </a:r>
            <a:pPr>
              <a:lnSpc>
                <a:spcPct val="140000"/>
              </a:lnSpc>
            </a:pPr>
            <a:r>
              <a:rPr lang="en-US" sz="1105" dirty="0">
                <a:solidFill>
                  <a:srgbClr val="2D3436"/>
                </a:solidFill>
                <a:latin typeface="MiSans" pitchFamily="34" charset="0"/>
                <a:ea typeface="MiSans" pitchFamily="34" charset="-122"/>
                <a:cs typeface="MiSans" pitchFamily="34" charset="-120"/>
              </a:rPr>
              <a:t> with each topic, and it uses formative assessment to determine whether that movement is justified by pupil readiness.</a:t>
            </a:r>
            <a:endParaRPr lang="en-US" sz="1600" dirty="0"/>
          </a:p>
        </p:txBody>
      </p:sp>
      <p:sp>
        <p:nvSpPr>
          <p:cNvPr id="11" name="Shape 9"/>
          <p:cNvSpPr/>
          <p:nvPr/>
        </p:nvSpPr>
        <p:spPr>
          <a:xfrm>
            <a:off x="350849" y="3596201"/>
            <a:ext cx="5674981" cy="3262895"/>
          </a:xfrm>
          <a:custGeom>
            <a:avLst/>
            <a:gdLst/>
            <a:ahLst/>
            <a:cxnLst/>
            <a:rect l="l" t="t" r="r" b="b"/>
            <a:pathLst>
              <a:path w="5674981" h="3262895">
                <a:moveTo>
                  <a:pt x="0" y="0"/>
                </a:moveTo>
                <a:lnTo>
                  <a:pt x="5674981" y="0"/>
                </a:lnTo>
                <a:lnTo>
                  <a:pt x="5674981" y="3262895"/>
                </a:lnTo>
                <a:lnTo>
                  <a:pt x="0" y="3262895"/>
                </a:lnTo>
                <a:lnTo>
                  <a:pt x="0" y="0"/>
                </a:lnTo>
                <a:close/>
              </a:path>
            </a:pathLst>
          </a:custGeom>
          <a:solidFill>
            <a:srgbClr val="1E3A5F"/>
          </a:solidFill>
          <a:ln/>
        </p:spPr>
      </p:sp>
      <p:sp>
        <p:nvSpPr>
          <p:cNvPr id="12" name="Shape 10"/>
          <p:cNvSpPr/>
          <p:nvPr/>
        </p:nvSpPr>
        <p:spPr>
          <a:xfrm>
            <a:off x="535045" y="3771626"/>
            <a:ext cx="131568" cy="175424"/>
          </a:xfrm>
          <a:custGeom>
            <a:avLst/>
            <a:gdLst/>
            <a:ahLst/>
            <a:cxnLst/>
            <a:rect l="l" t="t" r="r" b="b"/>
            <a:pathLst>
              <a:path w="131568" h="175424">
                <a:moveTo>
                  <a:pt x="106694" y="10964"/>
                </a:moveTo>
                <a:lnTo>
                  <a:pt x="109640" y="10964"/>
                </a:lnTo>
                <a:cubicBezTo>
                  <a:pt x="121735" y="10964"/>
                  <a:pt x="131568" y="20797"/>
                  <a:pt x="131568" y="32892"/>
                </a:cubicBezTo>
                <a:lnTo>
                  <a:pt x="131568" y="153496"/>
                </a:lnTo>
                <a:cubicBezTo>
                  <a:pt x="131568" y="165591"/>
                  <a:pt x="121735" y="175424"/>
                  <a:pt x="109640" y="175424"/>
                </a:cubicBezTo>
                <a:lnTo>
                  <a:pt x="21928" y="175424"/>
                </a:lnTo>
                <a:cubicBezTo>
                  <a:pt x="9833" y="175424"/>
                  <a:pt x="0" y="165591"/>
                  <a:pt x="0" y="153496"/>
                </a:cubicBezTo>
                <a:lnTo>
                  <a:pt x="0" y="32892"/>
                </a:lnTo>
                <a:cubicBezTo>
                  <a:pt x="0" y="20797"/>
                  <a:pt x="9833" y="10964"/>
                  <a:pt x="21928" y="10964"/>
                </a:cubicBezTo>
                <a:lnTo>
                  <a:pt x="24875" y="10964"/>
                </a:lnTo>
                <a:cubicBezTo>
                  <a:pt x="28644" y="4420"/>
                  <a:pt x="35736" y="0"/>
                  <a:pt x="43856" y="0"/>
                </a:cubicBezTo>
                <a:lnTo>
                  <a:pt x="87712" y="0"/>
                </a:lnTo>
                <a:cubicBezTo>
                  <a:pt x="95832" y="0"/>
                  <a:pt x="102925" y="4420"/>
                  <a:pt x="106694" y="10964"/>
                </a:cubicBezTo>
                <a:close/>
                <a:moveTo>
                  <a:pt x="84971" y="38374"/>
                </a:moveTo>
                <a:cubicBezTo>
                  <a:pt x="89528" y="38374"/>
                  <a:pt x="93194" y="34708"/>
                  <a:pt x="93194" y="30151"/>
                </a:cubicBezTo>
                <a:cubicBezTo>
                  <a:pt x="93194" y="25594"/>
                  <a:pt x="89528" y="21928"/>
                  <a:pt x="84971" y="21928"/>
                </a:cubicBezTo>
                <a:lnTo>
                  <a:pt x="46597" y="21928"/>
                </a:lnTo>
                <a:cubicBezTo>
                  <a:pt x="42040" y="21928"/>
                  <a:pt x="38374" y="25594"/>
                  <a:pt x="38374" y="30151"/>
                </a:cubicBezTo>
                <a:cubicBezTo>
                  <a:pt x="38374" y="34708"/>
                  <a:pt x="42040" y="38374"/>
                  <a:pt x="46597" y="38374"/>
                </a:cubicBezTo>
                <a:lnTo>
                  <a:pt x="84971" y="38374"/>
                </a:lnTo>
                <a:close/>
                <a:moveTo>
                  <a:pt x="94702" y="89323"/>
                </a:moveTo>
                <a:cubicBezTo>
                  <a:pt x="97100" y="85485"/>
                  <a:pt x="95935" y="80414"/>
                  <a:pt x="92098" y="77982"/>
                </a:cubicBezTo>
                <a:cubicBezTo>
                  <a:pt x="88260" y="75549"/>
                  <a:pt x="83190" y="76748"/>
                  <a:pt x="80757" y="80586"/>
                </a:cubicBezTo>
                <a:lnTo>
                  <a:pt x="59720" y="114266"/>
                </a:lnTo>
                <a:lnTo>
                  <a:pt x="50469" y="101931"/>
                </a:lnTo>
                <a:cubicBezTo>
                  <a:pt x="47728" y="98299"/>
                  <a:pt x="42588" y="97546"/>
                  <a:pt x="38957" y="100287"/>
                </a:cubicBezTo>
                <a:cubicBezTo>
                  <a:pt x="35325" y="103028"/>
                  <a:pt x="34571" y="108167"/>
                  <a:pt x="37312" y="111799"/>
                </a:cubicBezTo>
                <a:lnTo>
                  <a:pt x="53758" y="133727"/>
                </a:lnTo>
                <a:cubicBezTo>
                  <a:pt x="55368" y="135885"/>
                  <a:pt x="57972" y="137119"/>
                  <a:pt x="60679" y="137016"/>
                </a:cubicBezTo>
                <a:cubicBezTo>
                  <a:pt x="63386" y="136913"/>
                  <a:pt x="65853" y="135474"/>
                  <a:pt x="67292" y="133144"/>
                </a:cubicBezTo>
                <a:lnTo>
                  <a:pt x="94702" y="89288"/>
                </a:lnTo>
                <a:close/>
              </a:path>
            </a:pathLst>
          </a:custGeom>
          <a:solidFill>
            <a:srgbClr val="C49A2C"/>
          </a:solidFill>
          <a:ln/>
        </p:spPr>
      </p:sp>
      <p:sp>
        <p:nvSpPr>
          <p:cNvPr id="13" name="Text 11"/>
          <p:cNvSpPr/>
          <p:nvPr/>
        </p:nvSpPr>
        <p:spPr>
          <a:xfrm>
            <a:off x="710469" y="3736541"/>
            <a:ext cx="5262734" cy="245594"/>
          </a:xfrm>
          <a:prstGeom prst="rect">
            <a:avLst/>
          </a:prstGeom>
          <a:noFill/>
          <a:ln/>
        </p:spPr>
        <p:txBody>
          <a:bodyPr wrap="square" lIns="0" tIns="0" rIns="0" bIns="0" rtlCol="0" anchor="ctr"/>
          <a:lstStyle/>
          <a:p>
            <a:pPr>
              <a:lnSpc>
                <a:spcPct val="120000"/>
              </a:lnSpc>
            </a:pPr>
            <a:r>
              <a:rPr lang="en-US" sz="1381" b="1" dirty="0">
                <a:solidFill>
                  <a:srgbClr val="F8F9FA"/>
                </a:solidFill>
                <a:latin typeface="MiSans" pitchFamily="34" charset="0"/>
                <a:ea typeface="MiSans" pitchFamily="34" charset="-122"/>
                <a:cs typeface="MiSans" pitchFamily="34" charset="-120"/>
              </a:rPr>
              <a:t>Assessment Architecture</a:t>
            </a:r>
            <a:endParaRPr lang="en-US" sz="1600" dirty="0"/>
          </a:p>
        </p:txBody>
      </p:sp>
      <p:sp>
        <p:nvSpPr>
          <p:cNvPr id="14" name="Text 12"/>
          <p:cNvSpPr/>
          <p:nvPr/>
        </p:nvSpPr>
        <p:spPr>
          <a:xfrm>
            <a:off x="491188" y="4087390"/>
            <a:ext cx="5464472" cy="456104"/>
          </a:xfrm>
          <a:prstGeom prst="rect">
            <a:avLst/>
          </a:prstGeom>
          <a:noFill/>
          <a:ln/>
        </p:spPr>
        <p:txBody>
          <a:bodyPr wrap="square" lIns="0" tIns="0" rIns="0" bIns="0" rtlCol="0" anchor="ctr"/>
          <a:lstStyle/>
          <a:p>
            <a:pPr>
              <a:lnSpc>
                <a:spcPct val="140000"/>
              </a:lnSpc>
            </a:pPr>
            <a:r>
              <a:rPr lang="en-US" sz="1105" dirty="0">
                <a:solidFill>
                  <a:srgbClr val="F8F9FA"/>
                </a:solidFill>
                <a:latin typeface="MiSans" pitchFamily="34" charset="0"/>
                <a:ea typeface="MiSans" pitchFamily="34" charset="-122"/>
                <a:cs typeface="MiSans" pitchFamily="34" charset="-120"/>
              </a:rPr>
              <a:t>The taxonomy also provides the theoretical basis for the MPI's </a:t>
            </a:r>
            <a:pPr>
              <a:lnSpc>
                <a:spcPct val="140000"/>
              </a:lnSpc>
            </a:pPr>
            <a:r>
              <a:rPr lang="en-US" sz="1105" b="1" dirty="0">
                <a:solidFill>
                  <a:srgbClr val="F8F9FA"/>
                </a:solidFill>
                <a:latin typeface="MiSans" pitchFamily="34" charset="0"/>
                <a:ea typeface="MiSans" pitchFamily="34" charset="-122"/>
                <a:cs typeface="MiSans" pitchFamily="34" charset="-120"/>
              </a:rPr>
              <a:t>assessment architecture</a:t>
            </a:r>
            <a:pPr>
              <a:lnSpc>
                <a:spcPct val="140000"/>
              </a:lnSpc>
            </a:pPr>
            <a:r>
              <a:rPr lang="en-US" sz="1105" dirty="0">
                <a:solidFill>
                  <a:srgbClr val="F8F9FA"/>
                </a:solidFill>
                <a:latin typeface="MiSans" pitchFamily="34" charset="0"/>
                <a:ea typeface="MiSans" pitchFamily="34" charset="-122"/>
                <a:cs typeface="MiSans" pitchFamily="34" charset="-120"/>
              </a:rPr>
              <a:t> .</a:t>
            </a:r>
            <a:endParaRPr lang="en-US" sz="1600" dirty="0"/>
          </a:p>
        </p:txBody>
      </p:sp>
      <p:sp>
        <p:nvSpPr>
          <p:cNvPr id="15" name="Text 13"/>
          <p:cNvSpPr/>
          <p:nvPr/>
        </p:nvSpPr>
        <p:spPr>
          <a:xfrm>
            <a:off x="491188" y="4648748"/>
            <a:ext cx="5464472" cy="456104"/>
          </a:xfrm>
          <a:prstGeom prst="rect">
            <a:avLst/>
          </a:prstGeom>
          <a:noFill/>
          <a:ln/>
        </p:spPr>
        <p:txBody>
          <a:bodyPr wrap="square" lIns="0" tIns="0" rIns="0" bIns="0" rtlCol="0" anchor="ctr"/>
          <a:lstStyle/>
          <a:p>
            <a:pPr>
              <a:lnSpc>
                <a:spcPct val="140000"/>
              </a:lnSpc>
            </a:pPr>
            <a:r>
              <a:rPr lang="en-US" sz="1105" dirty="0">
                <a:solidFill>
                  <a:srgbClr val="F8F9FA"/>
                </a:solidFill>
                <a:latin typeface="MiSans" pitchFamily="34" charset="0"/>
                <a:ea typeface="MiSans" pitchFamily="34" charset="-122"/>
                <a:cs typeface="MiSans" pitchFamily="34" charset="-120"/>
              </a:rPr>
              <a:t>Formative assessment items are </a:t>
            </a:r>
            <a:pPr>
              <a:lnSpc>
                <a:spcPct val="140000"/>
              </a:lnSpc>
            </a:pPr>
            <a:r>
              <a:rPr lang="en-US" sz="1105" b="1" dirty="0">
                <a:solidFill>
                  <a:srgbClr val="F8F9FA"/>
                </a:solidFill>
                <a:latin typeface="MiSans" pitchFamily="34" charset="0"/>
                <a:ea typeface="MiSans" pitchFamily="34" charset="-122"/>
                <a:cs typeface="MiSans" pitchFamily="34" charset="-120"/>
              </a:rPr>
              <a:t>calibrated to specific taxonomy levels</a:t>
            </a:r>
            <a:pPr>
              <a:lnSpc>
                <a:spcPct val="140000"/>
              </a:lnSpc>
            </a:pPr>
            <a:r>
              <a:rPr lang="en-US" sz="1105" dirty="0">
                <a:solidFill>
                  <a:srgbClr val="F8F9FA"/>
                </a:solidFill>
                <a:latin typeface="MiSans" pitchFamily="34" charset="0"/>
                <a:ea typeface="MiSans" pitchFamily="34" charset="-122"/>
                <a:cs typeface="MiSans" pitchFamily="34" charset="-120"/>
              </a:rPr>
              <a:t> , and pupil performance on these items determines the trajectory of subsequent instruction.</a:t>
            </a:r>
            <a:endParaRPr lang="en-US" sz="1600" dirty="0"/>
          </a:p>
        </p:txBody>
      </p:sp>
      <p:sp>
        <p:nvSpPr>
          <p:cNvPr id="16" name="Shape 14"/>
          <p:cNvSpPr/>
          <p:nvPr/>
        </p:nvSpPr>
        <p:spPr>
          <a:xfrm>
            <a:off x="491188" y="5525871"/>
            <a:ext cx="5394302" cy="1192886"/>
          </a:xfrm>
          <a:custGeom>
            <a:avLst/>
            <a:gdLst/>
            <a:ahLst/>
            <a:cxnLst/>
            <a:rect l="l" t="t" r="r" b="b"/>
            <a:pathLst>
              <a:path w="5394302" h="1192886">
                <a:moveTo>
                  <a:pt x="0" y="0"/>
                </a:moveTo>
                <a:lnTo>
                  <a:pt x="5394302" y="0"/>
                </a:lnTo>
                <a:lnTo>
                  <a:pt x="5394302" y="1192886"/>
                </a:lnTo>
                <a:lnTo>
                  <a:pt x="0" y="1192886"/>
                </a:lnTo>
                <a:lnTo>
                  <a:pt x="0" y="0"/>
                </a:lnTo>
                <a:close/>
              </a:path>
            </a:pathLst>
          </a:custGeom>
          <a:solidFill>
            <a:srgbClr val="F8F9FA">
              <a:alpha val="10196"/>
            </a:srgbClr>
          </a:solidFill>
          <a:ln/>
        </p:spPr>
      </p:sp>
      <p:sp>
        <p:nvSpPr>
          <p:cNvPr id="17" name="Text 15"/>
          <p:cNvSpPr/>
          <p:nvPr/>
        </p:nvSpPr>
        <p:spPr>
          <a:xfrm>
            <a:off x="631528" y="5666210"/>
            <a:ext cx="5183793" cy="912207"/>
          </a:xfrm>
          <a:prstGeom prst="rect">
            <a:avLst/>
          </a:prstGeom>
          <a:noFill/>
          <a:ln/>
        </p:spPr>
        <p:txBody>
          <a:bodyPr wrap="square" lIns="0" tIns="0" rIns="0" bIns="0" rtlCol="0" anchor="ctr"/>
          <a:lstStyle/>
          <a:p>
            <a:pPr>
              <a:lnSpc>
                <a:spcPct val="140000"/>
              </a:lnSpc>
            </a:pPr>
            <a:r>
              <a:rPr lang="en-US" sz="1105" dirty="0">
                <a:solidFill>
                  <a:srgbClr val="F8F9FA"/>
                </a:solidFill>
                <a:latin typeface="MiSans" pitchFamily="34" charset="0"/>
                <a:ea typeface="MiSans" pitchFamily="34" charset="-122"/>
                <a:cs typeface="MiSans" pitchFamily="34" charset="-120"/>
              </a:rPr>
              <a:t>This is not differentiation in the loose sense of providing different work to different pupils. It is differentiation grounded in a </a:t>
            </a:r>
            <a:pPr>
              <a:lnSpc>
                <a:spcPct val="140000"/>
              </a:lnSpc>
            </a:pPr>
            <a:r>
              <a:rPr lang="en-US" sz="1105" b="1" dirty="0">
                <a:solidFill>
                  <a:srgbClr val="F8F9FA"/>
                </a:solidFill>
                <a:latin typeface="MiSans" pitchFamily="34" charset="0"/>
                <a:ea typeface="MiSans" pitchFamily="34" charset="-122"/>
                <a:cs typeface="MiSans" pitchFamily="34" charset="-120"/>
              </a:rPr>
              <a:t>theory of cognitive development</a:t>
            </a:r>
            <a:pPr>
              <a:lnSpc>
                <a:spcPct val="140000"/>
              </a:lnSpc>
            </a:pPr>
            <a:r>
              <a:rPr lang="en-US" sz="1105" dirty="0">
                <a:solidFill>
                  <a:srgbClr val="F8F9FA"/>
                </a:solidFill>
                <a:latin typeface="MiSans" pitchFamily="34" charset="0"/>
                <a:ea typeface="MiSans" pitchFamily="34" charset="-122"/>
                <a:cs typeface="MiSans" pitchFamily="34" charset="-120"/>
              </a:rPr>
              <a:t> that has been empirically validated across multiple decades and contexts.</a:t>
            </a:r>
            <a:endParaRPr lang="en-US" sz="1600" dirty="0"/>
          </a:p>
        </p:txBody>
      </p:sp>
      <p:sp>
        <p:nvSpPr>
          <p:cNvPr id="18" name="Shape 16"/>
          <p:cNvSpPr/>
          <p:nvPr/>
        </p:nvSpPr>
        <p:spPr>
          <a:xfrm>
            <a:off x="6167193" y="1105174"/>
            <a:ext cx="5674981" cy="4648748"/>
          </a:xfrm>
          <a:custGeom>
            <a:avLst/>
            <a:gdLst/>
            <a:ahLst/>
            <a:cxnLst/>
            <a:rect l="l" t="t" r="r" b="b"/>
            <a:pathLst>
              <a:path w="5674981" h="4648748">
                <a:moveTo>
                  <a:pt x="0" y="0"/>
                </a:moveTo>
                <a:lnTo>
                  <a:pt x="5674981" y="0"/>
                </a:lnTo>
                <a:lnTo>
                  <a:pt x="5674981" y="4648748"/>
                </a:lnTo>
                <a:lnTo>
                  <a:pt x="0" y="4648748"/>
                </a:lnTo>
                <a:lnTo>
                  <a:pt x="0" y="0"/>
                </a:lnTo>
                <a:close/>
              </a:path>
            </a:pathLst>
          </a:custGeom>
          <a:solidFill>
            <a:srgbClr val="FFFFFF"/>
          </a:solidFill>
          <a:ln/>
        </p:spPr>
      </p:sp>
      <p:sp>
        <p:nvSpPr>
          <p:cNvPr id="19" name="Shape 17"/>
          <p:cNvSpPr/>
          <p:nvPr/>
        </p:nvSpPr>
        <p:spPr>
          <a:xfrm>
            <a:off x="6167193" y="1105174"/>
            <a:ext cx="5674981" cy="35085"/>
          </a:xfrm>
          <a:custGeom>
            <a:avLst/>
            <a:gdLst/>
            <a:ahLst/>
            <a:cxnLst/>
            <a:rect l="l" t="t" r="r" b="b"/>
            <a:pathLst>
              <a:path w="5674981" h="35085">
                <a:moveTo>
                  <a:pt x="0" y="0"/>
                </a:moveTo>
                <a:lnTo>
                  <a:pt x="5674981" y="0"/>
                </a:lnTo>
                <a:lnTo>
                  <a:pt x="5674981" y="35085"/>
                </a:lnTo>
                <a:lnTo>
                  <a:pt x="0" y="35085"/>
                </a:lnTo>
                <a:lnTo>
                  <a:pt x="0" y="0"/>
                </a:lnTo>
                <a:close/>
              </a:path>
            </a:pathLst>
          </a:custGeom>
          <a:solidFill>
            <a:srgbClr val="C49A2C"/>
          </a:solidFill>
          <a:ln/>
        </p:spPr>
      </p:sp>
      <p:sp>
        <p:nvSpPr>
          <p:cNvPr id="20" name="Shape 18"/>
          <p:cNvSpPr/>
          <p:nvPr/>
        </p:nvSpPr>
        <p:spPr>
          <a:xfrm>
            <a:off x="6329461" y="1298141"/>
            <a:ext cx="175424" cy="175424"/>
          </a:xfrm>
          <a:custGeom>
            <a:avLst/>
            <a:gdLst/>
            <a:ahLst/>
            <a:cxnLst/>
            <a:rect l="l" t="t" r="r" b="b"/>
            <a:pathLst>
              <a:path w="175424" h="175424">
                <a:moveTo>
                  <a:pt x="21928" y="21928"/>
                </a:moveTo>
                <a:cubicBezTo>
                  <a:pt x="21928" y="15864"/>
                  <a:pt x="17029" y="10964"/>
                  <a:pt x="10964" y="10964"/>
                </a:cubicBezTo>
                <a:cubicBezTo>
                  <a:pt x="4900" y="10964"/>
                  <a:pt x="0" y="15864"/>
                  <a:pt x="0" y="21928"/>
                </a:cubicBezTo>
                <a:lnTo>
                  <a:pt x="0" y="137050"/>
                </a:lnTo>
                <a:cubicBezTo>
                  <a:pt x="0" y="152194"/>
                  <a:pt x="12266" y="164460"/>
                  <a:pt x="27410" y="164460"/>
                </a:cubicBezTo>
                <a:lnTo>
                  <a:pt x="164460" y="164460"/>
                </a:lnTo>
                <a:cubicBezTo>
                  <a:pt x="170525" y="164460"/>
                  <a:pt x="175424" y="159561"/>
                  <a:pt x="175424" y="153496"/>
                </a:cubicBezTo>
                <a:cubicBezTo>
                  <a:pt x="175424" y="147432"/>
                  <a:pt x="170525" y="142532"/>
                  <a:pt x="164460" y="142532"/>
                </a:cubicBezTo>
                <a:lnTo>
                  <a:pt x="27410" y="142532"/>
                </a:lnTo>
                <a:cubicBezTo>
                  <a:pt x="24395" y="142532"/>
                  <a:pt x="21928" y="140065"/>
                  <a:pt x="21928" y="137050"/>
                </a:cubicBezTo>
                <a:lnTo>
                  <a:pt x="21928" y="21928"/>
                </a:lnTo>
                <a:close/>
                <a:moveTo>
                  <a:pt x="161240" y="51599"/>
                </a:moveTo>
                <a:cubicBezTo>
                  <a:pt x="165523" y="47317"/>
                  <a:pt x="165523" y="40361"/>
                  <a:pt x="161240" y="36079"/>
                </a:cubicBezTo>
                <a:cubicBezTo>
                  <a:pt x="156957" y="31796"/>
                  <a:pt x="150002" y="31796"/>
                  <a:pt x="145719" y="36079"/>
                </a:cubicBezTo>
                <a:lnTo>
                  <a:pt x="109640" y="72191"/>
                </a:lnTo>
                <a:lnTo>
                  <a:pt x="89974" y="52559"/>
                </a:lnTo>
                <a:cubicBezTo>
                  <a:pt x="85691" y="48276"/>
                  <a:pt x="78735" y="48276"/>
                  <a:pt x="74453" y="52559"/>
                </a:cubicBezTo>
                <a:lnTo>
                  <a:pt x="41561" y="85451"/>
                </a:lnTo>
                <a:cubicBezTo>
                  <a:pt x="37278" y="89734"/>
                  <a:pt x="37278" y="96689"/>
                  <a:pt x="41561" y="100972"/>
                </a:cubicBezTo>
                <a:cubicBezTo>
                  <a:pt x="45843" y="105255"/>
                  <a:pt x="52799" y="105255"/>
                  <a:pt x="57081" y="100972"/>
                </a:cubicBezTo>
                <a:lnTo>
                  <a:pt x="82230" y="75823"/>
                </a:lnTo>
                <a:lnTo>
                  <a:pt x="101897" y="95490"/>
                </a:lnTo>
                <a:cubicBezTo>
                  <a:pt x="106180" y="99773"/>
                  <a:pt x="113135" y="99773"/>
                  <a:pt x="117418" y="95490"/>
                </a:cubicBezTo>
                <a:lnTo>
                  <a:pt x="161274" y="51634"/>
                </a:lnTo>
                <a:close/>
              </a:path>
            </a:pathLst>
          </a:custGeom>
          <a:solidFill>
            <a:srgbClr val="C49A2C"/>
          </a:solidFill>
          <a:ln/>
        </p:spPr>
      </p:sp>
      <p:sp>
        <p:nvSpPr>
          <p:cNvPr id="21" name="Text 19"/>
          <p:cNvSpPr/>
          <p:nvPr/>
        </p:nvSpPr>
        <p:spPr>
          <a:xfrm>
            <a:off x="6526814" y="1263056"/>
            <a:ext cx="5262734" cy="245594"/>
          </a:xfrm>
          <a:prstGeom prst="rect">
            <a:avLst/>
          </a:prstGeom>
          <a:noFill/>
          <a:ln/>
        </p:spPr>
        <p:txBody>
          <a:bodyPr wrap="square" lIns="0" tIns="0" rIns="0" bIns="0" rtlCol="0" anchor="ctr"/>
          <a:lstStyle/>
          <a:p>
            <a:pPr>
              <a:lnSpc>
                <a:spcPct val="120000"/>
              </a:lnSpc>
            </a:pPr>
            <a:r>
              <a:rPr lang="en-US" sz="1381" b="1" dirty="0">
                <a:solidFill>
                  <a:srgbClr val="1E3A5F"/>
                </a:solidFill>
                <a:latin typeface="MiSans" pitchFamily="34" charset="0"/>
                <a:ea typeface="MiSans" pitchFamily="34" charset="-122"/>
                <a:cs typeface="MiSans" pitchFamily="34" charset="-120"/>
              </a:rPr>
              <a:t>The Progression Principle</a:t>
            </a:r>
            <a:endParaRPr lang="en-US" sz="1600" dirty="0"/>
          </a:p>
        </p:txBody>
      </p:sp>
      <p:sp>
        <p:nvSpPr>
          <p:cNvPr id="22" name="Shape 20"/>
          <p:cNvSpPr/>
          <p:nvPr/>
        </p:nvSpPr>
        <p:spPr>
          <a:xfrm>
            <a:off x="6307533" y="1613905"/>
            <a:ext cx="5394302" cy="1052547"/>
          </a:xfrm>
          <a:custGeom>
            <a:avLst/>
            <a:gdLst/>
            <a:ahLst/>
            <a:cxnLst/>
            <a:rect l="l" t="t" r="r" b="b"/>
            <a:pathLst>
              <a:path w="5394302" h="1052547">
                <a:moveTo>
                  <a:pt x="0" y="0"/>
                </a:moveTo>
                <a:lnTo>
                  <a:pt x="5394302" y="0"/>
                </a:lnTo>
                <a:lnTo>
                  <a:pt x="5394302" y="1052547"/>
                </a:lnTo>
                <a:lnTo>
                  <a:pt x="0" y="1052547"/>
                </a:lnTo>
                <a:lnTo>
                  <a:pt x="0" y="0"/>
                </a:lnTo>
                <a:close/>
              </a:path>
            </a:pathLst>
          </a:custGeom>
          <a:solidFill>
            <a:srgbClr val="F8F9FA"/>
          </a:solidFill>
          <a:ln/>
        </p:spPr>
      </p:sp>
      <p:sp>
        <p:nvSpPr>
          <p:cNvPr id="23" name="Shape 21"/>
          <p:cNvSpPr/>
          <p:nvPr/>
        </p:nvSpPr>
        <p:spPr>
          <a:xfrm>
            <a:off x="6412788" y="1719160"/>
            <a:ext cx="350849" cy="350849"/>
          </a:xfrm>
          <a:custGeom>
            <a:avLst/>
            <a:gdLst/>
            <a:ahLst/>
            <a:cxnLst/>
            <a:rect l="l" t="t" r="r" b="b"/>
            <a:pathLst>
              <a:path w="350849" h="350849">
                <a:moveTo>
                  <a:pt x="0" y="0"/>
                </a:moveTo>
                <a:lnTo>
                  <a:pt x="350849" y="0"/>
                </a:lnTo>
                <a:lnTo>
                  <a:pt x="350849" y="350849"/>
                </a:lnTo>
                <a:lnTo>
                  <a:pt x="0" y="350849"/>
                </a:lnTo>
                <a:lnTo>
                  <a:pt x="0" y="0"/>
                </a:lnTo>
                <a:close/>
              </a:path>
            </a:pathLst>
          </a:custGeom>
          <a:solidFill>
            <a:srgbClr val="6C757D"/>
          </a:solidFill>
          <a:ln/>
        </p:spPr>
      </p:sp>
      <p:sp>
        <p:nvSpPr>
          <p:cNvPr id="24" name="Text 22"/>
          <p:cNvSpPr/>
          <p:nvPr/>
        </p:nvSpPr>
        <p:spPr>
          <a:xfrm>
            <a:off x="6377703" y="1719160"/>
            <a:ext cx="421019" cy="350849"/>
          </a:xfrm>
          <a:prstGeom prst="rect">
            <a:avLst/>
          </a:prstGeom>
          <a:noFill/>
          <a:ln/>
        </p:spPr>
        <p:txBody>
          <a:bodyPr wrap="square" lIns="0" tIns="0" rIns="0" bIns="0" rtlCol="0" anchor="ctr"/>
          <a:lstStyle/>
          <a:p>
            <a:pPr algn="ctr">
              <a:lnSpc>
                <a:spcPct val="120000"/>
              </a:lnSpc>
            </a:pPr>
            <a:r>
              <a:rPr lang="en-US" sz="1105" b="1" dirty="0">
                <a:solidFill>
                  <a:srgbClr val="F8F9FA"/>
                </a:solidFill>
                <a:latin typeface="MiSans" pitchFamily="34" charset="0"/>
                <a:ea typeface="MiSans" pitchFamily="34" charset="-122"/>
                <a:cs typeface="MiSans" pitchFamily="34" charset="-120"/>
              </a:rPr>
              <a:t>L1</a:t>
            </a:r>
            <a:endParaRPr lang="en-US" sz="1600" dirty="0"/>
          </a:p>
        </p:txBody>
      </p:sp>
      <p:sp>
        <p:nvSpPr>
          <p:cNvPr id="25" name="Text 23"/>
          <p:cNvSpPr/>
          <p:nvPr/>
        </p:nvSpPr>
        <p:spPr>
          <a:xfrm>
            <a:off x="6868891" y="1771787"/>
            <a:ext cx="1964754" cy="245594"/>
          </a:xfrm>
          <a:prstGeom prst="rect">
            <a:avLst/>
          </a:prstGeom>
          <a:noFill/>
          <a:ln/>
        </p:spPr>
        <p:txBody>
          <a:bodyPr wrap="square" lIns="0" tIns="0" rIns="0" bIns="0" rtlCol="0" anchor="ctr"/>
          <a:lstStyle/>
          <a:p>
            <a:pPr>
              <a:lnSpc>
                <a:spcPct val="130000"/>
              </a:lnSpc>
            </a:pPr>
            <a:r>
              <a:rPr lang="en-US" sz="1243" b="1" dirty="0">
                <a:solidFill>
                  <a:srgbClr val="1E3A5F"/>
                </a:solidFill>
                <a:latin typeface="MiSans" pitchFamily="34" charset="0"/>
                <a:ea typeface="MiSans" pitchFamily="34" charset="-122"/>
                <a:cs typeface="MiSans" pitchFamily="34" charset="-120"/>
              </a:rPr>
              <a:t>Lower-Order Foundation</a:t>
            </a:r>
            <a:endParaRPr lang="en-US" sz="1600" dirty="0"/>
          </a:p>
        </p:txBody>
      </p:sp>
      <p:sp>
        <p:nvSpPr>
          <p:cNvPr id="26" name="Text 24"/>
          <p:cNvSpPr/>
          <p:nvPr/>
        </p:nvSpPr>
        <p:spPr>
          <a:xfrm>
            <a:off x="6412788" y="2105094"/>
            <a:ext cx="5253963" cy="456104"/>
          </a:xfrm>
          <a:prstGeom prst="rect">
            <a:avLst/>
          </a:prstGeom>
          <a:noFill/>
          <a:ln/>
        </p:spPr>
        <p:txBody>
          <a:bodyPr wrap="square" lIns="0" tIns="0" rIns="0" bIns="0" rtlCol="0" anchor="ctr"/>
          <a:lstStyle/>
          <a:p>
            <a:pPr>
              <a:lnSpc>
                <a:spcPct val="140000"/>
              </a:lnSpc>
            </a:pPr>
            <a:r>
              <a:rPr lang="en-US" sz="1105" b="1" dirty="0">
                <a:solidFill>
                  <a:srgbClr val="2D3436"/>
                </a:solidFill>
                <a:latin typeface="MiSans" pitchFamily="34" charset="0"/>
                <a:ea typeface="MiSans" pitchFamily="34" charset="-122"/>
                <a:cs typeface="MiSans" pitchFamily="34" charset="-120"/>
              </a:rPr>
              <a:t>Remembering, Understanding</a:t>
            </a:r>
            <a:pPr>
              <a:lnSpc>
                <a:spcPct val="140000"/>
              </a:lnSpc>
            </a:pPr>
            <a:r>
              <a:rPr lang="en-US" sz="1105" dirty="0">
                <a:solidFill>
                  <a:srgbClr val="2D3436"/>
                </a:solidFill>
                <a:latin typeface="MiSans" pitchFamily="34" charset="0"/>
                <a:ea typeface="MiSans" pitchFamily="34" charset="-122"/>
                <a:cs typeface="MiSans" pitchFamily="34" charset="-120"/>
              </a:rPr>
              <a:t> — Establishing foundational knowledge and comprehension before attempting application.</a:t>
            </a:r>
            <a:endParaRPr lang="en-US" sz="1600" dirty="0"/>
          </a:p>
        </p:txBody>
      </p:sp>
      <p:sp>
        <p:nvSpPr>
          <p:cNvPr id="27" name="Shape 25"/>
          <p:cNvSpPr/>
          <p:nvPr/>
        </p:nvSpPr>
        <p:spPr>
          <a:xfrm>
            <a:off x="8926181" y="2771706"/>
            <a:ext cx="157882" cy="210509"/>
          </a:xfrm>
          <a:custGeom>
            <a:avLst/>
            <a:gdLst/>
            <a:ahLst/>
            <a:cxnLst/>
            <a:rect l="l" t="t" r="r" b="b"/>
            <a:pathLst>
              <a:path w="157882" h="210509">
                <a:moveTo>
                  <a:pt x="69649" y="206645"/>
                </a:moveTo>
                <a:cubicBezTo>
                  <a:pt x="74788" y="211784"/>
                  <a:pt x="83135" y="211784"/>
                  <a:pt x="88274" y="206645"/>
                </a:cubicBezTo>
                <a:lnTo>
                  <a:pt x="154058" y="140860"/>
                </a:lnTo>
                <a:cubicBezTo>
                  <a:pt x="159198" y="135721"/>
                  <a:pt x="159198" y="127375"/>
                  <a:pt x="154058" y="122235"/>
                </a:cubicBezTo>
                <a:cubicBezTo>
                  <a:pt x="148919" y="117096"/>
                  <a:pt x="140573" y="117096"/>
                  <a:pt x="135433" y="122235"/>
                </a:cubicBezTo>
                <a:lnTo>
                  <a:pt x="92098" y="165571"/>
                </a:lnTo>
                <a:lnTo>
                  <a:pt x="92098" y="13157"/>
                </a:lnTo>
                <a:cubicBezTo>
                  <a:pt x="92098" y="5879"/>
                  <a:pt x="86218" y="0"/>
                  <a:pt x="78941" y="0"/>
                </a:cubicBezTo>
                <a:cubicBezTo>
                  <a:pt x="71664" y="0"/>
                  <a:pt x="65784" y="5879"/>
                  <a:pt x="65784" y="13157"/>
                </a:cubicBezTo>
                <a:lnTo>
                  <a:pt x="65784" y="165571"/>
                </a:lnTo>
                <a:lnTo>
                  <a:pt x="22449" y="122235"/>
                </a:lnTo>
                <a:cubicBezTo>
                  <a:pt x="17309" y="117096"/>
                  <a:pt x="8963" y="117096"/>
                  <a:pt x="3824" y="122235"/>
                </a:cubicBezTo>
                <a:cubicBezTo>
                  <a:pt x="-1316" y="127375"/>
                  <a:pt x="-1316" y="135721"/>
                  <a:pt x="3824" y="140860"/>
                </a:cubicBezTo>
                <a:lnTo>
                  <a:pt x="69608" y="206645"/>
                </a:lnTo>
                <a:close/>
              </a:path>
            </a:pathLst>
          </a:custGeom>
          <a:solidFill>
            <a:srgbClr val="C49A2C"/>
          </a:solidFill>
          <a:ln/>
        </p:spPr>
      </p:sp>
      <p:sp>
        <p:nvSpPr>
          <p:cNvPr id="28" name="Shape 26"/>
          <p:cNvSpPr/>
          <p:nvPr/>
        </p:nvSpPr>
        <p:spPr>
          <a:xfrm>
            <a:off x="6307533" y="3087471"/>
            <a:ext cx="5394302" cy="1052547"/>
          </a:xfrm>
          <a:custGeom>
            <a:avLst/>
            <a:gdLst/>
            <a:ahLst/>
            <a:cxnLst/>
            <a:rect l="l" t="t" r="r" b="b"/>
            <a:pathLst>
              <a:path w="5394302" h="1052547">
                <a:moveTo>
                  <a:pt x="0" y="0"/>
                </a:moveTo>
                <a:lnTo>
                  <a:pt x="5394302" y="0"/>
                </a:lnTo>
                <a:lnTo>
                  <a:pt x="5394302" y="1052547"/>
                </a:lnTo>
                <a:lnTo>
                  <a:pt x="0" y="1052547"/>
                </a:lnTo>
                <a:lnTo>
                  <a:pt x="0" y="0"/>
                </a:lnTo>
                <a:close/>
              </a:path>
            </a:pathLst>
          </a:custGeom>
          <a:solidFill>
            <a:srgbClr val="F8F9FA"/>
          </a:solidFill>
          <a:ln/>
        </p:spPr>
      </p:sp>
      <p:sp>
        <p:nvSpPr>
          <p:cNvPr id="29" name="Shape 27"/>
          <p:cNvSpPr/>
          <p:nvPr/>
        </p:nvSpPr>
        <p:spPr>
          <a:xfrm>
            <a:off x="6412788" y="3192725"/>
            <a:ext cx="350849" cy="350849"/>
          </a:xfrm>
          <a:custGeom>
            <a:avLst/>
            <a:gdLst/>
            <a:ahLst/>
            <a:cxnLst/>
            <a:rect l="l" t="t" r="r" b="b"/>
            <a:pathLst>
              <a:path w="350849" h="350849">
                <a:moveTo>
                  <a:pt x="0" y="0"/>
                </a:moveTo>
                <a:lnTo>
                  <a:pt x="350849" y="0"/>
                </a:lnTo>
                <a:lnTo>
                  <a:pt x="350849" y="350849"/>
                </a:lnTo>
                <a:lnTo>
                  <a:pt x="0" y="350849"/>
                </a:lnTo>
                <a:lnTo>
                  <a:pt x="0" y="0"/>
                </a:lnTo>
                <a:close/>
              </a:path>
            </a:pathLst>
          </a:custGeom>
          <a:solidFill>
            <a:srgbClr val="1E3A5F"/>
          </a:solidFill>
          <a:ln/>
        </p:spPr>
      </p:sp>
      <p:sp>
        <p:nvSpPr>
          <p:cNvPr id="30" name="Text 28"/>
          <p:cNvSpPr/>
          <p:nvPr/>
        </p:nvSpPr>
        <p:spPr>
          <a:xfrm>
            <a:off x="6377703" y="3192725"/>
            <a:ext cx="421019" cy="350849"/>
          </a:xfrm>
          <a:prstGeom prst="rect">
            <a:avLst/>
          </a:prstGeom>
          <a:noFill/>
          <a:ln/>
        </p:spPr>
        <p:txBody>
          <a:bodyPr wrap="square" lIns="0" tIns="0" rIns="0" bIns="0" rtlCol="0" anchor="ctr"/>
          <a:lstStyle/>
          <a:p>
            <a:pPr algn="ctr">
              <a:lnSpc>
                <a:spcPct val="120000"/>
              </a:lnSpc>
            </a:pPr>
            <a:r>
              <a:rPr lang="en-US" sz="1105" b="1" dirty="0">
                <a:solidFill>
                  <a:srgbClr val="F8F9FA"/>
                </a:solidFill>
                <a:latin typeface="MiSans" pitchFamily="34" charset="0"/>
                <a:ea typeface="MiSans" pitchFamily="34" charset="-122"/>
                <a:cs typeface="MiSans" pitchFamily="34" charset="-120"/>
              </a:rPr>
              <a:t>L2</a:t>
            </a:r>
            <a:endParaRPr lang="en-US" sz="1600" dirty="0"/>
          </a:p>
        </p:txBody>
      </p:sp>
      <p:sp>
        <p:nvSpPr>
          <p:cNvPr id="31" name="Text 29"/>
          <p:cNvSpPr/>
          <p:nvPr/>
        </p:nvSpPr>
        <p:spPr>
          <a:xfrm>
            <a:off x="6868891" y="3245353"/>
            <a:ext cx="2008610" cy="245594"/>
          </a:xfrm>
          <a:prstGeom prst="rect">
            <a:avLst/>
          </a:prstGeom>
          <a:noFill/>
          <a:ln/>
        </p:spPr>
        <p:txBody>
          <a:bodyPr wrap="square" lIns="0" tIns="0" rIns="0" bIns="0" rtlCol="0" anchor="ctr"/>
          <a:lstStyle/>
          <a:p>
            <a:pPr>
              <a:lnSpc>
                <a:spcPct val="130000"/>
              </a:lnSpc>
            </a:pPr>
            <a:r>
              <a:rPr lang="en-US" sz="1243" b="1" dirty="0">
                <a:solidFill>
                  <a:srgbClr val="1E3A5F"/>
                </a:solidFill>
                <a:latin typeface="MiSans" pitchFamily="34" charset="0"/>
                <a:ea typeface="MiSans" pitchFamily="34" charset="-122"/>
                <a:cs typeface="MiSans" pitchFamily="34" charset="-120"/>
              </a:rPr>
              <a:t>Middle-Order Application</a:t>
            </a:r>
            <a:endParaRPr lang="en-US" sz="1600" dirty="0"/>
          </a:p>
        </p:txBody>
      </p:sp>
      <p:sp>
        <p:nvSpPr>
          <p:cNvPr id="32" name="Text 30"/>
          <p:cNvSpPr/>
          <p:nvPr/>
        </p:nvSpPr>
        <p:spPr>
          <a:xfrm>
            <a:off x="6412788" y="3578659"/>
            <a:ext cx="5253963" cy="456104"/>
          </a:xfrm>
          <a:prstGeom prst="rect">
            <a:avLst/>
          </a:prstGeom>
          <a:noFill/>
          <a:ln/>
        </p:spPr>
        <p:txBody>
          <a:bodyPr wrap="square" lIns="0" tIns="0" rIns="0" bIns="0" rtlCol="0" anchor="ctr"/>
          <a:lstStyle/>
          <a:p>
            <a:pPr>
              <a:lnSpc>
                <a:spcPct val="140000"/>
              </a:lnSpc>
            </a:pPr>
            <a:r>
              <a:rPr lang="en-US" sz="1105" b="1" dirty="0">
                <a:solidFill>
                  <a:srgbClr val="2D3436"/>
                </a:solidFill>
                <a:latin typeface="MiSans" pitchFamily="34" charset="0"/>
                <a:ea typeface="MiSans" pitchFamily="34" charset="-122"/>
                <a:cs typeface="MiSans" pitchFamily="34" charset="-120"/>
              </a:rPr>
              <a:t>Applying, Analysing</a:t>
            </a:r>
            <a:pPr>
              <a:lnSpc>
                <a:spcPct val="140000"/>
              </a:lnSpc>
            </a:pPr>
            <a:r>
              <a:rPr lang="en-US" sz="1105" dirty="0">
                <a:solidFill>
                  <a:srgbClr val="2D3436"/>
                </a:solidFill>
                <a:latin typeface="MiSans" pitchFamily="34" charset="0"/>
                <a:ea typeface="MiSans" pitchFamily="34" charset="-122"/>
                <a:cs typeface="MiSans" pitchFamily="34" charset="-120"/>
              </a:rPr>
              <a:t> — Using knowledge in new contexts and breaking information into component parts.</a:t>
            </a:r>
            <a:endParaRPr lang="en-US" sz="1600" dirty="0"/>
          </a:p>
        </p:txBody>
      </p:sp>
      <p:sp>
        <p:nvSpPr>
          <p:cNvPr id="33" name="Shape 31"/>
          <p:cNvSpPr/>
          <p:nvPr/>
        </p:nvSpPr>
        <p:spPr>
          <a:xfrm>
            <a:off x="8926181" y="4245272"/>
            <a:ext cx="157882" cy="210509"/>
          </a:xfrm>
          <a:custGeom>
            <a:avLst/>
            <a:gdLst/>
            <a:ahLst/>
            <a:cxnLst/>
            <a:rect l="l" t="t" r="r" b="b"/>
            <a:pathLst>
              <a:path w="157882" h="210509">
                <a:moveTo>
                  <a:pt x="69649" y="206645"/>
                </a:moveTo>
                <a:cubicBezTo>
                  <a:pt x="74788" y="211784"/>
                  <a:pt x="83135" y="211784"/>
                  <a:pt x="88274" y="206645"/>
                </a:cubicBezTo>
                <a:lnTo>
                  <a:pt x="154058" y="140860"/>
                </a:lnTo>
                <a:cubicBezTo>
                  <a:pt x="159198" y="135721"/>
                  <a:pt x="159198" y="127375"/>
                  <a:pt x="154058" y="122235"/>
                </a:cubicBezTo>
                <a:cubicBezTo>
                  <a:pt x="148919" y="117096"/>
                  <a:pt x="140573" y="117096"/>
                  <a:pt x="135433" y="122235"/>
                </a:cubicBezTo>
                <a:lnTo>
                  <a:pt x="92098" y="165571"/>
                </a:lnTo>
                <a:lnTo>
                  <a:pt x="92098" y="13157"/>
                </a:lnTo>
                <a:cubicBezTo>
                  <a:pt x="92098" y="5879"/>
                  <a:pt x="86218" y="0"/>
                  <a:pt x="78941" y="0"/>
                </a:cubicBezTo>
                <a:cubicBezTo>
                  <a:pt x="71664" y="0"/>
                  <a:pt x="65784" y="5879"/>
                  <a:pt x="65784" y="13157"/>
                </a:cubicBezTo>
                <a:lnTo>
                  <a:pt x="65784" y="165571"/>
                </a:lnTo>
                <a:lnTo>
                  <a:pt x="22449" y="122235"/>
                </a:lnTo>
                <a:cubicBezTo>
                  <a:pt x="17309" y="117096"/>
                  <a:pt x="8963" y="117096"/>
                  <a:pt x="3824" y="122235"/>
                </a:cubicBezTo>
                <a:cubicBezTo>
                  <a:pt x="-1316" y="127375"/>
                  <a:pt x="-1316" y="135721"/>
                  <a:pt x="3824" y="140860"/>
                </a:cubicBezTo>
                <a:lnTo>
                  <a:pt x="69608" y="206645"/>
                </a:lnTo>
                <a:close/>
              </a:path>
            </a:pathLst>
          </a:custGeom>
          <a:solidFill>
            <a:srgbClr val="C49A2C"/>
          </a:solidFill>
          <a:ln/>
        </p:spPr>
      </p:sp>
      <p:sp>
        <p:nvSpPr>
          <p:cNvPr id="34" name="Shape 32"/>
          <p:cNvSpPr/>
          <p:nvPr/>
        </p:nvSpPr>
        <p:spPr>
          <a:xfrm>
            <a:off x="6307533" y="4561036"/>
            <a:ext cx="5394302" cy="1052547"/>
          </a:xfrm>
          <a:custGeom>
            <a:avLst/>
            <a:gdLst/>
            <a:ahLst/>
            <a:cxnLst/>
            <a:rect l="l" t="t" r="r" b="b"/>
            <a:pathLst>
              <a:path w="5394302" h="1052547">
                <a:moveTo>
                  <a:pt x="0" y="0"/>
                </a:moveTo>
                <a:lnTo>
                  <a:pt x="5394302" y="0"/>
                </a:lnTo>
                <a:lnTo>
                  <a:pt x="5394302" y="1052547"/>
                </a:lnTo>
                <a:lnTo>
                  <a:pt x="0" y="1052547"/>
                </a:lnTo>
                <a:lnTo>
                  <a:pt x="0" y="0"/>
                </a:lnTo>
                <a:close/>
              </a:path>
            </a:pathLst>
          </a:custGeom>
          <a:solidFill>
            <a:srgbClr val="F8F9FA"/>
          </a:solidFill>
          <a:ln/>
        </p:spPr>
      </p:sp>
      <p:sp>
        <p:nvSpPr>
          <p:cNvPr id="35" name="Shape 33"/>
          <p:cNvSpPr/>
          <p:nvPr/>
        </p:nvSpPr>
        <p:spPr>
          <a:xfrm>
            <a:off x="6412788" y="4666291"/>
            <a:ext cx="350849" cy="350849"/>
          </a:xfrm>
          <a:custGeom>
            <a:avLst/>
            <a:gdLst/>
            <a:ahLst/>
            <a:cxnLst/>
            <a:rect l="l" t="t" r="r" b="b"/>
            <a:pathLst>
              <a:path w="350849" h="350849">
                <a:moveTo>
                  <a:pt x="0" y="0"/>
                </a:moveTo>
                <a:lnTo>
                  <a:pt x="350849" y="0"/>
                </a:lnTo>
                <a:lnTo>
                  <a:pt x="350849" y="350849"/>
                </a:lnTo>
                <a:lnTo>
                  <a:pt x="0" y="350849"/>
                </a:lnTo>
                <a:lnTo>
                  <a:pt x="0" y="0"/>
                </a:lnTo>
                <a:close/>
              </a:path>
            </a:pathLst>
          </a:custGeom>
          <a:solidFill>
            <a:srgbClr val="C49A2C"/>
          </a:solidFill>
          <a:ln/>
        </p:spPr>
      </p:sp>
      <p:sp>
        <p:nvSpPr>
          <p:cNvPr id="36" name="Text 34"/>
          <p:cNvSpPr/>
          <p:nvPr/>
        </p:nvSpPr>
        <p:spPr>
          <a:xfrm>
            <a:off x="6377703" y="4666291"/>
            <a:ext cx="421019" cy="350849"/>
          </a:xfrm>
          <a:prstGeom prst="rect">
            <a:avLst/>
          </a:prstGeom>
          <a:noFill/>
          <a:ln/>
        </p:spPr>
        <p:txBody>
          <a:bodyPr wrap="square" lIns="0" tIns="0" rIns="0" bIns="0" rtlCol="0" anchor="ctr"/>
          <a:lstStyle/>
          <a:p>
            <a:pPr algn="ctr">
              <a:lnSpc>
                <a:spcPct val="120000"/>
              </a:lnSpc>
            </a:pPr>
            <a:r>
              <a:rPr lang="en-US" sz="1105" b="1" dirty="0">
                <a:solidFill>
                  <a:srgbClr val="F8F9FA"/>
                </a:solidFill>
                <a:latin typeface="MiSans" pitchFamily="34" charset="0"/>
                <a:ea typeface="MiSans" pitchFamily="34" charset="-122"/>
                <a:cs typeface="MiSans" pitchFamily="34" charset="-120"/>
              </a:rPr>
              <a:t>L3</a:t>
            </a:r>
            <a:endParaRPr lang="en-US" sz="1600" dirty="0"/>
          </a:p>
        </p:txBody>
      </p:sp>
      <p:sp>
        <p:nvSpPr>
          <p:cNvPr id="37" name="Text 35"/>
          <p:cNvSpPr/>
          <p:nvPr/>
        </p:nvSpPr>
        <p:spPr>
          <a:xfrm>
            <a:off x="6868891" y="4718918"/>
            <a:ext cx="1868271" cy="245594"/>
          </a:xfrm>
          <a:prstGeom prst="rect">
            <a:avLst/>
          </a:prstGeom>
          <a:noFill/>
          <a:ln/>
        </p:spPr>
        <p:txBody>
          <a:bodyPr wrap="square" lIns="0" tIns="0" rIns="0" bIns="0" rtlCol="0" anchor="ctr"/>
          <a:lstStyle/>
          <a:p>
            <a:pPr>
              <a:lnSpc>
                <a:spcPct val="130000"/>
              </a:lnSpc>
            </a:pPr>
            <a:r>
              <a:rPr lang="en-US" sz="1243" b="1" dirty="0">
                <a:solidFill>
                  <a:srgbClr val="1E3A5F"/>
                </a:solidFill>
                <a:latin typeface="MiSans" pitchFamily="34" charset="0"/>
                <a:ea typeface="MiSans" pitchFamily="34" charset="-122"/>
                <a:cs typeface="MiSans" pitchFamily="34" charset="-120"/>
              </a:rPr>
              <a:t>Higher-Order Synthesis</a:t>
            </a:r>
            <a:endParaRPr lang="en-US" sz="1600" dirty="0"/>
          </a:p>
        </p:txBody>
      </p:sp>
      <p:sp>
        <p:nvSpPr>
          <p:cNvPr id="38" name="Text 36"/>
          <p:cNvSpPr/>
          <p:nvPr/>
        </p:nvSpPr>
        <p:spPr>
          <a:xfrm>
            <a:off x="6412788" y="5052224"/>
            <a:ext cx="5253963" cy="456104"/>
          </a:xfrm>
          <a:prstGeom prst="rect">
            <a:avLst/>
          </a:prstGeom>
          <a:noFill/>
          <a:ln/>
        </p:spPr>
        <p:txBody>
          <a:bodyPr wrap="square" lIns="0" tIns="0" rIns="0" bIns="0" rtlCol="0" anchor="ctr"/>
          <a:lstStyle/>
          <a:p>
            <a:pPr>
              <a:lnSpc>
                <a:spcPct val="140000"/>
              </a:lnSpc>
            </a:pPr>
            <a:r>
              <a:rPr lang="en-US" sz="1105" b="1" dirty="0">
                <a:solidFill>
                  <a:srgbClr val="2D3436"/>
                </a:solidFill>
                <a:latin typeface="MiSans" pitchFamily="34" charset="0"/>
                <a:ea typeface="MiSans" pitchFamily="34" charset="-122"/>
                <a:cs typeface="MiSans" pitchFamily="34" charset="-120"/>
              </a:rPr>
              <a:t>Evaluating, Creating</a:t>
            </a:r>
            <a:pPr>
              <a:lnSpc>
                <a:spcPct val="140000"/>
              </a:lnSpc>
            </a:pPr>
            <a:r>
              <a:rPr lang="en-US" sz="1105" dirty="0">
                <a:solidFill>
                  <a:srgbClr val="2D3436"/>
                </a:solidFill>
                <a:latin typeface="MiSans" pitchFamily="34" charset="0"/>
                <a:ea typeface="MiSans" pitchFamily="34" charset="-122"/>
                <a:cs typeface="MiSans" pitchFamily="34" charset="-120"/>
              </a:rPr>
              <a:t> — Making judgments and generating new ideas based on established knowledge.</a:t>
            </a:r>
            <a:endParaRPr lang="en-US" sz="1600" dirty="0"/>
          </a:p>
        </p:txBody>
      </p:sp>
      <p:sp>
        <p:nvSpPr>
          <p:cNvPr id="39" name="Shape 37"/>
          <p:cNvSpPr/>
          <p:nvPr/>
        </p:nvSpPr>
        <p:spPr>
          <a:xfrm>
            <a:off x="6184736" y="5894262"/>
            <a:ext cx="5657439" cy="964835"/>
          </a:xfrm>
          <a:custGeom>
            <a:avLst/>
            <a:gdLst/>
            <a:ahLst/>
            <a:cxnLst/>
            <a:rect l="l" t="t" r="r" b="b"/>
            <a:pathLst>
              <a:path w="5657439" h="964835">
                <a:moveTo>
                  <a:pt x="0" y="0"/>
                </a:moveTo>
                <a:lnTo>
                  <a:pt x="5657439" y="0"/>
                </a:lnTo>
                <a:lnTo>
                  <a:pt x="5657439" y="964835"/>
                </a:lnTo>
                <a:lnTo>
                  <a:pt x="0" y="964835"/>
                </a:lnTo>
                <a:lnTo>
                  <a:pt x="0" y="0"/>
                </a:lnTo>
                <a:close/>
              </a:path>
            </a:pathLst>
          </a:custGeom>
          <a:solidFill>
            <a:srgbClr val="C49A2C">
              <a:alpha val="10196"/>
            </a:srgbClr>
          </a:solidFill>
          <a:ln/>
        </p:spPr>
      </p:sp>
      <p:sp>
        <p:nvSpPr>
          <p:cNvPr id="40" name="Shape 38"/>
          <p:cNvSpPr/>
          <p:nvPr/>
        </p:nvSpPr>
        <p:spPr>
          <a:xfrm>
            <a:off x="6184736" y="5894262"/>
            <a:ext cx="35085" cy="964835"/>
          </a:xfrm>
          <a:custGeom>
            <a:avLst/>
            <a:gdLst/>
            <a:ahLst/>
            <a:cxnLst/>
            <a:rect l="l" t="t" r="r" b="b"/>
            <a:pathLst>
              <a:path w="35085" h="964835">
                <a:moveTo>
                  <a:pt x="0" y="0"/>
                </a:moveTo>
                <a:lnTo>
                  <a:pt x="35085" y="0"/>
                </a:lnTo>
                <a:lnTo>
                  <a:pt x="35085" y="964835"/>
                </a:lnTo>
                <a:lnTo>
                  <a:pt x="0" y="964835"/>
                </a:lnTo>
                <a:lnTo>
                  <a:pt x="0" y="0"/>
                </a:lnTo>
                <a:close/>
              </a:path>
            </a:pathLst>
          </a:custGeom>
          <a:solidFill>
            <a:srgbClr val="C49A2C"/>
          </a:solidFill>
          <a:ln/>
        </p:spPr>
      </p:sp>
      <p:sp>
        <p:nvSpPr>
          <p:cNvPr id="41" name="Shape 39"/>
          <p:cNvSpPr/>
          <p:nvPr/>
        </p:nvSpPr>
        <p:spPr>
          <a:xfrm>
            <a:off x="6360160" y="6082843"/>
            <a:ext cx="140340" cy="140340"/>
          </a:xfrm>
          <a:custGeom>
            <a:avLst/>
            <a:gdLst/>
            <a:ahLst/>
            <a:cxnLst/>
            <a:rect l="l" t="t" r="r" b="b"/>
            <a:pathLst>
              <a:path w="140340" h="140340">
                <a:moveTo>
                  <a:pt x="70170" y="140340"/>
                </a:moveTo>
                <a:cubicBezTo>
                  <a:pt x="108898" y="140340"/>
                  <a:pt x="140340" y="108898"/>
                  <a:pt x="140340" y="70170"/>
                </a:cubicBezTo>
                <a:cubicBezTo>
                  <a:pt x="140340" y="31442"/>
                  <a:pt x="108898" y="0"/>
                  <a:pt x="70170" y="0"/>
                </a:cubicBezTo>
                <a:cubicBezTo>
                  <a:pt x="31442" y="0"/>
                  <a:pt x="0" y="31442"/>
                  <a:pt x="0" y="70170"/>
                </a:cubicBezTo>
                <a:cubicBezTo>
                  <a:pt x="0" y="108898"/>
                  <a:pt x="31442" y="140340"/>
                  <a:pt x="70170" y="140340"/>
                </a:cubicBezTo>
                <a:close/>
                <a:moveTo>
                  <a:pt x="61399" y="43856"/>
                </a:moveTo>
                <a:cubicBezTo>
                  <a:pt x="61399" y="39015"/>
                  <a:pt x="65329" y="35085"/>
                  <a:pt x="70170" y="35085"/>
                </a:cubicBezTo>
                <a:cubicBezTo>
                  <a:pt x="75011" y="35085"/>
                  <a:pt x="78941" y="39015"/>
                  <a:pt x="78941" y="43856"/>
                </a:cubicBezTo>
                <a:cubicBezTo>
                  <a:pt x="78941" y="48697"/>
                  <a:pt x="75011" y="52627"/>
                  <a:pt x="70170" y="52627"/>
                </a:cubicBezTo>
                <a:cubicBezTo>
                  <a:pt x="65329" y="52627"/>
                  <a:pt x="61399" y="48697"/>
                  <a:pt x="61399" y="43856"/>
                </a:cubicBezTo>
                <a:close/>
                <a:moveTo>
                  <a:pt x="59206" y="61399"/>
                </a:moveTo>
                <a:lnTo>
                  <a:pt x="72363" y="61399"/>
                </a:lnTo>
                <a:cubicBezTo>
                  <a:pt x="76008" y="61399"/>
                  <a:pt x="78941" y="64331"/>
                  <a:pt x="78941" y="67977"/>
                </a:cubicBezTo>
                <a:lnTo>
                  <a:pt x="78941" y="92098"/>
                </a:lnTo>
                <a:lnTo>
                  <a:pt x="81134" y="92098"/>
                </a:lnTo>
                <a:cubicBezTo>
                  <a:pt x="84779" y="92098"/>
                  <a:pt x="87712" y="95031"/>
                  <a:pt x="87712" y="98676"/>
                </a:cubicBezTo>
                <a:cubicBezTo>
                  <a:pt x="87712" y="102322"/>
                  <a:pt x="84779" y="105255"/>
                  <a:pt x="81134" y="105255"/>
                </a:cubicBezTo>
                <a:lnTo>
                  <a:pt x="59206" y="105255"/>
                </a:lnTo>
                <a:cubicBezTo>
                  <a:pt x="55560" y="105255"/>
                  <a:pt x="52627" y="102322"/>
                  <a:pt x="52627" y="98676"/>
                </a:cubicBezTo>
                <a:cubicBezTo>
                  <a:pt x="52627" y="95031"/>
                  <a:pt x="55560" y="92098"/>
                  <a:pt x="59206" y="92098"/>
                </a:cubicBezTo>
                <a:lnTo>
                  <a:pt x="65784" y="92098"/>
                </a:lnTo>
                <a:lnTo>
                  <a:pt x="65784" y="74555"/>
                </a:lnTo>
                <a:lnTo>
                  <a:pt x="59206" y="74555"/>
                </a:lnTo>
                <a:cubicBezTo>
                  <a:pt x="55560" y="74555"/>
                  <a:pt x="52627" y="71623"/>
                  <a:pt x="52627" y="67977"/>
                </a:cubicBezTo>
                <a:cubicBezTo>
                  <a:pt x="52627" y="64331"/>
                  <a:pt x="55560" y="61399"/>
                  <a:pt x="59206" y="61399"/>
                </a:cubicBezTo>
                <a:close/>
              </a:path>
            </a:pathLst>
          </a:custGeom>
          <a:solidFill>
            <a:srgbClr val="C49A2C"/>
          </a:solidFill>
          <a:ln/>
        </p:spPr>
      </p:sp>
      <p:sp>
        <p:nvSpPr>
          <p:cNvPr id="42" name="Text 40"/>
          <p:cNvSpPr/>
          <p:nvPr/>
        </p:nvSpPr>
        <p:spPr>
          <a:xfrm>
            <a:off x="6566505" y="6034601"/>
            <a:ext cx="5205500" cy="684155"/>
          </a:xfrm>
          <a:prstGeom prst="rect">
            <a:avLst/>
          </a:prstGeom>
          <a:noFill/>
          <a:ln/>
        </p:spPr>
        <p:txBody>
          <a:bodyPr wrap="square" lIns="0" tIns="0" rIns="0" bIns="0" rtlCol="0" anchor="ctr"/>
          <a:lstStyle/>
          <a:p>
            <a:pPr>
              <a:lnSpc>
                <a:spcPct val="140000"/>
              </a:lnSpc>
            </a:pPr>
            <a:r>
              <a:rPr lang="en-US" sz="1105" b="1" dirty="0">
                <a:solidFill>
                  <a:srgbClr val="1E3A5F"/>
                </a:solidFill>
                <a:latin typeface="MiSans" pitchFamily="34" charset="0"/>
                <a:ea typeface="MiSans" pitchFamily="34" charset="-122"/>
                <a:cs typeface="MiSans" pitchFamily="34" charset="-120"/>
              </a:rPr>
              <a:t>Audit Relevance:</a:t>
            </a:r>
            <a:pPr>
              <a:lnSpc>
                <a:spcPct val="140000"/>
              </a:lnSpc>
            </a:pPr>
            <a:r>
              <a:rPr lang="en-US" sz="1105" dirty="0">
                <a:solidFill>
                  <a:srgbClr val="1E3A5F"/>
                </a:solidFill>
                <a:latin typeface="MiSans" pitchFamily="34" charset="0"/>
                <a:ea typeface="MiSans" pitchFamily="34" charset="-122"/>
                <a:cs typeface="MiSans" pitchFamily="34" charset="-120"/>
              </a:rPr>
              <a:t> The MPI's curriculum sequencing documentation makes explicit reference to taxonomy levels for every unit, and the annual audit reviews whether this reference is substantive or cosmetic.</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57275" y="357275"/>
            <a:ext cx="71455" cy="428730"/>
          </a:xfrm>
          <a:custGeom>
            <a:avLst/>
            <a:gdLst/>
            <a:ahLst/>
            <a:cxnLst/>
            <a:rect l="l" t="t" r="r" b="b"/>
            <a:pathLst>
              <a:path w="71455" h="428730">
                <a:moveTo>
                  <a:pt x="0" y="0"/>
                </a:moveTo>
                <a:lnTo>
                  <a:pt x="71455" y="0"/>
                </a:lnTo>
                <a:lnTo>
                  <a:pt x="71455" y="428730"/>
                </a:lnTo>
                <a:lnTo>
                  <a:pt x="0" y="428730"/>
                </a:lnTo>
                <a:lnTo>
                  <a:pt x="0" y="0"/>
                </a:lnTo>
                <a:close/>
              </a:path>
            </a:pathLst>
          </a:custGeom>
          <a:solidFill>
            <a:srgbClr val="1E3A5F"/>
          </a:solidFill>
          <a:ln/>
        </p:spPr>
      </p:sp>
      <p:sp>
        <p:nvSpPr>
          <p:cNvPr id="3" name="Text 1"/>
          <p:cNvSpPr/>
          <p:nvPr/>
        </p:nvSpPr>
        <p:spPr>
          <a:xfrm>
            <a:off x="535912" y="410866"/>
            <a:ext cx="8047613" cy="321547"/>
          </a:xfrm>
          <a:prstGeom prst="rect">
            <a:avLst/>
          </a:prstGeom>
          <a:noFill/>
          <a:ln/>
        </p:spPr>
        <p:txBody>
          <a:bodyPr wrap="square" lIns="0" tIns="0" rIns="0" bIns="0" rtlCol="0" anchor="ctr"/>
          <a:lstStyle/>
          <a:p>
            <a:pPr>
              <a:lnSpc>
                <a:spcPct val="100000"/>
              </a:lnSpc>
            </a:pPr>
            <a:r>
              <a:rPr lang="en-US" sz="2110" b="1" dirty="0">
                <a:solidFill>
                  <a:srgbClr val="1E3A5F"/>
                </a:solidFill>
                <a:latin typeface="MiSans" pitchFamily="34" charset="0"/>
                <a:ea typeface="MiSans" pitchFamily="34" charset="-122"/>
                <a:cs typeface="MiSans" pitchFamily="34" charset="-120"/>
              </a:rPr>
              <a:t>Hattie's Visible Learning: A Synthesis of Educational Research</a:t>
            </a:r>
            <a:endParaRPr lang="en-US" sz="1600" dirty="0"/>
          </a:p>
        </p:txBody>
      </p:sp>
      <p:sp>
        <p:nvSpPr>
          <p:cNvPr id="4" name="Text 2"/>
          <p:cNvSpPr/>
          <p:nvPr/>
        </p:nvSpPr>
        <p:spPr>
          <a:xfrm>
            <a:off x="535912" y="857459"/>
            <a:ext cx="11370268" cy="214365"/>
          </a:xfrm>
          <a:prstGeom prst="rect">
            <a:avLst/>
          </a:prstGeom>
          <a:noFill/>
          <a:ln/>
        </p:spPr>
        <p:txBody>
          <a:bodyPr wrap="square" lIns="0" tIns="0" rIns="0" bIns="0" rtlCol="0" anchor="ctr"/>
          <a:lstStyle/>
          <a:p>
            <a:pPr>
              <a:lnSpc>
                <a:spcPct val="120000"/>
              </a:lnSpc>
            </a:pPr>
            <a:r>
              <a:rPr lang="en-US" sz="1125" dirty="0">
                <a:solidFill>
                  <a:srgbClr val="6C757D"/>
                </a:solidFill>
                <a:latin typeface="MiSans" pitchFamily="34" charset="0"/>
                <a:ea typeface="MiSans" pitchFamily="34" charset="-122"/>
                <a:cs typeface="MiSans" pitchFamily="34" charset="-120"/>
              </a:rPr>
              <a:t>John Hattie (2009) | The most comprehensive meta-analytic synthesis ever conducted</a:t>
            </a:r>
            <a:endParaRPr lang="en-US" sz="1600" dirty="0"/>
          </a:p>
        </p:txBody>
      </p:sp>
      <p:sp>
        <p:nvSpPr>
          <p:cNvPr id="5" name="Shape 3"/>
          <p:cNvSpPr/>
          <p:nvPr/>
        </p:nvSpPr>
        <p:spPr>
          <a:xfrm>
            <a:off x="357275" y="1232598"/>
            <a:ext cx="6832879" cy="2661697"/>
          </a:xfrm>
          <a:custGeom>
            <a:avLst/>
            <a:gdLst/>
            <a:ahLst/>
            <a:cxnLst/>
            <a:rect l="l" t="t" r="r" b="b"/>
            <a:pathLst>
              <a:path w="6832879" h="2661697">
                <a:moveTo>
                  <a:pt x="0" y="0"/>
                </a:moveTo>
                <a:lnTo>
                  <a:pt x="6832879" y="0"/>
                </a:lnTo>
                <a:lnTo>
                  <a:pt x="6832879" y="2661697"/>
                </a:lnTo>
                <a:lnTo>
                  <a:pt x="0" y="2661697"/>
                </a:lnTo>
                <a:lnTo>
                  <a:pt x="0" y="0"/>
                </a:lnTo>
                <a:close/>
              </a:path>
            </a:pathLst>
          </a:custGeom>
          <a:solidFill>
            <a:srgbClr val="FFFFFF"/>
          </a:solidFill>
          <a:ln/>
        </p:spPr>
      </p:sp>
      <p:sp>
        <p:nvSpPr>
          <p:cNvPr id="6" name="Shape 4"/>
          <p:cNvSpPr/>
          <p:nvPr/>
        </p:nvSpPr>
        <p:spPr>
          <a:xfrm>
            <a:off x="357275" y="1232598"/>
            <a:ext cx="6832879" cy="35727"/>
          </a:xfrm>
          <a:custGeom>
            <a:avLst/>
            <a:gdLst/>
            <a:ahLst/>
            <a:cxnLst/>
            <a:rect l="l" t="t" r="r" b="b"/>
            <a:pathLst>
              <a:path w="6832879" h="35727">
                <a:moveTo>
                  <a:pt x="0" y="0"/>
                </a:moveTo>
                <a:lnTo>
                  <a:pt x="6832879" y="0"/>
                </a:lnTo>
                <a:lnTo>
                  <a:pt x="6832879" y="35727"/>
                </a:lnTo>
                <a:lnTo>
                  <a:pt x="0" y="35727"/>
                </a:lnTo>
                <a:lnTo>
                  <a:pt x="0" y="0"/>
                </a:lnTo>
                <a:close/>
              </a:path>
            </a:pathLst>
          </a:custGeom>
          <a:solidFill>
            <a:srgbClr val="1E3A5F"/>
          </a:solidFill>
          <a:ln/>
        </p:spPr>
      </p:sp>
      <p:sp>
        <p:nvSpPr>
          <p:cNvPr id="7" name="Text 5"/>
          <p:cNvSpPr/>
          <p:nvPr/>
        </p:nvSpPr>
        <p:spPr>
          <a:xfrm>
            <a:off x="535912" y="1429099"/>
            <a:ext cx="6564923" cy="250092"/>
          </a:xfrm>
          <a:prstGeom prst="rect">
            <a:avLst/>
          </a:prstGeom>
          <a:noFill/>
          <a:ln/>
        </p:spPr>
        <p:txBody>
          <a:bodyPr wrap="square" lIns="0" tIns="0" rIns="0" bIns="0" rtlCol="0" anchor="ctr"/>
          <a:lstStyle/>
          <a:p>
            <a:pPr>
              <a:lnSpc>
                <a:spcPct val="120000"/>
              </a:lnSpc>
            </a:pPr>
            <a:r>
              <a:rPr lang="en-US" sz="1407" b="1" dirty="0">
                <a:solidFill>
                  <a:srgbClr val="1E3A5F"/>
                </a:solidFill>
                <a:latin typeface="MiSans" pitchFamily="34" charset="0"/>
                <a:ea typeface="MiSans" pitchFamily="34" charset="-122"/>
                <a:cs typeface="MiSans" pitchFamily="34" charset="-120"/>
              </a:rPr>
              <a:t>The Scale of the Synthesis</a:t>
            </a:r>
            <a:endParaRPr lang="en-US" sz="1600" dirty="0"/>
          </a:p>
        </p:txBody>
      </p:sp>
      <p:sp>
        <p:nvSpPr>
          <p:cNvPr id="8" name="Text 6"/>
          <p:cNvSpPr/>
          <p:nvPr/>
        </p:nvSpPr>
        <p:spPr>
          <a:xfrm>
            <a:off x="535912" y="1786374"/>
            <a:ext cx="6547059" cy="464457"/>
          </a:xfrm>
          <a:prstGeom prst="rect">
            <a:avLst/>
          </a:prstGeom>
          <a:noFill/>
          <a:ln/>
        </p:spPr>
        <p:txBody>
          <a:bodyPr wrap="square" lIns="0" tIns="0" rIns="0" bIns="0" rtlCol="0" anchor="ctr"/>
          <a:lstStyle/>
          <a:p>
            <a:pPr>
              <a:lnSpc>
                <a:spcPct val="140000"/>
              </a:lnSpc>
            </a:pPr>
            <a:r>
              <a:rPr lang="en-US" sz="1125" dirty="0">
                <a:solidFill>
                  <a:srgbClr val="2D3436"/>
                </a:solidFill>
                <a:latin typeface="MiSans" pitchFamily="34" charset="0"/>
                <a:ea typeface="MiSans" pitchFamily="34" charset="-122"/>
                <a:cs typeface="MiSans" pitchFamily="34" charset="-120"/>
              </a:rPr>
              <a:t>John Hattie's </a:t>
            </a:r>
            <a:pPr>
              <a:lnSpc>
                <a:spcPct val="140000"/>
              </a:lnSpc>
            </a:pPr>
            <a:r>
              <a:rPr lang="en-US" sz="1125" b="1" dirty="0">
                <a:solidFill>
                  <a:srgbClr val="2D3436"/>
                </a:solidFill>
                <a:latin typeface="MiSans" pitchFamily="34" charset="0"/>
                <a:ea typeface="MiSans" pitchFamily="34" charset="-122"/>
                <a:cs typeface="MiSans" pitchFamily="34" charset="-120"/>
              </a:rPr>
              <a:t>Visible Learning</a:t>
            </a:r>
            <a:pPr>
              <a:lnSpc>
                <a:spcPct val="140000"/>
              </a:lnSpc>
            </a:pPr>
            <a:r>
              <a:rPr lang="en-US" sz="1125" dirty="0">
                <a:solidFill>
                  <a:srgbClr val="2D3436"/>
                </a:solidFill>
                <a:latin typeface="MiSans" pitchFamily="34" charset="0"/>
                <a:ea typeface="MiSans" pitchFamily="34" charset="-122"/>
                <a:cs typeface="MiSans" pitchFamily="34" charset="-120"/>
              </a:rPr>
              <a:t> (2009) represents the most comprehensive meta-analytic synthesis of educational research ever conducted. Drawing on:</a:t>
            </a:r>
            <a:endParaRPr lang="en-US" sz="1600" dirty="0"/>
          </a:p>
        </p:txBody>
      </p:sp>
      <p:sp>
        <p:nvSpPr>
          <p:cNvPr id="9" name="Shape 7"/>
          <p:cNvSpPr/>
          <p:nvPr/>
        </p:nvSpPr>
        <p:spPr>
          <a:xfrm>
            <a:off x="535912" y="2393741"/>
            <a:ext cx="2090057" cy="714549"/>
          </a:xfrm>
          <a:custGeom>
            <a:avLst/>
            <a:gdLst/>
            <a:ahLst/>
            <a:cxnLst/>
            <a:rect l="l" t="t" r="r" b="b"/>
            <a:pathLst>
              <a:path w="2090057" h="714549">
                <a:moveTo>
                  <a:pt x="0" y="0"/>
                </a:moveTo>
                <a:lnTo>
                  <a:pt x="2090057" y="0"/>
                </a:lnTo>
                <a:lnTo>
                  <a:pt x="2090057" y="714549"/>
                </a:lnTo>
                <a:lnTo>
                  <a:pt x="0" y="714549"/>
                </a:lnTo>
                <a:lnTo>
                  <a:pt x="0" y="0"/>
                </a:lnTo>
                <a:close/>
              </a:path>
            </a:pathLst>
          </a:custGeom>
          <a:solidFill>
            <a:srgbClr val="1E3A5F"/>
          </a:solidFill>
          <a:ln/>
        </p:spPr>
      </p:sp>
      <p:sp>
        <p:nvSpPr>
          <p:cNvPr id="10" name="Text 8"/>
          <p:cNvSpPr/>
          <p:nvPr/>
        </p:nvSpPr>
        <p:spPr>
          <a:xfrm>
            <a:off x="576105" y="2500923"/>
            <a:ext cx="2009670" cy="321547"/>
          </a:xfrm>
          <a:prstGeom prst="rect">
            <a:avLst/>
          </a:prstGeom>
          <a:noFill/>
          <a:ln/>
        </p:spPr>
        <p:txBody>
          <a:bodyPr wrap="square" lIns="0" tIns="0" rIns="0" bIns="0" rtlCol="0" anchor="ctr"/>
          <a:lstStyle/>
          <a:p>
            <a:pPr algn="ctr">
              <a:lnSpc>
                <a:spcPct val="100000"/>
              </a:lnSpc>
            </a:pPr>
            <a:r>
              <a:rPr lang="en-US" sz="2110" b="1" dirty="0">
                <a:solidFill>
                  <a:srgbClr val="F8F9FA"/>
                </a:solidFill>
                <a:latin typeface="MiSans" pitchFamily="34" charset="0"/>
                <a:ea typeface="MiSans" pitchFamily="34" charset="-122"/>
                <a:cs typeface="MiSans" pitchFamily="34" charset="-120"/>
              </a:rPr>
              <a:t>800+</a:t>
            </a:r>
            <a:endParaRPr lang="en-US" sz="1600" dirty="0"/>
          </a:p>
        </p:txBody>
      </p:sp>
      <p:sp>
        <p:nvSpPr>
          <p:cNvPr id="11" name="Text 9"/>
          <p:cNvSpPr/>
          <p:nvPr/>
        </p:nvSpPr>
        <p:spPr>
          <a:xfrm>
            <a:off x="611833" y="2822470"/>
            <a:ext cx="1938215" cy="178637"/>
          </a:xfrm>
          <a:prstGeom prst="rect">
            <a:avLst/>
          </a:prstGeom>
          <a:noFill/>
          <a:ln/>
        </p:spPr>
        <p:txBody>
          <a:bodyPr wrap="square" lIns="0" tIns="0" rIns="0" bIns="0" rtlCol="0" anchor="ctr"/>
          <a:lstStyle/>
          <a:p>
            <a:pPr algn="ctr">
              <a:lnSpc>
                <a:spcPct val="120000"/>
              </a:lnSpc>
            </a:pPr>
            <a:r>
              <a:rPr lang="en-US" sz="985" dirty="0">
                <a:solidFill>
                  <a:srgbClr val="F8F9FA"/>
                </a:solidFill>
                <a:latin typeface="MiSans" pitchFamily="34" charset="0"/>
                <a:ea typeface="MiSans" pitchFamily="34" charset="-122"/>
                <a:cs typeface="MiSans" pitchFamily="34" charset="-120"/>
              </a:rPr>
              <a:t>Meta-analyses</a:t>
            </a:r>
            <a:endParaRPr lang="en-US" sz="1600" dirty="0"/>
          </a:p>
        </p:txBody>
      </p:sp>
      <p:sp>
        <p:nvSpPr>
          <p:cNvPr id="12" name="Shape 10"/>
          <p:cNvSpPr/>
          <p:nvPr/>
        </p:nvSpPr>
        <p:spPr>
          <a:xfrm>
            <a:off x="2729579" y="2393741"/>
            <a:ext cx="2090057" cy="714549"/>
          </a:xfrm>
          <a:custGeom>
            <a:avLst/>
            <a:gdLst/>
            <a:ahLst/>
            <a:cxnLst/>
            <a:rect l="l" t="t" r="r" b="b"/>
            <a:pathLst>
              <a:path w="2090057" h="714549">
                <a:moveTo>
                  <a:pt x="0" y="0"/>
                </a:moveTo>
                <a:lnTo>
                  <a:pt x="2090057" y="0"/>
                </a:lnTo>
                <a:lnTo>
                  <a:pt x="2090057" y="714549"/>
                </a:lnTo>
                <a:lnTo>
                  <a:pt x="0" y="714549"/>
                </a:lnTo>
                <a:lnTo>
                  <a:pt x="0" y="0"/>
                </a:lnTo>
                <a:close/>
              </a:path>
            </a:pathLst>
          </a:custGeom>
          <a:solidFill>
            <a:srgbClr val="C49A2C"/>
          </a:solidFill>
          <a:ln/>
        </p:spPr>
      </p:sp>
      <p:sp>
        <p:nvSpPr>
          <p:cNvPr id="13" name="Text 11"/>
          <p:cNvSpPr/>
          <p:nvPr/>
        </p:nvSpPr>
        <p:spPr>
          <a:xfrm>
            <a:off x="2769772" y="2500923"/>
            <a:ext cx="2009670" cy="321547"/>
          </a:xfrm>
          <a:prstGeom prst="rect">
            <a:avLst/>
          </a:prstGeom>
          <a:noFill/>
          <a:ln/>
        </p:spPr>
        <p:txBody>
          <a:bodyPr wrap="square" lIns="0" tIns="0" rIns="0" bIns="0" rtlCol="0" anchor="ctr"/>
          <a:lstStyle/>
          <a:p>
            <a:pPr algn="ctr">
              <a:lnSpc>
                <a:spcPct val="100000"/>
              </a:lnSpc>
            </a:pPr>
            <a:r>
              <a:rPr lang="en-US" sz="2110" b="1" dirty="0">
                <a:solidFill>
                  <a:srgbClr val="F8F9FA"/>
                </a:solidFill>
                <a:latin typeface="MiSans" pitchFamily="34" charset="0"/>
                <a:ea typeface="MiSans" pitchFamily="34" charset="-122"/>
                <a:cs typeface="MiSans" pitchFamily="34" charset="-120"/>
              </a:rPr>
              <a:t>250M</a:t>
            </a:r>
            <a:endParaRPr lang="en-US" sz="1600" dirty="0"/>
          </a:p>
        </p:txBody>
      </p:sp>
      <p:sp>
        <p:nvSpPr>
          <p:cNvPr id="14" name="Text 12"/>
          <p:cNvSpPr/>
          <p:nvPr/>
        </p:nvSpPr>
        <p:spPr>
          <a:xfrm>
            <a:off x="2805500" y="2822470"/>
            <a:ext cx="1938215" cy="178637"/>
          </a:xfrm>
          <a:prstGeom prst="rect">
            <a:avLst/>
          </a:prstGeom>
          <a:noFill/>
          <a:ln/>
        </p:spPr>
        <p:txBody>
          <a:bodyPr wrap="square" lIns="0" tIns="0" rIns="0" bIns="0" rtlCol="0" anchor="ctr"/>
          <a:lstStyle/>
          <a:p>
            <a:pPr algn="ctr">
              <a:lnSpc>
                <a:spcPct val="120000"/>
              </a:lnSpc>
            </a:pPr>
            <a:r>
              <a:rPr lang="en-US" sz="985" dirty="0">
                <a:solidFill>
                  <a:srgbClr val="F8F9FA"/>
                </a:solidFill>
                <a:latin typeface="MiSans" pitchFamily="34" charset="0"/>
                <a:ea typeface="MiSans" pitchFamily="34" charset="-122"/>
                <a:cs typeface="MiSans" pitchFamily="34" charset="-120"/>
              </a:rPr>
              <a:t>Students</a:t>
            </a:r>
            <a:endParaRPr lang="en-US" sz="1600" dirty="0"/>
          </a:p>
        </p:txBody>
      </p:sp>
      <p:sp>
        <p:nvSpPr>
          <p:cNvPr id="15" name="Shape 13"/>
          <p:cNvSpPr/>
          <p:nvPr/>
        </p:nvSpPr>
        <p:spPr>
          <a:xfrm>
            <a:off x="4923246" y="2393741"/>
            <a:ext cx="2090057" cy="714549"/>
          </a:xfrm>
          <a:custGeom>
            <a:avLst/>
            <a:gdLst/>
            <a:ahLst/>
            <a:cxnLst/>
            <a:rect l="l" t="t" r="r" b="b"/>
            <a:pathLst>
              <a:path w="2090057" h="714549">
                <a:moveTo>
                  <a:pt x="0" y="0"/>
                </a:moveTo>
                <a:lnTo>
                  <a:pt x="2090057" y="0"/>
                </a:lnTo>
                <a:lnTo>
                  <a:pt x="2090057" y="714549"/>
                </a:lnTo>
                <a:lnTo>
                  <a:pt x="0" y="714549"/>
                </a:lnTo>
                <a:lnTo>
                  <a:pt x="0" y="0"/>
                </a:lnTo>
                <a:close/>
              </a:path>
            </a:pathLst>
          </a:custGeom>
          <a:solidFill>
            <a:srgbClr val="1E3A5F"/>
          </a:solidFill>
          <a:ln/>
        </p:spPr>
      </p:sp>
      <p:sp>
        <p:nvSpPr>
          <p:cNvPr id="16" name="Text 14"/>
          <p:cNvSpPr/>
          <p:nvPr/>
        </p:nvSpPr>
        <p:spPr>
          <a:xfrm>
            <a:off x="4963439" y="2500923"/>
            <a:ext cx="2009670" cy="321547"/>
          </a:xfrm>
          <a:prstGeom prst="rect">
            <a:avLst/>
          </a:prstGeom>
          <a:noFill/>
          <a:ln/>
        </p:spPr>
        <p:txBody>
          <a:bodyPr wrap="square" lIns="0" tIns="0" rIns="0" bIns="0" rtlCol="0" anchor="ctr"/>
          <a:lstStyle/>
          <a:p>
            <a:pPr algn="ctr">
              <a:lnSpc>
                <a:spcPct val="100000"/>
              </a:lnSpc>
            </a:pPr>
            <a:r>
              <a:rPr lang="en-US" sz="2110" b="1" dirty="0">
                <a:solidFill>
                  <a:srgbClr val="F8F9FA"/>
                </a:solidFill>
                <a:latin typeface="MiSans" pitchFamily="34" charset="0"/>
                <a:ea typeface="MiSans" pitchFamily="34" charset="-122"/>
                <a:cs typeface="MiSans" pitchFamily="34" charset="-120"/>
              </a:rPr>
              <a:t>138</a:t>
            </a:r>
            <a:endParaRPr lang="en-US" sz="1600" dirty="0"/>
          </a:p>
        </p:txBody>
      </p:sp>
      <p:sp>
        <p:nvSpPr>
          <p:cNvPr id="17" name="Text 15"/>
          <p:cNvSpPr/>
          <p:nvPr/>
        </p:nvSpPr>
        <p:spPr>
          <a:xfrm>
            <a:off x="4999167" y="2822470"/>
            <a:ext cx="1938215" cy="178637"/>
          </a:xfrm>
          <a:prstGeom prst="rect">
            <a:avLst/>
          </a:prstGeom>
          <a:noFill/>
          <a:ln/>
        </p:spPr>
        <p:txBody>
          <a:bodyPr wrap="square" lIns="0" tIns="0" rIns="0" bIns="0" rtlCol="0" anchor="ctr"/>
          <a:lstStyle/>
          <a:p>
            <a:pPr algn="ctr">
              <a:lnSpc>
                <a:spcPct val="120000"/>
              </a:lnSpc>
            </a:pPr>
            <a:r>
              <a:rPr lang="en-US" sz="985" dirty="0">
                <a:solidFill>
                  <a:srgbClr val="F8F9FA"/>
                </a:solidFill>
                <a:latin typeface="MiSans" pitchFamily="34" charset="0"/>
                <a:ea typeface="MiSans" pitchFamily="34" charset="-122"/>
                <a:cs typeface="MiSans" pitchFamily="34" charset="-120"/>
              </a:rPr>
              <a:t>Influences</a:t>
            </a:r>
            <a:endParaRPr lang="en-US" sz="1600" dirty="0"/>
          </a:p>
        </p:txBody>
      </p:sp>
      <p:sp>
        <p:nvSpPr>
          <p:cNvPr id="18" name="Text 16"/>
          <p:cNvSpPr/>
          <p:nvPr/>
        </p:nvSpPr>
        <p:spPr>
          <a:xfrm>
            <a:off x="535912" y="3251200"/>
            <a:ext cx="6547059" cy="464457"/>
          </a:xfrm>
          <a:prstGeom prst="rect">
            <a:avLst/>
          </a:prstGeom>
          <a:noFill/>
          <a:ln/>
        </p:spPr>
        <p:txBody>
          <a:bodyPr wrap="square" lIns="0" tIns="0" rIns="0" bIns="0" rtlCol="0" anchor="ctr"/>
          <a:lstStyle/>
          <a:p>
            <a:pPr>
              <a:lnSpc>
                <a:spcPct val="140000"/>
              </a:lnSpc>
            </a:pPr>
            <a:r>
              <a:rPr lang="en-US" sz="1125" dirty="0">
                <a:solidFill>
                  <a:srgbClr val="2D3436"/>
                </a:solidFill>
                <a:latin typeface="MiSans" pitchFamily="34" charset="0"/>
                <a:ea typeface="MiSans" pitchFamily="34" charset="-122"/>
                <a:cs typeface="MiSans" pitchFamily="34" charset="-120"/>
              </a:rPr>
              <a:t>Hattie calculated </a:t>
            </a:r>
            <a:pPr>
              <a:lnSpc>
                <a:spcPct val="140000"/>
              </a:lnSpc>
            </a:pPr>
            <a:r>
              <a:rPr lang="en-US" sz="1125" b="1" dirty="0">
                <a:solidFill>
                  <a:srgbClr val="2D3436"/>
                </a:solidFill>
                <a:latin typeface="MiSans" pitchFamily="34" charset="0"/>
                <a:ea typeface="MiSans" pitchFamily="34" charset="-122"/>
                <a:cs typeface="MiSans" pitchFamily="34" charset="-120"/>
              </a:rPr>
              <a:t>effect sizes</a:t>
            </a:r>
            <a:pPr>
              <a:lnSpc>
                <a:spcPct val="140000"/>
              </a:lnSpc>
            </a:pPr>
            <a:r>
              <a:rPr lang="en-US" sz="1125" dirty="0">
                <a:solidFill>
                  <a:srgbClr val="2D3436"/>
                </a:solidFill>
                <a:latin typeface="MiSans" pitchFamily="34" charset="0"/>
                <a:ea typeface="MiSans" pitchFamily="34" charset="-122"/>
                <a:cs typeface="MiSans" pitchFamily="34" charset="-120"/>
              </a:rPr>
              <a:t> for 138 influences on student achievement, ranging from individual pupil characteristics to school-level interventions to teaching strategies.</a:t>
            </a:r>
            <a:endParaRPr lang="en-US" sz="1600" dirty="0"/>
          </a:p>
        </p:txBody>
      </p:sp>
      <p:sp>
        <p:nvSpPr>
          <p:cNvPr id="19" name="Shape 17"/>
          <p:cNvSpPr/>
          <p:nvPr/>
        </p:nvSpPr>
        <p:spPr>
          <a:xfrm>
            <a:off x="357275" y="4037204"/>
            <a:ext cx="6832879" cy="2536651"/>
          </a:xfrm>
          <a:custGeom>
            <a:avLst/>
            <a:gdLst/>
            <a:ahLst/>
            <a:cxnLst/>
            <a:rect l="l" t="t" r="r" b="b"/>
            <a:pathLst>
              <a:path w="6832879" h="2536651">
                <a:moveTo>
                  <a:pt x="0" y="0"/>
                </a:moveTo>
                <a:lnTo>
                  <a:pt x="6832879" y="0"/>
                </a:lnTo>
                <a:lnTo>
                  <a:pt x="6832879" y="2536651"/>
                </a:lnTo>
                <a:lnTo>
                  <a:pt x="0" y="2536651"/>
                </a:lnTo>
                <a:lnTo>
                  <a:pt x="0" y="0"/>
                </a:lnTo>
                <a:close/>
              </a:path>
            </a:pathLst>
          </a:custGeom>
          <a:solidFill>
            <a:srgbClr val="1E3A5F"/>
          </a:solidFill>
          <a:ln/>
        </p:spPr>
      </p:sp>
      <p:sp>
        <p:nvSpPr>
          <p:cNvPr id="20" name="Text 18"/>
          <p:cNvSpPr/>
          <p:nvPr/>
        </p:nvSpPr>
        <p:spPr>
          <a:xfrm>
            <a:off x="535912" y="4215842"/>
            <a:ext cx="6564923" cy="250092"/>
          </a:xfrm>
          <a:prstGeom prst="rect">
            <a:avLst/>
          </a:prstGeom>
          <a:noFill/>
          <a:ln/>
        </p:spPr>
        <p:txBody>
          <a:bodyPr wrap="square" lIns="0" tIns="0" rIns="0" bIns="0" rtlCol="0" anchor="ctr"/>
          <a:lstStyle/>
          <a:p>
            <a:pPr>
              <a:lnSpc>
                <a:spcPct val="120000"/>
              </a:lnSpc>
            </a:pPr>
            <a:r>
              <a:rPr lang="en-US" sz="1407" b="1" dirty="0">
                <a:solidFill>
                  <a:srgbClr val="F8F9FA"/>
                </a:solidFill>
                <a:latin typeface="MiSans" pitchFamily="34" charset="0"/>
                <a:ea typeface="MiSans" pitchFamily="34" charset="-122"/>
                <a:cs typeface="MiSans" pitchFamily="34" charset="-120"/>
              </a:rPr>
              <a:t>The 0.4 Hinge Point</a:t>
            </a:r>
            <a:endParaRPr lang="en-US" sz="1600" dirty="0"/>
          </a:p>
        </p:txBody>
      </p:sp>
      <p:sp>
        <p:nvSpPr>
          <p:cNvPr id="21" name="Text 19"/>
          <p:cNvSpPr/>
          <p:nvPr/>
        </p:nvSpPr>
        <p:spPr>
          <a:xfrm>
            <a:off x="535912" y="4573116"/>
            <a:ext cx="6547059" cy="464457"/>
          </a:xfrm>
          <a:prstGeom prst="rect">
            <a:avLst/>
          </a:prstGeom>
          <a:noFill/>
          <a:ln/>
        </p:spPr>
        <p:txBody>
          <a:bodyPr wrap="square" lIns="0" tIns="0" rIns="0" bIns="0" rtlCol="0" anchor="ctr"/>
          <a:lstStyle/>
          <a:p>
            <a:pPr>
              <a:lnSpc>
                <a:spcPct val="140000"/>
              </a:lnSpc>
            </a:pPr>
            <a:r>
              <a:rPr lang="en-US" sz="1125" dirty="0">
                <a:solidFill>
                  <a:srgbClr val="F8F9FA"/>
                </a:solidFill>
                <a:latin typeface="MiSans" pitchFamily="34" charset="0"/>
                <a:ea typeface="MiSans" pitchFamily="34" charset="-122"/>
                <a:cs typeface="MiSans" pitchFamily="34" charset="-120"/>
              </a:rPr>
              <a:t>Hattie's central finding — that the average effect size of all identifiable influences is approximately </a:t>
            </a:r>
            <a:pPr>
              <a:lnSpc>
                <a:spcPct val="140000"/>
              </a:lnSpc>
            </a:pPr>
            <a:r>
              <a:rPr lang="en-US" sz="1125" b="1" dirty="0">
                <a:solidFill>
                  <a:srgbClr val="F8F9FA"/>
                </a:solidFill>
                <a:latin typeface="MiSans" pitchFamily="34" charset="0"/>
                <a:ea typeface="MiSans" pitchFamily="34" charset="-122"/>
                <a:cs typeface="MiSans" pitchFamily="34" charset="-120"/>
              </a:rPr>
              <a:t>0.4</a:t>
            </a:r>
            <a:pPr>
              <a:lnSpc>
                <a:spcPct val="140000"/>
              </a:lnSpc>
            </a:pPr>
            <a:r>
              <a:rPr lang="en-US" sz="1125" dirty="0">
                <a:solidFill>
                  <a:srgbClr val="F8F9FA"/>
                </a:solidFill>
                <a:latin typeface="MiSans" pitchFamily="34" charset="0"/>
                <a:ea typeface="MiSans" pitchFamily="34" charset="-122"/>
                <a:cs typeface="MiSans" pitchFamily="34" charset="-120"/>
              </a:rPr>
              <a:t> — established what he termed the </a:t>
            </a:r>
            <a:pPr>
              <a:lnSpc>
                <a:spcPct val="140000"/>
              </a:lnSpc>
            </a:pPr>
            <a:r>
              <a:rPr lang="en-US" sz="1125" dirty="0">
                <a:solidFill>
                  <a:srgbClr val="F8F9FA"/>
                </a:solidFill>
                <a:highlight>
                  <a:srgbClr val="C49A2C">
                    <a:alpha val="30000"/>
                  </a:srgbClr>
                </a:highlight>
                <a:latin typeface="MiSans" pitchFamily="34" charset="0"/>
                <a:ea typeface="MiSans" pitchFamily="34" charset="-122"/>
                <a:cs typeface="MiSans" pitchFamily="34" charset="-120"/>
              </a:rPr>
              <a:t>'hinge point' or 'visible learning threshold' </a:t>
            </a:r>
            <a:pPr>
              <a:lnSpc>
                <a:spcPct val="140000"/>
              </a:lnSpc>
            </a:pPr>
            <a:r>
              <a:rPr lang="en-US" sz="1125" dirty="0">
                <a:solidFill>
                  <a:srgbClr val="F8F9FA"/>
                </a:solidFill>
                <a:latin typeface="MiSans" pitchFamily="34" charset="0"/>
                <a:ea typeface="MiSans" pitchFamily="34" charset="-122"/>
                <a:cs typeface="MiSans" pitchFamily="34" charset="-120"/>
              </a:rPr>
              <a:t>.</a:t>
            </a:r>
            <a:endParaRPr lang="en-US" sz="1600" dirty="0"/>
          </a:p>
        </p:txBody>
      </p:sp>
      <p:sp>
        <p:nvSpPr>
          <p:cNvPr id="22" name="Shape 20"/>
          <p:cNvSpPr/>
          <p:nvPr/>
        </p:nvSpPr>
        <p:spPr>
          <a:xfrm>
            <a:off x="571640" y="5184949"/>
            <a:ext cx="107182" cy="142910"/>
          </a:xfrm>
          <a:custGeom>
            <a:avLst/>
            <a:gdLst/>
            <a:ahLst/>
            <a:cxnLst/>
            <a:rect l="l" t="t" r="r" b="b"/>
            <a:pathLst>
              <a:path w="107182" h="142910">
                <a:moveTo>
                  <a:pt x="47283" y="140286"/>
                </a:moveTo>
                <a:cubicBezTo>
                  <a:pt x="50772" y="143775"/>
                  <a:pt x="56438" y="143775"/>
                  <a:pt x="59927" y="140286"/>
                </a:cubicBezTo>
                <a:lnTo>
                  <a:pt x="104587" y="95627"/>
                </a:lnTo>
                <a:cubicBezTo>
                  <a:pt x="108076" y="92138"/>
                  <a:pt x="108076" y="86472"/>
                  <a:pt x="104587" y="82983"/>
                </a:cubicBezTo>
                <a:cubicBezTo>
                  <a:pt x="101098" y="79494"/>
                  <a:pt x="95431" y="79494"/>
                  <a:pt x="91942" y="82983"/>
                </a:cubicBezTo>
                <a:lnTo>
                  <a:pt x="62523" y="112402"/>
                </a:lnTo>
                <a:lnTo>
                  <a:pt x="62523" y="8932"/>
                </a:lnTo>
                <a:cubicBezTo>
                  <a:pt x="62523" y="3991"/>
                  <a:pt x="58532" y="0"/>
                  <a:pt x="53591" y="0"/>
                </a:cubicBezTo>
                <a:cubicBezTo>
                  <a:pt x="48651" y="0"/>
                  <a:pt x="44659" y="3991"/>
                  <a:pt x="44659" y="8932"/>
                </a:cubicBezTo>
                <a:lnTo>
                  <a:pt x="44659" y="112402"/>
                </a:lnTo>
                <a:lnTo>
                  <a:pt x="15240" y="82983"/>
                </a:lnTo>
                <a:cubicBezTo>
                  <a:pt x="11751" y="79494"/>
                  <a:pt x="6085" y="79494"/>
                  <a:pt x="2596" y="82983"/>
                </a:cubicBezTo>
                <a:cubicBezTo>
                  <a:pt x="-893" y="86472"/>
                  <a:pt x="-893" y="92138"/>
                  <a:pt x="2596" y="95627"/>
                </a:cubicBezTo>
                <a:lnTo>
                  <a:pt x="47255" y="140286"/>
                </a:lnTo>
                <a:close/>
              </a:path>
            </a:pathLst>
          </a:custGeom>
          <a:solidFill>
            <a:srgbClr val="FF6467"/>
          </a:solidFill>
          <a:ln/>
        </p:spPr>
      </p:sp>
      <p:sp>
        <p:nvSpPr>
          <p:cNvPr id="23" name="Text 21"/>
          <p:cNvSpPr/>
          <p:nvPr/>
        </p:nvSpPr>
        <p:spPr>
          <a:xfrm>
            <a:off x="764803" y="5144756"/>
            <a:ext cx="6318168" cy="428730"/>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Below 0.4:</a:t>
            </a:r>
            <a:pPr>
              <a:lnSpc>
                <a:spcPct val="120000"/>
              </a:lnSpc>
            </a:pPr>
            <a:r>
              <a:rPr lang="en-US" sz="1125" dirty="0">
                <a:solidFill>
                  <a:srgbClr val="F8F9FA"/>
                </a:solidFill>
                <a:latin typeface="MiSans" pitchFamily="34" charset="0"/>
                <a:ea typeface="MiSans" pitchFamily="34" charset="-122"/>
                <a:cs typeface="MiSans" pitchFamily="34" charset="-120"/>
              </a:rPr>
              <a:t> An intervention is likely producing effects that could be achieved simply by having the pupil in school at all</a:t>
            </a:r>
            <a:endParaRPr lang="en-US" sz="1600" dirty="0"/>
          </a:p>
        </p:txBody>
      </p:sp>
      <p:sp>
        <p:nvSpPr>
          <p:cNvPr id="24" name="Shape 22"/>
          <p:cNvSpPr/>
          <p:nvPr/>
        </p:nvSpPr>
        <p:spPr>
          <a:xfrm>
            <a:off x="571640" y="5685134"/>
            <a:ext cx="107182" cy="142910"/>
          </a:xfrm>
          <a:custGeom>
            <a:avLst/>
            <a:gdLst/>
            <a:ahLst/>
            <a:cxnLst/>
            <a:rect l="l" t="t" r="r" b="b"/>
            <a:pathLst>
              <a:path w="107182" h="142910">
                <a:moveTo>
                  <a:pt x="59899" y="4857"/>
                </a:moveTo>
                <a:cubicBezTo>
                  <a:pt x="56410" y="1368"/>
                  <a:pt x="50744" y="1368"/>
                  <a:pt x="47255" y="4857"/>
                </a:cubicBezTo>
                <a:lnTo>
                  <a:pt x="2596" y="49516"/>
                </a:lnTo>
                <a:cubicBezTo>
                  <a:pt x="-893" y="53005"/>
                  <a:pt x="-893" y="58671"/>
                  <a:pt x="2596" y="62160"/>
                </a:cubicBezTo>
                <a:cubicBezTo>
                  <a:pt x="6085" y="65649"/>
                  <a:pt x="11751" y="65649"/>
                  <a:pt x="15240" y="62160"/>
                </a:cubicBezTo>
                <a:lnTo>
                  <a:pt x="44659" y="32741"/>
                </a:lnTo>
                <a:lnTo>
                  <a:pt x="44659" y="136211"/>
                </a:lnTo>
                <a:cubicBezTo>
                  <a:pt x="44659" y="141151"/>
                  <a:pt x="48651" y="145143"/>
                  <a:pt x="53591" y="145143"/>
                </a:cubicBezTo>
                <a:cubicBezTo>
                  <a:pt x="58532" y="145143"/>
                  <a:pt x="62523" y="141151"/>
                  <a:pt x="62523" y="136211"/>
                </a:cubicBezTo>
                <a:lnTo>
                  <a:pt x="62523" y="32741"/>
                </a:lnTo>
                <a:lnTo>
                  <a:pt x="91942" y="62160"/>
                </a:lnTo>
                <a:cubicBezTo>
                  <a:pt x="95431" y="65649"/>
                  <a:pt x="101098" y="65649"/>
                  <a:pt x="104587" y="62160"/>
                </a:cubicBezTo>
                <a:cubicBezTo>
                  <a:pt x="108076" y="58671"/>
                  <a:pt x="108076" y="53005"/>
                  <a:pt x="104587" y="49516"/>
                </a:cubicBezTo>
                <a:lnTo>
                  <a:pt x="59927" y="4857"/>
                </a:lnTo>
                <a:close/>
              </a:path>
            </a:pathLst>
          </a:custGeom>
          <a:solidFill>
            <a:srgbClr val="05DF72"/>
          </a:solidFill>
          <a:ln/>
        </p:spPr>
      </p:sp>
      <p:sp>
        <p:nvSpPr>
          <p:cNvPr id="25" name="Text 23"/>
          <p:cNvSpPr/>
          <p:nvPr/>
        </p:nvSpPr>
        <p:spPr>
          <a:xfrm>
            <a:off x="764803" y="5644941"/>
            <a:ext cx="6318168"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Above 0.4:</a:t>
            </a:r>
            <a:pPr>
              <a:lnSpc>
                <a:spcPct val="120000"/>
              </a:lnSpc>
            </a:pPr>
            <a:r>
              <a:rPr lang="en-US" sz="1125" dirty="0">
                <a:solidFill>
                  <a:srgbClr val="F8F9FA"/>
                </a:solidFill>
                <a:latin typeface="MiSans" pitchFamily="34" charset="0"/>
                <a:ea typeface="MiSans" pitchFamily="34" charset="-122"/>
                <a:cs typeface="MiSans" pitchFamily="34" charset="-120"/>
              </a:rPr>
              <a:t> There is evidence of genuine additive impact</a:t>
            </a:r>
            <a:endParaRPr lang="en-US" sz="1600" dirty="0"/>
          </a:p>
        </p:txBody>
      </p:sp>
      <p:sp>
        <p:nvSpPr>
          <p:cNvPr id="26" name="Text 24"/>
          <p:cNvSpPr/>
          <p:nvPr/>
        </p:nvSpPr>
        <p:spPr>
          <a:xfrm>
            <a:off x="535912" y="5966488"/>
            <a:ext cx="6547059" cy="428730"/>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This threshold has become the standard benchmark in educational effectiveness research, and it is the benchmark against which the MPI's own effect size is evaluated.</a:t>
            </a:r>
            <a:endParaRPr lang="en-US" sz="1600" dirty="0"/>
          </a:p>
        </p:txBody>
      </p:sp>
      <p:sp>
        <p:nvSpPr>
          <p:cNvPr id="27" name="Shape 25"/>
          <p:cNvSpPr/>
          <p:nvPr/>
        </p:nvSpPr>
        <p:spPr>
          <a:xfrm>
            <a:off x="7331277" y="1214734"/>
            <a:ext cx="4510593" cy="3501292"/>
          </a:xfrm>
          <a:custGeom>
            <a:avLst/>
            <a:gdLst/>
            <a:ahLst/>
            <a:cxnLst/>
            <a:rect l="l" t="t" r="r" b="b"/>
            <a:pathLst>
              <a:path w="4510593" h="3501292">
                <a:moveTo>
                  <a:pt x="0" y="0"/>
                </a:moveTo>
                <a:lnTo>
                  <a:pt x="4510593" y="0"/>
                </a:lnTo>
                <a:lnTo>
                  <a:pt x="4510593" y="3501292"/>
                </a:lnTo>
                <a:lnTo>
                  <a:pt x="0" y="3501292"/>
                </a:lnTo>
                <a:lnTo>
                  <a:pt x="0" y="0"/>
                </a:lnTo>
                <a:close/>
              </a:path>
            </a:pathLst>
          </a:custGeom>
          <a:solidFill>
            <a:srgbClr val="C49A2C"/>
          </a:solidFill>
          <a:ln/>
        </p:spPr>
      </p:sp>
      <p:sp>
        <p:nvSpPr>
          <p:cNvPr id="28" name="Text 26"/>
          <p:cNvSpPr/>
          <p:nvPr/>
        </p:nvSpPr>
        <p:spPr>
          <a:xfrm>
            <a:off x="7465255" y="1393371"/>
            <a:ext cx="4242637" cy="250092"/>
          </a:xfrm>
          <a:prstGeom prst="rect">
            <a:avLst/>
          </a:prstGeom>
          <a:noFill/>
          <a:ln/>
        </p:spPr>
        <p:txBody>
          <a:bodyPr wrap="square" lIns="0" tIns="0" rIns="0" bIns="0" rtlCol="0" anchor="ctr"/>
          <a:lstStyle/>
          <a:p>
            <a:pPr algn="ctr">
              <a:lnSpc>
                <a:spcPct val="120000"/>
              </a:lnSpc>
            </a:pPr>
            <a:r>
              <a:rPr lang="en-US" sz="1407" b="1" dirty="0">
                <a:solidFill>
                  <a:srgbClr val="F8F9FA"/>
                </a:solidFill>
                <a:latin typeface="MiSans" pitchFamily="34" charset="0"/>
                <a:ea typeface="MiSans" pitchFamily="34" charset="-122"/>
                <a:cs typeface="MiSans" pitchFamily="34" charset="-120"/>
              </a:rPr>
              <a:t>Key Statistics</a:t>
            </a:r>
            <a:endParaRPr lang="en-US" sz="1600" dirty="0"/>
          </a:p>
        </p:txBody>
      </p:sp>
      <p:sp>
        <p:nvSpPr>
          <p:cNvPr id="29" name="Shape 27"/>
          <p:cNvSpPr/>
          <p:nvPr/>
        </p:nvSpPr>
        <p:spPr>
          <a:xfrm>
            <a:off x="7509915" y="1786374"/>
            <a:ext cx="4153319" cy="607367"/>
          </a:xfrm>
          <a:custGeom>
            <a:avLst/>
            <a:gdLst/>
            <a:ahLst/>
            <a:cxnLst/>
            <a:rect l="l" t="t" r="r" b="b"/>
            <a:pathLst>
              <a:path w="4153319" h="607367">
                <a:moveTo>
                  <a:pt x="0" y="0"/>
                </a:moveTo>
                <a:lnTo>
                  <a:pt x="4153319" y="0"/>
                </a:lnTo>
                <a:lnTo>
                  <a:pt x="4153319" y="607367"/>
                </a:lnTo>
                <a:lnTo>
                  <a:pt x="0" y="607367"/>
                </a:lnTo>
                <a:lnTo>
                  <a:pt x="0" y="0"/>
                </a:lnTo>
                <a:close/>
              </a:path>
            </a:pathLst>
          </a:custGeom>
          <a:solidFill>
            <a:srgbClr val="F8F9FA">
              <a:alpha val="20000"/>
            </a:srgbClr>
          </a:solidFill>
          <a:ln/>
        </p:spPr>
      </p:sp>
      <p:sp>
        <p:nvSpPr>
          <p:cNvPr id="30" name="Text 28"/>
          <p:cNvSpPr/>
          <p:nvPr/>
        </p:nvSpPr>
        <p:spPr>
          <a:xfrm>
            <a:off x="7617097" y="1929284"/>
            <a:ext cx="1732782"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Meta-analyses reviewed</a:t>
            </a:r>
            <a:endParaRPr lang="en-US" sz="1600" dirty="0"/>
          </a:p>
        </p:txBody>
      </p:sp>
      <p:sp>
        <p:nvSpPr>
          <p:cNvPr id="31" name="Text 29"/>
          <p:cNvSpPr/>
          <p:nvPr/>
        </p:nvSpPr>
        <p:spPr>
          <a:xfrm>
            <a:off x="11002573" y="1893556"/>
            <a:ext cx="660958" cy="285820"/>
          </a:xfrm>
          <a:prstGeom prst="rect">
            <a:avLst/>
          </a:prstGeom>
          <a:noFill/>
          <a:ln/>
        </p:spPr>
        <p:txBody>
          <a:bodyPr wrap="square" lIns="0" tIns="0" rIns="0" bIns="0" rtlCol="0" anchor="ctr"/>
          <a:lstStyle/>
          <a:p>
            <a:pPr>
              <a:lnSpc>
                <a:spcPct val="110000"/>
              </a:lnSpc>
            </a:pPr>
            <a:r>
              <a:rPr lang="en-US" sz="1688" b="1" dirty="0">
                <a:solidFill>
                  <a:srgbClr val="F8F9FA"/>
                </a:solidFill>
                <a:latin typeface="MiSans" pitchFamily="34" charset="0"/>
                <a:ea typeface="MiSans" pitchFamily="34" charset="-122"/>
                <a:cs typeface="MiSans" pitchFamily="34" charset="-120"/>
              </a:rPr>
              <a:t>800+</a:t>
            </a:r>
            <a:endParaRPr lang="en-US" sz="1600" dirty="0"/>
          </a:p>
        </p:txBody>
      </p:sp>
      <p:sp>
        <p:nvSpPr>
          <p:cNvPr id="32" name="Shape 30"/>
          <p:cNvSpPr/>
          <p:nvPr/>
        </p:nvSpPr>
        <p:spPr>
          <a:xfrm>
            <a:off x="7617097" y="2215103"/>
            <a:ext cx="3938954" cy="71455"/>
          </a:xfrm>
          <a:custGeom>
            <a:avLst/>
            <a:gdLst/>
            <a:ahLst/>
            <a:cxnLst/>
            <a:rect l="l" t="t" r="r" b="b"/>
            <a:pathLst>
              <a:path w="3938954" h="71455">
                <a:moveTo>
                  <a:pt x="0" y="0"/>
                </a:moveTo>
                <a:lnTo>
                  <a:pt x="3938954" y="0"/>
                </a:lnTo>
                <a:lnTo>
                  <a:pt x="3938954" y="71455"/>
                </a:lnTo>
                <a:lnTo>
                  <a:pt x="0" y="71455"/>
                </a:lnTo>
                <a:lnTo>
                  <a:pt x="0" y="0"/>
                </a:lnTo>
                <a:close/>
              </a:path>
            </a:pathLst>
          </a:custGeom>
          <a:solidFill>
            <a:srgbClr val="F8F9FA">
              <a:alpha val="30196"/>
            </a:srgbClr>
          </a:solidFill>
          <a:ln/>
        </p:spPr>
      </p:sp>
      <p:sp>
        <p:nvSpPr>
          <p:cNvPr id="33" name="Shape 31"/>
          <p:cNvSpPr/>
          <p:nvPr/>
        </p:nvSpPr>
        <p:spPr>
          <a:xfrm>
            <a:off x="7617097" y="2215103"/>
            <a:ext cx="3938954" cy="71455"/>
          </a:xfrm>
          <a:custGeom>
            <a:avLst/>
            <a:gdLst/>
            <a:ahLst/>
            <a:cxnLst/>
            <a:rect l="l" t="t" r="r" b="b"/>
            <a:pathLst>
              <a:path w="3938954" h="71455">
                <a:moveTo>
                  <a:pt x="0" y="0"/>
                </a:moveTo>
                <a:lnTo>
                  <a:pt x="3938954" y="0"/>
                </a:lnTo>
                <a:lnTo>
                  <a:pt x="3938954" y="71455"/>
                </a:lnTo>
                <a:lnTo>
                  <a:pt x="0" y="71455"/>
                </a:lnTo>
                <a:lnTo>
                  <a:pt x="0" y="0"/>
                </a:lnTo>
                <a:close/>
              </a:path>
            </a:pathLst>
          </a:custGeom>
          <a:solidFill>
            <a:srgbClr val="F8F9FA"/>
          </a:solidFill>
          <a:ln/>
        </p:spPr>
      </p:sp>
      <p:sp>
        <p:nvSpPr>
          <p:cNvPr id="34" name="Shape 32"/>
          <p:cNvSpPr/>
          <p:nvPr/>
        </p:nvSpPr>
        <p:spPr>
          <a:xfrm>
            <a:off x="7509915" y="2500923"/>
            <a:ext cx="4153319" cy="607367"/>
          </a:xfrm>
          <a:custGeom>
            <a:avLst/>
            <a:gdLst/>
            <a:ahLst/>
            <a:cxnLst/>
            <a:rect l="l" t="t" r="r" b="b"/>
            <a:pathLst>
              <a:path w="4153319" h="607367">
                <a:moveTo>
                  <a:pt x="0" y="0"/>
                </a:moveTo>
                <a:lnTo>
                  <a:pt x="4153319" y="0"/>
                </a:lnTo>
                <a:lnTo>
                  <a:pt x="4153319" y="607367"/>
                </a:lnTo>
                <a:lnTo>
                  <a:pt x="0" y="607367"/>
                </a:lnTo>
                <a:lnTo>
                  <a:pt x="0" y="0"/>
                </a:lnTo>
                <a:close/>
              </a:path>
            </a:pathLst>
          </a:custGeom>
          <a:solidFill>
            <a:srgbClr val="F8F9FA">
              <a:alpha val="20000"/>
            </a:srgbClr>
          </a:solidFill>
          <a:ln/>
        </p:spPr>
      </p:sp>
      <p:sp>
        <p:nvSpPr>
          <p:cNvPr id="35" name="Text 33"/>
          <p:cNvSpPr/>
          <p:nvPr/>
        </p:nvSpPr>
        <p:spPr>
          <a:xfrm>
            <a:off x="7617097" y="2643833"/>
            <a:ext cx="1563077"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Students represented</a:t>
            </a:r>
            <a:endParaRPr lang="en-US" sz="1600" dirty="0"/>
          </a:p>
        </p:txBody>
      </p:sp>
      <p:sp>
        <p:nvSpPr>
          <p:cNvPr id="36" name="Text 34"/>
          <p:cNvSpPr/>
          <p:nvPr/>
        </p:nvSpPr>
        <p:spPr>
          <a:xfrm>
            <a:off x="10848499" y="2608105"/>
            <a:ext cx="812800" cy="285820"/>
          </a:xfrm>
          <a:prstGeom prst="rect">
            <a:avLst/>
          </a:prstGeom>
          <a:noFill/>
          <a:ln/>
        </p:spPr>
        <p:txBody>
          <a:bodyPr wrap="square" lIns="0" tIns="0" rIns="0" bIns="0" rtlCol="0" anchor="ctr"/>
          <a:lstStyle/>
          <a:p>
            <a:pPr>
              <a:lnSpc>
                <a:spcPct val="110000"/>
              </a:lnSpc>
            </a:pPr>
            <a:r>
              <a:rPr lang="en-US" sz="1688" b="1" dirty="0">
                <a:solidFill>
                  <a:srgbClr val="F8F9FA"/>
                </a:solidFill>
                <a:latin typeface="MiSans" pitchFamily="34" charset="0"/>
                <a:ea typeface="MiSans" pitchFamily="34" charset="-122"/>
                <a:cs typeface="MiSans" pitchFamily="34" charset="-120"/>
              </a:rPr>
              <a:t>~250M</a:t>
            </a:r>
            <a:endParaRPr lang="en-US" sz="1600" dirty="0"/>
          </a:p>
        </p:txBody>
      </p:sp>
      <p:sp>
        <p:nvSpPr>
          <p:cNvPr id="37" name="Shape 35"/>
          <p:cNvSpPr/>
          <p:nvPr/>
        </p:nvSpPr>
        <p:spPr>
          <a:xfrm>
            <a:off x="7617097" y="2929653"/>
            <a:ext cx="3938954" cy="71455"/>
          </a:xfrm>
          <a:custGeom>
            <a:avLst/>
            <a:gdLst/>
            <a:ahLst/>
            <a:cxnLst/>
            <a:rect l="l" t="t" r="r" b="b"/>
            <a:pathLst>
              <a:path w="3938954" h="71455">
                <a:moveTo>
                  <a:pt x="0" y="0"/>
                </a:moveTo>
                <a:lnTo>
                  <a:pt x="3938954" y="0"/>
                </a:lnTo>
                <a:lnTo>
                  <a:pt x="3938954" y="71455"/>
                </a:lnTo>
                <a:lnTo>
                  <a:pt x="0" y="71455"/>
                </a:lnTo>
                <a:lnTo>
                  <a:pt x="0" y="0"/>
                </a:lnTo>
                <a:close/>
              </a:path>
            </a:pathLst>
          </a:custGeom>
          <a:solidFill>
            <a:srgbClr val="F8F9FA">
              <a:alpha val="30196"/>
            </a:srgbClr>
          </a:solidFill>
          <a:ln/>
        </p:spPr>
      </p:sp>
      <p:sp>
        <p:nvSpPr>
          <p:cNvPr id="38" name="Shape 36"/>
          <p:cNvSpPr/>
          <p:nvPr/>
        </p:nvSpPr>
        <p:spPr>
          <a:xfrm>
            <a:off x="7617097" y="2929653"/>
            <a:ext cx="3742453" cy="71455"/>
          </a:xfrm>
          <a:custGeom>
            <a:avLst/>
            <a:gdLst/>
            <a:ahLst/>
            <a:cxnLst/>
            <a:rect l="l" t="t" r="r" b="b"/>
            <a:pathLst>
              <a:path w="3742453" h="71455">
                <a:moveTo>
                  <a:pt x="0" y="0"/>
                </a:moveTo>
                <a:lnTo>
                  <a:pt x="3742453" y="0"/>
                </a:lnTo>
                <a:lnTo>
                  <a:pt x="3742453" y="71455"/>
                </a:lnTo>
                <a:lnTo>
                  <a:pt x="0" y="71455"/>
                </a:lnTo>
                <a:lnTo>
                  <a:pt x="0" y="0"/>
                </a:lnTo>
                <a:close/>
              </a:path>
            </a:pathLst>
          </a:custGeom>
          <a:solidFill>
            <a:srgbClr val="F8F9FA"/>
          </a:solidFill>
          <a:ln/>
        </p:spPr>
      </p:sp>
      <p:sp>
        <p:nvSpPr>
          <p:cNvPr id="39" name="Shape 37"/>
          <p:cNvSpPr/>
          <p:nvPr/>
        </p:nvSpPr>
        <p:spPr>
          <a:xfrm>
            <a:off x="7509915" y="3215473"/>
            <a:ext cx="4153319" cy="607367"/>
          </a:xfrm>
          <a:custGeom>
            <a:avLst/>
            <a:gdLst/>
            <a:ahLst/>
            <a:cxnLst/>
            <a:rect l="l" t="t" r="r" b="b"/>
            <a:pathLst>
              <a:path w="4153319" h="607367">
                <a:moveTo>
                  <a:pt x="0" y="0"/>
                </a:moveTo>
                <a:lnTo>
                  <a:pt x="4153319" y="0"/>
                </a:lnTo>
                <a:lnTo>
                  <a:pt x="4153319" y="607367"/>
                </a:lnTo>
                <a:lnTo>
                  <a:pt x="0" y="607367"/>
                </a:lnTo>
                <a:lnTo>
                  <a:pt x="0" y="0"/>
                </a:lnTo>
                <a:close/>
              </a:path>
            </a:pathLst>
          </a:custGeom>
          <a:solidFill>
            <a:srgbClr val="F8F9FA">
              <a:alpha val="20000"/>
            </a:srgbClr>
          </a:solidFill>
          <a:ln/>
        </p:spPr>
      </p:sp>
      <p:sp>
        <p:nvSpPr>
          <p:cNvPr id="40" name="Text 38"/>
          <p:cNvSpPr/>
          <p:nvPr/>
        </p:nvSpPr>
        <p:spPr>
          <a:xfrm>
            <a:off x="7617097" y="3358382"/>
            <a:ext cx="1286189"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Influences ranked</a:t>
            </a:r>
            <a:endParaRPr lang="en-US" sz="1600" dirty="0"/>
          </a:p>
        </p:txBody>
      </p:sp>
      <p:sp>
        <p:nvSpPr>
          <p:cNvPr id="41" name="Text 39"/>
          <p:cNvSpPr/>
          <p:nvPr/>
        </p:nvSpPr>
        <p:spPr>
          <a:xfrm>
            <a:off x="11194608" y="3322655"/>
            <a:ext cx="464457" cy="285820"/>
          </a:xfrm>
          <a:prstGeom prst="rect">
            <a:avLst/>
          </a:prstGeom>
          <a:noFill/>
          <a:ln/>
        </p:spPr>
        <p:txBody>
          <a:bodyPr wrap="square" lIns="0" tIns="0" rIns="0" bIns="0" rtlCol="0" anchor="ctr"/>
          <a:lstStyle/>
          <a:p>
            <a:pPr>
              <a:lnSpc>
                <a:spcPct val="110000"/>
              </a:lnSpc>
            </a:pPr>
            <a:r>
              <a:rPr lang="en-US" sz="1688" b="1" dirty="0">
                <a:solidFill>
                  <a:srgbClr val="F8F9FA"/>
                </a:solidFill>
                <a:latin typeface="MiSans" pitchFamily="34" charset="0"/>
                <a:ea typeface="MiSans" pitchFamily="34" charset="-122"/>
                <a:cs typeface="MiSans" pitchFamily="34" charset="-120"/>
              </a:rPr>
              <a:t>138</a:t>
            </a:r>
            <a:endParaRPr lang="en-US" sz="1600" dirty="0"/>
          </a:p>
        </p:txBody>
      </p:sp>
      <p:sp>
        <p:nvSpPr>
          <p:cNvPr id="42" name="Shape 40"/>
          <p:cNvSpPr/>
          <p:nvPr/>
        </p:nvSpPr>
        <p:spPr>
          <a:xfrm>
            <a:off x="7617097" y="3644202"/>
            <a:ext cx="3938954" cy="71455"/>
          </a:xfrm>
          <a:custGeom>
            <a:avLst/>
            <a:gdLst/>
            <a:ahLst/>
            <a:cxnLst/>
            <a:rect l="l" t="t" r="r" b="b"/>
            <a:pathLst>
              <a:path w="3938954" h="71455">
                <a:moveTo>
                  <a:pt x="0" y="0"/>
                </a:moveTo>
                <a:lnTo>
                  <a:pt x="3938954" y="0"/>
                </a:lnTo>
                <a:lnTo>
                  <a:pt x="3938954" y="71455"/>
                </a:lnTo>
                <a:lnTo>
                  <a:pt x="0" y="71455"/>
                </a:lnTo>
                <a:lnTo>
                  <a:pt x="0" y="0"/>
                </a:lnTo>
                <a:close/>
              </a:path>
            </a:pathLst>
          </a:custGeom>
          <a:solidFill>
            <a:srgbClr val="F8F9FA">
              <a:alpha val="30196"/>
            </a:srgbClr>
          </a:solidFill>
          <a:ln/>
        </p:spPr>
      </p:sp>
      <p:sp>
        <p:nvSpPr>
          <p:cNvPr id="43" name="Shape 41"/>
          <p:cNvSpPr/>
          <p:nvPr/>
        </p:nvSpPr>
        <p:spPr>
          <a:xfrm>
            <a:off x="7617097" y="3644202"/>
            <a:ext cx="2161512" cy="71455"/>
          </a:xfrm>
          <a:custGeom>
            <a:avLst/>
            <a:gdLst/>
            <a:ahLst/>
            <a:cxnLst/>
            <a:rect l="l" t="t" r="r" b="b"/>
            <a:pathLst>
              <a:path w="2161512" h="71455">
                <a:moveTo>
                  <a:pt x="0" y="0"/>
                </a:moveTo>
                <a:lnTo>
                  <a:pt x="2161512" y="0"/>
                </a:lnTo>
                <a:lnTo>
                  <a:pt x="2161512" y="71455"/>
                </a:lnTo>
                <a:lnTo>
                  <a:pt x="0" y="71455"/>
                </a:lnTo>
                <a:lnTo>
                  <a:pt x="0" y="0"/>
                </a:lnTo>
                <a:close/>
              </a:path>
            </a:pathLst>
          </a:custGeom>
          <a:solidFill>
            <a:srgbClr val="F8F9FA"/>
          </a:solidFill>
          <a:ln/>
        </p:spPr>
      </p:sp>
      <p:sp>
        <p:nvSpPr>
          <p:cNvPr id="44" name="Shape 42"/>
          <p:cNvSpPr/>
          <p:nvPr/>
        </p:nvSpPr>
        <p:spPr>
          <a:xfrm>
            <a:off x="7509915" y="3930022"/>
            <a:ext cx="4153319" cy="607367"/>
          </a:xfrm>
          <a:custGeom>
            <a:avLst/>
            <a:gdLst/>
            <a:ahLst/>
            <a:cxnLst/>
            <a:rect l="l" t="t" r="r" b="b"/>
            <a:pathLst>
              <a:path w="4153319" h="607367">
                <a:moveTo>
                  <a:pt x="0" y="0"/>
                </a:moveTo>
                <a:lnTo>
                  <a:pt x="4153319" y="0"/>
                </a:lnTo>
                <a:lnTo>
                  <a:pt x="4153319" y="607367"/>
                </a:lnTo>
                <a:lnTo>
                  <a:pt x="0" y="607367"/>
                </a:lnTo>
                <a:lnTo>
                  <a:pt x="0" y="0"/>
                </a:lnTo>
                <a:close/>
              </a:path>
            </a:pathLst>
          </a:custGeom>
          <a:solidFill>
            <a:srgbClr val="F8F9FA">
              <a:alpha val="20000"/>
            </a:srgbClr>
          </a:solidFill>
          <a:ln/>
        </p:spPr>
      </p:sp>
      <p:sp>
        <p:nvSpPr>
          <p:cNvPr id="45" name="Text 43"/>
          <p:cNvSpPr/>
          <p:nvPr/>
        </p:nvSpPr>
        <p:spPr>
          <a:xfrm>
            <a:off x="7617097" y="4072932"/>
            <a:ext cx="1697055"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Hinge point established</a:t>
            </a:r>
            <a:endParaRPr lang="en-US" sz="1600" dirty="0"/>
          </a:p>
        </p:txBody>
      </p:sp>
      <p:sp>
        <p:nvSpPr>
          <p:cNvPr id="46" name="Text 44"/>
          <p:cNvSpPr/>
          <p:nvPr/>
        </p:nvSpPr>
        <p:spPr>
          <a:xfrm>
            <a:off x="11221999" y="4037204"/>
            <a:ext cx="437662" cy="285820"/>
          </a:xfrm>
          <a:prstGeom prst="rect">
            <a:avLst/>
          </a:prstGeom>
          <a:noFill/>
          <a:ln/>
        </p:spPr>
        <p:txBody>
          <a:bodyPr wrap="square" lIns="0" tIns="0" rIns="0" bIns="0" rtlCol="0" anchor="ctr"/>
          <a:lstStyle/>
          <a:p>
            <a:pPr>
              <a:lnSpc>
                <a:spcPct val="110000"/>
              </a:lnSpc>
            </a:pPr>
            <a:r>
              <a:rPr lang="en-US" sz="1688" b="1" dirty="0">
                <a:solidFill>
                  <a:srgbClr val="F8F9FA"/>
                </a:solidFill>
                <a:latin typeface="MiSans" pitchFamily="34" charset="0"/>
                <a:ea typeface="MiSans" pitchFamily="34" charset="-122"/>
                <a:cs typeface="MiSans" pitchFamily="34" charset="-120"/>
              </a:rPr>
              <a:t>0.4</a:t>
            </a:r>
            <a:endParaRPr lang="en-US" sz="1600" dirty="0"/>
          </a:p>
        </p:txBody>
      </p:sp>
      <p:sp>
        <p:nvSpPr>
          <p:cNvPr id="47" name="Shape 45"/>
          <p:cNvSpPr/>
          <p:nvPr/>
        </p:nvSpPr>
        <p:spPr>
          <a:xfrm>
            <a:off x="7617097" y="4358752"/>
            <a:ext cx="3938954" cy="71455"/>
          </a:xfrm>
          <a:custGeom>
            <a:avLst/>
            <a:gdLst/>
            <a:ahLst/>
            <a:cxnLst/>
            <a:rect l="l" t="t" r="r" b="b"/>
            <a:pathLst>
              <a:path w="3938954" h="71455">
                <a:moveTo>
                  <a:pt x="0" y="0"/>
                </a:moveTo>
                <a:lnTo>
                  <a:pt x="3938954" y="0"/>
                </a:lnTo>
                <a:lnTo>
                  <a:pt x="3938954" y="71455"/>
                </a:lnTo>
                <a:lnTo>
                  <a:pt x="0" y="71455"/>
                </a:lnTo>
                <a:lnTo>
                  <a:pt x="0" y="0"/>
                </a:lnTo>
                <a:close/>
              </a:path>
            </a:pathLst>
          </a:custGeom>
          <a:solidFill>
            <a:srgbClr val="F8F9FA">
              <a:alpha val="30196"/>
            </a:srgbClr>
          </a:solidFill>
          <a:ln/>
        </p:spPr>
      </p:sp>
      <p:sp>
        <p:nvSpPr>
          <p:cNvPr id="48" name="Shape 46"/>
          <p:cNvSpPr/>
          <p:nvPr/>
        </p:nvSpPr>
        <p:spPr>
          <a:xfrm>
            <a:off x="7617097" y="4358752"/>
            <a:ext cx="1572009" cy="71455"/>
          </a:xfrm>
          <a:custGeom>
            <a:avLst/>
            <a:gdLst/>
            <a:ahLst/>
            <a:cxnLst/>
            <a:rect l="l" t="t" r="r" b="b"/>
            <a:pathLst>
              <a:path w="1572009" h="71455">
                <a:moveTo>
                  <a:pt x="0" y="0"/>
                </a:moveTo>
                <a:lnTo>
                  <a:pt x="1572009" y="0"/>
                </a:lnTo>
                <a:lnTo>
                  <a:pt x="1572009" y="71455"/>
                </a:lnTo>
                <a:lnTo>
                  <a:pt x="0" y="71455"/>
                </a:lnTo>
                <a:lnTo>
                  <a:pt x="0" y="0"/>
                </a:lnTo>
                <a:close/>
              </a:path>
            </a:pathLst>
          </a:custGeom>
          <a:solidFill>
            <a:srgbClr val="F8F9FA"/>
          </a:solidFill>
          <a:ln/>
        </p:spPr>
      </p:sp>
      <p:sp>
        <p:nvSpPr>
          <p:cNvPr id="49" name="Shape 47"/>
          <p:cNvSpPr/>
          <p:nvPr/>
        </p:nvSpPr>
        <p:spPr>
          <a:xfrm>
            <a:off x="7349141" y="4858936"/>
            <a:ext cx="4492730" cy="1768510"/>
          </a:xfrm>
          <a:custGeom>
            <a:avLst/>
            <a:gdLst/>
            <a:ahLst/>
            <a:cxnLst/>
            <a:rect l="l" t="t" r="r" b="b"/>
            <a:pathLst>
              <a:path w="4492730" h="1768510">
                <a:moveTo>
                  <a:pt x="0" y="0"/>
                </a:moveTo>
                <a:lnTo>
                  <a:pt x="4492730" y="0"/>
                </a:lnTo>
                <a:lnTo>
                  <a:pt x="4492730" y="1768510"/>
                </a:lnTo>
                <a:lnTo>
                  <a:pt x="0" y="1768510"/>
                </a:lnTo>
                <a:lnTo>
                  <a:pt x="0" y="0"/>
                </a:lnTo>
                <a:close/>
              </a:path>
            </a:pathLst>
          </a:custGeom>
          <a:solidFill>
            <a:srgbClr val="FFFFFF"/>
          </a:solidFill>
          <a:ln/>
        </p:spPr>
      </p:sp>
      <p:sp>
        <p:nvSpPr>
          <p:cNvPr id="50" name="Shape 48"/>
          <p:cNvSpPr/>
          <p:nvPr/>
        </p:nvSpPr>
        <p:spPr>
          <a:xfrm>
            <a:off x="7349141" y="4858936"/>
            <a:ext cx="35727" cy="1768510"/>
          </a:xfrm>
          <a:custGeom>
            <a:avLst/>
            <a:gdLst/>
            <a:ahLst/>
            <a:cxnLst/>
            <a:rect l="l" t="t" r="r" b="b"/>
            <a:pathLst>
              <a:path w="35727" h="1768510">
                <a:moveTo>
                  <a:pt x="0" y="0"/>
                </a:moveTo>
                <a:lnTo>
                  <a:pt x="35727" y="0"/>
                </a:lnTo>
                <a:lnTo>
                  <a:pt x="35727" y="1768510"/>
                </a:lnTo>
                <a:lnTo>
                  <a:pt x="0" y="1768510"/>
                </a:lnTo>
                <a:lnTo>
                  <a:pt x="0" y="0"/>
                </a:lnTo>
                <a:close/>
              </a:path>
            </a:pathLst>
          </a:custGeom>
          <a:solidFill>
            <a:srgbClr val="C49A2C"/>
          </a:solidFill>
          <a:ln/>
        </p:spPr>
      </p:sp>
      <p:sp>
        <p:nvSpPr>
          <p:cNvPr id="51" name="Text 49"/>
          <p:cNvSpPr/>
          <p:nvPr/>
        </p:nvSpPr>
        <p:spPr>
          <a:xfrm>
            <a:off x="7509915" y="5001846"/>
            <a:ext cx="4269433"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What This Means for the MPI</a:t>
            </a:r>
            <a:endParaRPr lang="en-US" sz="1600" dirty="0"/>
          </a:p>
        </p:txBody>
      </p:sp>
      <p:sp>
        <p:nvSpPr>
          <p:cNvPr id="52" name="Text 50"/>
          <p:cNvSpPr/>
          <p:nvPr/>
        </p:nvSpPr>
        <p:spPr>
          <a:xfrm>
            <a:off x="7509915" y="5323393"/>
            <a:ext cx="4260501" cy="1161143"/>
          </a:xfrm>
          <a:prstGeom prst="rect">
            <a:avLst/>
          </a:prstGeom>
          <a:noFill/>
          <a:ln/>
        </p:spPr>
        <p:txBody>
          <a:bodyPr wrap="square" lIns="0" tIns="0" rIns="0" bIns="0" rtlCol="0" anchor="ctr"/>
          <a:lstStyle/>
          <a:p>
            <a:pPr>
              <a:lnSpc>
                <a:spcPct val="140000"/>
              </a:lnSpc>
            </a:pPr>
            <a:r>
              <a:rPr lang="en-US" sz="1125" dirty="0">
                <a:solidFill>
                  <a:srgbClr val="2D3436"/>
                </a:solidFill>
                <a:latin typeface="MiSans" pitchFamily="34" charset="0"/>
                <a:ea typeface="MiSans" pitchFamily="34" charset="-122"/>
                <a:cs typeface="MiSans" pitchFamily="34" charset="-120"/>
              </a:rPr>
              <a:t>The MPI's </a:t>
            </a:r>
            <a:pPr>
              <a:lnSpc>
                <a:spcPct val="140000"/>
              </a:lnSpc>
            </a:pPr>
            <a:r>
              <a:rPr lang="en-US" sz="1125" b="1" dirty="0">
                <a:solidFill>
                  <a:srgbClr val="2D3436"/>
                </a:solidFill>
                <a:latin typeface="MiSans" pitchFamily="34" charset="0"/>
                <a:ea typeface="MiSans" pitchFamily="34" charset="-122"/>
                <a:cs typeface="MiSans" pitchFamily="34" charset="-120"/>
              </a:rPr>
              <a:t>published effect size of 0.61</a:t>
            </a:r>
            <a:pPr>
              <a:lnSpc>
                <a:spcPct val="140000"/>
              </a:lnSpc>
            </a:pPr>
            <a:r>
              <a:rPr lang="en-US" sz="1125" dirty="0">
                <a:solidFill>
                  <a:srgbClr val="2D3436"/>
                </a:solidFill>
                <a:latin typeface="MiSans" pitchFamily="34" charset="0"/>
                <a:ea typeface="MiSans" pitchFamily="34" charset="-122"/>
                <a:cs typeface="MiSans" pitchFamily="34" charset="-120"/>
              </a:rPr>
              <a:t> places it well above the 0.4 hinge point, in the upper range of effect sizes for high-quality formative assessment interventions. This is a meaningful finding that should be communicated with confidence — and with appropriate qualification about scope conditions.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37729" y="337729"/>
            <a:ext cx="67546" cy="405274"/>
          </a:xfrm>
          <a:custGeom>
            <a:avLst/>
            <a:gdLst/>
            <a:ahLst/>
            <a:cxnLst/>
            <a:rect l="l" t="t" r="r" b="b"/>
            <a:pathLst>
              <a:path w="67546" h="405274">
                <a:moveTo>
                  <a:pt x="0" y="0"/>
                </a:moveTo>
                <a:lnTo>
                  <a:pt x="67546" y="0"/>
                </a:lnTo>
                <a:lnTo>
                  <a:pt x="67546" y="405274"/>
                </a:lnTo>
                <a:lnTo>
                  <a:pt x="0" y="405274"/>
                </a:lnTo>
                <a:lnTo>
                  <a:pt x="0" y="0"/>
                </a:lnTo>
                <a:close/>
              </a:path>
            </a:pathLst>
          </a:custGeom>
          <a:solidFill>
            <a:srgbClr val="1E3A5F"/>
          </a:solidFill>
          <a:ln/>
        </p:spPr>
      </p:sp>
      <p:sp>
        <p:nvSpPr>
          <p:cNvPr id="3" name="Text 1"/>
          <p:cNvSpPr/>
          <p:nvPr/>
        </p:nvSpPr>
        <p:spPr>
          <a:xfrm>
            <a:off x="506593" y="388388"/>
            <a:ext cx="6036898" cy="303956"/>
          </a:xfrm>
          <a:prstGeom prst="rect">
            <a:avLst/>
          </a:prstGeom>
          <a:noFill/>
          <a:ln/>
        </p:spPr>
        <p:txBody>
          <a:bodyPr wrap="square" lIns="0" tIns="0" rIns="0" bIns="0" rtlCol="0" anchor="ctr"/>
          <a:lstStyle/>
          <a:p>
            <a:pPr>
              <a:lnSpc>
                <a:spcPct val="100000"/>
              </a:lnSpc>
            </a:pPr>
            <a:r>
              <a:rPr lang="en-US" sz="1994" b="1" dirty="0">
                <a:solidFill>
                  <a:srgbClr val="1E3A5F"/>
                </a:solidFill>
                <a:latin typeface="MiSans" pitchFamily="34" charset="0"/>
                <a:ea typeface="MiSans" pitchFamily="34" charset="-122"/>
                <a:cs typeface="MiSans" pitchFamily="34" charset="-120"/>
              </a:rPr>
              <a:t>Hattie's Rankings: What Works and What Doesn't</a:t>
            </a:r>
            <a:endParaRPr lang="en-US" sz="1600" dirty="0"/>
          </a:p>
        </p:txBody>
      </p:sp>
      <p:sp>
        <p:nvSpPr>
          <p:cNvPr id="4" name="Text 2"/>
          <p:cNvSpPr/>
          <p:nvPr/>
        </p:nvSpPr>
        <p:spPr>
          <a:xfrm>
            <a:off x="506593" y="810548"/>
            <a:ext cx="11415224" cy="202637"/>
          </a:xfrm>
          <a:prstGeom prst="rect">
            <a:avLst/>
          </a:prstGeom>
          <a:noFill/>
          <a:ln/>
        </p:spPr>
        <p:txBody>
          <a:bodyPr wrap="square" lIns="0" tIns="0" rIns="0" bIns="0" rtlCol="0" anchor="ctr"/>
          <a:lstStyle/>
          <a:p>
            <a:pPr>
              <a:lnSpc>
                <a:spcPct val="130000"/>
              </a:lnSpc>
            </a:pPr>
            <a:r>
              <a:rPr lang="en-US" sz="1064" dirty="0">
                <a:solidFill>
                  <a:srgbClr val="6C757D"/>
                </a:solidFill>
                <a:latin typeface="MiSans" pitchFamily="34" charset="0"/>
                <a:ea typeface="MiSans" pitchFamily="34" charset="-122"/>
                <a:cs typeface="MiSans" pitchFamily="34" charset="-120"/>
              </a:rPr>
              <a:t>The MPI's design logic in relation to Hattie's ranked influences</a:t>
            </a:r>
            <a:endParaRPr lang="en-US" sz="1600" dirty="0"/>
          </a:p>
        </p:txBody>
      </p:sp>
      <p:sp>
        <p:nvSpPr>
          <p:cNvPr id="5" name="Shape 3"/>
          <p:cNvSpPr/>
          <p:nvPr/>
        </p:nvSpPr>
        <p:spPr>
          <a:xfrm>
            <a:off x="337729" y="1165163"/>
            <a:ext cx="5690726" cy="3394172"/>
          </a:xfrm>
          <a:custGeom>
            <a:avLst/>
            <a:gdLst/>
            <a:ahLst/>
            <a:cxnLst/>
            <a:rect l="l" t="t" r="r" b="b"/>
            <a:pathLst>
              <a:path w="5690726" h="3394172">
                <a:moveTo>
                  <a:pt x="0" y="0"/>
                </a:moveTo>
                <a:lnTo>
                  <a:pt x="5690726" y="0"/>
                </a:lnTo>
                <a:lnTo>
                  <a:pt x="5690726" y="3394172"/>
                </a:lnTo>
                <a:lnTo>
                  <a:pt x="0" y="3394172"/>
                </a:lnTo>
                <a:lnTo>
                  <a:pt x="0" y="0"/>
                </a:lnTo>
                <a:close/>
              </a:path>
            </a:pathLst>
          </a:custGeom>
          <a:solidFill>
            <a:srgbClr val="FFFFFF"/>
          </a:solidFill>
          <a:ln/>
        </p:spPr>
      </p:sp>
      <p:sp>
        <p:nvSpPr>
          <p:cNvPr id="6" name="Shape 4"/>
          <p:cNvSpPr/>
          <p:nvPr/>
        </p:nvSpPr>
        <p:spPr>
          <a:xfrm>
            <a:off x="337729" y="1165163"/>
            <a:ext cx="5690726" cy="33773"/>
          </a:xfrm>
          <a:custGeom>
            <a:avLst/>
            <a:gdLst/>
            <a:ahLst/>
            <a:cxnLst/>
            <a:rect l="l" t="t" r="r" b="b"/>
            <a:pathLst>
              <a:path w="5690726" h="33773">
                <a:moveTo>
                  <a:pt x="0" y="0"/>
                </a:moveTo>
                <a:lnTo>
                  <a:pt x="5690726" y="0"/>
                </a:lnTo>
                <a:lnTo>
                  <a:pt x="5690726" y="33773"/>
                </a:lnTo>
                <a:lnTo>
                  <a:pt x="0" y="33773"/>
                </a:lnTo>
                <a:lnTo>
                  <a:pt x="0" y="0"/>
                </a:lnTo>
                <a:close/>
              </a:path>
            </a:pathLst>
          </a:custGeom>
          <a:solidFill>
            <a:srgbClr val="00A63E"/>
          </a:solidFill>
          <a:ln/>
        </p:spPr>
      </p:sp>
      <p:sp>
        <p:nvSpPr>
          <p:cNvPr id="7" name="Shape 5"/>
          <p:cNvSpPr/>
          <p:nvPr/>
        </p:nvSpPr>
        <p:spPr>
          <a:xfrm>
            <a:off x="512925" y="1359357"/>
            <a:ext cx="113983" cy="151978"/>
          </a:xfrm>
          <a:custGeom>
            <a:avLst/>
            <a:gdLst/>
            <a:ahLst/>
            <a:cxnLst/>
            <a:rect l="l" t="t" r="r" b="b"/>
            <a:pathLst>
              <a:path w="113983" h="151978">
                <a:moveTo>
                  <a:pt x="63700" y="5165"/>
                </a:moveTo>
                <a:cubicBezTo>
                  <a:pt x="59990" y="1454"/>
                  <a:pt x="53964" y="1454"/>
                  <a:pt x="50254" y="5165"/>
                </a:cubicBezTo>
                <a:lnTo>
                  <a:pt x="2761" y="52658"/>
                </a:lnTo>
                <a:cubicBezTo>
                  <a:pt x="-950" y="56368"/>
                  <a:pt x="-950" y="62394"/>
                  <a:pt x="2761" y="66104"/>
                </a:cubicBezTo>
                <a:cubicBezTo>
                  <a:pt x="6471" y="69815"/>
                  <a:pt x="12497" y="69815"/>
                  <a:pt x="16207" y="66104"/>
                </a:cubicBezTo>
                <a:lnTo>
                  <a:pt x="47493" y="34818"/>
                </a:lnTo>
                <a:lnTo>
                  <a:pt x="47493" y="144854"/>
                </a:lnTo>
                <a:cubicBezTo>
                  <a:pt x="47493" y="150108"/>
                  <a:pt x="51738" y="154352"/>
                  <a:pt x="56992" y="154352"/>
                </a:cubicBezTo>
                <a:cubicBezTo>
                  <a:pt x="62246" y="154352"/>
                  <a:pt x="66490" y="150108"/>
                  <a:pt x="66490" y="144854"/>
                </a:cubicBezTo>
                <a:lnTo>
                  <a:pt x="66490" y="34818"/>
                </a:lnTo>
                <a:lnTo>
                  <a:pt x="97776" y="66104"/>
                </a:lnTo>
                <a:cubicBezTo>
                  <a:pt x="101487" y="69815"/>
                  <a:pt x="107512" y="69815"/>
                  <a:pt x="111223" y="66104"/>
                </a:cubicBezTo>
                <a:cubicBezTo>
                  <a:pt x="114933" y="62394"/>
                  <a:pt x="114933" y="56368"/>
                  <a:pt x="111223" y="52658"/>
                </a:cubicBezTo>
                <a:lnTo>
                  <a:pt x="63730" y="5165"/>
                </a:lnTo>
                <a:close/>
              </a:path>
            </a:pathLst>
          </a:custGeom>
          <a:solidFill>
            <a:srgbClr val="008236"/>
          </a:solidFill>
          <a:ln/>
        </p:spPr>
      </p:sp>
      <p:sp>
        <p:nvSpPr>
          <p:cNvPr id="8" name="Text 6"/>
          <p:cNvSpPr/>
          <p:nvPr/>
        </p:nvSpPr>
        <p:spPr>
          <a:xfrm>
            <a:off x="667014" y="1317141"/>
            <a:ext cx="5302338" cy="236410"/>
          </a:xfrm>
          <a:prstGeom prst="rect">
            <a:avLst/>
          </a:prstGeom>
          <a:noFill/>
          <a:ln/>
        </p:spPr>
        <p:txBody>
          <a:bodyPr wrap="square" lIns="0" tIns="0" rIns="0" bIns="0" rtlCol="0" anchor="ctr"/>
          <a:lstStyle/>
          <a:p>
            <a:pPr>
              <a:lnSpc>
                <a:spcPct val="130000"/>
              </a:lnSpc>
            </a:pPr>
            <a:r>
              <a:rPr lang="en-US" sz="1197" b="1" dirty="0">
                <a:solidFill>
                  <a:srgbClr val="008236"/>
                </a:solidFill>
                <a:latin typeface="MiSans" pitchFamily="34" charset="0"/>
                <a:ea typeface="MiSans" pitchFamily="34" charset="-122"/>
                <a:cs typeface="MiSans" pitchFamily="34" charset="-120"/>
              </a:rPr>
              <a:t>Highest-Effect Influences</a:t>
            </a:r>
            <a:endParaRPr lang="en-US" sz="1600" dirty="0"/>
          </a:p>
        </p:txBody>
      </p:sp>
      <p:sp>
        <p:nvSpPr>
          <p:cNvPr id="9" name="Shape 7"/>
          <p:cNvSpPr/>
          <p:nvPr/>
        </p:nvSpPr>
        <p:spPr>
          <a:xfrm>
            <a:off x="489706" y="1654870"/>
            <a:ext cx="5403657" cy="641684"/>
          </a:xfrm>
          <a:custGeom>
            <a:avLst/>
            <a:gdLst/>
            <a:ahLst/>
            <a:cxnLst/>
            <a:rect l="l" t="t" r="r" b="b"/>
            <a:pathLst>
              <a:path w="5403657" h="641684">
                <a:moveTo>
                  <a:pt x="0" y="0"/>
                </a:moveTo>
                <a:lnTo>
                  <a:pt x="5403657" y="0"/>
                </a:lnTo>
                <a:lnTo>
                  <a:pt x="5403657" y="641684"/>
                </a:lnTo>
                <a:lnTo>
                  <a:pt x="0" y="641684"/>
                </a:lnTo>
                <a:lnTo>
                  <a:pt x="0" y="0"/>
                </a:lnTo>
                <a:close/>
              </a:path>
            </a:pathLst>
          </a:custGeom>
          <a:solidFill>
            <a:srgbClr val="F0FDF4"/>
          </a:solidFill>
          <a:ln/>
        </p:spPr>
      </p:sp>
      <p:sp>
        <p:nvSpPr>
          <p:cNvPr id="10" name="Shape 8"/>
          <p:cNvSpPr/>
          <p:nvPr/>
        </p:nvSpPr>
        <p:spPr>
          <a:xfrm>
            <a:off x="489706" y="1654870"/>
            <a:ext cx="33773" cy="641684"/>
          </a:xfrm>
          <a:custGeom>
            <a:avLst/>
            <a:gdLst/>
            <a:ahLst/>
            <a:cxnLst/>
            <a:rect l="l" t="t" r="r" b="b"/>
            <a:pathLst>
              <a:path w="33773" h="641684">
                <a:moveTo>
                  <a:pt x="0" y="0"/>
                </a:moveTo>
                <a:lnTo>
                  <a:pt x="33773" y="0"/>
                </a:lnTo>
                <a:lnTo>
                  <a:pt x="33773" y="641684"/>
                </a:lnTo>
                <a:lnTo>
                  <a:pt x="0" y="641684"/>
                </a:lnTo>
                <a:lnTo>
                  <a:pt x="0" y="0"/>
                </a:lnTo>
                <a:close/>
              </a:path>
            </a:pathLst>
          </a:custGeom>
          <a:solidFill>
            <a:srgbClr val="00A63E"/>
          </a:solidFill>
          <a:ln/>
        </p:spPr>
      </p:sp>
      <p:sp>
        <p:nvSpPr>
          <p:cNvPr id="11" name="Text 9"/>
          <p:cNvSpPr/>
          <p:nvPr/>
        </p:nvSpPr>
        <p:spPr>
          <a:xfrm>
            <a:off x="607911" y="1773075"/>
            <a:ext cx="1426903"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Self-reported grades</a:t>
            </a:r>
            <a:endParaRPr lang="en-US" sz="1600" dirty="0"/>
          </a:p>
        </p:txBody>
      </p:sp>
      <p:sp>
        <p:nvSpPr>
          <p:cNvPr id="12" name="Text 10"/>
          <p:cNvSpPr/>
          <p:nvPr/>
        </p:nvSpPr>
        <p:spPr>
          <a:xfrm>
            <a:off x="5466840" y="1756188"/>
            <a:ext cx="405274" cy="236410"/>
          </a:xfrm>
          <a:prstGeom prst="rect">
            <a:avLst/>
          </a:prstGeom>
          <a:noFill/>
          <a:ln/>
        </p:spPr>
        <p:txBody>
          <a:bodyPr wrap="square" lIns="0" tIns="0" rIns="0" bIns="0" rtlCol="0" anchor="ctr"/>
          <a:lstStyle/>
          <a:p>
            <a:pPr>
              <a:lnSpc>
                <a:spcPct val="120000"/>
              </a:lnSpc>
            </a:pPr>
            <a:r>
              <a:rPr lang="en-US" sz="1330" b="1" dirty="0">
                <a:solidFill>
                  <a:srgbClr val="008236"/>
                </a:solidFill>
                <a:latin typeface="MiSans" pitchFamily="34" charset="0"/>
                <a:ea typeface="MiSans" pitchFamily="34" charset="-122"/>
                <a:cs typeface="MiSans" pitchFamily="34" charset="-120"/>
              </a:rPr>
              <a:t>1.44</a:t>
            </a:r>
            <a:endParaRPr lang="en-US" sz="1600" dirty="0"/>
          </a:p>
        </p:txBody>
      </p:sp>
      <p:sp>
        <p:nvSpPr>
          <p:cNvPr id="13" name="Text 11"/>
          <p:cNvSpPr/>
          <p:nvPr/>
        </p:nvSpPr>
        <p:spPr>
          <a:xfrm>
            <a:off x="607911" y="2026371"/>
            <a:ext cx="5243235" cy="168864"/>
          </a:xfrm>
          <a:prstGeom prst="rect">
            <a:avLst/>
          </a:prstGeom>
          <a:noFill/>
          <a:ln/>
        </p:spPr>
        <p:txBody>
          <a:bodyPr wrap="square" lIns="0" tIns="0" rIns="0" bIns="0" rtlCol="0" anchor="ctr"/>
          <a:lstStyle/>
          <a:p>
            <a:pPr>
              <a:lnSpc>
                <a:spcPct val="120000"/>
              </a:lnSpc>
            </a:pPr>
            <a:r>
              <a:rPr lang="en-US" sz="931" dirty="0">
                <a:solidFill>
                  <a:srgbClr val="6C757D"/>
                </a:solidFill>
                <a:latin typeface="MiSans" pitchFamily="34" charset="0"/>
                <a:ea typeface="MiSans" pitchFamily="34" charset="-122"/>
                <a:cs typeface="MiSans" pitchFamily="34" charset="-120"/>
              </a:rPr>
              <a:t>Methodologically anomalous — interpret with caution</a:t>
            </a:r>
            <a:endParaRPr lang="en-US" sz="1600" dirty="0"/>
          </a:p>
        </p:txBody>
      </p:sp>
      <p:sp>
        <p:nvSpPr>
          <p:cNvPr id="14" name="Shape 12"/>
          <p:cNvSpPr/>
          <p:nvPr/>
        </p:nvSpPr>
        <p:spPr>
          <a:xfrm>
            <a:off x="489706" y="2364100"/>
            <a:ext cx="5403657" cy="641684"/>
          </a:xfrm>
          <a:custGeom>
            <a:avLst/>
            <a:gdLst/>
            <a:ahLst/>
            <a:cxnLst/>
            <a:rect l="l" t="t" r="r" b="b"/>
            <a:pathLst>
              <a:path w="5403657" h="641684">
                <a:moveTo>
                  <a:pt x="0" y="0"/>
                </a:moveTo>
                <a:lnTo>
                  <a:pt x="5403657" y="0"/>
                </a:lnTo>
                <a:lnTo>
                  <a:pt x="5403657" y="641684"/>
                </a:lnTo>
                <a:lnTo>
                  <a:pt x="0" y="641684"/>
                </a:lnTo>
                <a:lnTo>
                  <a:pt x="0" y="0"/>
                </a:lnTo>
                <a:close/>
              </a:path>
            </a:pathLst>
          </a:custGeom>
          <a:solidFill>
            <a:srgbClr val="F0FDF4"/>
          </a:solidFill>
          <a:ln/>
        </p:spPr>
      </p:sp>
      <p:sp>
        <p:nvSpPr>
          <p:cNvPr id="15" name="Shape 13"/>
          <p:cNvSpPr/>
          <p:nvPr/>
        </p:nvSpPr>
        <p:spPr>
          <a:xfrm>
            <a:off x="489706" y="2364100"/>
            <a:ext cx="33773" cy="641684"/>
          </a:xfrm>
          <a:custGeom>
            <a:avLst/>
            <a:gdLst/>
            <a:ahLst/>
            <a:cxnLst/>
            <a:rect l="l" t="t" r="r" b="b"/>
            <a:pathLst>
              <a:path w="33773" h="641684">
                <a:moveTo>
                  <a:pt x="0" y="0"/>
                </a:moveTo>
                <a:lnTo>
                  <a:pt x="33773" y="0"/>
                </a:lnTo>
                <a:lnTo>
                  <a:pt x="33773" y="641684"/>
                </a:lnTo>
                <a:lnTo>
                  <a:pt x="0" y="641684"/>
                </a:lnTo>
                <a:lnTo>
                  <a:pt x="0" y="0"/>
                </a:lnTo>
                <a:close/>
              </a:path>
            </a:pathLst>
          </a:custGeom>
          <a:solidFill>
            <a:srgbClr val="00A63E"/>
          </a:solidFill>
          <a:ln/>
        </p:spPr>
      </p:sp>
      <p:sp>
        <p:nvSpPr>
          <p:cNvPr id="16" name="Text 14"/>
          <p:cNvSpPr/>
          <p:nvPr/>
        </p:nvSpPr>
        <p:spPr>
          <a:xfrm>
            <a:off x="607911" y="2482305"/>
            <a:ext cx="692343"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Feedback</a:t>
            </a:r>
            <a:endParaRPr lang="en-US" sz="1600" dirty="0"/>
          </a:p>
        </p:txBody>
      </p:sp>
      <p:sp>
        <p:nvSpPr>
          <p:cNvPr id="17" name="Text 15"/>
          <p:cNvSpPr/>
          <p:nvPr/>
        </p:nvSpPr>
        <p:spPr>
          <a:xfrm>
            <a:off x="5437007" y="2465418"/>
            <a:ext cx="439047" cy="236410"/>
          </a:xfrm>
          <a:prstGeom prst="rect">
            <a:avLst/>
          </a:prstGeom>
          <a:noFill/>
          <a:ln/>
        </p:spPr>
        <p:txBody>
          <a:bodyPr wrap="square" lIns="0" tIns="0" rIns="0" bIns="0" rtlCol="0" anchor="ctr"/>
          <a:lstStyle/>
          <a:p>
            <a:pPr>
              <a:lnSpc>
                <a:spcPct val="120000"/>
              </a:lnSpc>
            </a:pPr>
            <a:r>
              <a:rPr lang="en-US" sz="1330" b="1" dirty="0">
                <a:solidFill>
                  <a:srgbClr val="008236"/>
                </a:solidFill>
                <a:latin typeface="MiSans" pitchFamily="34" charset="0"/>
                <a:ea typeface="MiSans" pitchFamily="34" charset="-122"/>
                <a:cs typeface="MiSans" pitchFamily="34" charset="-120"/>
              </a:rPr>
              <a:t>0.75</a:t>
            </a:r>
            <a:endParaRPr lang="en-US" sz="1600" dirty="0"/>
          </a:p>
        </p:txBody>
      </p:sp>
      <p:sp>
        <p:nvSpPr>
          <p:cNvPr id="18" name="Text 16"/>
          <p:cNvSpPr/>
          <p:nvPr/>
        </p:nvSpPr>
        <p:spPr>
          <a:xfrm>
            <a:off x="607911" y="2741934"/>
            <a:ext cx="2070557" cy="156199"/>
          </a:xfrm>
          <a:prstGeom prst="rect">
            <a:avLst/>
          </a:prstGeom>
          <a:noFill/>
          <a:ln/>
        </p:spPr>
        <p:txBody>
          <a:bodyPr wrap="square" lIns="0" tIns="0" rIns="0" bIns="0" rtlCol="0" anchor="ctr"/>
          <a:lstStyle/>
          <a:p>
            <a:pPr>
              <a:lnSpc>
                <a:spcPct val="120000"/>
              </a:lnSpc>
            </a:pPr>
            <a:r>
              <a:rPr lang="en-US" sz="931" b="1" dirty="0">
                <a:solidFill>
                  <a:srgbClr val="6C757D"/>
                </a:solidFill>
                <a:latin typeface="MiSans" pitchFamily="34" charset="0"/>
                <a:ea typeface="MiSans" pitchFamily="34" charset="-122"/>
                <a:cs typeface="MiSans" pitchFamily="34" charset="-120"/>
              </a:rPr>
              <a:t>Directly addressed by MPI Strand 2</a:t>
            </a:r>
            <a:endParaRPr lang="en-US" sz="1600" dirty="0"/>
          </a:p>
        </p:txBody>
      </p:sp>
      <p:sp>
        <p:nvSpPr>
          <p:cNvPr id="19" name="Shape 17"/>
          <p:cNvSpPr/>
          <p:nvPr/>
        </p:nvSpPr>
        <p:spPr>
          <a:xfrm>
            <a:off x="489706" y="3073330"/>
            <a:ext cx="5403657" cy="641684"/>
          </a:xfrm>
          <a:custGeom>
            <a:avLst/>
            <a:gdLst/>
            <a:ahLst/>
            <a:cxnLst/>
            <a:rect l="l" t="t" r="r" b="b"/>
            <a:pathLst>
              <a:path w="5403657" h="641684">
                <a:moveTo>
                  <a:pt x="0" y="0"/>
                </a:moveTo>
                <a:lnTo>
                  <a:pt x="5403657" y="0"/>
                </a:lnTo>
                <a:lnTo>
                  <a:pt x="5403657" y="641684"/>
                </a:lnTo>
                <a:lnTo>
                  <a:pt x="0" y="641684"/>
                </a:lnTo>
                <a:lnTo>
                  <a:pt x="0" y="0"/>
                </a:lnTo>
                <a:close/>
              </a:path>
            </a:pathLst>
          </a:custGeom>
          <a:solidFill>
            <a:srgbClr val="F0FDF4"/>
          </a:solidFill>
          <a:ln/>
        </p:spPr>
      </p:sp>
      <p:sp>
        <p:nvSpPr>
          <p:cNvPr id="20" name="Shape 18"/>
          <p:cNvSpPr/>
          <p:nvPr/>
        </p:nvSpPr>
        <p:spPr>
          <a:xfrm>
            <a:off x="489706" y="3073330"/>
            <a:ext cx="33773" cy="641684"/>
          </a:xfrm>
          <a:custGeom>
            <a:avLst/>
            <a:gdLst/>
            <a:ahLst/>
            <a:cxnLst/>
            <a:rect l="l" t="t" r="r" b="b"/>
            <a:pathLst>
              <a:path w="33773" h="641684">
                <a:moveTo>
                  <a:pt x="0" y="0"/>
                </a:moveTo>
                <a:lnTo>
                  <a:pt x="33773" y="0"/>
                </a:lnTo>
                <a:lnTo>
                  <a:pt x="33773" y="641684"/>
                </a:lnTo>
                <a:lnTo>
                  <a:pt x="0" y="641684"/>
                </a:lnTo>
                <a:lnTo>
                  <a:pt x="0" y="0"/>
                </a:lnTo>
                <a:close/>
              </a:path>
            </a:pathLst>
          </a:custGeom>
          <a:solidFill>
            <a:srgbClr val="00A63E"/>
          </a:solidFill>
          <a:ln/>
        </p:spPr>
      </p:sp>
      <p:sp>
        <p:nvSpPr>
          <p:cNvPr id="21" name="Text 19"/>
          <p:cNvSpPr/>
          <p:nvPr/>
        </p:nvSpPr>
        <p:spPr>
          <a:xfrm>
            <a:off x="607911" y="3191535"/>
            <a:ext cx="2017928"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Teacher-student relationships</a:t>
            </a:r>
            <a:endParaRPr lang="en-US" sz="1600" dirty="0"/>
          </a:p>
        </p:txBody>
      </p:sp>
      <p:sp>
        <p:nvSpPr>
          <p:cNvPr id="22" name="Text 20"/>
          <p:cNvSpPr/>
          <p:nvPr/>
        </p:nvSpPr>
        <p:spPr>
          <a:xfrm>
            <a:off x="5442918" y="3174648"/>
            <a:ext cx="430604" cy="236410"/>
          </a:xfrm>
          <a:prstGeom prst="rect">
            <a:avLst/>
          </a:prstGeom>
          <a:noFill/>
          <a:ln/>
        </p:spPr>
        <p:txBody>
          <a:bodyPr wrap="square" lIns="0" tIns="0" rIns="0" bIns="0" rtlCol="0" anchor="ctr"/>
          <a:lstStyle/>
          <a:p>
            <a:pPr>
              <a:lnSpc>
                <a:spcPct val="120000"/>
              </a:lnSpc>
            </a:pPr>
            <a:r>
              <a:rPr lang="en-US" sz="1330" b="1" dirty="0">
                <a:solidFill>
                  <a:srgbClr val="008236"/>
                </a:solidFill>
                <a:latin typeface="MiSans" pitchFamily="34" charset="0"/>
                <a:ea typeface="MiSans" pitchFamily="34" charset="-122"/>
                <a:cs typeface="MiSans" pitchFamily="34" charset="-120"/>
              </a:rPr>
              <a:t>0.72</a:t>
            </a:r>
            <a:endParaRPr lang="en-US" sz="1600" dirty="0"/>
          </a:p>
        </p:txBody>
      </p:sp>
      <p:sp>
        <p:nvSpPr>
          <p:cNvPr id="23" name="Text 21"/>
          <p:cNvSpPr/>
          <p:nvPr/>
        </p:nvSpPr>
        <p:spPr>
          <a:xfrm>
            <a:off x="607911" y="3444831"/>
            <a:ext cx="5243235" cy="168864"/>
          </a:xfrm>
          <a:prstGeom prst="rect">
            <a:avLst/>
          </a:prstGeom>
          <a:noFill/>
          <a:ln/>
        </p:spPr>
        <p:txBody>
          <a:bodyPr wrap="square" lIns="0" tIns="0" rIns="0" bIns="0" rtlCol="0" anchor="ctr"/>
          <a:lstStyle/>
          <a:p>
            <a:pPr>
              <a:lnSpc>
                <a:spcPct val="120000"/>
              </a:lnSpc>
            </a:pPr>
            <a:r>
              <a:rPr lang="en-US" sz="931" dirty="0">
                <a:solidFill>
                  <a:srgbClr val="6C757D"/>
                </a:solidFill>
                <a:latin typeface="MiSans" pitchFamily="34" charset="0"/>
                <a:ea typeface="MiSans" pitchFamily="34" charset="-122"/>
                <a:cs typeface="MiSans" pitchFamily="34" charset="-120"/>
              </a:rPr>
              <a:t>Supported by Strand 3 professional development</a:t>
            </a:r>
            <a:endParaRPr lang="en-US" sz="1600" dirty="0"/>
          </a:p>
        </p:txBody>
      </p:sp>
      <p:sp>
        <p:nvSpPr>
          <p:cNvPr id="24" name="Shape 22"/>
          <p:cNvSpPr/>
          <p:nvPr/>
        </p:nvSpPr>
        <p:spPr>
          <a:xfrm>
            <a:off x="489706" y="3782560"/>
            <a:ext cx="5403657" cy="641684"/>
          </a:xfrm>
          <a:custGeom>
            <a:avLst/>
            <a:gdLst/>
            <a:ahLst/>
            <a:cxnLst/>
            <a:rect l="l" t="t" r="r" b="b"/>
            <a:pathLst>
              <a:path w="5403657" h="641684">
                <a:moveTo>
                  <a:pt x="0" y="0"/>
                </a:moveTo>
                <a:lnTo>
                  <a:pt x="5403657" y="0"/>
                </a:lnTo>
                <a:lnTo>
                  <a:pt x="5403657" y="641684"/>
                </a:lnTo>
                <a:lnTo>
                  <a:pt x="0" y="641684"/>
                </a:lnTo>
                <a:lnTo>
                  <a:pt x="0" y="0"/>
                </a:lnTo>
                <a:close/>
              </a:path>
            </a:pathLst>
          </a:custGeom>
          <a:solidFill>
            <a:srgbClr val="F0FDF4"/>
          </a:solidFill>
          <a:ln/>
        </p:spPr>
      </p:sp>
      <p:sp>
        <p:nvSpPr>
          <p:cNvPr id="25" name="Shape 23"/>
          <p:cNvSpPr/>
          <p:nvPr/>
        </p:nvSpPr>
        <p:spPr>
          <a:xfrm>
            <a:off x="489706" y="3782560"/>
            <a:ext cx="33773" cy="641684"/>
          </a:xfrm>
          <a:custGeom>
            <a:avLst/>
            <a:gdLst/>
            <a:ahLst/>
            <a:cxnLst/>
            <a:rect l="l" t="t" r="r" b="b"/>
            <a:pathLst>
              <a:path w="33773" h="641684">
                <a:moveTo>
                  <a:pt x="0" y="0"/>
                </a:moveTo>
                <a:lnTo>
                  <a:pt x="33773" y="0"/>
                </a:lnTo>
                <a:lnTo>
                  <a:pt x="33773" y="641684"/>
                </a:lnTo>
                <a:lnTo>
                  <a:pt x="0" y="641684"/>
                </a:lnTo>
                <a:lnTo>
                  <a:pt x="0" y="0"/>
                </a:lnTo>
                <a:close/>
              </a:path>
            </a:pathLst>
          </a:custGeom>
          <a:solidFill>
            <a:srgbClr val="00A63E"/>
          </a:solidFill>
          <a:ln/>
        </p:spPr>
      </p:sp>
      <p:sp>
        <p:nvSpPr>
          <p:cNvPr id="26" name="Text 24"/>
          <p:cNvSpPr/>
          <p:nvPr/>
        </p:nvSpPr>
        <p:spPr>
          <a:xfrm>
            <a:off x="607911" y="3900765"/>
            <a:ext cx="1730859"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Meta-cognitive strategies</a:t>
            </a:r>
            <a:endParaRPr lang="en-US" sz="1600" dirty="0"/>
          </a:p>
        </p:txBody>
      </p:sp>
      <p:sp>
        <p:nvSpPr>
          <p:cNvPr id="27" name="Text 25"/>
          <p:cNvSpPr/>
          <p:nvPr/>
        </p:nvSpPr>
        <p:spPr>
          <a:xfrm>
            <a:off x="5423357" y="3883878"/>
            <a:ext cx="447490" cy="236410"/>
          </a:xfrm>
          <a:prstGeom prst="rect">
            <a:avLst/>
          </a:prstGeom>
          <a:noFill/>
          <a:ln/>
        </p:spPr>
        <p:txBody>
          <a:bodyPr wrap="square" lIns="0" tIns="0" rIns="0" bIns="0" rtlCol="0" anchor="ctr"/>
          <a:lstStyle/>
          <a:p>
            <a:pPr>
              <a:lnSpc>
                <a:spcPct val="120000"/>
              </a:lnSpc>
            </a:pPr>
            <a:r>
              <a:rPr lang="en-US" sz="1330" b="1" dirty="0">
                <a:solidFill>
                  <a:srgbClr val="008236"/>
                </a:solidFill>
                <a:latin typeface="MiSans" pitchFamily="34" charset="0"/>
                <a:ea typeface="MiSans" pitchFamily="34" charset="-122"/>
                <a:cs typeface="MiSans" pitchFamily="34" charset="-120"/>
              </a:rPr>
              <a:t>0.69</a:t>
            </a:r>
            <a:endParaRPr lang="en-US" sz="1600" dirty="0"/>
          </a:p>
        </p:txBody>
      </p:sp>
      <p:sp>
        <p:nvSpPr>
          <p:cNvPr id="28" name="Text 26"/>
          <p:cNvSpPr/>
          <p:nvPr/>
        </p:nvSpPr>
        <p:spPr>
          <a:xfrm>
            <a:off x="607911" y="4154061"/>
            <a:ext cx="5243235" cy="168864"/>
          </a:xfrm>
          <a:prstGeom prst="rect">
            <a:avLst/>
          </a:prstGeom>
          <a:noFill/>
          <a:ln/>
        </p:spPr>
        <p:txBody>
          <a:bodyPr wrap="square" lIns="0" tIns="0" rIns="0" bIns="0" rtlCol="0" anchor="ctr"/>
          <a:lstStyle/>
          <a:p>
            <a:pPr>
              <a:lnSpc>
                <a:spcPct val="120000"/>
              </a:lnSpc>
            </a:pPr>
            <a:r>
              <a:rPr lang="en-US" sz="931" dirty="0">
                <a:solidFill>
                  <a:srgbClr val="6C757D"/>
                </a:solidFill>
                <a:latin typeface="MiSans" pitchFamily="34" charset="0"/>
                <a:ea typeface="MiSans" pitchFamily="34" charset="-122"/>
                <a:cs typeface="MiSans" pitchFamily="34" charset="-120"/>
              </a:rPr>
              <a:t>Embedded in curriculum sequencing framework</a:t>
            </a:r>
            <a:endParaRPr lang="en-US" sz="1600" dirty="0"/>
          </a:p>
        </p:txBody>
      </p:sp>
      <p:sp>
        <p:nvSpPr>
          <p:cNvPr id="29" name="Shape 27"/>
          <p:cNvSpPr/>
          <p:nvPr/>
        </p:nvSpPr>
        <p:spPr>
          <a:xfrm>
            <a:off x="337729" y="4677540"/>
            <a:ext cx="5690726" cy="2178349"/>
          </a:xfrm>
          <a:custGeom>
            <a:avLst/>
            <a:gdLst/>
            <a:ahLst/>
            <a:cxnLst/>
            <a:rect l="l" t="t" r="r" b="b"/>
            <a:pathLst>
              <a:path w="5690726" h="2178349">
                <a:moveTo>
                  <a:pt x="0" y="0"/>
                </a:moveTo>
                <a:lnTo>
                  <a:pt x="5690726" y="0"/>
                </a:lnTo>
                <a:lnTo>
                  <a:pt x="5690726" y="2178349"/>
                </a:lnTo>
                <a:lnTo>
                  <a:pt x="0" y="2178349"/>
                </a:lnTo>
                <a:lnTo>
                  <a:pt x="0" y="0"/>
                </a:lnTo>
                <a:close/>
              </a:path>
            </a:pathLst>
          </a:custGeom>
          <a:solidFill>
            <a:srgbClr val="FFFFFF"/>
          </a:solidFill>
          <a:ln/>
        </p:spPr>
      </p:sp>
      <p:sp>
        <p:nvSpPr>
          <p:cNvPr id="30" name="Shape 28"/>
          <p:cNvSpPr/>
          <p:nvPr/>
        </p:nvSpPr>
        <p:spPr>
          <a:xfrm>
            <a:off x="337729" y="4677540"/>
            <a:ext cx="5690726" cy="33773"/>
          </a:xfrm>
          <a:custGeom>
            <a:avLst/>
            <a:gdLst/>
            <a:ahLst/>
            <a:cxnLst/>
            <a:rect l="l" t="t" r="r" b="b"/>
            <a:pathLst>
              <a:path w="5690726" h="33773">
                <a:moveTo>
                  <a:pt x="0" y="0"/>
                </a:moveTo>
                <a:lnTo>
                  <a:pt x="5690726" y="0"/>
                </a:lnTo>
                <a:lnTo>
                  <a:pt x="5690726" y="33773"/>
                </a:lnTo>
                <a:lnTo>
                  <a:pt x="0" y="33773"/>
                </a:lnTo>
                <a:lnTo>
                  <a:pt x="0" y="0"/>
                </a:lnTo>
                <a:close/>
              </a:path>
            </a:pathLst>
          </a:custGeom>
          <a:solidFill>
            <a:srgbClr val="E7000B"/>
          </a:solidFill>
          <a:ln/>
        </p:spPr>
      </p:sp>
      <p:sp>
        <p:nvSpPr>
          <p:cNvPr id="31" name="Shape 29"/>
          <p:cNvSpPr/>
          <p:nvPr/>
        </p:nvSpPr>
        <p:spPr>
          <a:xfrm>
            <a:off x="512925" y="4871734"/>
            <a:ext cx="113983" cy="151978"/>
          </a:xfrm>
          <a:custGeom>
            <a:avLst/>
            <a:gdLst/>
            <a:ahLst/>
            <a:cxnLst/>
            <a:rect l="l" t="t" r="r" b="b"/>
            <a:pathLst>
              <a:path w="113983" h="151978">
                <a:moveTo>
                  <a:pt x="50283" y="149188"/>
                </a:moveTo>
                <a:cubicBezTo>
                  <a:pt x="53994" y="152898"/>
                  <a:pt x="60019" y="152898"/>
                  <a:pt x="63730" y="149188"/>
                </a:cubicBezTo>
                <a:lnTo>
                  <a:pt x="111223" y="101695"/>
                </a:lnTo>
                <a:cubicBezTo>
                  <a:pt x="114933" y="97984"/>
                  <a:pt x="114933" y="91958"/>
                  <a:pt x="111223" y="88248"/>
                </a:cubicBezTo>
                <a:cubicBezTo>
                  <a:pt x="107512" y="84538"/>
                  <a:pt x="101487" y="84538"/>
                  <a:pt x="97776" y="88248"/>
                </a:cubicBezTo>
                <a:lnTo>
                  <a:pt x="66490" y="119534"/>
                </a:lnTo>
                <a:lnTo>
                  <a:pt x="66490" y="9499"/>
                </a:lnTo>
                <a:cubicBezTo>
                  <a:pt x="66490" y="4245"/>
                  <a:pt x="62246" y="0"/>
                  <a:pt x="56992" y="0"/>
                </a:cubicBezTo>
                <a:cubicBezTo>
                  <a:pt x="51738" y="0"/>
                  <a:pt x="47493" y="4245"/>
                  <a:pt x="47493" y="9499"/>
                </a:cubicBezTo>
                <a:lnTo>
                  <a:pt x="47493" y="119534"/>
                </a:lnTo>
                <a:lnTo>
                  <a:pt x="16207" y="88248"/>
                </a:lnTo>
                <a:cubicBezTo>
                  <a:pt x="12497" y="84538"/>
                  <a:pt x="6471" y="84538"/>
                  <a:pt x="2761" y="88248"/>
                </a:cubicBezTo>
                <a:cubicBezTo>
                  <a:pt x="-950" y="91958"/>
                  <a:pt x="-950" y="97984"/>
                  <a:pt x="2761" y="101695"/>
                </a:cubicBezTo>
                <a:lnTo>
                  <a:pt x="50254" y="149188"/>
                </a:lnTo>
                <a:close/>
              </a:path>
            </a:pathLst>
          </a:custGeom>
          <a:solidFill>
            <a:srgbClr val="C10007"/>
          </a:solidFill>
          <a:ln/>
        </p:spPr>
      </p:sp>
      <p:sp>
        <p:nvSpPr>
          <p:cNvPr id="32" name="Text 30"/>
          <p:cNvSpPr/>
          <p:nvPr/>
        </p:nvSpPr>
        <p:spPr>
          <a:xfrm>
            <a:off x="667014" y="4829518"/>
            <a:ext cx="5302338" cy="236410"/>
          </a:xfrm>
          <a:prstGeom prst="rect">
            <a:avLst/>
          </a:prstGeom>
          <a:noFill/>
          <a:ln/>
        </p:spPr>
        <p:txBody>
          <a:bodyPr wrap="square" lIns="0" tIns="0" rIns="0" bIns="0" rtlCol="0" anchor="ctr"/>
          <a:lstStyle/>
          <a:p>
            <a:pPr>
              <a:lnSpc>
                <a:spcPct val="130000"/>
              </a:lnSpc>
            </a:pPr>
            <a:r>
              <a:rPr lang="en-US" sz="1197" b="1" dirty="0">
                <a:solidFill>
                  <a:srgbClr val="C10007"/>
                </a:solidFill>
                <a:latin typeface="MiSans" pitchFamily="34" charset="0"/>
                <a:ea typeface="MiSans" pitchFamily="34" charset="-122"/>
                <a:cs typeface="MiSans" pitchFamily="34" charset="-120"/>
              </a:rPr>
              <a:t>Lowest-Effect Influences</a:t>
            </a:r>
            <a:endParaRPr lang="en-US" sz="1600" dirty="0"/>
          </a:p>
        </p:txBody>
      </p:sp>
      <p:sp>
        <p:nvSpPr>
          <p:cNvPr id="33" name="Shape 31"/>
          <p:cNvSpPr/>
          <p:nvPr/>
        </p:nvSpPr>
        <p:spPr>
          <a:xfrm>
            <a:off x="489706" y="5167247"/>
            <a:ext cx="5403657" cy="472820"/>
          </a:xfrm>
          <a:custGeom>
            <a:avLst/>
            <a:gdLst/>
            <a:ahLst/>
            <a:cxnLst/>
            <a:rect l="l" t="t" r="r" b="b"/>
            <a:pathLst>
              <a:path w="5403657" h="472820">
                <a:moveTo>
                  <a:pt x="0" y="0"/>
                </a:moveTo>
                <a:lnTo>
                  <a:pt x="5403657" y="0"/>
                </a:lnTo>
                <a:lnTo>
                  <a:pt x="5403657" y="472820"/>
                </a:lnTo>
                <a:lnTo>
                  <a:pt x="0" y="472820"/>
                </a:lnTo>
                <a:lnTo>
                  <a:pt x="0" y="0"/>
                </a:lnTo>
                <a:close/>
              </a:path>
            </a:pathLst>
          </a:custGeom>
          <a:solidFill>
            <a:srgbClr val="FEF2F2"/>
          </a:solidFill>
          <a:ln/>
        </p:spPr>
      </p:sp>
      <p:sp>
        <p:nvSpPr>
          <p:cNvPr id="34" name="Shape 32"/>
          <p:cNvSpPr/>
          <p:nvPr/>
        </p:nvSpPr>
        <p:spPr>
          <a:xfrm>
            <a:off x="489706" y="5167247"/>
            <a:ext cx="33773" cy="472820"/>
          </a:xfrm>
          <a:custGeom>
            <a:avLst/>
            <a:gdLst/>
            <a:ahLst/>
            <a:cxnLst/>
            <a:rect l="l" t="t" r="r" b="b"/>
            <a:pathLst>
              <a:path w="33773" h="472820">
                <a:moveTo>
                  <a:pt x="0" y="0"/>
                </a:moveTo>
                <a:lnTo>
                  <a:pt x="33773" y="0"/>
                </a:lnTo>
                <a:lnTo>
                  <a:pt x="33773" y="472820"/>
                </a:lnTo>
                <a:lnTo>
                  <a:pt x="0" y="472820"/>
                </a:lnTo>
                <a:lnTo>
                  <a:pt x="0" y="0"/>
                </a:lnTo>
                <a:close/>
              </a:path>
            </a:pathLst>
          </a:custGeom>
          <a:solidFill>
            <a:srgbClr val="E7000B"/>
          </a:solidFill>
          <a:ln/>
        </p:spPr>
      </p:sp>
      <p:sp>
        <p:nvSpPr>
          <p:cNvPr id="35" name="Text 33"/>
          <p:cNvSpPr/>
          <p:nvPr/>
        </p:nvSpPr>
        <p:spPr>
          <a:xfrm>
            <a:off x="607911" y="5285452"/>
            <a:ext cx="692343"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Retention</a:t>
            </a:r>
            <a:endParaRPr lang="en-US" sz="1600" dirty="0"/>
          </a:p>
        </p:txBody>
      </p:sp>
      <p:sp>
        <p:nvSpPr>
          <p:cNvPr id="36" name="Text 34"/>
          <p:cNvSpPr/>
          <p:nvPr/>
        </p:nvSpPr>
        <p:spPr>
          <a:xfrm>
            <a:off x="5371432" y="5268565"/>
            <a:ext cx="506593" cy="236410"/>
          </a:xfrm>
          <a:prstGeom prst="rect">
            <a:avLst/>
          </a:prstGeom>
          <a:noFill/>
          <a:ln/>
        </p:spPr>
        <p:txBody>
          <a:bodyPr wrap="square" lIns="0" tIns="0" rIns="0" bIns="0" rtlCol="0" anchor="ctr"/>
          <a:lstStyle/>
          <a:p>
            <a:pPr>
              <a:lnSpc>
                <a:spcPct val="120000"/>
              </a:lnSpc>
            </a:pPr>
            <a:r>
              <a:rPr lang="en-US" sz="1330" b="1" dirty="0">
                <a:solidFill>
                  <a:srgbClr val="C10007"/>
                </a:solidFill>
                <a:latin typeface="MiSans" pitchFamily="34" charset="0"/>
                <a:ea typeface="MiSans" pitchFamily="34" charset="-122"/>
                <a:cs typeface="MiSans" pitchFamily="34" charset="-120"/>
              </a:rPr>
              <a:t>–0.13</a:t>
            </a:r>
            <a:endParaRPr lang="en-US" sz="1600" dirty="0"/>
          </a:p>
        </p:txBody>
      </p:sp>
      <p:sp>
        <p:nvSpPr>
          <p:cNvPr id="37" name="Shape 35"/>
          <p:cNvSpPr/>
          <p:nvPr/>
        </p:nvSpPr>
        <p:spPr>
          <a:xfrm>
            <a:off x="489706" y="5707612"/>
            <a:ext cx="5403657" cy="472820"/>
          </a:xfrm>
          <a:custGeom>
            <a:avLst/>
            <a:gdLst/>
            <a:ahLst/>
            <a:cxnLst/>
            <a:rect l="l" t="t" r="r" b="b"/>
            <a:pathLst>
              <a:path w="5403657" h="472820">
                <a:moveTo>
                  <a:pt x="0" y="0"/>
                </a:moveTo>
                <a:lnTo>
                  <a:pt x="5403657" y="0"/>
                </a:lnTo>
                <a:lnTo>
                  <a:pt x="5403657" y="472820"/>
                </a:lnTo>
                <a:lnTo>
                  <a:pt x="0" y="472820"/>
                </a:lnTo>
                <a:lnTo>
                  <a:pt x="0" y="0"/>
                </a:lnTo>
                <a:close/>
              </a:path>
            </a:pathLst>
          </a:custGeom>
          <a:solidFill>
            <a:srgbClr val="FEF2F2"/>
          </a:solidFill>
          <a:ln/>
        </p:spPr>
      </p:sp>
      <p:sp>
        <p:nvSpPr>
          <p:cNvPr id="38" name="Shape 36"/>
          <p:cNvSpPr/>
          <p:nvPr/>
        </p:nvSpPr>
        <p:spPr>
          <a:xfrm>
            <a:off x="489706" y="5707612"/>
            <a:ext cx="33773" cy="472820"/>
          </a:xfrm>
          <a:custGeom>
            <a:avLst/>
            <a:gdLst/>
            <a:ahLst/>
            <a:cxnLst/>
            <a:rect l="l" t="t" r="r" b="b"/>
            <a:pathLst>
              <a:path w="33773" h="472820">
                <a:moveTo>
                  <a:pt x="0" y="0"/>
                </a:moveTo>
                <a:lnTo>
                  <a:pt x="33773" y="0"/>
                </a:lnTo>
                <a:lnTo>
                  <a:pt x="33773" y="472820"/>
                </a:lnTo>
                <a:lnTo>
                  <a:pt x="0" y="472820"/>
                </a:lnTo>
                <a:lnTo>
                  <a:pt x="0" y="0"/>
                </a:lnTo>
                <a:close/>
              </a:path>
            </a:pathLst>
          </a:custGeom>
          <a:solidFill>
            <a:srgbClr val="E7000B"/>
          </a:solidFill>
          <a:ln/>
        </p:spPr>
      </p:sp>
      <p:sp>
        <p:nvSpPr>
          <p:cNvPr id="39" name="Text 37"/>
          <p:cNvSpPr/>
          <p:nvPr/>
        </p:nvSpPr>
        <p:spPr>
          <a:xfrm>
            <a:off x="607911" y="5825817"/>
            <a:ext cx="1139834"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Student mobility</a:t>
            </a:r>
            <a:endParaRPr lang="en-US" sz="1600" dirty="0"/>
          </a:p>
        </p:txBody>
      </p:sp>
      <p:sp>
        <p:nvSpPr>
          <p:cNvPr id="40" name="Text 38"/>
          <p:cNvSpPr/>
          <p:nvPr/>
        </p:nvSpPr>
        <p:spPr>
          <a:xfrm>
            <a:off x="5338925" y="5808931"/>
            <a:ext cx="531922" cy="236410"/>
          </a:xfrm>
          <a:prstGeom prst="rect">
            <a:avLst/>
          </a:prstGeom>
          <a:noFill/>
          <a:ln/>
        </p:spPr>
        <p:txBody>
          <a:bodyPr wrap="square" lIns="0" tIns="0" rIns="0" bIns="0" rtlCol="0" anchor="ctr"/>
          <a:lstStyle/>
          <a:p>
            <a:pPr>
              <a:lnSpc>
                <a:spcPct val="120000"/>
              </a:lnSpc>
            </a:pPr>
            <a:r>
              <a:rPr lang="en-US" sz="1330" b="1" dirty="0">
                <a:solidFill>
                  <a:srgbClr val="C10007"/>
                </a:solidFill>
                <a:latin typeface="MiSans" pitchFamily="34" charset="0"/>
                <a:ea typeface="MiSans" pitchFamily="34" charset="-122"/>
                <a:cs typeface="MiSans" pitchFamily="34" charset="-120"/>
              </a:rPr>
              <a:t>–0.34</a:t>
            </a:r>
            <a:endParaRPr lang="en-US" sz="1600" dirty="0"/>
          </a:p>
        </p:txBody>
      </p:sp>
      <p:sp>
        <p:nvSpPr>
          <p:cNvPr id="41" name="Shape 39"/>
          <p:cNvSpPr/>
          <p:nvPr/>
        </p:nvSpPr>
        <p:spPr>
          <a:xfrm>
            <a:off x="489706" y="6247978"/>
            <a:ext cx="5403657" cy="472820"/>
          </a:xfrm>
          <a:custGeom>
            <a:avLst/>
            <a:gdLst/>
            <a:ahLst/>
            <a:cxnLst/>
            <a:rect l="l" t="t" r="r" b="b"/>
            <a:pathLst>
              <a:path w="5403657" h="472820">
                <a:moveTo>
                  <a:pt x="0" y="0"/>
                </a:moveTo>
                <a:lnTo>
                  <a:pt x="5403657" y="0"/>
                </a:lnTo>
                <a:lnTo>
                  <a:pt x="5403657" y="472820"/>
                </a:lnTo>
                <a:lnTo>
                  <a:pt x="0" y="472820"/>
                </a:lnTo>
                <a:lnTo>
                  <a:pt x="0" y="0"/>
                </a:lnTo>
                <a:close/>
              </a:path>
            </a:pathLst>
          </a:custGeom>
          <a:solidFill>
            <a:srgbClr val="FEF2F2"/>
          </a:solidFill>
          <a:ln/>
        </p:spPr>
      </p:sp>
      <p:sp>
        <p:nvSpPr>
          <p:cNvPr id="42" name="Shape 40"/>
          <p:cNvSpPr/>
          <p:nvPr/>
        </p:nvSpPr>
        <p:spPr>
          <a:xfrm>
            <a:off x="489706" y="6247978"/>
            <a:ext cx="33773" cy="472820"/>
          </a:xfrm>
          <a:custGeom>
            <a:avLst/>
            <a:gdLst/>
            <a:ahLst/>
            <a:cxnLst/>
            <a:rect l="l" t="t" r="r" b="b"/>
            <a:pathLst>
              <a:path w="33773" h="472820">
                <a:moveTo>
                  <a:pt x="0" y="0"/>
                </a:moveTo>
                <a:lnTo>
                  <a:pt x="33773" y="0"/>
                </a:lnTo>
                <a:lnTo>
                  <a:pt x="33773" y="472820"/>
                </a:lnTo>
                <a:lnTo>
                  <a:pt x="0" y="472820"/>
                </a:lnTo>
                <a:lnTo>
                  <a:pt x="0" y="0"/>
                </a:lnTo>
                <a:close/>
              </a:path>
            </a:pathLst>
          </a:custGeom>
          <a:solidFill>
            <a:srgbClr val="E7000B"/>
          </a:solidFill>
          <a:ln/>
        </p:spPr>
      </p:sp>
      <p:sp>
        <p:nvSpPr>
          <p:cNvPr id="43" name="Text 41"/>
          <p:cNvSpPr/>
          <p:nvPr/>
        </p:nvSpPr>
        <p:spPr>
          <a:xfrm>
            <a:off x="607911" y="6366183"/>
            <a:ext cx="1258039" cy="202637"/>
          </a:xfrm>
          <a:prstGeom prst="rect">
            <a:avLst/>
          </a:prstGeom>
          <a:noFill/>
          <a:ln/>
        </p:spPr>
        <p:txBody>
          <a:bodyPr wrap="square" lIns="0" tIns="0" rIns="0" bIns="0" rtlCol="0" anchor="ctr"/>
          <a:lstStyle/>
          <a:p>
            <a:pPr>
              <a:lnSpc>
                <a:spcPct val="130000"/>
              </a:lnSpc>
            </a:pPr>
            <a:r>
              <a:rPr lang="en-US" sz="1064" b="1" dirty="0">
                <a:solidFill>
                  <a:srgbClr val="2D3436"/>
                </a:solidFill>
                <a:latin typeface="MiSans" pitchFamily="34" charset="0"/>
                <a:ea typeface="MiSans" pitchFamily="34" charset="-122"/>
                <a:cs typeface="MiSans" pitchFamily="34" charset="-120"/>
              </a:rPr>
              <a:t>Television viewing</a:t>
            </a:r>
            <a:endParaRPr lang="en-US" sz="1600" dirty="0"/>
          </a:p>
        </p:txBody>
      </p:sp>
      <p:sp>
        <p:nvSpPr>
          <p:cNvPr id="44" name="Text 42"/>
          <p:cNvSpPr/>
          <p:nvPr/>
        </p:nvSpPr>
        <p:spPr>
          <a:xfrm>
            <a:off x="5365521" y="6349296"/>
            <a:ext cx="506593" cy="236410"/>
          </a:xfrm>
          <a:prstGeom prst="rect">
            <a:avLst/>
          </a:prstGeom>
          <a:noFill/>
          <a:ln/>
        </p:spPr>
        <p:txBody>
          <a:bodyPr wrap="square" lIns="0" tIns="0" rIns="0" bIns="0" rtlCol="0" anchor="ctr"/>
          <a:lstStyle/>
          <a:p>
            <a:pPr>
              <a:lnSpc>
                <a:spcPct val="120000"/>
              </a:lnSpc>
            </a:pPr>
            <a:r>
              <a:rPr lang="en-US" sz="1330" b="1" dirty="0">
                <a:solidFill>
                  <a:srgbClr val="C10007"/>
                </a:solidFill>
                <a:latin typeface="MiSans" pitchFamily="34" charset="0"/>
                <a:ea typeface="MiSans" pitchFamily="34" charset="-122"/>
                <a:cs typeface="MiSans" pitchFamily="34" charset="-120"/>
              </a:rPr>
              <a:t>–0.18</a:t>
            </a:r>
            <a:endParaRPr lang="en-US" sz="1600" dirty="0"/>
          </a:p>
        </p:txBody>
      </p:sp>
      <p:sp>
        <p:nvSpPr>
          <p:cNvPr id="45" name="Shape 43"/>
          <p:cNvSpPr/>
          <p:nvPr/>
        </p:nvSpPr>
        <p:spPr>
          <a:xfrm>
            <a:off x="6161716" y="1148277"/>
            <a:ext cx="5690726" cy="3546150"/>
          </a:xfrm>
          <a:custGeom>
            <a:avLst/>
            <a:gdLst/>
            <a:ahLst/>
            <a:cxnLst/>
            <a:rect l="l" t="t" r="r" b="b"/>
            <a:pathLst>
              <a:path w="5690726" h="3546150">
                <a:moveTo>
                  <a:pt x="0" y="0"/>
                </a:moveTo>
                <a:lnTo>
                  <a:pt x="5690726" y="0"/>
                </a:lnTo>
                <a:lnTo>
                  <a:pt x="5690726" y="3546150"/>
                </a:lnTo>
                <a:lnTo>
                  <a:pt x="0" y="3546150"/>
                </a:lnTo>
                <a:lnTo>
                  <a:pt x="0" y="0"/>
                </a:lnTo>
                <a:close/>
              </a:path>
            </a:pathLst>
          </a:custGeom>
          <a:solidFill>
            <a:srgbClr val="1E3A5F"/>
          </a:solidFill>
          <a:ln/>
        </p:spPr>
      </p:sp>
      <p:sp>
        <p:nvSpPr>
          <p:cNvPr id="46" name="Text 44"/>
          <p:cNvSpPr/>
          <p:nvPr/>
        </p:nvSpPr>
        <p:spPr>
          <a:xfrm>
            <a:off x="6296808" y="1283368"/>
            <a:ext cx="5496532" cy="236410"/>
          </a:xfrm>
          <a:prstGeom prst="rect">
            <a:avLst/>
          </a:prstGeom>
          <a:noFill/>
          <a:ln/>
        </p:spPr>
        <p:txBody>
          <a:bodyPr wrap="square" lIns="0" tIns="0" rIns="0" bIns="0" rtlCol="0" anchor="ctr"/>
          <a:lstStyle/>
          <a:p>
            <a:pPr>
              <a:lnSpc>
                <a:spcPct val="130000"/>
              </a:lnSpc>
            </a:pPr>
            <a:r>
              <a:rPr lang="en-US" sz="1197" b="1" dirty="0">
                <a:solidFill>
                  <a:srgbClr val="F8F9FA"/>
                </a:solidFill>
                <a:latin typeface="MiSans" pitchFamily="34" charset="0"/>
                <a:ea typeface="MiSans" pitchFamily="34" charset="-122"/>
                <a:cs typeface="MiSans" pitchFamily="34" charset="-120"/>
              </a:rPr>
              <a:t>How the MPI Activates High-Effect Influences</a:t>
            </a:r>
            <a:endParaRPr lang="en-US" sz="1600" dirty="0"/>
          </a:p>
        </p:txBody>
      </p:sp>
      <p:sp>
        <p:nvSpPr>
          <p:cNvPr id="47" name="Shape 45"/>
          <p:cNvSpPr/>
          <p:nvPr/>
        </p:nvSpPr>
        <p:spPr>
          <a:xfrm>
            <a:off x="6296808" y="1621097"/>
            <a:ext cx="5420543" cy="911867"/>
          </a:xfrm>
          <a:custGeom>
            <a:avLst/>
            <a:gdLst/>
            <a:ahLst/>
            <a:cxnLst/>
            <a:rect l="l" t="t" r="r" b="b"/>
            <a:pathLst>
              <a:path w="5420543" h="911867">
                <a:moveTo>
                  <a:pt x="0" y="0"/>
                </a:moveTo>
                <a:lnTo>
                  <a:pt x="5420543" y="0"/>
                </a:lnTo>
                <a:lnTo>
                  <a:pt x="5420543" y="911867"/>
                </a:lnTo>
                <a:lnTo>
                  <a:pt x="0" y="911867"/>
                </a:lnTo>
                <a:lnTo>
                  <a:pt x="0" y="0"/>
                </a:lnTo>
                <a:close/>
              </a:path>
            </a:pathLst>
          </a:custGeom>
          <a:solidFill>
            <a:srgbClr val="F8F9FA">
              <a:alpha val="10196"/>
            </a:srgbClr>
          </a:solidFill>
          <a:ln/>
        </p:spPr>
      </p:sp>
      <p:sp>
        <p:nvSpPr>
          <p:cNvPr id="48" name="Text 46"/>
          <p:cNvSpPr/>
          <p:nvPr/>
        </p:nvSpPr>
        <p:spPr>
          <a:xfrm>
            <a:off x="6398126" y="1722416"/>
            <a:ext cx="5285452" cy="202637"/>
          </a:xfrm>
          <a:prstGeom prst="rect">
            <a:avLst/>
          </a:prstGeom>
          <a:noFill/>
          <a:ln/>
        </p:spPr>
        <p:txBody>
          <a:bodyPr wrap="square" lIns="0" tIns="0" rIns="0" bIns="0" rtlCol="0" anchor="ctr"/>
          <a:lstStyle/>
          <a:p>
            <a:pPr>
              <a:lnSpc>
                <a:spcPct val="130000"/>
              </a:lnSpc>
            </a:pPr>
            <a:r>
              <a:rPr lang="en-US" sz="1064" b="1" dirty="0">
                <a:solidFill>
                  <a:srgbClr val="C49A2C"/>
                </a:solidFill>
                <a:latin typeface="MiSans" pitchFamily="34" charset="0"/>
                <a:ea typeface="MiSans" pitchFamily="34" charset="-122"/>
                <a:cs typeface="MiSans" pitchFamily="34" charset="-120"/>
              </a:rPr>
              <a:t>Strand 1: Structured Curriculum Sequencing</a:t>
            </a:r>
            <a:endParaRPr lang="en-US" sz="1600" dirty="0"/>
          </a:p>
        </p:txBody>
      </p:sp>
      <p:sp>
        <p:nvSpPr>
          <p:cNvPr id="49" name="Text 47"/>
          <p:cNvSpPr/>
          <p:nvPr/>
        </p:nvSpPr>
        <p:spPr>
          <a:xfrm>
            <a:off x="6398126" y="1992598"/>
            <a:ext cx="5285452" cy="439047"/>
          </a:xfrm>
          <a:prstGeom prst="rect">
            <a:avLst/>
          </a:prstGeom>
          <a:noFill/>
          <a:ln/>
        </p:spPr>
        <p:txBody>
          <a:bodyPr wrap="square" lIns="0" tIns="0" rIns="0" bIns="0" rtlCol="0" anchor="ctr"/>
          <a:lstStyle/>
          <a:p>
            <a:pPr>
              <a:lnSpc>
                <a:spcPct val="140000"/>
              </a:lnSpc>
            </a:pPr>
            <a:r>
              <a:rPr lang="en-US" sz="1064" dirty="0">
                <a:solidFill>
                  <a:srgbClr val="F8F9FA"/>
                </a:solidFill>
                <a:latin typeface="MiSans" pitchFamily="34" charset="0"/>
                <a:ea typeface="MiSans" pitchFamily="34" charset="-122"/>
                <a:cs typeface="MiSans" pitchFamily="34" charset="-120"/>
              </a:rPr>
              <a:t>Addresses </a:t>
            </a:r>
            <a:pPr>
              <a:lnSpc>
                <a:spcPct val="140000"/>
              </a:lnSpc>
            </a:pPr>
            <a:r>
              <a:rPr lang="en-US" sz="1064" b="1" dirty="0">
                <a:solidFill>
                  <a:srgbClr val="F8F9FA"/>
                </a:solidFill>
                <a:latin typeface="MiSans" pitchFamily="34" charset="0"/>
                <a:ea typeface="MiSans" pitchFamily="34" charset="-122"/>
                <a:cs typeface="MiSans" pitchFamily="34" charset="-120"/>
              </a:rPr>
              <a:t>cognitive demand</a:t>
            </a:r>
            <a:pPr>
              <a:lnSpc>
                <a:spcPct val="140000"/>
              </a:lnSpc>
            </a:pPr>
            <a:r>
              <a:rPr lang="en-US" sz="1064" dirty="0">
                <a:solidFill>
                  <a:srgbClr val="F8F9FA"/>
                </a:solidFill>
                <a:latin typeface="MiSans" pitchFamily="34" charset="0"/>
                <a:ea typeface="MiSans" pitchFamily="34" charset="-122"/>
                <a:cs typeface="MiSans" pitchFamily="34" charset="-120"/>
              </a:rPr>
              <a:t> and reduces the likelihood of pupils encountering content for which they are not prepared. Targets appropriate challenge level.</a:t>
            </a:r>
            <a:endParaRPr lang="en-US" sz="1600" dirty="0"/>
          </a:p>
        </p:txBody>
      </p:sp>
      <p:sp>
        <p:nvSpPr>
          <p:cNvPr id="50" name="Shape 48"/>
          <p:cNvSpPr/>
          <p:nvPr/>
        </p:nvSpPr>
        <p:spPr>
          <a:xfrm>
            <a:off x="6296808" y="2634283"/>
            <a:ext cx="5420543" cy="911867"/>
          </a:xfrm>
          <a:custGeom>
            <a:avLst/>
            <a:gdLst/>
            <a:ahLst/>
            <a:cxnLst/>
            <a:rect l="l" t="t" r="r" b="b"/>
            <a:pathLst>
              <a:path w="5420543" h="911867">
                <a:moveTo>
                  <a:pt x="0" y="0"/>
                </a:moveTo>
                <a:lnTo>
                  <a:pt x="5420543" y="0"/>
                </a:lnTo>
                <a:lnTo>
                  <a:pt x="5420543" y="911867"/>
                </a:lnTo>
                <a:lnTo>
                  <a:pt x="0" y="911867"/>
                </a:lnTo>
                <a:lnTo>
                  <a:pt x="0" y="0"/>
                </a:lnTo>
                <a:close/>
              </a:path>
            </a:pathLst>
          </a:custGeom>
          <a:solidFill>
            <a:srgbClr val="F8F9FA">
              <a:alpha val="10196"/>
            </a:srgbClr>
          </a:solidFill>
          <a:ln/>
        </p:spPr>
      </p:sp>
      <p:sp>
        <p:nvSpPr>
          <p:cNvPr id="51" name="Text 49"/>
          <p:cNvSpPr/>
          <p:nvPr/>
        </p:nvSpPr>
        <p:spPr>
          <a:xfrm>
            <a:off x="6398126" y="2735601"/>
            <a:ext cx="5285452" cy="202637"/>
          </a:xfrm>
          <a:prstGeom prst="rect">
            <a:avLst/>
          </a:prstGeom>
          <a:noFill/>
          <a:ln/>
        </p:spPr>
        <p:txBody>
          <a:bodyPr wrap="square" lIns="0" tIns="0" rIns="0" bIns="0" rtlCol="0" anchor="ctr"/>
          <a:lstStyle/>
          <a:p>
            <a:pPr>
              <a:lnSpc>
                <a:spcPct val="130000"/>
              </a:lnSpc>
            </a:pPr>
            <a:r>
              <a:rPr lang="en-US" sz="1064" b="1" dirty="0">
                <a:solidFill>
                  <a:srgbClr val="C49A2C"/>
                </a:solidFill>
                <a:latin typeface="MiSans" pitchFamily="34" charset="0"/>
                <a:ea typeface="MiSans" pitchFamily="34" charset="-122"/>
                <a:cs typeface="MiSans" pitchFamily="34" charset="-120"/>
              </a:rPr>
              <a:t>Strand 2: Formative Assessment Integration</a:t>
            </a:r>
            <a:endParaRPr lang="en-US" sz="1600" dirty="0"/>
          </a:p>
        </p:txBody>
      </p:sp>
      <p:sp>
        <p:nvSpPr>
          <p:cNvPr id="52" name="Text 50"/>
          <p:cNvSpPr/>
          <p:nvPr/>
        </p:nvSpPr>
        <p:spPr>
          <a:xfrm>
            <a:off x="6398126" y="3005784"/>
            <a:ext cx="5285452" cy="439047"/>
          </a:xfrm>
          <a:prstGeom prst="rect">
            <a:avLst/>
          </a:prstGeom>
          <a:noFill/>
          <a:ln/>
        </p:spPr>
        <p:txBody>
          <a:bodyPr wrap="square" lIns="0" tIns="0" rIns="0" bIns="0" rtlCol="0" anchor="ctr"/>
          <a:lstStyle/>
          <a:p>
            <a:pPr>
              <a:lnSpc>
                <a:spcPct val="140000"/>
              </a:lnSpc>
            </a:pPr>
            <a:r>
              <a:rPr lang="en-US" sz="1064" dirty="0">
                <a:solidFill>
                  <a:srgbClr val="F8F9FA"/>
                </a:solidFill>
                <a:latin typeface="MiSans" pitchFamily="34" charset="0"/>
                <a:ea typeface="MiSans" pitchFamily="34" charset="-122"/>
                <a:cs typeface="MiSans" pitchFamily="34" charset="-120"/>
              </a:rPr>
              <a:t>Provides the </a:t>
            </a:r>
            <a:pPr>
              <a:lnSpc>
                <a:spcPct val="140000"/>
              </a:lnSpc>
            </a:pPr>
            <a:r>
              <a:rPr lang="en-US" sz="1064" b="1" dirty="0">
                <a:solidFill>
                  <a:srgbClr val="F8F9FA"/>
                </a:solidFill>
                <a:latin typeface="MiSans" pitchFamily="34" charset="0"/>
                <a:ea typeface="MiSans" pitchFamily="34" charset="-122"/>
                <a:cs typeface="MiSans" pitchFamily="34" charset="-120"/>
              </a:rPr>
              <a:t>feedback mechanism</a:t>
            </a:r>
            <a:pPr>
              <a:lnSpc>
                <a:spcPct val="140000"/>
              </a:lnSpc>
            </a:pPr>
            <a:r>
              <a:rPr lang="en-US" sz="1064" dirty="0">
                <a:solidFill>
                  <a:srgbClr val="F8F9FA"/>
                </a:solidFill>
                <a:latin typeface="MiSans" pitchFamily="34" charset="0"/>
                <a:ea typeface="MiSans" pitchFamily="34" charset="-122"/>
                <a:cs typeface="MiSans" pitchFamily="34" charset="-120"/>
              </a:rPr>
              <a:t> that Hattie's own analysis identifies as among the most powerful available. Directly targets the 0.75 effect size influence.</a:t>
            </a:r>
            <a:endParaRPr lang="en-US" sz="1600" dirty="0"/>
          </a:p>
        </p:txBody>
      </p:sp>
      <p:sp>
        <p:nvSpPr>
          <p:cNvPr id="53" name="Shape 51"/>
          <p:cNvSpPr/>
          <p:nvPr/>
        </p:nvSpPr>
        <p:spPr>
          <a:xfrm>
            <a:off x="6296808" y="3647468"/>
            <a:ext cx="5420543" cy="911867"/>
          </a:xfrm>
          <a:custGeom>
            <a:avLst/>
            <a:gdLst/>
            <a:ahLst/>
            <a:cxnLst/>
            <a:rect l="l" t="t" r="r" b="b"/>
            <a:pathLst>
              <a:path w="5420543" h="911867">
                <a:moveTo>
                  <a:pt x="0" y="0"/>
                </a:moveTo>
                <a:lnTo>
                  <a:pt x="5420543" y="0"/>
                </a:lnTo>
                <a:lnTo>
                  <a:pt x="5420543" y="911867"/>
                </a:lnTo>
                <a:lnTo>
                  <a:pt x="0" y="911867"/>
                </a:lnTo>
                <a:lnTo>
                  <a:pt x="0" y="0"/>
                </a:lnTo>
                <a:close/>
              </a:path>
            </a:pathLst>
          </a:custGeom>
          <a:solidFill>
            <a:srgbClr val="F8F9FA">
              <a:alpha val="10196"/>
            </a:srgbClr>
          </a:solidFill>
          <a:ln/>
        </p:spPr>
      </p:sp>
      <p:sp>
        <p:nvSpPr>
          <p:cNvPr id="54" name="Text 52"/>
          <p:cNvSpPr/>
          <p:nvPr/>
        </p:nvSpPr>
        <p:spPr>
          <a:xfrm>
            <a:off x="6398126" y="3748787"/>
            <a:ext cx="5285452" cy="202637"/>
          </a:xfrm>
          <a:prstGeom prst="rect">
            <a:avLst/>
          </a:prstGeom>
          <a:noFill/>
          <a:ln/>
        </p:spPr>
        <p:txBody>
          <a:bodyPr wrap="square" lIns="0" tIns="0" rIns="0" bIns="0" rtlCol="0" anchor="ctr"/>
          <a:lstStyle/>
          <a:p>
            <a:pPr>
              <a:lnSpc>
                <a:spcPct val="130000"/>
              </a:lnSpc>
            </a:pPr>
            <a:r>
              <a:rPr lang="en-US" sz="1064" b="1" dirty="0">
                <a:solidFill>
                  <a:srgbClr val="C49A2C"/>
                </a:solidFill>
                <a:latin typeface="MiSans" pitchFamily="34" charset="0"/>
                <a:ea typeface="MiSans" pitchFamily="34" charset="-122"/>
                <a:cs typeface="MiSans" pitchFamily="34" charset="-120"/>
              </a:rPr>
              <a:t>Strand 3: Professional Development</a:t>
            </a:r>
            <a:endParaRPr lang="en-US" sz="1600" dirty="0"/>
          </a:p>
        </p:txBody>
      </p:sp>
      <p:sp>
        <p:nvSpPr>
          <p:cNvPr id="55" name="Text 53"/>
          <p:cNvSpPr/>
          <p:nvPr/>
        </p:nvSpPr>
        <p:spPr>
          <a:xfrm>
            <a:off x="6398126" y="4018970"/>
            <a:ext cx="5285452" cy="439047"/>
          </a:xfrm>
          <a:prstGeom prst="rect">
            <a:avLst/>
          </a:prstGeom>
          <a:noFill/>
          <a:ln/>
        </p:spPr>
        <p:txBody>
          <a:bodyPr wrap="square" lIns="0" tIns="0" rIns="0" bIns="0" rtlCol="0" anchor="ctr"/>
          <a:lstStyle/>
          <a:p>
            <a:pPr>
              <a:lnSpc>
                <a:spcPct val="140000"/>
              </a:lnSpc>
            </a:pPr>
            <a:r>
              <a:rPr lang="en-US" sz="1064" dirty="0">
                <a:solidFill>
                  <a:srgbClr val="F8F9FA"/>
                </a:solidFill>
                <a:latin typeface="MiSans" pitchFamily="34" charset="0"/>
                <a:ea typeface="MiSans" pitchFamily="34" charset="-122"/>
                <a:cs typeface="MiSans" pitchFamily="34" charset="-120"/>
              </a:rPr>
              <a:t>Targets </a:t>
            </a:r>
            <a:pPr>
              <a:lnSpc>
                <a:spcPct val="140000"/>
              </a:lnSpc>
            </a:pPr>
            <a:r>
              <a:rPr lang="en-US" sz="1064" b="1" dirty="0">
                <a:solidFill>
                  <a:srgbClr val="F8F9FA"/>
                </a:solidFill>
                <a:latin typeface="MiSans" pitchFamily="34" charset="0"/>
                <a:ea typeface="MiSans" pitchFamily="34" charset="-122"/>
                <a:cs typeface="MiSans" pitchFamily="34" charset="-120"/>
              </a:rPr>
              <a:t>teacher quality</a:t>
            </a:r>
            <a:pPr>
              <a:lnSpc>
                <a:spcPct val="140000"/>
              </a:lnSpc>
            </a:pPr>
            <a:r>
              <a:rPr lang="en-US" sz="1064" dirty="0">
                <a:solidFill>
                  <a:srgbClr val="F8F9FA"/>
                </a:solidFill>
                <a:latin typeface="MiSans" pitchFamily="34" charset="0"/>
                <a:ea typeface="MiSans" pitchFamily="34" charset="-122"/>
                <a:cs typeface="MiSans" pitchFamily="34" charset="-120"/>
              </a:rPr>
              <a:t>, which consistently ranks among the top school-level influences on pupil outcomes. Builds pedagogical skill in feedback delivery.</a:t>
            </a:r>
            <a:endParaRPr lang="en-US" sz="1600" dirty="0"/>
          </a:p>
        </p:txBody>
      </p:sp>
      <p:sp>
        <p:nvSpPr>
          <p:cNvPr id="56" name="Shape 54"/>
          <p:cNvSpPr/>
          <p:nvPr/>
        </p:nvSpPr>
        <p:spPr>
          <a:xfrm>
            <a:off x="6178603" y="4795745"/>
            <a:ext cx="5673839" cy="928753"/>
          </a:xfrm>
          <a:custGeom>
            <a:avLst/>
            <a:gdLst/>
            <a:ahLst/>
            <a:cxnLst/>
            <a:rect l="l" t="t" r="r" b="b"/>
            <a:pathLst>
              <a:path w="5673839" h="928753">
                <a:moveTo>
                  <a:pt x="0" y="0"/>
                </a:moveTo>
                <a:lnTo>
                  <a:pt x="5673839" y="0"/>
                </a:lnTo>
                <a:lnTo>
                  <a:pt x="5673839" y="928753"/>
                </a:lnTo>
                <a:lnTo>
                  <a:pt x="0" y="928753"/>
                </a:lnTo>
                <a:lnTo>
                  <a:pt x="0" y="0"/>
                </a:lnTo>
                <a:close/>
              </a:path>
            </a:pathLst>
          </a:custGeom>
          <a:solidFill>
            <a:srgbClr val="C49A2C">
              <a:alpha val="10196"/>
            </a:srgbClr>
          </a:solidFill>
          <a:ln/>
        </p:spPr>
      </p:sp>
      <p:sp>
        <p:nvSpPr>
          <p:cNvPr id="57" name="Shape 55"/>
          <p:cNvSpPr/>
          <p:nvPr/>
        </p:nvSpPr>
        <p:spPr>
          <a:xfrm>
            <a:off x="6178603" y="4795745"/>
            <a:ext cx="33773" cy="928753"/>
          </a:xfrm>
          <a:custGeom>
            <a:avLst/>
            <a:gdLst/>
            <a:ahLst/>
            <a:cxnLst/>
            <a:rect l="l" t="t" r="r" b="b"/>
            <a:pathLst>
              <a:path w="33773" h="928753">
                <a:moveTo>
                  <a:pt x="0" y="0"/>
                </a:moveTo>
                <a:lnTo>
                  <a:pt x="33773" y="0"/>
                </a:lnTo>
                <a:lnTo>
                  <a:pt x="33773" y="928753"/>
                </a:lnTo>
                <a:lnTo>
                  <a:pt x="0" y="928753"/>
                </a:lnTo>
                <a:lnTo>
                  <a:pt x="0" y="0"/>
                </a:lnTo>
                <a:close/>
              </a:path>
            </a:pathLst>
          </a:custGeom>
          <a:solidFill>
            <a:srgbClr val="C49A2C"/>
          </a:solidFill>
          <a:ln/>
        </p:spPr>
      </p:sp>
      <p:sp>
        <p:nvSpPr>
          <p:cNvPr id="58" name="Shape 56"/>
          <p:cNvSpPr/>
          <p:nvPr/>
        </p:nvSpPr>
        <p:spPr>
          <a:xfrm>
            <a:off x="6364353" y="4977274"/>
            <a:ext cx="101319" cy="135091"/>
          </a:xfrm>
          <a:custGeom>
            <a:avLst/>
            <a:gdLst/>
            <a:ahLst/>
            <a:cxnLst/>
            <a:rect l="l" t="t" r="r" b="b"/>
            <a:pathLst>
              <a:path w="101319" h="135091">
                <a:moveTo>
                  <a:pt x="77282" y="101319"/>
                </a:moveTo>
                <a:cubicBezTo>
                  <a:pt x="79208" y="95435"/>
                  <a:pt x="83060" y="90105"/>
                  <a:pt x="87414" y="85514"/>
                </a:cubicBezTo>
                <a:cubicBezTo>
                  <a:pt x="96042" y="76437"/>
                  <a:pt x="101319" y="64168"/>
                  <a:pt x="101319" y="50659"/>
                </a:cubicBezTo>
                <a:cubicBezTo>
                  <a:pt x="101319" y="22691"/>
                  <a:pt x="78627" y="0"/>
                  <a:pt x="50659" y="0"/>
                </a:cubicBezTo>
                <a:cubicBezTo>
                  <a:pt x="22691" y="0"/>
                  <a:pt x="0" y="22691"/>
                  <a:pt x="0" y="50659"/>
                </a:cubicBezTo>
                <a:cubicBezTo>
                  <a:pt x="0" y="64168"/>
                  <a:pt x="5277" y="76437"/>
                  <a:pt x="13905" y="85514"/>
                </a:cubicBezTo>
                <a:cubicBezTo>
                  <a:pt x="18258" y="90105"/>
                  <a:pt x="22137" y="95435"/>
                  <a:pt x="24037" y="101319"/>
                </a:cubicBezTo>
                <a:lnTo>
                  <a:pt x="77255" y="101319"/>
                </a:lnTo>
                <a:close/>
                <a:moveTo>
                  <a:pt x="75989" y="113983"/>
                </a:moveTo>
                <a:lnTo>
                  <a:pt x="25330" y="113983"/>
                </a:lnTo>
                <a:lnTo>
                  <a:pt x="25330" y="118205"/>
                </a:lnTo>
                <a:cubicBezTo>
                  <a:pt x="25330" y="129867"/>
                  <a:pt x="34775" y="139313"/>
                  <a:pt x="46438" y="139313"/>
                </a:cubicBezTo>
                <a:lnTo>
                  <a:pt x="54881" y="139313"/>
                </a:lnTo>
                <a:cubicBezTo>
                  <a:pt x="66543" y="139313"/>
                  <a:pt x="75989" y="129867"/>
                  <a:pt x="75989" y="118205"/>
                </a:cubicBezTo>
                <a:lnTo>
                  <a:pt x="75989" y="113983"/>
                </a:lnTo>
                <a:close/>
                <a:moveTo>
                  <a:pt x="48548" y="29551"/>
                </a:moveTo>
                <a:cubicBezTo>
                  <a:pt x="38047" y="29551"/>
                  <a:pt x="29551" y="38047"/>
                  <a:pt x="29551" y="48548"/>
                </a:cubicBezTo>
                <a:cubicBezTo>
                  <a:pt x="29551" y="52058"/>
                  <a:pt x="26728" y="54881"/>
                  <a:pt x="23219" y="54881"/>
                </a:cubicBezTo>
                <a:cubicBezTo>
                  <a:pt x="19710" y="54881"/>
                  <a:pt x="16886" y="52058"/>
                  <a:pt x="16886" y="48548"/>
                </a:cubicBezTo>
                <a:cubicBezTo>
                  <a:pt x="16886" y="31055"/>
                  <a:pt x="31055" y="16886"/>
                  <a:pt x="48548" y="16886"/>
                </a:cubicBezTo>
                <a:cubicBezTo>
                  <a:pt x="52058" y="16886"/>
                  <a:pt x="54881" y="19710"/>
                  <a:pt x="54881" y="23219"/>
                </a:cubicBezTo>
                <a:cubicBezTo>
                  <a:pt x="54881" y="26728"/>
                  <a:pt x="52058" y="29551"/>
                  <a:pt x="48548" y="29551"/>
                </a:cubicBezTo>
                <a:close/>
              </a:path>
            </a:pathLst>
          </a:custGeom>
          <a:solidFill>
            <a:srgbClr val="C49A2C"/>
          </a:solidFill>
          <a:ln/>
        </p:spPr>
      </p:sp>
      <p:sp>
        <p:nvSpPr>
          <p:cNvPr id="59" name="Text 57"/>
          <p:cNvSpPr/>
          <p:nvPr/>
        </p:nvSpPr>
        <p:spPr>
          <a:xfrm>
            <a:off x="6544351" y="4930837"/>
            <a:ext cx="5240546" cy="658571"/>
          </a:xfrm>
          <a:prstGeom prst="rect">
            <a:avLst/>
          </a:prstGeom>
          <a:noFill/>
          <a:ln/>
        </p:spPr>
        <p:txBody>
          <a:bodyPr wrap="square" lIns="0" tIns="0" rIns="0" bIns="0" rtlCol="0" anchor="ctr"/>
          <a:lstStyle/>
          <a:p>
            <a:pPr>
              <a:lnSpc>
                <a:spcPct val="140000"/>
              </a:lnSpc>
            </a:pPr>
            <a:r>
              <a:rPr lang="en-US" sz="1064" b="1" dirty="0">
                <a:solidFill>
                  <a:srgbClr val="1E3A5F"/>
                </a:solidFill>
                <a:latin typeface="MiSans" pitchFamily="34" charset="0"/>
                <a:ea typeface="MiSans" pitchFamily="34" charset="-122"/>
                <a:cs typeface="MiSans" pitchFamily="34" charset="-120"/>
              </a:rPr>
              <a:t>Design Logic:</a:t>
            </a:r>
            <a:pPr>
              <a:lnSpc>
                <a:spcPct val="140000"/>
              </a:lnSpc>
            </a:pPr>
            <a:r>
              <a:rPr lang="en-US" sz="1064" dirty="0">
                <a:solidFill>
                  <a:srgbClr val="1E3A5F"/>
                </a:solidFill>
                <a:latin typeface="MiSans" pitchFamily="34" charset="0"/>
                <a:ea typeface="MiSans" pitchFamily="34" charset="-122"/>
                <a:cs typeface="MiSans" pitchFamily="34" charset="-120"/>
              </a:rPr>
              <a:t> The MPI's three strands are designed to activate the high-effect influences while minimising exposure to the low-effect ones. This is not incidental alignment — it is the explicit design rationale.</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79813" y="379813"/>
            <a:ext cx="75963" cy="455776"/>
          </a:xfrm>
          <a:custGeom>
            <a:avLst/>
            <a:gdLst/>
            <a:ahLst/>
            <a:cxnLst/>
            <a:rect l="l" t="t" r="r" b="b"/>
            <a:pathLst>
              <a:path w="75963" h="455776">
                <a:moveTo>
                  <a:pt x="0" y="0"/>
                </a:moveTo>
                <a:lnTo>
                  <a:pt x="75963" y="0"/>
                </a:lnTo>
                <a:lnTo>
                  <a:pt x="75963" y="455776"/>
                </a:lnTo>
                <a:lnTo>
                  <a:pt x="0" y="455776"/>
                </a:lnTo>
                <a:lnTo>
                  <a:pt x="0" y="0"/>
                </a:lnTo>
                <a:close/>
              </a:path>
            </a:pathLst>
          </a:custGeom>
          <a:solidFill>
            <a:srgbClr val="1E3A5F"/>
          </a:solidFill>
          <a:ln/>
        </p:spPr>
      </p:sp>
      <p:sp>
        <p:nvSpPr>
          <p:cNvPr id="3" name="Text 1"/>
          <p:cNvSpPr/>
          <p:nvPr/>
        </p:nvSpPr>
        <p:spPr>
          <a:xfrm>
            <a:off x="569720" y="417794"/>
            <a:ext cx="7263925" cy="379813"/>
          </a:xfrm>
          <a:prstGeom prst="rect">
            <a:avLst/>
          </a:prstGeom>
          <a:noFill/>
          <a:ln/>
        </p:spPr>
        <p:txBody>
          <a:bodyPr wrap="square" lIns="0" tIns="0" rIns="0" bIns="0" rtlCol="0" anchor="ctr"/>
          <a:lstStyle/>
          <a:p>
            <a:pPr>
              <a:lnSpc>
                <a:spcPct val="90000"/>
              </a:lnSpc>
            </a:pPr>
            <a:r>
              <a:rPr lang="en-US" sz="2692" b="1" dirty="0">
                <a:solidFill>
                  <a:srgbClr val="1E3A5F"/>
                </a:solidFill>
                <a:latin typeface="MiSans" pitchFamily="34" charset="0"/>
                <a:ea typeface="MiSans" pitchFamily="34" charset="-122"/>
                <a:cs typeface="MiSans" pitchFamily="34" charset="-120"/>
              </a:rPr>
              <a:t>Critiques of Hattie: Limitations and Caveats</a:t>
            </a:r>
            <a:endParaRPr lang="en-US" sz="1600" dirty="0"/>
          </a:p>
        </p:txBody>
      </p:sp>
      <p:sp>
        <p:nvSpPr>
          <p:cNvPr id="4" name="Text 2"/>
          <p:cNvSpPr/>
          <p:nvPr/>
        </p:nvSpPr>
        <p:spPr>
          <a:xfrm>
            <a:off x="569720" y="911551"/>
            <a:ext cx="11318430" cy="227888"/>
          </a:xfrm>
          <a:prstGeom prst="rect">
            <a:avLst/>
          </a:prstGeom>
          <a:noFill/>
          <a:ln/>
        </p:spPr>
        <p:txBody>
          <a:bodyPr wrap="square" lIns="0" tIns="0" rIns="0" bIns="0" rtlCol="0" anchor="ctr"/>
          <a:lstStyle/>
          <a:p>
            <a:pPr>
              <a:lnSpc>
                <a:spcPct val="130000"/>
              </a:lnSpc>
            </a:pPr>
            <a:r>
              <a:rPr lang="en-US" sz="1196" dirty="0">
                <a:solidFill>
                  <a:srgbClr val="6C757D"/>
                </a:solidFill>
                <a:latin typeface="MiSans" pitchFamily="34" charset="0"/>
                <a:ea typeface="MiSans" pitchFamily="34" charset="-122"/>
                <a:cs typeface="MiSans" pitchFamily="34" charset="-120"/>
              </a:rPr>
              <a:t>Important methodological critiques that participants should be aware of</a:t>
            </a:r>
            <a:endParaRPr lang="en-US" sz="1600" dirty="0"/>
          </a:p>
        </p:txBody>
      </p:sp>
      <p:sp>
        <p:nvSpPr>
          <p:cNvPr id="5" name="Shape 3"/>
          <p:cNvSpPr/>
          <p:nvPr/>
        </p:nvSpPr>
        <p:spPr>
          <a:xfrm>
            <a:off x="379813" y="1234393"/>
            <a:ext cx="5640224" cy="2183925"/>
          </a:xfrm>
          <a:custGeom>
            <a:avLst/>
            <a:gdLst/>
            <a:ahLst/>
            <a:cxnLst/>
            <a:rect l="l" t="t" r="r" b="b"/>
            <a:pathLst>
              <a:path w="5640224" h="2183925">
                <a:moveTo>
                  <a:pt x="0" y="0"/>
                </a:moveTo>
                <a:lnTo>
                  <a:pt x="5640224" y="0"/>
                </a:lnTo>
                <a:lnTo>
                  <a:pt x="5640224" y="2183925"/>
                </a:lnTo>
                <a:lnTo>
                  <a:pt x="0" y="2183925"/>
                </a:lnTo>
                <a:lnTo>
                  <a:pt x="0" y="0"/>
                </a:lnTo>
                <a:close/>
              </a:path>
            </a:pathLst>
          </a:custGeom>
          <a:solidFill>
            <a:srgbClr val="FFFFFF"/>
          </a:solidFill>
          <a:ln/>
        </p:spPr>
      </p:sp>
      <p:sp>
        <p:nvSpPr>
          <p:cNvPr id="6" name="Shape 4"/>
          <p:cNvSpPr/>
          <p:nvPr/>
        </p:nvSpPr>
        <p:spPr>
          <a:xfrm>
            <a:off x="379813" y="1234393"/>
            <a:ext cx="5640224" cy="37981"/>
          </a:xfrm>
          <a:custGeom>
            <a:avLst/>
            <a:gdLst/>
            <a:ahLst/>
            <a:cxnLst/>
            <a:rect l="l" t="t" r="r" b="b"/>
            <a:pathLst>
              <a:path w="5640224" h="37981">
                <a:moveTo>
                  <a:pt x="0" y="0"/>
                </a:moveTo>
                <a:lnTo>
                  <a:pt x="5640224" y="0"/>
                </a:lnTo>
                <a:lnTo>
                  <a:pt x="5640224" y="37981"/>
                </a:lnTo>
                <a:lnTo>
                  <a:pt x="0" y="37981"/>
                </a:lnTo>
                <a:lnTo>
                  <a:pt x="0" y="0"/>
                </a:lnTo>
                <a:close/>
              </a:path>
            </a:pathLst>
          </a:custGeom>
          <a:solidFill>
            <a:srgbClr val="1E3A5F"/>
          </a:solidFill>
          <a:ln/>
        </p:spPr>
      </p:sp>
      <p:sp>
        <p:nvSpPr>
          <p:cNvPr id="7" name="Shape 5"/>
          <p:cNvSpPr/>
          <p:nvPr/>
        </p:nvSpPr>
        <p:spPr>
          <a:xfrm>
            <a:off x="555477" y="1443290"/>
            <a:ext cx="189907" cy="189907"/>
          </a:xfrm>
          <a:custGeom>
            <a:avLst/>
            <a:gdLst/>
            <a:ahLst/>
            <a:cxnLst/>
            <a:rect l="l" t="t" r="r" b="b"/>
            <a:pathLst>
              <a:path w="189907" h="189907">
                <a:moveTo>
                  <a:pt x="94953" y="0"/>
                </a:moveTo>
                <a:cubicBezTo>
                  <a:pt x="100406" y="0"/>
                  <a:pt x="105413" y="3004"/>
                  <a:pt x="108009" y="7789"/>
                </a:cubicBezTo>
                <a:lnTo>
                  <a:pt x="188126" y="156154"/>
                </a:lnTo>
                <a:cubicBezTo>
                  <a:pt x="190611" y="160753"/>
                  <a:pt x="190500" y="166317"/>
                  <a:pt x="187829" y="170805"/>
                </a:cubicBezTo>
                <a:cubicBezTo>
                  <a:pt x="185159" y="175293"/>
                  <a:pt x="180300" y="178037"/>
                  <a:pt x="175070" y="178037"/>
                </a:cubicBezTo>
                <a:lnTo>
                  <a:pt x="14836" y="178037"/>
                </a:lnTo>
                <a:cubicBezTo>
                  <a:pt x="9607" y="178037"/>
                  <a:pt x="4785" y="175293"/>
                  <a:pt x="2077" y="170805"/>
                </a:cubicBezTo>
                <a:cubicBezTo>
                  <a:pt x="-631" y="166317"/>
                  <a:pt x="-705" y="160753"/>
                  <a:pt x="1780" y="156154"/>
                </a:cubicBezTo>
                <a:lnTo>
                  <a:pt x="81897" y="7789"/>
                </a:lnTo>
                <a:cubicBezTo>
                  <a:pt x="84494" y="3004"/>
                  <a:pt x="89501" y="0"/>
                  <a:pt x="94953" y="0"/>
                </a:cubicBezTo>
                <a:close/>
                <a:moveTo>
                  <a:pt x="94953" y="62313"/>
                </a:moveTo>
                <a:cubicBezTo>
                  <a:pt x="90020" y="62313"/>
                  <a:pt x="86051" y="66282"/>
                  <a:pt x="86051" y="71215"/>
                </a:cubicBezTo>
                <a:lnTo>
                  <a:pt x="86051" y="112757"/>
                </a:lnTo>
                <a:cubicBezTo>
                  <a:pt x="86051" y="117690"/>
                  <a:pt x="90020" y="121659"/>
                  <a:pt x="94953" y="121659"/>
                </a:cubicBezTo>
                <a:cubicBezTo>
                  <a:pt x="99886" y="121659"/>
                  <a:pt x="103855" y="117690"/>
                  <a:pt x="103855" y="112757"/>
                </a:cubicBezTo>
                <a:lnTo>
                  <a:pt x="103855" y="71215"/>
                </a:lnTo>
                <a:cubicBezTo>
                  <a:pt x="103855" y="66282"/>
                  <a:pt x="99886" y="62313"/>
                  <a:pt x="94953" y="62313"/>
                </a:cubicBezTo>
                <a:close/>
                <a:moveTo>
                  <a:pt x="104857" y="142430"/>
                </a:moveTo>
                <a:cubicBezTo>
                  <a:pt x="105082" y="138754"/>
                  <a:pt x="103249" y="135257"/>
                  <a:pt x="100097" y="133350"/>
                </a:cubicBezTo>
                <a:cubicBezTo>
                  <a:pt x="96946" y="131444"/>
                  <a:pt x="92997" y="131444"/>
                  <a:pt x="89846" y="133350"/>
                </a:cubicBezTo>
                <a:cubicBezTo>
                  <a:pt x="86695" y="135257"/>
                  <a:pt x="84862" y="138754"/>
                  <a:pt x="85087" y="142430"/>
                </a:cubicBezTo>
                <a:cubicBezTo>
                  <a:pt x="84862" y="146106"/>
                  <a:pt x="86695" y="149603"/>
                  <a:pt x="89846" y="151509"/>
                </a:cubicBezTo>
                <a:cubicBezTo>
                  <a:pt x="92997" y="153416"/>
                  <a:pt x="96946" y="153416"/>
                  <a:pt x="100097" y="151509"/>
                </a:cubicBezTo>
                <a:cubicBezTo>
                  <a:pt x="103249" y="149603"/>
                  <a:pt x="105082" y="146106"/>
                  <a:pt x="104857" y="142430"/>
                </a:cubicBezTo>
                <a:close/>
              </a:path>
            </a:pathLst>
          </a:custGeom>
          <a:solidFill>
            <a:srgbClr val="C49A2C"/>
          </a:solidFill>
          <a:ln/>
        </p:spPr>
      </p:sp>
      <p:sp>
        <p:nvSpPr>
          <p:cNvPr id="8" name="Text 6"/>
          <p:cNvSpPr/>
          <p:nvPr/>
        </p:nvSpPr>
        <p:spPr>
          <a:xfrm>
            <a:off x="769121" y="1405308"/>
            <a:ext cx="5193944" cy="265869"/>
          </a:xfrm>
          <a:prstGeom prst="rect">
            <a:avLst/>
          </a:prstGeom>
          <a:noFill/>
          <a:ln/>
        </p:spPr>
        <p:txBody>
          <a:bodyPr wrap="square" lIns="0" tIns="0" rIns="0" bIns="0" rtlCol="0" anchor="ctr"/>
          <a:lstStyle/>
          <a:p>
            <a:pPr>
              <a:lnSpc>
                <a:spcPct val="120000"/>
              </a:lnSpc>
            </a:pPr>
            <a:r>
              <a:rPr lang="en-US" sz="1495" b="1" dirty="0">
                <a:solidFill>
                  <a:srgbClr val="1E3A5F"/>
                </a:solidFill>
                <a:latin typeface="MiSans" pitchFamily="34" charset="0"/>
                <a:ea typeface="MiSans" pitchFamily="34" charset="-122"/>
                <a:cs typeface="MiSans" pitchFamily="34" charset="-120"/>
              </a:rPr>
              <a:t>Critique 1: The Meta-Meta-Analytic Problem</a:t>
            </a:r>
            <a:endParaRPr lang="en-US" sz="1600" dirty="0"/>
          </a:p>
        </p:txBody>
      </p:sp>
      <p:sp>
        <p:nvSpPr>
          <p:cNvPr id="9" name="Text 7"/>
          <p:cNvSpPr/>
          <p:nvPr/>
        </p:nvSpPr>
        <p:spPr>
          <a:xfrm>
            <a:off x="531738" y="1785121"/>
            <a:ext cx="5412336" cy="1481271"/>
          </a:xfrm>
          <a:prstGeom prst="rect">
            <a:avLst/>
          </a:prstGeom>
          <a:noFill/>
          <a:ln/>
        </p:spPr>
        <p:txBody>
          <a:bodyPr wrap="square" lIns="0" tIns="0" rIns="0" bIns="0" rtlCol="0" anchor="ctr"/>
          <a:lstStyle/>
          <a:p>
            <a:pPr>
              <a:lnSpc>
                <a:spcPct val="140000"/>
              </a:lnSpc>
            </a:pPr>
            <a:r>
              <a:rPr lang="en-US" sz="1196" dirty="0">
                <a:solidFill>
                  <a:srgbClr val="2D3436"/>
                </a:solidFill>
                <a:latin typeface="MiSans" pitchFamily="34" charset="0"/>
                <a:ea typeface="MiSans" pitchFamily="34" charset="-122"/>
                <a:cs typeface="MiSans" pitchFamily="34" charset="-120"/>
              </a:rPr>
              <a:t>The meta-meta-analytic approach </a:t>
            </a:r>
            <a:pPr>
              <a:lnSpc>
                <a:spcPct val="140000"/>
              </a:lnSpc>
            </a:pPr>
            <a:r>
              <a:rPr lang="en-US" sz="1196" b="1" dirty="0">
                <a:solidFill>
                  <a:srgbClr val="2D3436"/>
                </a:solidFill>
                <a:latin typeface="MiSans" pitchFamily="34" charset="0"/>
                <a:ea typeface="MiSans" pitchFamily="34" charset="-122"/>
                <a:cs typeface="MiSans" pitchFamily="34" charset="-120"/>
              </a:rPr>
              <a:t>combines studies of widely varying quality, context, and design</a:t>
            </a:r>
            <a:pPr>
              <a:lnSpc>
                <a:spcPct val="140000"/>
              </a:lnSpc>
            </a:pPr>
            <a:r>
              <a:rPr lang="en-US" sz="1196" dirty="0">
                <a:solidFill>
                  <a:srgbClr val="2D3436"/>
                </a:solidFill>
                <a:latin typeface="MiSans" pitchFamily="34" charset="0"/>
                <a:ea typeface="MiSans" pitchFamily="34" charset="-122"/>
                <a:cs typeface="MiSans" pitchFamily="34" charset="-120"/>
              </a:rPr>
              <a:t>, potentially masking important moderating variables. A study conducted in a well-resourced suburban school may produce different effect sizes than the same intervention in an under-resourced urban setting, and Hattie's synthesis does not always distinguish between these contexts.</a:t>
            </a:r>
            <a:endParaRPr lang="en-US" sz="1600" dirty="0"/>
          </a:p>
        </p:txBody>
      </p:sp>
      <p:sp>
        <p:nvSpPr>
          <p:cNvPr id="10" name="Shape 8"/>
          <p:cNvSpPr/>
          <p:nvPr/>
        </p:nvSpPr>
        <p:spPr>
          <a:xfrm>
            <a:off x="379813" y="3589234"/>
            <a:ext cx="5640224" cy="1937047"/>
          </a:xfrm>
          <a:custGeom>
            <a:avLst/>
            <a:gdLst/>
            <a:ahLst/>
            <a:cxnLst/>
            <a:rect l="l" t="t" r="r" b="b"/>
            <a:pathLst>
              <a:path w="5640224" h="1937047">
                <a:moveTo>
                  <a:pt x="0" y="0"/>
                </a:moveTo>
                <a:lnTo>
                  <a:pt x="5640224" y="0"/>
                </a:lnTo>
                <a:lnTo>
                  <a:pt x="5640224" y="1937047"/>
                </a:lnTo>
                <a:lnTo>
                  <a:pt x="0" y="1937047"/>
                </a:lnTo>
                <a:lnTo>
                  <a:pt x="0" y="0"/>
                </a:lnTo>
                <a:close/>
              </a:path>
            </a:pathLst>
          </a:custGeom>
          <a:solidFill>
            <a:srgbClr val="FFFFFF"/>
          </a:solidFill>
          <a:ln/>
        </p:spPr>
      </p:sp>
      <p:sp>
        <p:nvSpPr>
          <p:cNvPr id="11" name="Shape 9"/>
          <p:cNvSpPr/>
          <p:nvPr/>
        </p:nvSpPr>
        <p:spPr>
          <a:xfrm>
            <a:off x="379813" y="3589234"/>
            <a:ext cx="5640224" cy="37981"/>
          </a:xfrm>
          <a:custGeom>
            <a:avLst/>
            <a:gdLst/>
            <a:ahLst/>
            <a:cxnLst/>
            <a:rect l="l" t="t" r="r" b="b"/>
            <a:pathLst>
              <a:path w="5640224" h="37981">
                <a:moveTo>
                  <a:pt x="0" y="0"/>
                </a:moveTo>
                <a:lnTo>
                  <a:pt x="5640224" y="0"/>
                </a:lnTo>
                <a:lnTo>
                  <a:pt x="5640224" y="37981"/>
                </a:lnTo>
                <a:lnTo>
                  <a:pt x="0" y="37981"/>
                </a:lnTo>
                <a:lnTo>
                  <a:pt x="0" y="0"/>
                </a:lnTo>
                <a:close/>
              </a:path>
            </a:pathLst>
          </a:custGeom>
          <a:solidFill>
            <a:srgbClr val="1E3A5F"/>
          </a:solidFill>
          <a:ln/>
        </p:spPr>
      </p:sp>
      <p:sp>
        <p:nvSpPr>
          <p:cNvPr id="12" name="Shape 10"/>
          <p:cNvSpPr/>
          <p:nvPr/>
        </p:nvSpPr>
        <p:spPr>
          <a:xfrm>
            <a:off x="531738" y="3798131"/>
            <a:ext cx="237383" cy="189907"/>
          </a:xfrm>
          <a:custGeom>
            <a:avLst/>
            <a:gdLst/>
            <a:ahLst/>
            <a:cxnLst/>
            <a:rect l="l" t="t" r="r" b="b"/>
            <a:pathLst>
              <a:path w="237383" h="189907">
                <a:moveTo>
                  <a:pt x="142430" y="11869"/>
                </a:moveTo>
                <a:lnTo>
                  <a:pt x="189907" y="11869"/>
                </a:lnTo>
                <a:cubicBezTo>
                  <a:pt x="196472" y="11869"/>
                  <a:pt x="201776" y="17173"/>
                  <a:pt x="201776" y="23738"/>
                </a:cubicBezTo>
                <a:cubicBezTo>
                  <a:pt x="201776" y="30303"/>
                  <a:pt x="196472" y="35607"/>
                  <a:pt x="189907" y="35607"/>
                </a:cubicBezTo>
                <a:lnTo>
                  <a:pt x="147771" y="35607"/>
                </a:lnTo>
                <a:cubicBezTo>
                  <a:pt x="145842" y="45177"/>
                  <a:pt x="139277" y="53077"/>
                  <a:pt x="130561" y="56861"/>
                </a:cubicBezTo>
                <a:lnTo>
                  <a:pt x="130561" y="166168"/>
                </a:lnTo>
                <a:lnTo>
                  <a:pt x="189907" y="166168"/>
                </a:lnTo>
                <a:cubicBezTo>
                  <a:pt x="196472" y="166168"/>
                  <a:pt x="201776" y="171472"/>
                  <a:pt x="201776" y="178037"/>
                </a:cubicBezTo>
                <a:cubicBezTo>
                  <a:pt x="201776" y="184603"/>
                  <a:pt x="196472" y="189907"/>
                  <a:pt x="189907" y="189907"/>
                </a:cubicBezTo>
                <a:lnTo>
                  <a:pt x="47477" y="189907"/>
                </a:lnTo>
                <a:cubicBezTo>
                  <a:pt x="40912" y="189907"/>
                  <a:pt x="35607" y="184603"/>
                  <a:pt x="35607" y="178037"/>
                </a:cubicBezTo>
                <a:cubicBezTo>
                  <a:pt x="35607" y="171472"/>
                  <a:pt x="40912" y="166168"/>
                  <a:pt x="47477" y="166168"/>
                </a:cubicBezTo>
                <a:lnTo>
                  <a:pt x="106822" y="166168"/>
                </a:lnTo>
                <a:lnTo>
                  <a:pt x="106822" y="56861"/>
                </a:lnTo>
                <a:cubicBezTo>
                  <a:pt x="98106" y="53040"/>
                  <a:pt x="91541" y="45140"/>
                  <a:pt x="89612" y="35607"/>
                </a:cubicBezTo>
                <a:lnTo>
                  <a:pt x="47477" y="35607"/>
                </a:lnTo>
                <a:cubicBezTo>
                  <a:pt x="40912" y="35607"/>
                  <a:pt x="35607" y="30303"/>
                  <a:pt x="35607" y="23738"/>
                </a:cubicBezTo>
                <a:cubicBezTo>
                  <a:pt x="35607" y="17173"/>
                  <a:pt x="40912" y="11869"/>
                  <a:pt x="47477" y="11869"/>
                </a:cubicBezTo>
                <a:lnTo>
                  <a:pt x="94953" y="11869"/>
                </a:lnTo>
                <a:cubicBezTo>
                  <a:pt x="100369" y="4673"/>
                  <a:pt x="108974" y="0"/>
                  <a:pt x="118692" y="0"/>
                </a:cubicBezTo>
                <a:cubicBezTo>
                  <a:pt x="128409" y="0"/>
                  <a:pt x="137015" y="4673"/>
                  <a:pt x="142430" y="11869"/>
                </a:cubicBezTo>
                <a:close/>
                <a:moveTo>
                  <a:pt x="163053" y="118692"/>
                </a:moveTo>
                <a:lnTo>
                  <a:pt x="216761" y="118692"/>
                </a:lnTo>
                <a:lnTo>
                  <a:pt x="189907" y="72624"/>
                </a:lnTo>
                <a:lnTo>
                  <a:pt x="163053" y="118692"/>
                </a:lnTo>
                <a:close/>
                <a:moveTo>
                  <a:pt x="189907" y="154299"/>
                </a:moveTo>
                <a:cubicBezTo>
                  <a:pt x="166576" y="154299"/>
                  <a:pt x="147178" y="141688"/>
                  <a:pt x="143172" y="125034"/>
                </a:cubicBezTo>
                <a:cubicBezTo>
                  <a:pt x="142207" y="120954"/>
                  <a:pt x="143543" y="116763"/>
                  <a:pt x="145657" y="113128"/>
                </a:cubicBezTo>
                <a:lnTo>
                  <a:pt x="180968" y="52595"/>
                </a:lnTo>
                <a:cubicBezTo>
                  <a:pt x="182822" y="49405"/>
                  <a:pt x="186235" y="47477"/>
                  <a:pt x="189907" y="47477"/>
                </a:cubicBezTo>
                <a:cubicBezTo>
                  <a:pt x="193579" y="47477"/>
                  <a:pt x="196991" y="49442"/>
                  <a:pt x="198846" y="52595"/>
                </a:cubicBezTo>
                <a:lnTo>
                  <a:pt x="234156" y="113128"/>
                </a:lnTo>
                <a:cubicBezTo>
                  <a:pt x="236270" y="116763"/>
                  <a:pt x="237606" y="120954"/>
                  <a:pt x="236641" y="125034"/>
                </a:cubicBezTo>
                <a:cubicBezTo>
                  <a:pt x="232636" y="141651"/>
                  <a:pt x="213237" y="154299"/>
                  <a:pt x="189907" y="154299"/>
                </a:cubicBezTo>
                <a:close/>
                <a:moveTo>
                  <a:pt x="47032" y="72624"/>
                </a:moveTo>
                <a:lnTo>
                  <a:pt x="20178" y="118692"/>
                </a:lnTo>
                <a:lnTo>
                  <a:pt x="73923" y="118692"/>
                </a:lnTo>
                <a:lnTo>
                  <a:pt x="47032" y="72624"/>
                </a:lnTo>
                <a:close/>
                <a:moveTo>
                  <a:pt x="334" y="125034"/>
                </a:moveTo>
                <a:cubicBezTo>
                  <a:pt x="-631" y="120954"/>
                  <a:pt x="705" y="116763"/>
                  <a:pt x="2819" y="113128"/>
                </a:cubicBezTo>
                <a:lnTo>
                  <a:pt x="38130" y="52595"/>
                </a:lnTo>
                <a:cubicBezTo>
                  <a:pt x="39984" y="49405"/>
                  <a:pt x="43397" y="47477"/>
                  <a:pt x="47069" y="47477"/>
                </a:cubicBezTo>
                <a:cubicBezTo>
                  <a:pt x="50741" y="47477"/>
                  <a:pt x="54153" y="49442"/>
                  <a:pt x="56008" y="52595"/>
                </a:cubicBezTo>
                <a:lnTo>
                  <a:pt x="91318" y="113128"/>
                </a:lnTo>
                <a:cubicBezTo>
                  <a:pt x="93433" y="116763"/>
                  <a:pt x="94768" y="120954"/>
                  <a:pt x="93803" y="125034"/>
                </a:cubicBezTo>
                <a:cubicBezTo>
                  <a:pt x="89798" y="141651"/>
                  <a:pt x="70399" y="154299"/>
                  <a:pt x="47069" y="154299"/>
                </a:cubicBezTo>
                <a:cubicBezTo>
                  <a:pt x="23738" y="154299"/>
                  <a:pt x="4340" y="141688"/>
                  <a:pt x="334" y="125034"/>
                </a:cubicBezTo>
                <a:close/>
              </a:path>
            </a:pathLst>
          </a:custGeom>
          <a:solidFill>
            <a:srgbClr val="C49A2C"/>
          </a:solidFill>
          <a:ln/>
        </p:spPr>
      </p:sp>
      <p:sp>
        <p:nvSpPr>
          <p:cNvPr id="13" name="Text 11"/>
          <p:cNvSpPr/>
          <p:nvPr/>
        </p:nvSpPr>
        <p:spPr>
          <a:xfrm>
            <a:off x="769121" y="3760150"/>
            <a:ext cx="5193944" cy="265869"/>
          </a:xfrm>
          <a:prstGeom prst="rect">
            <a:avLst/>
          </a:prstGeom>
          <a:noFill/>
          <a:ln/>
        </p:spPr>
        <p:txBody>
          <a:bodyPr wrap="square" lIns="0" tIns="0" rIns="0" bIns="0" rtlCol="0" anchor="ctr"/>
          <a:lstStyle/>
          <a:p>
            <a:pPr>
              <a:lnSpc>
                <a:spcPct val="120000"/>
              </a:lnSpc>
            </a:pPr>
            <a:r>
              <a:rPr lang="en-US" sz="1495" b="1" dirty="0">
                <a:solidFill>
                  <a:srgbClr val="1E3A5F"/>
                </a:solidFill>
                <a:latin typeface="MiSans" pitchFamily="34" charset="0"/>
                <a:ea typeface="MiSans" pitchFamily="34" charset="-122"/>
                <a:cs typeface="MiSans" pitchFamily="34" charset="-120"/>
              </a:rPr>
              <a:t>Critique 2: The Comparison Group Problem</a:t>
            </a:r>
            <a:endParaRPr lang="en-US" sz="1600" dirty="0"/>
          </a:p>
        </p:txBody>
      </p:sp>
      <p:sp>
        <p:nvSpPr>
          <p:cNvPr id="14" name="Text 12"/>
          <p:cNvSpPr/>
          <p:nvPr/>
        </p:nvSpPr>
        <p:spPr>
          <a:xfrm>
            <a:off x="531738" y="4139963"/>
            <a:ext cx="5412336" cy="1234393"/>
          </a:xfrm>
          <a:prstGeom prst="rect">
            <a:avLst/>
          </a:prstGeom>
          <a:noFill/>
          <a:ln/>
        </p:spPr>
        <p:txBody>
          <a:bodyPr wrap="square" lIns="0" tIns="0" rIns="0" bIns="0" rtlCol="0" anchor="ctr"/>
          <a:lstStyle/>
          <a:p>
            <a:pPr>
              <a:lnSpc>
                <a:spcPct val="140000"/>
              </a:lnSpc>
            </a:pPr>
            <a:r>
              <a:rPr lang="en-US" sz="1196" dirty="0">
                <a:solidFill>
                  <a:srgbClr val="2D3436"/>
                </a:solidFill>
                <a:latin typeface="MiSans" pitchFamily="34" charset="0"/>
                <a:ea typeface="MiSans" pitchFamily="34" charset="-122"/>
                <a:cs typeface="MiSans" pitchFamily="34" charset="-120"/>
              </a:rPr>
              <a:t>Effect sizes are calculated against </a:t>
            </a:r>
            <a:pPr>
              <a:lnSpc>
                <a:spcPct val="140000"/>
              </a:lnSpc>
            </a:pPr>
            <a:r>
              <a:rPr lang="en-US" sz="1196" b="1" dirty="0">
                <a:solidFill>
                  <a:srgbClr val="2D3436"/>
                </a:solidFill>
                <a:latin typeface="MiSans" pitchFamily="34" charset="0"/>
                <a:ea typeface="MiSans" pitchFamily="34" charset="-122"/>
                <a:cs typeface="MiSans" pitchFamily="34" charset="-120"/>
              </a:rPr>
              <a:t>different comparison groups</a:t>
            </a:r>
            <a:pPr>
              <a:lnSpc>
                <a:spcPct val="140000"/>
              </a:lnSpc>
            </a:pPr>
            <a:r>
              <a:rPr lang="en-US" sz="1196" dirty="0">
                <a:solidFill>
                  <a:srgbClr val="2D3436"/>
                </a:solidFill>
                <a:latin typeface="MiSans" pitchFamily="34" charset="0"/>
                <a:ea typeface="MiSans" pitchFamily="34" charset="-122"/>
                <a:cs typeface="MiSans" pitchFamily="34" charset="-120"/>
              </a:rPr>
              <a:t> (no intervention, alternative intervention, business-as-usual), making direct comparison problematic. An effect size of 0.6 against a no-intervention baseline is not equivalent to an effect size of 0.6 against an alternative intervention.</a:t>
            </a:r>
            <a:endParaRPr lang="en-US" sz="1600" dirty="0"/>
          </a:p>
        </p:txBody>
      </p:sp>
      <p:sp>
        <p:nvSpPr>
          <p:cNvPr id="15" name="Shape 13"/>
          <p:cNvSpPr/>
          <p:nvPr/>
        </p:nvSpPr>
        <p:spPr>
          <a:xfrm>
            <a:off x="379813" y="5678206"/>
            <a:ext cx="5640224" cy="1177421"/>
          </a:xfrm>
          <a:custGeom>
            <a:avLst/>
            <a:gdLst/>
            <a:ahLst/>
            <a:cxnLst/>
            <a:rect l="l" t="t" r="r" b="b"/>
            <a:pathLst>
              <a:path w="5640224" h="1177421">
                <a:moveTo>
                  <a:pt x="0" y="0"/>
                </a:moveTo>
                <a:lnTo>
                  <a:pt x="5640224" y="0"/>
                </a:lnTo>
                <a:lnTo>
                  <a:pt x="5640224" y="1177421"/>
                </a:lnTo>
                <a:lnTo>
                  <a:pt x="0" y="1177421"/>
                </a:lnTo>
                <a:lnTo>
                  <a:pt x="0" y="0"/>
                </a:lnTo>
                <a:close/>
              </a:path>
            </a:pathLst>
          </a:custGeom>
          <a:solidFill>
            <a:srgbClr val="1E3A5F"/>
          </a:solidFill>
          <a:ln/>
        </p:spPr>
      </p:sp>
      <p:sp>
        <p:nvSpPr>
          <p:cNvPr id="16" name="Text 14"/>
          <p:cNvSpPr/>
          <p:nvPr/>
        </p:nvSpPr>
        <p:spPr>
          <a:xfrm>
            <a:off x="531738" y="5830131"/>
            <a:ext cx="5431327" cy="265869"/>
          </a:xfrm>
          <a:prstGeom prst="rect">
            <a:avLst/>
          </a:prstGeom>
          <a:noFill/>
          <a:ln/>
        </p:spPr>
        <p:txBody>
          <a:bodyPr wrap="square" lIns="0" tIns="0" rIns="0" bIns="0" rtlCol="0" anchor="ctr"/>
          <a:lstStyle/>
          <a:p>
            <a:pPr>
              <a:lnSpc>
                <a:spcPct val="120000"/>
              </a:lnSpc>
            </a:pPr>
            <a:r>
              <a:rPr lang="en-US" sz="1495" b="1" dirty="0">
                <a:solidFill>
                  <a:srgbClr val="F8F9FA"/>
                </a:solidFill>
                <a:latin typeface="MiSans" pitchFamily="34" charset="0"/>
                <a:ea typeface="MiSans" pitchFamily="34" charset="-122"/>
                <a:cs typeface="MiSans" pitchFamily="34" charset="-120"/>
              </a:rPr>
              <a:t>What These Critiques Mean for the MPI</a:t>
            </a:r>
            <a:endParaRPr lang="en-US" sz="1600" dirty="0"/>
          </a:p>
        </p:txBody>
      </p:sp>
      <p:sp>
        <p:nvSpPr>
          <p:cNvPr id="17" name="Text 15"/>
          <p:cNvSpPr/>
          <p:nvPr/>
        </p:nvSpPr>
        <p:spPr>
          <a:xfrm>
            <a:off x="531738" y="6209944"/>
            <a:ext cx="5412336" cy="493757"/>
          </a:xfrm>
          <a:prstGeom prst="rect">
            <a:avLst/>
          </a:prstGeom>
          <a:noFill/>
          <a:ln/>
        </p:spPr>
        <p:txBody>
          <a:bodyPr wrap="square" lIns="0" tIns="0" rIns="0" bIns="0" rtlCol="0" anchor="ctr"/>
          <a:lstStyle/>
          <a:p>
            <a:pPr>
              <a:lnSpc>
                <a:spcPct val="140000"/>
              </a:lnSpc>
            </a:pPr>
            <a:r>
              <a:rPr lang="en-US" sz="1196" dirty="0">
                <a:solidFill>
                  <a:srgbClr val="F8F9FA"/>
                </a:solidFill>
                <a:latin typeface="MiSans" pitchFamily="34" charset="0"/>
                <a:ea typeface="MiSans" pitchFamily="34" charset="-122"/>
                <a:cs typeface="MiSans" pitchFamily="34" charset="-120"/>
              </a:rPr>
              <a:t>These critiques do not </a:t>
            </a:r>
            <a:pPr>
              <a:lnSpc>
                <a:spcPct val="140000"/>
              </a:lnSpc>
            </a:pPr>
            <a:r>
              <a:rPr lang="en-US" sz="1196" b="1" dirty="0">
                <a:solidFill>
                  <a:srgbClr val="F8F9FA"/>
                </a:solidFill>
                <a:latin typeface="MiSans" pitchFamily="34" charset="0"/>
                <a:ea typeface="MiSans" pitchFamily="34" charset="-122"/>
                <a:cs typeface="MiSans" pitchFamily="34" charset="-120"/>
              </a:rPr>
              <a:t>invalidate</a:t>
            </a:r>
            <a:pPr>
              <a:lnSpc>
                <a:spcPct val="140000"/>
              </a:lnSpc>
            </a:pPr>
            <a:r>
              <a:rPr lang="en-US" sz="1196" dirty="0">
                <a:solidFill>
                  <a:srgbClr val="F8F9FA"/>
                </a:solidFill>
                <a:latin typeface="MiSans" pitchFamily="34" charset="0"/>
                <a:ea typeface="MiSans" pitchFamily="34" charset="-122"/>
                <a:cs typeface="MiSans" pitchFamily="34" charset="-120"/>
              </a:rPr>
              <a:t> Hattie's work, but they do mean that the 0.4 hinge point should be cited with </a:t>
            </a:r>
            <a:pPr>
              <a:lnSpc>
                <a:spcPct val="140000"/>
              </a:lnSpc>
            </a:pPr>
            <a:r>
              <a:rPr lang="en-US" sz="1196" dirty="0">
                <a:solidFill>
                  <a:srgbClr val="F8F9FA"/>
                </a:solidFill>
                <a:highlight>
                  <a:srgbClr val="C49A2C">
                    <a:alpha val="30000"/>
                  </a:srgbClr>
                </a:highlight>
                <a:latin typeface="MiSans" pitchFamily="34" charset="0"/>
                <a:ea typeface="MiSans" pitchFamily="34" charset="-122"/>
                <a:cs typeface="MiSans" pitchFamily="34" charset="-120"/>
              </a:rPr>
              <a:t>appropriate qualification </a:t>
            </a:r>
            <a:pPr>
              <a:lnSpc>
                <a:spcPct val="140000"/>
              </a:lnSpc>
            </a:pPr>
            <a:r>
              <a:rPr lang="en-US" sz="1196" dirty="0">
                <a:solidFill>
                  <a:srgbClr val="F8F9FA"/>
                </a:solidFill>
                <a:latin typeface="MiSans" pitchFamily="34" charset="0"/>
                <a:ea typeface="MiSans" pitchFamily="34" charset="-122"/>
                <a:cs typeface="MiSans" pitchFamily="34" charset="-120"/>
              </a:rPr>
              <a:t>.</a:t>
            </a:r>
            <a:endParaRPr lang="en-US" sz="1600" dirty="0"/>
          </a:p>
        </p:txBody>
      </p:sp>
      <p:sp>
        <p:nvSpPr>
          <p:cNvPr id="18" name="Shape 16"/>
          <p:cNvSpPr/>
          <p:nvPr/>
        </p:nvSpPr>
        <p:spPr>
          <a:xfrm>
            <a:off x="6169905" y="1234393"/>
            <a:ext cx="5640224" cy="1690168"/>
          </a:xfrm>
          <a:custGeom>
            <a:avLst/>
            <a:gdLst/>
            <a:ahLst/>
            <a:cxnLst/>
            <a:rect l="l" t="t" r="r" b="b"/>
            <a:pathLst>
              <a:path w="5640224" h="1690168">
                <a:moveTo>
                  <a:pt x="0" y="0"/>
                </a:moveTo>
                <a:lnTo>
                  <a:pt x="5640224" y="0"/>
                </a:lnTo>
                <a:lnTo>
                  <a:pt x="5640224" y="1690168"/>
                </a:lnTo>
                <a:lnTo>
                  <a:pt x="0" y="1690168"/>
                </a:lnTo>
                <a:lnTo>
                  <a:pt x="0" y="0"/>
                </a:lnTo>
                <a:close/>
              </a:path>
            </a:pathLst>
          </a:custGeom>
          <a:solidFill>
            <a:srgbClr val="FFFFFF"/>
          </a:solidFill>
          <a:ln/>
        </p:spPr>
      </p:sp>
      <p:sp>
        <p:nvSpPr>
          <p:cNvPr id="19" name="Shape 17"/>
          <p:cNvSpPr/>
          <p:nvPr/>
        </p:nvSpPr>
        <p:spPr>
          <a:xfrm>
            <a:off x="6169905" y="1234393"/>
            <a:ext cx="5640224" cy="37981"/>
          </a:xfrm>
          <a:custGeom>
            <a:avLst/>
            <a:gdLst/>
            <a:ahLst/>
            <a:cxnLst/>
            <a:rect l="l" t="t" r="r" b="b"/>
            <a:pathLst>
              <a:path w="5640224" h="37981">
                <a:moveTo>
                  <a:pt x="0" y="0"/>
                </a:moveTo>
                <a:lnTo>
                  <a:pt x="5640224" y="0"/>
                </a:lnTo>
                <a:lnTo>
                  <a:pt x="5640224" y="37981"/>
                </a:lnTo>
                <a:lnTo>
                  <a:pt x="0" y="37981"/>
                </a:lnTo>
                <a:lnTo>
                  <a:pt x="0" y="0"/>
                </a:lnTo>
                <a:close/>
              </a:path>
            </a:pathLst>
          </a:custGeom>
          <a:solidFill>
            <a:srgbClr val="C49A2C"/>
          </a:solidFill>
          <a:ln/>
        </p:spPr>
      </p:sp>
      <p:sp>
        <p:nvSpPr>
          <p:cNvPr id="20" name="Shape 18"/>
          <p:cNvSpPr/>
          <p:nvPr/>
        </p:nvSpPr>
        <p:spPr>
          <a:xfrm>
            <a:off x="6345569" y="1443290"/>
            <a:ext cx="189907" cy="189907"/>
          </a:xfrm>
          <a:custGeom>
            <a:avLst/>
            <a:gdLst/>
            <a:ahLst/>
            <a:cxnLst/>
            <a:rect l="l" t="t" r="r" b="b"/>
            <a:pathLst>
              <a:path w="189907" h="189907">
                <a:moveTo>
                  <a:pt x="23738" y="23738"/>
                </a:moveTo>
                <a:cubicBezTo>
                  <a:pt x="23738" y="17173"/>
                  <a:pt x="18434" y="11869"/>
                  <a:pt x="11869" y="11869"/>
                </a:cubicBezTo>
                <a:cubicBezTo>
                  <a:pt x="5304" y="11869"/>
                  <a:pt x="0" y="17173"/>
                  <a:pt x="0" y="23738"/>
                </a:cubicBezTo>
                <a:lnTo>
                  <a:pt x="0" y="148364"/>
                </a:lnTo>
                <a:cubicBezTo>
                  <a:pt x="0" y="164759"/>
                  <a:pt x="13279" y="178037"/>
                  <a:pt x="29673" y="178037"/>
                </a:cubicBezTo>
                <a:lnTo>
                  <a:pt x="178037" y="178037"/>
                </a:lnTo>
                <a:cubicBezTo>
                  <a:pt x="184603" y="178037"/>
                  <a:pt x="189907" y="172733"/>
                  <a:pt x="189907" y="166168"/>
                </a:cubicBezTo>
                <a:cubicBezTo>
                  <a:pt x="189907" y="159603"/>
                  <a:pt x="184603" y="154299"/>
                  <a:pt x="178037" y="154299"/>
                </a:cubicBezTo>
                <a:lnTo>
                  <a:pt x="29673" y="154299"/>
                </a:lnTo>
                <a:cubicBezTo>
                  <a:pt x="26409" y="154299"/>
                  <a:pt x="23738" y="151629"/>
                  <a:pt x="23738" y="148364"/>
                </a:cubicBezTo>
                <a:lnTo>
                  <a:pt x="23738" y="23738"/>
                </a:lnTo>
                <a:close/>
                <a:moveTo>
                  <a:pt x="174551" y="55859"/>
                </a:moveTo>
                <a:cubicBezTo>
                  <a:pt x="179187" y="51223"/>
                  <a:pt x="179187" y="43693"/>
                  <a:pt x="174551" y="39057"/>
                </a:cubicBezTo>
                <a:cubicBezTo>
                  <a:pt x="169914" y="34421"/>
                  <a:pt x="162385" y="34421"/>
                  <a:pt x="157749" y="39057"/>
                </a:cubicBezTo>
                <a:lnTo>
                  <a:pt x="118692" y="78151"/>
                </a:lnTo>
                <a:lnTo>
                  <a:pt x="97401" y="56898"/>
                </a:lnTo>
                <a:cubicBezTo>
                  <a:pt x="92765" y="52261"/>
                  <a:pt x="85235" y="52261"/>
                  <a:pt x="80599" y="56898"/>
                </a:cubicBezTo>
                <a:lnTo>
                  <a:pt x="44992" y="92505"/>
                </a:lnTo>
                <a:cubicBezTo>
                  <a:pt x="40355" y="97142"/>
                  <a:pt x="40355" y="104671"/>
                  <a:pt x="44992" y="109308"/>
                </a:cubicBezTo>
                <a:cubicBezTo>
                  <a:pt x="49628" y="113944"/>
                  <a:pt x="57157" y="113944"/>
                  <a:pt x="61794" y="109308"/>
                </a:cubicBezTo>
                <a:lnTo>
                  <a:pt x="89019" y="82083"/>
                </a:lnTo>
                <a:lnTo>
                  <a:pt x="110309" y="103373"/>
                </a:lnTo>
                <a:cubicBezTo>
                  <a:pt x="114945" y="108009"/>
                  <a:pt x="122475" y="108009"/>
                  <a:pt x="127111" y="103373"/>
                </a:cubicBezTo>
                <a:lnTo>
                  <a:pt x="174588" y="55896"/>
                </a:lnTo>
                <a:close/>
              </a:path>
            </a:pathLst>
          </a:custGeom>
          <a:solidFill>
            <a:srgbClr val="C49A2C"/>
          </a:solidFill>
          <a:ln/>
        </p:spPr>
      </p:sp>
      <p:sp>
        <p:nvSpPr>
          <p:cNvPr id="21" name="Text 19"/>
          <p:cNvSpPr/>
          <p:nvPr/>
        </p:nvSpPr>
        <p:spPr>
          <a:xfrm>
            <a:off x="6559214" y="1405308"/>
            <a:ext cx="5193944" cy="265869"/>
          </a:xfrm>
          <a:prstGeom prst="rect">
            <a:avLst/>
          </a:prstGeom>
          <a:noFill/>
          <a:ln/>
        </p:spPr>
        <p:txBody>
          <a:bodyPr wrap="square" lIns="0" tIns="0" rIns="0" bIns="0" rtlCol="0" anchor="ctr"/>
          <a:lstStyle/>
          <a:p>
            <a:pPr>
              <a:lnSpc>
                <a:spcPct val="120000"/>
              </a:lnSpc>
            </a:pPr>
            <a:r>
              <a:rPr lang="en-US" sz="1495" b="1" dirty="0">
                <a:solidFill>
                  <a:srgbClr val="1E3A5F"/>
                </a:solidFill>
                <a:latin typeface="MiSans" pitchFamily="34" charset="0"/>
                <a:ea typeface="MiSans" pitchFamily="34" charset="-122"/>
                <a:cs typeface="MiSans" pitchFamily="34" charset="-120"/>
              </a:rPr>
              <a:t>Critique 3: The Hinge Point as Statistical Artefact</a:t>
            </a:r>
            <a:endParaRPr lang="en-US" sz="1600" dirty="0"/>
          </a:p>
        </p:txBody>
      </p:sp>
      <p:sp>
        <p:nvSpPr>
          <p:cNvPr id="22" name="Text 20"/>
          <p:cNvSpPr/>
          <p:nvPr/>
        </p:nvSpPr>
        <p:spPr>
          <a:xfrm>
            <a:off x="6321830" y="1785121"/>
            <a:ext cx="5412336" cy="987514"/>
          </a:xfrm>
          <a:prstGeom prst="rect">
            <a:avLst/>
          </a:prstGeom>
          <a:noFill/>
          <a:ln/>
        </p:spPr>
        <p:txBody>
          <a:bodyPr wrap="square" lIns="0" tIns="0" rIns="0" bIns="0" rtlCol="0" anchor="ctr"/>
          <a:lstStyle/>
          <a:p>
            <a:pPr>
              <a:lnSpc>
                <a:spcPct val="140000"/>
              </a:lnSpc>
            </a:pPr>
            <a:r>
              <a:rPr lang="en-US" sz="1196" dirty="0">
                <a:solidFill>
                  <a:srgbClr val="2D3436"/>
                </a:solidFill>
                <a:latin typeface="MiSans" pitchFamily="34" charset="0"/>
                <a:ea typeface="MiSans" pitchFamily="34" charset="-122"/>
                <a:cs typeface="MiSans" pitchFamily="34" charset="-120"/>
              </a:rPr>
              <a:t>The </a:t>
            </a:r>
            <a:pPr>
              <a:lnSpc>
                <a:spcPct val="140000"/>
              </a:lnSpc>
            </a:pPr>
            <a:r>
              <a:rPr lang="en-US" sz="1196" b="1" dirty="0">
                <a:solidFill>
                  <a:srgbClr val="2D3436"/>
                </a:solidFill>
                <a:latin typeface="MiSans" pitchFamily="34" charset="0"/>
                <a:ea typeface="MiSans" pitchFamily="34" charset="-122"/>
                <a:cs typeface="MiSans" pitchFamily="34" charset="-120"/>
              </a:rPr>
              <a:t>0.4 hinge point</a:t>
            </a:r>
            <a:pPr>
              <a:lnSpc>
                <a:spcPct val="140000"/>
              </a:lnSpc>
            </a:pPr>
            <a:r>
              <a:rPr lang="en-US" sz="1196" dirty="0">
                <a:solidFill>
                  <a:srgbClr val="2D3436"/>
                </a:solidFill>
                <a:latin typeface="MiSans" pitchFamily="34" charset="0"/>
                <a:ea typeface="MiSans" pitchFamily="34" charset="-122"/>
                <a:cs typeface="MiSans" pitchFamily="34" charset="-120"/>
              </a:rPr>
              <a:t>, while heuristically useful, is a statistical artefact of the dataset rather than a theoretically grounded threshold. It represents the average effect size across all influences, not a theoretically derived boundary between effective and ineffective interventions.</a:t>
            </a:r>
            <a:endParaRPr lang="en-US" sz="1600" dirty="0"/>
          </a:p>
        </p:txBody>
      </p:sp>
      <p:sp>
        <p:nvSpPr>
          <p:cNvPr id="23" name="Shape 21"/>
          <p:cNvSpPr/>
          <p:nvPr/>
        </p:nvSpPr>
        <p:spPr>
          <a:xfrm>
            <a:off x="6169905" y="3095477"/>
            <a:ext cx="5640224" cy="1937047"/>
          </a:xfrm>
          <a:custGeom>
            <a:avLst/>
            <a:gdLst/>
            <a:ahLst/>
            <a:cxnLst/>
            <a:rect l="l" t="t" r="r" b="b"/>
            <a:pathLst>
              <a:path w="5640224" h="1937047">
                <a:moveTo>
                  <a:pt x="0" y="0"/>
                </a:moveTo>
                <a:lnTo>
                  <a:pt x="5640224" y="0"/>
                </a:lnTo>
                <a:lnTo>
                  <a:pt x="5640224" y="1937047"/>
                </a:lnTo>
                <a:lnTo>
                  <a:pt x="0" y="1937047"/>
                </a:lnTo>
                <a:lnTo>
                  <a:pt x="0" y="0"/>
                </a:lnTo>
                <a:close/>
              </a:path>
            </a:pathLst>
          </a:custGeom>
          <a:solidFill>
            <a:srgbClr val="FFFFFF"/>
          </a:solidFill>
          <a:ln/>
        </p:spPr>
      </p:sp>
      <p:sp>
        <p:nvSpPr>
          <p:cNvPr id="24" name="Shape 22"/>
          <p:cNvSpPr/>
          <p:nvPr/>
        </p:nvSpPr>
        <p:spPr>
          <a:xfrm>
            <a:off x="6169905" y="3095477"/>
            <a:ext cx="5640224" cy="37981"/>
          </a:xfrm>
          <a:custGeom>
            <a:avLst/>
            <a:gdLst/>
            <a:ahLst/>
            <a:cxnLst/>
            <a:rect l="l" t="t" r="r" b="b"/>
            <a:pathLst>
              <a:path w="5640224" h="37981">
                <a:moveTo>
                  <a:pt x="0" y="0"/>
                </a:moveTo>
                <a:lnTo>
                  <a:pt x="5640224" y="0"/>
                </a:lnTo>
                <a:lnTo>
                  <a:pt x="5640224" y="37981"/>
                </a:lnTo>
                <a:lnTo>
                  <a:pt x="0" y="37981"/>
                </a:lnTo>
                <a:lnTo>
                  <a:pt x="0" y="0"/>
                </a:lnTo>
                <a:close/>
              </a:path>
            </a:pathLst>
          </a:custGeom>
          <a:solidFill>
            <a:srgbClr val="C49A2C"/>
          </a:solidFill>
          <a:ln/>
        </p:spPr>
      </p:sp>
      <p:sp>
        <p:nvSpPr>
          <p:cNvPr id="25" name="Shape 23"/>
          <p:cNvSpPr/>
          <p:nvPr/>
        </p:nvSpPr>
        <p:spPr>
          <a:xfrm>
            <a:off x="6345569" y="3304374"/>
            <a:ext cx="189907" cy="189907"/>
          </a:xfrm>
          <a:custGeom>
            <a:avLst/>
            <a:gdLst/>
            <a:ahLst/>
            <a:cxnLst/>
            <a:rect l="l" t="t" r="r" b="b"/>
            <a:pathLst>
              <a:path w="189907" h="189907">
                <a:moveTo>
                  <a:pt x="130524" y="103855"/>
                </a:moveTo>
                <a:lnTo>
                  <a:pt x="59717" y="103855"/>
                </a:lnTo>
                <a:cubicBezTo>
                  <a:pt x="60792" y="127779"/>
                  <a:pt x="66096" y="149811"/>
                  <a:pt x="73626" y="165946"/>
                </a:cubicBezTo>
                <a:cubicBezTo>
                  <a:pt x="77854" y="175033"/>
                  <a:pt x="82416" y="181450"/>
                  <a:pt x="86645" y="185381"/>
                </a:cubicBezTo>
                <a:cubicBezTo>
                  <a:pt x="90799" y="189276"/>
                  <a:pt x="93655" y="189907"/>
                  <a:pt x="95139" y="189907"/>
                </a:cubicBezTo>
                <a:cubicBezTo>
                  <a:pt x="96622" y="189907"/>
                  <a:pt x="99478" y="189276"/>
                  <a:pt x="103633" y="185381"/>
                </a:cubicBezTo>
                <a:cubicBezTo>
                  <a:pt x="107861" y="181450"/>
                  <a:pt x="112423" y="174996"/>
                  <a:pt x="116652" y="165946"/>
                </a:cubicBezTo>
                <a:cubicBezTo>
                  <a:pt x="124181" y="149811"/>
                  <a:pt x="129485" y="127779"/>
                  <a:pt x="130561" y="103855"/>
                </a:cubicBezTo>
                <a:close/>
                <a:moveTo>
                  <a:pt x="59680" y="86051"/>
                </a:moveTo>
                <a:lnTo>
                  <a:pt x="130487" y="86051"/>
                </a:lnTo>
                <a:cubicBezTo>
                  <a:pt x="129448" y="62128"/>
                  <a:pt x="124144" y="40096"/>
                  <a:pt x="116614" y="23961"/>
                </a:cubicBezTo>
                <a:cubicBezTo>
                  <a:pt x="112386" y="14911"/>
                  <a:pt x="107824" y="8457"/>
                  <a:pt x="103596" y="4525"/>
                </a:cubicBezTo>
                <a:cubicBezTo>
                  <a:pt x="99441" y="631"/>
                  <a:pt x="96585" y="0"/>
                  <a:pt x="95102" y="0"/>
                </a:cubicBezTo>
                <a:cubicBezTo>
                  <a:pt x="93618" y="0"/>
                  <a:pt x="90762" y="631"/>
                  <a:pt x="86608" y="4525"/>
                </a:cubicBezTo>
                <a:cubicBezTo>
                  <a:pt x="82379" y="8457"/>
                  <a:pt x="77817" y="14911"/>
                  <a:pt x="73589" y="23961"/>
                </a:cubicBezTo>
                <a:cubicBezTo>
                  <a:pt x="66059" y="40096"/>
                  <a:pt x="60755" y="62128"/>
                  <a:pt x="59680" y="86051"/>
                </a:cubicBezTo>
                <a:close/>
                <a:moveTo>
                  <a:pt x="41876" y="86051"/>
                </a:moveTo>
                <a:cubicBezTo>
                  <a:pt x="43174" y="54301"/>
                  <a:pt x="51371" y="24814"/>
                  <a:pt x="63352" y="5452"/>
                </a:cubicBezTo>
                <a:cubicBezTo>
                  <a:pt x="29191" y="17544"/>
                  <a:pt x="4043" y="48664"/>
                  <a:pt x="556" y="86051"/>
                </a:cubicBezTo>
                <a:lnTo>
                  <a:pt x="41876" y="86051"/>
                </a:lnTo>
                <a:close/>
                <a:moveTo>
                  <a:pt x="556" y="103855"/>
                </a:moveTo>
                <a:cubicBezTo>
                  <a:pt x="4043" y="141243"/>
                  <a:pt x="29191" y="172362"/>
                  <a:pt x="63352" y="184454"/>
                </a:cubicBezTo>
                <a:cubicBezTo>
                  <a:pt x="51371" y="165093"/>
                  <a:pt x="43174" y="135605"/>
                  <a:pt x="41876" y="103855"/>
                </a:cubicBezTo>
                <a:lnTo>
                  <a:pt x="556" y="103855"/>
                </a:lnTo>
                <a:close/>
                <a:moveTo>
                  <a:pt x="148327" y="103855"/>
                </a:moveTo>
                <a:cubicBezTo>
                  <a:pt x="147029" y="135605"/>
                  <a:pt x="138832" y="165093"/>
                  <a:pt x="126852" y="184454"/>
                </a:cubicBezTo>
                <a:cubicBezTo>
                  <a:pt x="161013" y="172325"/>
                  <a:pt x="186160" y="141243"/>
                  <a:pt x="189647" y="103855"/>
                </a:cubicBezTo>
                <a:lnTo>
                  <a:pt x="148327" y="103855"/>
                </a:lnTo>
                <a:close/>
                <a:moveTo>
                  <a:pt x="189647" y="86051"/>
                </a:moveTo>
                <a:cubicBezTo>
                  <a:pt x="186160" y="48664"/>
                  <a:pt x="161013" y="17544"/>
                  <a:pt x="126852" y="5452"/>
                </a:cubicBezTo>
                <a:cubicBezTo>
                  <a:pt x="138832" y="24814"/>
                  <a:pt x="147029" y="54301"/>
                  <a:pt x="148327" y="86051"/>
                </a:cubicBezTo>
                <a:lnTo>
                  <a:pt x="189647" y="86051"/>
                </a:lnTo>
                <a:close/>
              </a:path>
            </a:pathLst>
          </a:custGeom>
          <a:solidFill>
            <a:srgbClr val="C49A2C"/>
          </a:solidFill>
          <a:ln/>
        </p:spPr>
      </p:sp>
      <p:sp>
        <p:nvSpPr>
          <p:cNvPr id="26" name="Text 24"/>
          <p:cNvSpPr/>
          <p:nvPr/>
        </p:nvSpPr>
        <p:spPr>
          <a:xfrm>
            <a:off x="6559214" y="3266393"/>
            <a:ext cx="5193944" cy="265869"/>
          </a:xfrm>
          <a:prstGeom prst="rect">
            <a:avLst/>
          </a:prstGeom>
          <a:noFill/>
          <a:ln/>
        </p:spPr>
        <p:txBody>
          <a:bodyPr wrap="square" lIns="0" tIns="0" rIns="0" bIns="0" rtlCol="0" anchor="ctr"/>
          <a:lstStyle/>
          <a:p>
            <a:pPr>
              <a:lnSpc>
                <a:spcPct val="120000"/>
              </a:lnSpc>
            </a:pPr>
            <a:r>
              <a:rPr lang="en-US" sz="1495" b="1" dirty="0">
                <a:solidFill>
                  <a:srgbClr val="1E3A5F"/>
                </a:solidFill>
                <a:latin typeface="MiSans" pitchFamily="34" charset="0"/>
                <a:ea typeface="MiSans" pitchFamily="34" charset="-122"/>
                <a:cs typeface="MiSans" pitchFamily="34" charset="-120"/>
              </a:rPr>
              <a:t>Critique 4: Generalisability Across Contexts</a:t>
            </a:r>
            <a:endParaRPr lang="en-US" sz="1600" dirty="0"/>
          </a:p>
        </p:txBody>
      </p:sp>
      <p:sp>
        <p:nvSpPr>
          <p:cNvPr id="27" name="Text 25"/>
          <p:cNvSpPr/>
          <p:nvPr/>
        </p:nvSpPr>
        <p:spPr>
          <a:xfrm>
            <a:off x="6321830" y="3646206"/>
            <a:ext cx="5412336" cy="1234393"/>
          </a:xfrm>
          <a:prstGeom prst="rect">
            <a:avLst/>
          </a:prstGeom>
          <a:noFill/>
          <a:ln/>
        </p:spPr>
        <p:txBody>
          <a:bodyPr wrap="square" lIns="0" tIns="0" rIns="0" bIns="0" rtlCol="0" anchor="ctr"/>
          <a:lstStyle/>
          <a:p>
            <a:pPr>
              <a:lnSpc>
                <a:spcPct val="140000"/>
              </a:lnSpc>
            </a:pPr>
            <a:r>
              <a:rPr lang="en-US" sz="1196" dirty="0">
                <a:solidFill>
                  <a:srgbClr val="2D3436"/>
                </a:solidFill>
                <a:latin typeface="MiSans" pitchFamily="34" charset="0"/>
                <a:ea typeface="MiSans" pitchFamily="34" charset="-122"/>
                <a:cs typeface="MiSans" pitchFamily="34" charset="-120"/>
              </a:rPr>
              <a:t>The synthesis includes studies from </a:t>
            </a:r>
            <a:pPr>
              <a:lnSpc>
                <a:spcPct val="140000"/>
              </a:lnSpc>
            </a:pPr>
            <a:r>
              <a:rPr lang="en-US" sz="1196" b="1" dirty="0">
                <a:solidFill>
                  <a:srgbClr val="2D3436"/>
                </a:solidFill>
                <a:latin typeface="MiSans" pitchFamily="34" charset="0"/>
                <a:ea typeface="MiSans" pitchFamily="34" charset="-122"/>
                <a:cs typeface="MiSans" pitchFamily="34" charset="-120"/>
              </a:rPr>
              <a:t>multiple national contexts</a:t>
            </a:r>
            <a:pPr>
              <a:lnSpc>
                <a:spcPct val="140000"/>
              </a:lnSpc>
            </a:pPr>
            <a:r>
              <a:rPr lang="en-US" sz="1196" dirty="0">
                <a:solidFill>
                  <a:srgbClr val="2D3436"/>
                </a:solidFill>
                <a:latin typeface="MiSans" pitchFamily="34" charset="0"/>
                <a:ea typeface="MiSans" pitchFamily="34" charset="-122"/>
                <a:cs typeface="MiSans" pitchFamily="34" charset="-120"/>
              </a:rPr>
              <a:t>, and the generalisability of findings across educational systems is not established. An intervention that works in Finland may not work in England, and vice versa, due to differences in curriculum structure, teacher training, and cultural attitudes toward education.</a:t>
            </a:r>
            <a:endParaRPr lang="en-US" sz="1600" dirty="0"/>
          </a:p>
        </p:txBody>
      </p:sp>
      <p:sp>
        <p:nvSpPr>
          <p:cNvPr id="28" name="Shape 26"/>
          <p:cNvSpPr/>
          <p:nvPr/>
        </p:nvSpPr>
        <p:spPr>
          <a:xfrm>
            <a:off x="6188896" y="5564262"/>
            <a:ext cx="5621234" cy="1291364"/>
          </a:xfrm>
          <a:custGeom>
            <a:avLst/>
            <a:gdLst/>
            <a:ahLst/>
            <a:cxnLst/>
            <a:rect l="l" t="t" r="r" b="b"/>
            <a:pathLst>
              <a:path w="5621234" h="1291364">
                <a:moveTo>
                  <a:pt x="0" y="0"/>
                </a:moveTo>
                <a:lnTo>
                  <a:pt x="5621234" y="0"/>
                </a:lnTo>
                <a:lnTo>
                  <a:pt x="5621234" y="1291364"/>
                </a:lnTo>
                <a:lnTo>
                  <a:pt x="0" y="1291364"/>
                </a:lnTo>
                <a:lnTo>
                  <a:pt x="0" y="0"/>
                </a:lnTo>
                <a:close/>
              </a:path>
            </a:pathLst>
          </a:custGeom>
          <a:solidFill>
            <a:srgbClr val="C49A2C">
              <a:alpha val="10196"/>
            </a:srgbClr>
          </a:solidFill>
          <a:ln/>
        </p:spPr>
      </p:sp>
      <p:sp>
        <p:nvSpPr>
          <p:cNvPr id="29" name="Shape 27"/>
          <p:cNvSpPr/>
          <p:nvPr/>
        </p:nvSpPr>
        <p:spPr>
          <a:xfrm>
            <a:off x="6188896" y="5564262"/>
            <a:ext cx="37981" cy="1291364"/>
          </a:xfrm>
          <a:custGeom>
            <a:avLst/>
            <a:gdLst/>
            <a:ahLst/>
            <a:cxnLst/>
            <a:rect l="l" t="t" r="r" b="b"/>
            <a:pathLst>
              <a:path w="37981" h="1291364">
                <a:moveTo>
                  <a:pt x="0" y="0"/>
                </a:moveTo>
                <a:lnTo>
                  <a:pt x="37981" y="0"/>
                </a:lnTo>
                <a:lnTo>
                  <a:pt x="37981" y="1291364"/>
                </a:lnTo>
                <a:lnTo>
                  <a:pt x="0" y="1291364"/>
                </a:lnTo>
                <a:lnTo>
                  <a:pt x="0" y="0"/>
                </a:lnTo>
                <a:close/>
              </a:path>
            </a:pathLst>
          </a:custGeom>
          <a:solidFill>
            <a:srgbClr val="C49A2C"/>
          </a:solidFill>
          <a:ln/>
        </p:spPr>
      </p:sp>
      <p:sp>
        <p:nvSpPr>
          <p:cNvPr id="30" name="Shape 28"/>
          <p:cNvSpPr/>
          <p:nvPr/>
        </p:nvSpPr>
        <p:spPr>
          <a:xfrm>
            <a:off x="6378802" y="5768411"/>
            <a:ext cx="151925" cy="151925"/>
          </a:xfrm>
          <a:custGeom>
            <a:avLst/>
            <a:gdLst/>
            <a:ahLst/>
            <a:cxnLst/>
            <a:rect l="l" t="t" r="r" b="b"/>
            <a:pathLst>
              <a:path w="151925" h="151925">
                <a:moveTo>
                  <a:pt x="75963" y="0"/>
                </a:moveTo>
                <a:cubicBezTo>
                  <a:pt x="77328" y="0"/>
                  <a:pt x="78693" y="297"/>
                  <a:pt x="79939" y="861"/>
                </a:cubicBezTo>
                <a:lnTo>
                  <a:pt x="135843" y="24569"/>
                </a:lnTo>
                <a:cubicBezTo>
                  <a:pt x="142371" y="27329"/>
                  <a:pt x="147237" y="33768"/>
                  <a:pt x="147207" y="41542"/>
                </a:cubicBezTo>
                <a:cubicBezTo>
                  <a:pt x="147059" y="70978"/>
                  <a:pt x="134952" y="124834"/>
                  <a:pt x="83826" y="149314"/>
                </a:cubicBezTo>
                <a:cubicBezTo>
                  <a:pt x="78871" y="151688"/>
                  <a:pt x="73114" y="151688"/>
                  <a:pt x="68159" y="149314"/>
                </a:cubicBezTo>
                <a:cubicBezTo>
                  <a:pt x="17003" y="124834"/>
                  <a:pt x="4926" y="70978"/>
                  <a:pt x="4777" y="41542"/>
                </a:cubicBezTo>
                <a:cubicBezTo>
                  <a:pt x="4748" y="33768"/>
                  <a:pt x="9614" y="27329"/>
                  <a:pt x="16142" y="24569"/>
                </a:cubicBezTo>
                <a:lnTo>
                  <a:pt x="72016" y="861"/>
                </a:lnTo>
                <a:cubicBezTo>
                  <a:pt x="73262" y="297"/>
                  <a:pt x="74598" y="0"/>
                  <a:pt x="75963" y="0"/>
                </a:cubicBezTo>
                <a:close/>
                <a:moveTo>
                  <a:pt x="75963" y="19821"/>
                </a:moveTo>
                <a:lnTo>
                  <a:pt x="75963" y="132015"/>
                </a:lnTo>
                <a:cubicBezTo>
                  <a:pt x="116911" y="112193"/>
                  <a:pt x="127920" y="68277"/>
                  <a:pt x="128187" y="41987"/>
                </a:cubicBezTo>
                <a:lnTo>
                  <a:pt x="75963" y="19851"/>
                </a:lnTo>
                <a:lnTo>
                  <a:pt x="75963" y="19851"/>
                </a:lnTo>
                <a:close/>
              </a:path>
            </a:pathLst>
          </a:custGeom>
          <a:solidFill>
            <a:srgbClr val="C49A2C"/>
          </a:solidFill>
          <a:ln/>
        </p:spPr>
      </p:sp>
      <p:sp>
        <p:nvSpPr>
          <p:cNvPr id="31" name="Text 29"/>
          <p:cNvSpPr/>
          <p:nvPr/>
        </p:nvSpPr>
        <p:spPr>
          <a:xfrm>
            <a:off x="6606513" y="5716187"/>
            <a:ext cx="5127654" cy="987514"/>
          </a:xfrm>
          <a:prstGeom prst="rect">
            <a:avLst/>
          </a:prstGeom>
          <a:noFill/>
          <a:ln/>
        </p:spPr>
        <p:txBody>
          <a:bodyPr wrap="square" lIns="0" tIns="0" rIns="0" bIns="0" rtlCol="0" anchor="ctr"/>
          <a:lstStyle/>
          <a:p>
            <a:pPr>
              <a:lnSpc>
                <a:spcPct val="140000"/>
              </a:lnSpc>
            </a:pPr>
            <a:r>
              <a:rPr lang="en-US" sz="1196" b="1" dirty="0">
                <a:solidFill>
                  <a:srgbClr val="1E3A5F"/>
                </a:solidFill>
                <a:latin typeface="MiSans" pitchFamily="34" charset="0"/>
                <a:ea typeface="MiSans" pitchFamily="34" charset="-122"/>
                <a:cs typeface="MiSans" pitchFamily="34" charset="-120"/>
              </a:rPr>
              <a:t>Professional Standard:</a:t>
            </a:r>
            <a:pPr>
              <a:lnSpc>
                <a:spcPct val="140000"/>
              </a:lnSpc>
            </a:pPr>
            <a:r>
              <a:rPr lang="en-US" sz="1196" dirty="0">
                <a:solidFill>
                  <a:srgbClr val="1E3A5F"/>
                </a:solidFill>
                <a:latin typeface="MiSans" pitchFamily="34" charset="0"/>
                <a:ea typeface="MiSans" pitchFamily="34" charset="-122"/>
                <a:cs typeface="MiSans" pitchFamily="34" charset="-120"/>
              </a:rPr>
              <a:t> The MPI's effect size of 0.61 is substantially above the hinge point, which is a meaningful finding </a:t>
            </a:r>
            <a:pPr>
              <a:lnSpc>
                <a:spcPct val="140000"/>
              </a:lnSpc>
            </a:pPr>
            <a:r>
              <a:rPr lang="en-US" sz="1196" b="1" dirty="0">
                <a:solidFill>
                  <a:srgbClr val="1E3A5F"/>
                </a:solidFill>
                <a:latin typeface="MiSans" pitchFamily="34" charset="0"/>
                <a:ea typeface="MiSans" pitchFamily="34" charset="-122"/>
                <a:cs typeface="MiSans" pitchFamily="34" charset="-120"/>
              </a:rPr>
              <a:t>even if the hinge point itself is contestable</a:t>
            </a:r>
            <a:pPr>
              <a:lnSpc>
                <a:spcPct val="140000"/>
              </a:lnSpc>
            </a:pPr>
            <a:r>
              <a:rPr lang="en-US" sz="1196" dirty="0">
                <a:solidFill>
                  <a:srgbClr val="1E3A5F"/>
                </a:solidFill>
                <a:latin typeface="MiSans" pitchFamily="34" charset="0"/>
                <a:ea typeface="MiSans" pitchFamily="34" charset="-122"/>
                <a:cs typeface="MiSans" pitchFamily="34" charset="-120"/>
              </a:rPr>
              <a:t>. Staff should cite both the figure and its scope conditions.</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69735" y="369735"/>
            <a:ext cx="73947" cy="443682"/>
          </a:xfrm>
          <a:custGeom>
            <a:avLst/>
            <a:gdLst/>
            <a:ahLst/>
            <a:cxnLst/>
            <a:rect l="l" t="t" r="r" b="b"/>
            <a:pathLst>
              <a:path w="73947" h="443682">
                <a:moveTo>
                  <a:pt x="0" y="0"/>
                </a:moveTo>
                <a:lnTo>
                  <a:pt x="73947" y="0"/>
                </a:lnTo>
                <a:lnTo>
                  <a:pt x="73947" y="443682"/>
                </a:lnTo>
                <a:lnTo>
                  <a:pt x="0" y="443682"/>
                </a:lnTo>
                <a:lnTo>
                  <a:pt x="0" y="0"/>
                </a:lnTo>
                <a:close/>
              </a:path>
            </a:pathLst>
          </a:custGeom>
          <a:solidFill>
            <a:srgbClr val="1E3A5F"/>
          </a:solidFill>
          <a:ln/>
        </p:spPr>
      </p:sp>
      <p:sp>
        <p:nvSpPr>
          <p:cNvPr id="3" name="Text 1"/>
          <p:cNvSpPr/>
          <p:nvPr/>
        </p:nvSpPr>
        <p:spPr>
          <a:xfrm>
            <a:off x="554602" y="425195"/>
            <a:ext cx="5240989" cy="332761"/>
          </a:xfrm>
          <a:prstGeom prst="rect">
            <a:avLst/>
          </a:prstGeom>
          <a:noFill/>
          <a:ln/>
        </p:spPr>
        <p:txBody>
          <a:bodyPr wrap="square" lIns="0" tIns="0" rIns="0" bIns="0" rtlCol="0" anchor="ctr"/>
          <a:lstStyle/>
          <a:p>
            <a:pPr>
              <a:lnSpc>
                <a:spcPct val="100000"/>
              </a:lnSpc>
            </a:pPr>
            <a:r>
              <a:rPr lang="en-US" sz="2183" b="1" dirty="0">
                <a:solidFill>
                  <a:srgbClr val="1E3A5F"/>
                </a:solidFill>
                <a:latin typeface="MiSans" pitchFamily="34" charset="0"/>
                <a:ea typeface="MiSans" pitchFamily="34" charset="-122"/>
                <a:cs typeface="MiSans" pitchFamily="34" charset="-120"/>
              </a:rPr>
              <a:t>Black and Wiliam: Inside the Black Box</a:t>
            </a:r>
            <a:endParaRPr lang="en-US" sz="1600" dirty="0"/>
          </a:p>
        </p:txBody>
      </p:sp>
      <p:sp>
        <p:nvSpPr>
          <p:cNvPr id="4" name="Text 2"/>
          <p:cNvSpPr/>
          <p:nvPr/>
        </p:nvSpPr>
        <p:spPr>
          <a:xfrm>
            <a:off x="554602" y="887363"/>
            <a:ext cx="11341610" cy="221841"/>
          </a:xfrm>
          <a:prstGeom prst="rect">
            <a:avLst/>
          </a:prstGeom>
          <a:noFill/>
          <a:ln/>
        </p:spPr>
        <p:txBody>
          <a:bodyPr wrap="square" lIns="0" tIns="0" rIns="0" bIns="0" rtlCol="0" anchor="ctr"/>
          <a:lstStyle/>
          <a:p>
            <a:pPr>
              <a:lnSpc>
                <a:spcPct val="130000"/>
              </a:lnSpc>
            </a:pPr>
            <a:r>
              <a:rPr lang="en-US" sz="1165" dirty="0">
                <a:solidFill>
                  <a:srgbClr val="6C757D"/>
                </a:solidFill>
                <a:latin typeface="MiSans" pitchFamily="34" charset="0"/>
                <a:ea typeface="MiSans" pitchFamily="34" charset="-122"/>
                <a:cs typeface="MiSans" pitchFamily="34" charset="-120"/>
              </a:rPr>
              <a:t>Paul Black &amp; Dylan Wiliam (1998) | The empirical foundation of formative assessment</a:t>
            </a:r>
            <a:endParaRPr lang="en-US" sz="1600" dirty="0"/>
          </a:p>
        </p:txBody>
      </p:sp>
      <p:sp>
        <p:nvSpPr>
          <p:cNvPr id="5" name="Shape 3"/>
          <p:cNvSpPr/>
          <p:nvPr/>
        </p:nvSpPr>
        <p:spPr>
          <a:xfrm>
            <a:off x="369735" y="1275585"/>
            <a:ext cx="6812361" cy="2310842"/>
          </a:xfrm>
          <a:custGeom>
            <a:avLst/>
            <a:gdLst/>
            <a:ahLst/>
            <a:cxnLst/>
            <a:rect l="l" t="t" r="r" b="b"/>
            <a:pathLst>
              <a:path w="6812361" h="2310842">
                <a:moveTo>
                  <a:pt x="0" y="0"/>
                </a:moveTo>
                <a:lnTo>
                  <a:pt x="6812361" y="0"/>
                </a:lnTo>
                <a:lnTo>
                  <a:pt x="6812361" y="2310842"/>
                </a:lnTo>
                <a:lnTo>
                  <a:pt x="0" y="2310842"/>
                </a:lnTo>
                <a:lnTo>
                  <a:pt x="0" y="0"/>
                </a:lnTo>
                <a:close/>
              </a:path>
            </a:pathLst>
          </a:custGeom>
          <a:solidFill>
            <a:srgbClr val="FFFFFF"/>
          </a:solidFill>
          <a:ln/>
        </p:spPr>
      </p:sp>
      <p:sp>
        <p:nvSpPr>
          <p:cNvPr id="6" name="Shape 4"/>
          <p:cNvSpPr/>
          <p:nvPr/>
        </p:nvSpPr>
        <p:spPr>
          <a:xfrm>
            <a:off x="369735" y="1275585"/>
            <a:ext cx="6812361" cy="36973"/>
          </a:xfrm>
          <a:custGeom>
            <a:avLst/>
            <a:gdLst/>
            <a:ahLst/>
            <a:cxnLst/>
            <a:rect l="l" t="t" r="r" b="b"/>
            <a:pathLst>
              <a:path w="6812361" h="36973">
                <a:moveTo>
                  <a:pt x="0" y="0"/>
                </a:moveTo>
                <a:lnTo>
                  <a:pt x="6812361" y="0"/>
                </a:lnTo>
                <a:lnTo>
                  <a:pt x="6812361" y="36973"/>
                </a:lnTo>
                <a:lnTo>
                  <a:pt x="0" y="36973"/>
                </a:lnTo>
                <a:lnTo>
                  <a:pt x="0" y="0"/>
                </a:lnTo>
                <a:close/>
              </a:path>
            </a:pathLst>
          </a:custGeom>
          <a:solidFill>
            <a:srgbClr val="1E3A5F"/>
          </a:solidFill>
          <a:ln/>
        </p:spPr>
      </p:sp>
      <p:sp>
        <p:nvSpPr>
          <p:cNvPr id="7" name="Text 5"/>
          <p:cNvSpPr/>
          <p:nvPr/>
        </p:nvSpPr>
        <p:spPr>
          <a:xfrm>
            <a:off x="554602" y="1478939"/>
            <a:ext cx="6535060" cy="258814"/>
          </a:xfrm>
          <a:prstGeom prst="rect">
            <a:avLst/>
          </a:prstGeom>
          <a:noFill/>
          <a:ln/>
        </p:spPr>
        <p:txBody>
          <a:bodyPr wrap="square" lIns="0" tIns="0" rIns="0" bIns="0" rtlCol="0" anchor="ctr"/>
          <a:lstStyle/>
          <a:p>
            <a:pPr>
              <a:lnSpc>
                <a:spcPct val="120000"/>
              </a:lnSpc>
            </a:pPr>
            <a:r>
              <a:rPr lang="en-US" sz="1456" b="1" dirty="0">
                <a:solidFill>
                  <a:srgbClr val="1E3A5F"/>
                </a:solidFill>
                <a:latin typeface="MiSans" pitchFamily="34" charset="0"/>
                <a:ea typeface="MiSans" pitchFamily="34" charset="-122"/>
                <a:cs typeface="MiSans" pitchFamily="34" charset="-120"/>
              </a:rPr>
              <a:t>The Seminal Paper</a:t>
            </a:r>
            <a:endParaRPr lang="en-US" sz="1600" dirty="0"/>
          </a:p>
        </p:txBody>
      </p:sp>
      <p:sp>
        <p:nvSpPr>
          <p:cNvPr id="8" name="Text 6"/>
          <p:cNvSpPr/>
          <p:nvPr/>
        </p:nvSpPr>
        <p:spPr>
          <a:xfrm>
            <a:off x="554602" y="1848673"/>
            <a:ext cx="6516573" cy="961310"/>
          </a:xfrm>
          <a:prstGeom prst="rect">
            <a:avLst/>
          </a:prstGeom>
          <a:noFill/>
          <a:ln/>
        </p:spPr>
        <p:txBody>
          <a:bodyPr wrap="square" lIns="0" tIns="0" rIns="0" bIns="0" rtlCol="0" anchor="ctr"/>
          <a:lstStyle/>
          <a:p>
            <a:pPr>
              <a:lnSpc>
                <a:spcPct val="140000"/>
              </a:lnSpc>
            </a:pPr>
            <a:r>
              <a:rPr lang="en-US" sz="1165" dirty="0">
                <a:solidFill>
                  <a:srgbClr val="2D3436"/>
                </a:solidFill>
                <a:latin typeface="MiSans" pitchFamily="34" charset="0"/>
                <a:ea typeface="MiSans" pitchFamily="34" charset="-122"/>
                <a:cs typeface="MiSans" pitchFamily="34" charset="-120"/>
              </a:rPr>
              <a:t>Paul Black and Dylan Wiliam's 1998 paper, </a:t>
            </a:r>
            <a:pPr>
              <a:lnSpc>
                <a:spcPct val="140000"/>
              </a:lnSpc>
            </a:pPr>
            <a:r>
              <a:rPr lang="en-US" sz="1165" b="1" dirty="0">
                <a:solidFill>
                  <a:srgbClr val="2D3436"/>
                </a:solidFill>
                <a:latin typeface="MiSans" pitchFamily="34" charset="0"/>
                <a:ea typeface="MiSans" pitchFamily="34" charset="-122"/>
                <a:cs typeface="MiSans" pitchFamily="34" charset="-120"/>
              </a:rPr>
              <a:t>'Inside the Black Box: Raising Standards Through Classroom Assessment,'</a:t>
            </a:r>
            <a:pPr>
              <a:lnSpc>
                <a:spcPct val="140000"/>
              </a:lnSpc>
            </a:pPr>
            <a:r>
              <a:rPr lang="en-US" sz="1165" dirty="0">
                <a:solidFill>
                  <a:srgbClr val="2D3436"/>
                </a:solidFill>
                <a:latin typeface="MiSans" pitchFamily="34" charset="0"/>
                <a:ea typeface="MiSans" pitchFamily="34" charset="-122"/>
                <a:cs typeface="MiSans" pitchFamily="34" charset="-120"/>
              </a:rPr>
              <a:t> and their subsequent review of formative assessment research, established the empirical foundation for what has become one of the most influential traditions in educational effectiveness research.</a:t>
            </a:r>
            <a:endParaRPr lang="en-US" sz="1600" dirty="0"/>
          </a:p>
        </p:txBody>
      </p:sp>
      <p:sp>
        <p:nvSpPr>
          <p:cNvPr id="9" name="Text 7"/>
          <p:cNvSpPr/>
          <p:nvPr/>
        </p:nvSpPr>
        <p:spPr>
          <a:xfrm>
            <a:off x="554602" y="2920904"/>
            <a:ext cx="6516573" cy="480655"/>
          </a:xfrm>
          <a:prstGeom prst="rect">
            <a:avLst/>
          </a:prstGeom>
          <a:noFill/>
          <a:ln/>
        </p:spPr>
        <p:txBody>
          <a:bodyPr wrap="square" lIns="0" tIns="0" rIns="0" bIns="0" rtlCol="0" anchor="ctr"/>
          <a:lstStyle/>
          <a:p>
            <a:pPr>
              <a:lnSpc>
                <a:spcPct val="140000"/>
              </a:lnSpc>
            </a:pPr>
            <a:r>
              <a:rPr lang="en-US" sz="1165" dirty="0">
                <a:solidFill>
                  <a:srgbClr val="2D3436"/>
                </a:solidFill>
                <a:latin typeface="MiSans" pitchFamily="34" charset="0"/>
                <a:ea typeface="MiSans" pitchFamily="34" charset="-122"/>
                <a:cs typeface="MiSans" pitchFamily="34" charset="-120"/>
              </a:rPr>
              <a:t>Their work demonstrated that </a:t>
            </a:r>
            <a:pPr>
              <a:lnSpc>
                <a:spcPct val="140000"/>
              </a:lnSpc>
            </a:pPr>
            <a:r>
              <a:rPr lang="en-US" sz="1165" dirty="0">
                <a:solidFill>
                  <a:srgbClr val="2D3436"/>
                </a:solidFill>
                <a:highlight>
                  <a:srgbClr val="C49A2C">
                    <a:alpha val="20000"/>
                  </a:srgbClr>
                </a:highlight>
                <a:latin typeface="MiSans" pitchFamily="34" charset="0"/>
                <a:ea typeface="MiSans" pitchFamily="34" charset="-122"/>
                <a:cs typeface="MiSans" pitchFamily="34" charset="-120"/>
              </a:rPr>
              <a:t>formative assessment is among the most powerful interventions available to classroom practitioners </a:t>
            </a:r>
            <a:pPr>
              <a:lnSpc>
                <a:spcPct val="140000"/>
              </a:lnSpc>
            </a:pPr>
            <a:r>
              <a:rPr lang="en-US" sz="1165" dirty="0">
                <a:solidFill>
                  <a:srgbClr val="2D3436"/>
                </a:solidFill>
                <a:latin typeface="MiSans" pitchFamily="34" charset="0"/>
                <a:ea typeface="MiSans" pitchFamily="34" charset="-122"/>
                <a:cs typeface="MiSans" pitchFamily="34" charset="-120"/>
              </a:rPr>
              <a:t>, with effect sizes in the 0.4–0.7 range.</a:t>
            </a:r>
            <a:endParaRPr lang="en-US" sz="1600" dirty="0"/>
          </a:p>
        </p:txBody>
      </p:sp>
      <p:sp>
        <p:nvSpPr>
          <p:cNvPr id="10" name="Shape 8"/>
          <p:cNvSpPr/>
          <p:nvPr/>
        </p:nvSpPr>
        <p:spPr>
          <a:xfrm>
            <a:off x="369735" y="3734320"/>
            <a:ext cx="6812361" cy="3124258"/>
          </a:xfrm>
          <a:custGeom>
            <a:avLst/>
            <a:gdLst/>
            <a:ahLst/>
            <a:cxnLst/>
            <a:rect l="l" t="t" r="r" b="b"/>
            <a:pathLst>
              <a:path w="6812361" h="3124258">
                <a:moveTo>
                  <a:pt x="0" y="0"/>
                </a:moveTo>
                <a:lnTo>
                  <a:pt x="6812361" y="0"/>
                </a:lnTo>
                <a:lnTo>
                  <a:pt x="6812361" y="3124258"/>
                </a:lnTo>
                <a:lnTo>
                  <a:pt x="0" y="3124258"/>
                </a:lnTo>
                <a:lnTo>
                  <a:pt x="0" y="0"/>
                </a:lnTo>
                <a:close/>
              </a:path>
            </a:pathLst>
          </a:custGeom>
          <a:solidFill>
            <a:srgbClr val="1E3A5F"/>
          </a:solidFill>
          <a:ln/>
        </p:spPr>
      </p:sp>
      <p:sp>
        <p:nvSpPr>
          <p:cNvPr id="11" name="Text 9"/>
          <p:cNvSpPr/>
          <p:nvPr/>
        </p:nvSpPr>
        <p:spPr>
          <a:xfrm>
            <a:off x="554602" y="3919187"/>
            <a:ext cx="6535060" cy="258814"/>
          </a:xfrm>
          <a:prstGeom prst="rect">
            <a:avLst/>
          </a:prstGeom>
          <a:noFill/>
          <a:ln/>
        </p:spPr>
        <p:txBody>
          <a:bodyPr wrap="square" lIns="0" tIns="0" rIns="0" bIns="0" rtlCol="0" anchor="ctr"/>
          <a:lstStyle/>
          <a:p>
            <a:pPr>
              <a:lnSpc>
                <a:spcPct val="120000"/>
              </a:lnSpc>
            </a:pPr>
            <a:r>
              <a:rPr lang="en-US" sz="1456" b="1" dirty="0">
                <a:solidFill>
                  <a:srgbClr val="F8F9FA"/>
                </a:solidFill>
                <a:latin typeface="MiSans" pitchFamily="34" charset="0"/>
                <a:ea typeface="MiSans" pitchFamily="34" charset="-122"/>
                <a:cs typeface="MiSans" pitchFamily="34" charset="-120"/>
              </a:rPr>
              <a:t>Four Key Findings</a:t>
            </a:r>
            <a:endParaRPr lang="en-US" sz="1600" dirty="0"/>
          </a:p>
        </p:txBody>
      </p:sp>
      <p:sp>
        <p:nvSpPr>
          <p:cNvPr id="12" name="Shape 10"/>
          <p:cNvSpPr/>
          <p:nvPr/>
        </p:nvSpPr>
        <p:spPr>
          <a:xfrm>
            <a:off x="554602" y="4288922"/>
            <a:ext cx="295788" cy="295788"/>
          </a:xfrm>
          <a:custGeom>
            <a:avLst/>
            <a:gdLst/>
            <a:ahLst/>
            <a:cxnLst/>
            <a:rect l="l" t="t" r="r" b="b"/>
            <a:pathLst>
              <a:path w="295788" h="295788">
                <a:moveTo>
                  <a:pt x="0" y="0"/>
                </a:moveTo>
                <a:lnTo>
                  <a:pt x="295788" y="0"/>
                </a:lnTo>
                <a:lnTo>
                  <a:pt x="295788" y="295788"/>
                </a:lnTo>
                <a:lnTo>
                  <a:pt x="0" y="295788"/>
                </a:lnTo>
                <a:lnTo>
                  <a:pt x="0" y="0"/>
                </a:lnTo>
                <a:close/>
              </a:path>
            </a:pathLst>
          </a:custGeom>
          <a:solidFill>
            <a:srgbClr val="C49A2C"/>
          </a:solidFill>
          <a:ln/>
        </p:spPr>
      </p:sp>
      <p:sp>
        <p:nvSpPr>
          <p:cNvPr id="13" name="Text 11"/>
          <p:cNvSpPr/>
          <p:nvPr/>
        </p:nvSpPr>
        <p:spPr>
          <a:xfrm>
            <a:off x="517629" y="4288922"/>
            <a:ext cx="369735" cy="295788"/>
          </a:xfrm>
          <a:prstGeom prst="rect">
            <a:avLst/>
          </a:prstGeom>
          <a:noFill/>
          <a:ln/>
        </p:spPr>
        <p:txBody>
          <a:bodyPr wrap="square" lIns="0" tIns="0" rIns="0" bIns="0" rtlCol="0" anchor="ctr"/>
          <a:lstStyle/>
          <a:p>
            <a:pPr algn="ctr">
              <a:lnSpc>
                <a:spcPct val="130000"/>
              </a:lnSpc>
            </a:pPr>
            <a:r>
              <a:rPr lang="en-US" sz="1165" b="1" dirty="0">
                <a:solidFill>
                  <a:srgbClr val="F8F9FA"/>
                </a:solidFill>
                <a:latin typeface="MiSans" pitchFamily="34" charset="0"/>
                <a:ea typeface="MiSans" pitchFamily="34" charset="-122"/>
                <a:cs typeface="MiSans" pitchFamily="34" charset="-120"/>
              </a:rPr>
              <a:t>1</a:t>
            </a:r>
            <a:endParaRPr lang="en-US" sz="1600" dirty="0"/>
          </a:p>
        </p:txBody>
      </p:sp>
      <p:sp>
        <p:nvSpPr>
          <p:cNvPr id="14" name="Text 12"/>
          <p:cNvSpPr/>
          <p:nvPr/>
        </p:nvSpPr>
        <p:spPr>
          <a:xfrm>
            <a:off x="961310" y="4288922"/>
            <a:ext cx="6109865" cy="480655"/>
          </a:xfrm>
          <a:prstGeom prst="rect">
            <a:avLst/>
          </a:prstGeom>
          <a:noFill/>
          <a:ln/>
        </p:spPr>
        <p:txBody>
          <a:bodyPr wrap="square" lIns="0" tIns="0" rIns="0" bIns="0" rtlCol="0" anchor="ctr"/>
          <a:lstStyle/>
          <a:p>
            <a:pPr>
              <a:lnSpc>
                <a:spcPct val="140000"/>
              </a:lnSpc>
            </a:pPr>
            <a:r>
              <a:rPr lang="en-US" sz="1165" b="1" dirty="0">
                <a:solidFill>
                  <a:srgbClr val="F8F9FA"/>
                </a:solidFill>
                <a:latin typeface="MiSans" pitchFamily="34" charset="0"/>
                <a:ea typeface="MiSans" pitchFamily="34" charset="-122"/>
                <a:cs typeface="MiSans" pitchFamily="34" charset="-120"/>
              </a:rPr>
              <a:t>Formative assessment is among the most powerful interventions</a:t>
            </a:r>
            <a:pPr>
              <a:lnSpc>
                <a:spcPct val="140000"/>
              </a:lnSpc>
            </a:pPr>
            <a:r>
              <a:rPr lang="en-US" sz="1165" dirty="0">
                <a:solidFill>
                  <a:srgbClr val="F8F9FA"/>
                </a:solidFill>
                <a:latin typeface="MiSans" pitchFamily="34" charset="0"/>
                <a:ea typeface="MiSans" pitchFamily="34" charset="-122"/>
                <a:cs typeface="MiSans" pitchFamily="34" charset="-120"/>
              </a:rPr>
              <a:t> available to classroom practitioners, with effect sizes in the 0.4–0.7 range</a:t>
            </a:r>
            <a:endParaRPr lang="en-US" sz="1600" dirty="0"/>
          </a:p>
        </p:txBody>
      </p:sp>
      <p:sp>
        <p:nvSpPr>
          <p:cNvPr id="15" name="Shape 13"/>
          <p:cNvSpPr/>
          <p:nvPr/>
        </p:nvSpPr>
        <p:spPr>
          <a:xfrm>
            <a:off x="554602" y="4843524"/>
            <a:ext cx="295788" cy="295788"/>
          </a:xfrm>
          <a:custGeom>
            <a:avLst/>
            <a:gdLst/>
            <a:ahLst/>
            <a:cxnLst/>
            <a:rect l="l" t="t" r="r" b="b"/>
            <a:pathLst>
              <a:path w="295788" h="295788">
                <a:moveTo>
                  <a:pt x="0" y="0"/>
                </a:moveTo>
                <a:lnTo>
                  <a:pt x="295788" y="0"/>
                </a:lnTo>
                <a:lnTo>
                  <a:pt x="295788" y="295788"/>
                </a:lnTo>
                <a:lnTo>
                  <a:pt x="0" y="295788"/>
                </a:lnTo>
                <a:lnTo>
                  <a:pt x="0" y="0"/>
                </a:lnTo>
                <a:close/>
              </a:path>
            </a:pathLst>
          </a:custGeom>
          <a:solidFill>
            <a:srgbClr val="C49A2C"/>
          </a:solidFill>
          <a:ln/>
        </p:spPr>
      </p:sp>
      <p:sp>
        <p:nvSpPr>
          <p:cNvPr id="16" name="Text 14"/>
          <p:cNvSpPr/>
          <p:nvPr/>
        </p:nvSpPr>
        <p:spPr>
          <a:xfrm>
            <a:off x="517629" y="4843524"/>
            <a:ext cx="369735" cy="295788"/>
          </a:xfrm>
          <a:prstGeom prst="rect">
            <a:avLst/>
          </a:prstGeom>
          <a:noFill/>
          <a:ln/>
        </p:spPr>
        <p:txBody>
          <a:bodyPr wrap="square" lIns="0" tIns="0" rIns="0" bIns="0" rtlCol="0" anchor="ctr"/>
          <a:lstStyle/>
          <a:p>
            <a:pPr algn="ctr">
              <a:lnSpc>
                <a:spcPct val="130000"/>
              </a:lnSpc>
            </a:pPr>
            <a:r>
              <a:rPr lang="en-US" sz="1165" b="1" dirty="0">
                <a:solidFill>
                  <a:srgbClr val="F8F9FA"/>
                </a:solidFill>
                <a:latin typeface="MiSans" pitchFamily="34" charset="0"/>
                <a:ea typeface="MiSans" pitchFamily="34" charset="-122"/>
                <a:cs typeface="MiSans" pitchFamily="34" charset="-120"/>
              </a:rPr>
              <a:t>2</a:t>
            </a:r>
            <a:endParaRPr lang="en-US" sz="1600" dirty="0"/>
          </a:p>
        </p:txBody>
      </p:sp>
      <p:sp>
        <p:nvSpPr>
          <p:cNvPr id="17" name="Text 15"/>
          <p:cNvSpPr/>
          <p:nvPr/>
        </p:nvSpPr>
        <p:spPr>
          <a:xfrm>
            <a:off x="961310" y="4843524"/>
            <a:ext cx="6109865" cy="480655"/>
          </a:xfrm>
          <a:prstGeom prst="rect">
            <a:avLst/>
          </a:prstGeom>
          <a:noFill/>
          <a:ln/>
        </p:spPr>
        <p:txBody>
          <a:bodyPr wrap="square" lIns="0" tIns="0" rIns="0" bIns="0" rtlCol="0" anchor="ctr"/>
          <a:lstStyle/>
          <a:p>
            <a:pPr>
              <a:lnSpc>
                <a:spcPct val="140000"/>
              </a:lnSpc>
            </a:pPr>
            <a:r>
              <a:rPr lang="en-US" sz="1165" b="1" dirty="0">
                <a:solidFill>
                  <a:srgbClr val="F8F9FA"/>
                </a:solidFill>
                <a:latin typeface="MiSans" pitchFamily="34" charset="0"/>
                <a:ea typeface="MiSans" pitchFamily="34" charset="-122"/>
                <a:cs typeface="MiSans" pitchFamily="34" charset="-120"/>
              </a:rPr>
              <a:t>The gains are particularly large for low-attaining pupils</a:t>
            </a:r>
            <a:pPr>
              <a:lnSpc>
                <a:spcPct val="140000"/>
              </a:lnSpc>
            </a:pPr>
            <a:r>
              <a:rPr lang="en-US" sz="1165" dirty="0">
                <a:solidFill>
                  <a:srgbClr val="F8F9FA"/>
                </a:solidFill>
                <a:latin typeface="MiSans" pitchFamily="34" charset="0"/>
                <a:ea typeface="MiSans" pitchFamily="34" charset="-122"/>
                <a:cs typeface="MiSans" pitchFamily="34" charset="-120"/>
              </a:rPr>
              <a:t>, suggesting that well-implemented formative assessment can reduce the achievement gap</a:t>
            </a:r>
            <a:endParaRPr lang="en-US" sz="1600" dirty="0"/>
          </a:p>
        </p:txBody>
      </p:sp>
      <p:sp>
        <p:nvSpPr>
          <p:cNvPr id="18" name="Shape 16"/>
          <p:cNvSpPr/>
          <p:nvPr/>
        </p:nvSpPr>
        <p:spPr>
          <a:xfrm>
            <a:off x="554602" y="5398126"/>
            <a:ext cx="295788" cy="295788"/>
          </a:xfrm>
          <a:custGeom>
            <a:avLst/>
            <a:gdLst/>
            <a:ahLst/>
            <a:cxnLst/>
            <a:rect l="l" t="t" r="r" b="b"/>
            <a:pathLst>
              <a:path w="295788" h="295788">
                <a:moveTo>
                  <a:pt x="0" y="0"/>
                </a:moveTo>
                <a:lnTo>
                  <a:pt x="295788" y="0"/>
                </a:lnTo>
                <a:lnTo>
                  <a:pt x="295788" y="295788"/>
                </a:lnTo>
                <a:lnTo>
                  <a:pt x="0" y="295788"/>
                </a:lnTo>
                <a:lnTo>
                  <a:pt x="0" y="0"/>
                </a:lnTo>
                <a:close/>
              </a:path>
            </a:pathLst>
          </a:custGeom>
          <a:solidFill>
            <a:srgbClr val="C49A2C"/>
          </a:solidFill>
          <a:ln/>
        </p:spPr>
      </p:sp>
      <p:sp>
        <p:nvSpPr>
          <p:cNvPr id="19" name="Text 17"/>
          <p:cNvSpPr/>
          <p:nvPr/>
        </p:nvSpPr>
        <p:spPr>
          <a:xfrm>
            <a:off x="517629" y="5398126"/>
            <a:ext cx="369735" cy="295788"/>
          </a:xfrm>
          <a:prstGeom prst="rect">
            <a:avLst/>
          </a:prstGeom>
          <a:noFill/>
          <a:ln/>
        </p:spPr>
        <p:txBody>
          <a:bodyPr wrap="square" lIns="0" tIns="0" rIns="0" bIns="0" rtlCol="0" anchor="ctr"/>
          <a:lstStyle/>
          <a:p>
            <a:pPr algn="ctr">
              <a:lnSpc>
                <a:spcPct val="130000"/>
              </a:lnSpc>
            </a:pPr>
            <a:r>
              <a:rPr lang="en-US" sz="1165" b="1" dirty="0">
                <a:solidFill>
                  <a:srgbClr val="F8F9FA"/>
                </a:solidFill>
                <a:latin typeface="MiSans" pitchFamily="34" charset="0"/>
                <a:ea typeface="MiSans" pitchFamily="34" charset="-122"/>
                <a:cs typeface="MiSans" pitchFamily="34" charset="-120"/>
              </a:rPr>
              <a:t>3</a:t>
            </a:r>
            <a:endParaRPr lang="en-US" sz="1600" dirty="0"/>
          </a:p>
        </p:txBody>
      </p:sp>
      <p:sp>
        <p:nvSpPr>
          <p:cNvPr id="20" name="Text 18"/>
          <p:cNvSpPr/>
          <p:nvPr/>
        </p:nvSpPr>
        <p:spPr>
          <a:xfrm>
            <a:off x="961310" y="5398126"/>
            <a:ext cx="6109865" cy="480655"/>
          </a:xfrm>
          <a:prstGeom prst="rect">
            <a:avLst/>
          </a:prstGeom>
          <a:noFill/>
          <a:ln/>
        </p:spPr>
        <p:txBody>
          <a:bodyPr wrap="square" lIns="0" tIns="0" rIns="0" bIns="0" rtlCol="0" anchor="ctr"/>
          <a:lstStyle/>
          <a:p>
            <a:pPr>
              <a:lnSpc>
                <a:spcPct val="140000"/>
              </a:lnSpc>
            </a:pPr>
            <a:r>
              <a:rPr lang="en-US" sz="1165" b="1" dirty="0">
                <a:solidFill>
                  <a:srgbClr val="F8F9FA"/>
                </a:solidFill>
                <a:latin typeface="MiSans" pitchFamily="34" charset="0"/>
                <a:ea typeface="MiSans" pitchFamily="34" charset="-122"/>
                <a:cs typeface="MiSans" pitchFamily="34" charset="-120"/>
              </a:rPr>
              <a:t>Most classroom assessment practice is summative</a:t>
            </a:r>
            <a:pPr>
              <a:lnSpc>
                <a:spcPct val="140000"/>
              </a:lnSpc>
            </a:pPr>
            <a:r>
              <a:rPr lang="en-US" sz="1165" dirty="0">
                <a:solidFill>
                  <a:srgbClr val="F8F9FA"/>
                </a:solidFill>
                <a:latin typeface="MiSans" pitchFamily="34" charset="0"/>
                <a:ea typeface="MiSans" pitchFamily="34" charset="-122"/>
                <a:cs typeface="MiSans" pitchFamily="34" charset="-120"/>
              </a:rPr>
              <a:t> in character and does not produce the feedback loops necessary for instructional improvement</a:t>
            </a:r>
            <a:endParaRPr lang="en-US" sz="1600" dirty="0"/>
          </a:p>
        </p:txBody>
      </p:sp>
      <p:sp>
        <p:nvSpPr>
          <p:cNvPr id="21" name="Shape 19"/>
          <p:cNvSpPr/>
          <p:nvPr/>
        </p:nvSpPr>
        <p:spPr>
          <a:xfrm>
            <a:off x="554602" y="5952728"/>
            <a:ext cx="295788" cy="295788"/>
          </a:xfrm>
          <a:custGeom>
            <a:avLst/>
            <a:gdLst/>
            <a:ahLst/>
            <a:cxnLst/>
            <a:rect l="l" t="t" r="r" b="b"/>
            <a:pathLst>
              <a:path w="295788" h="295788">
                <a:moveTo>
                  <a:pt x="0" y="0"/>
                </a:moveTo>
                <a:lnTo>
                  <a:pt x="295788" y="0"/>
                </a:lnTo>
                <a:lnTo>
                  <a:pt x="295788" y="295788"/>
                </a:lnTo>
                <a:lnTo>
                  <a:pt x="0" y="295788"/>
                </a:lnTo>
                <a:lnTo>
                  <a:pt x="0" y="0"/>
                </a:lnTo>
                <a:close/>
              </a:path>
            </a:pathLst>
          </a:custGeom>
          <a:solidFill>
            <a:srgbClr val="C49A2C"/>
          </a:solidFill>
          <a:ln/>
        </p:spPr>
      </p:sp>
      <p:sp>
        <p:nvSpPr>
          <p:cNvPr id="22" name="Text 20"/>
          <p:cNvSpPr/>
          <p:nvPr/>
        </p:nvSpPr>
        <p:spPr>
          <a:xfrm>
            <a:off x="517629" y="5952728"/>
            <a:ext cx="369735" cy="295788"/>
          </a:xfrm>
          <a:prstGeom prst="rect">
            <a:avLst/>
          </a:prstGeom>
          <a:noFill/>
          <a:ln/>
        </p:spPr>
        <p:txBody>
          <a:bodyPr wrap="square" lIns="0" tIns="0" rIns="0" bIns="0" rtlCol="0" anchor="ctr"/>
          <a:lstStyle/>
          <a:p>
            <a:pPr algn="ctr">
              <a:lnSpc>
                <a:spcPct val="130000"/>
              </a:lnSpc>
            </a:pPr>
            <a:r>
              <a:rPr lang="en-US" sz="1165" b="1" dirty="0">
                <a:solidFill>
                  <a:srgbClr val="F8F9FA"/>
                </a:solidFill>
                <a:latin typeface="MiSans" pitchFamily="34" charset="0"/>
                <a:ea typeface="MiSans" pitchFamily="34" charset="-122"/>
                <a:cs typeface="MiSans" pitchFamily="34" charset="-120"/>
              </a:rPr>
              <a:t>4</a:t>
            </a:r>
            <a:endParaRPr lang="en-US" sz="1600" dirty="0"/>
          </a:p>
        </p:txBody>
      </p:sp>
      <p:sp>
        <p:nvSpPr>
          <p:cNvPr id="23" name="Text 21"/>
          <p:cNvSpPr/>
          <p:nvPr/>
        </p:nvSpPr>
        <p:spPr>
          <a:xfrm>
            <a:off x="961310" y="5952728"/>
            <a:ext cx="6109865" cy="720983"/>
          </a:xfrm>
          <a:prstGeom prst="rect">
            <a:avLst/>
          </a:prstGeom>
          <a:noFill/>
          <a:ln/>
        </p:spPr>
        <p:txBody>
          <a:bodyPr wrap="square" lIns="0" tIns="0" rIns="0" bIns="0" rtlCol="0" anchor="ctr"/>
          <a:lstStyle/>
          <a:p>
            <a:pPr>
              <a:lnSpc>
                <a:spcPct val="140000"/>
              </a:lnSpc>
            </a:pPr>
            <a:r>
              <a:rPr lang="en-US" sz="1165" b="1" dirty="0">
                <a:solidFill>
                  <a:srgbClr val="F8F9FA"/>
                </a:solidFill>
                <a:latin typeface="MiSans" pitchFamily="34" charset="0"/>
                <a:ea typeface="MiSans" pitchFamily="34" charset="-122"/>
                <a:cs typeface="MiSans" pitchFamily="34" charset="-120"/>
              </a:rPr>
              <a:t>The gap between the potential of formative assessment and its typical implementation</a:t>
            </a:r>
            <a:pPr>
              <a:lnSpc>
                <a:spcPct val="140000"/>
              </a:lnSpc>
            </a:pPr>
            <a:r>
              <a:rPr lang="en-US" sz="1165" dirty="0">
                <a:solidFill>
                  <a:srgbClr val="F8F9FA"/>
                </a:solidFill>
                <a:latin typeface="MiSans" pitchFamily="34" charset="0"/>
                <a:ea typeface="MiSans" pitchFamily="34" charset="-122"/>
                <a:cs typeface="MiSans" pitchFamily="34" charset="-120"/>
              </a:rPr>
              <a:t> represents one of the most significant unrealised opportunities in education</a:t>
            </a:r>
            <a:endParaRPr lang="en-US" sz="1600" dirty="0"/>
          </a:p>
        </p:txBody>
      </p:sp>
      <p:sp>
        <p:nvSpPr>
          <p:cNvPr id="24" name="Shape 22"/>
          <p:cNvSpPr/>
          <p:nvPr/>
        </p:nvSpPr>
        <p:spPr>
          <a:xfrm>
            <a:off x="7330451" y="1257098"/>
            <a:ext cx="4492276" cy="2625116"/>
          </a:xfrm>
          <a:custGeom>
            <a:avLst/>
            <a:gdLst/>
            <a:ahLst/>
            <a:cxnLst/>
            <a:rect l="l" t="t" r="r" b="b"/>
            <a:pathLst>
              <a:path w="4492276" h="2625116">
                <a:moveTo>
                  <a:pt x="0" y="0"/>
                </a:moveTo>
                <a:lnTo>
                  <a:pt x="4492276" y="0"/>
                </a:lnTo>
                <a:lnTo>
                  <a:pt x="4492276" y="2625116"/>
                </a:lnTo>
                <a:lnTo>
                  <a:pt x="0" y="2625116"/>
                </a:lnTo>
                <a:lnTo>
                  <a:pt x="0" y="0"/>
                </a:lnTo>
                <a:close/>
              </a:path>
            </a:pathLst>
          </a:custGeom>
          <a:solidFill>
            <a:srgbClr val="C49A2C"/>
          </a:solidFill>
          <a:ln/>
        </p:spPr>
      </p:sp>
      <p:sp>
        <p:nvSpPr>
          <p:cNvPr id="25" name="Text 23"/>
          <p:cNvSpPr/>
          <p:nvPr/>
        </p:nvSpPr>
        <p:spPr>
          <a:xfrm>
            <a:off x="7469102" y="1441965"/>
            <a:ext cx="4214975" cy="258814"/>
          </a:xfrm>
          <a:prstGeom prst="rect">
            <a:avLst/>
          </a:prstGeom>
          <a:noFill/>
          <a:ln/>
        </p:spPr>
        <p:txBody>
          <a:bodyPr wrap="square" lIns="0" tIns="0" rIns="0" bIns="0" rtlCol="0" anchor="ctr"/>
          <a:lstStyle/>
          <a:p>
            <a:pPr algn="ctr">
              <a:lnSpc>
                <a:spcPct val="120000"/>
              </a:lnSpc>
            </a:pPr>
            <a:r>
              <a:rPr lang="en-US" sz="1456" b="1" dirty="0">
                <a:solidFill>
                  <a:srgbClr val="F8F9FA"/>
                </a:solidFill>
                <a:latin typeface="MiSans" pitchFamily="34" charset="0"/>
                <a:ea typeface="MiSans" pitchFamily="34" charset="-122"/>
                <a:cs typeface="MiSans" pitchFamily="34" charset="-120"/>
              </a:rPr>
              <a:t>Effect Size Range</a:t>
            </a:r>
            <a:endParaRPr lang="en-US" sz="1600" dirty="0"/>
          </a:p>
        </p:txBody>
      </p:sp>
      <p:sp>
        <p:nvSpPr>
          <p:cNvPr id="26" name="Text 24"/>
          <p:cNvSpPr/>
          <p:nvPr/>
        </p:nvSpPr>
        <p:spPr>
          <a:xfrm>
            <a:off x="7376668" y="1848673"/>
            <a:ext cx="4399842" cy="554602"/>
          </a:xfrm>
          <a:prstGeom prst="rect">
            <a:avLst/>
          </a:prstGeom>
          <a:noFill/>
          <a:ln/>
        </p:spPr>
        <p:txBody>
          <a:bodyPr wrap="square" lIns="0" tIns="0" rIns="0" bIns="0" rtlCol="0" anchor="ctr"/>
          <a:lstStyle/>
          <a:p>
            <a:pPr algn="ctr">
              <a:lnSpc>
                <a:spcPct val="80000"/>
              </a:lnSpc>
            </a:pPr>
            <a:r>
              <a:rPr lang="en-US" sz="4367" b="1" dirty="0">
                <a:solidFill>
                  <a:srgbClr val="F8F9FA"/>
                </a:solidFill>
                <a:latin typeface="MiSans" pitchFamily="34" charset="0"/>
                <a:ea typeface="MiSans" pitchFamily="34" charset="-122"/>
                <a:cs typeface="MiSans" pitchFamily="34" charset="-120"/>
              </a:rPr>
              <a:t>0.4–0.7</a:t>
            </a:r>
            <a:endParaRPr lang="en-US" sz="1600" dirty="0"/>
          </a:p>
        </p:txBody>
      </p:sp>
      <p:sp>
        <p:nvSpPr>
          <p:cNvPr id="27" name="Text 25"/>
          <p:cNvSpPr/>
          <p:nvPr/>
        </p:nvSpPr>
        <p:spPr>
          <a:xfrm>
            <a:off x="7469102" y="2477222"/>
            <a:ext cx="4214975" cy="258814"/>
          </a:xfrm>
          <a:prstGeom prst="rect">
            <a:avLst/>
          </a:prstGeom>
          <a:noFill/>
          <a:ln/>
        </p:spPr>
        <p:txBody>
          <a:bodyPr wrap="square" lIns="0" tIns="0" rIns="0" bIns="0" rtlCol="0" anchor="ctr"/>
          <a:lstStyle/>
          <a:p>
            <a:pPr algn="ctr">
              <a:lnSpc>
                <a:spcPct val="120000"/>
              </a:lnSpc>
            </a:pPr>
            <a:r>
              <a:rPr lang="en-US" sz="1456" dirty="0">
                <a:solidFill>
                  <a:srgbClr val="F8F9FA"/>
                </a:solidFill>
                <a:latin typeface="MiSans" pitchFamily="34" charset="0"/>
                <a:ea typeface="MiSans" pitchFamily="34" charset="-122"/>
                <a:cs typeface="MiSans" pitchFamily="34" charset="-120"/>
              </a:rPr>
              <a:t>Cohen's d</a:t>
            </a:r>
            <a:endParaRPr lang="en-US" sz="1600" dirty="0"/>
          </a:p>
        </p:txBody>
      </p:sp>
      <p:sp>
        <p:nvSpPr>
          <p:cNvPr id="28" name="Shape 26"/>
          <p:cNvSpPr/>
          <p:nvPr/>
        </p:nvSpPr>
        <p:spPr>
          <a:xfrm>
            <a:off x="7533805" y="2925525"/>
            <a:ext cx="147894" cy="147894"/>
          </a:xfrm>
          <a:custGeom>
            <a:avLst/>
            <a:gdLst/>
            <a:ahLst/>
            <a:cxnLst/>
            <a:rect l="l" t="t" r="r" b="b"/>
            <a:pathLst>
              <a:path w="147894" h="147894">
                <a:moveTo>
                  <a:pt x="73947" y="147894"/>
                </a:moveTo>
                <a:cubicBezTo>
                  <a:pt x="114759" y="147894"/>
                  <a:pt x="147894" y="114759"/>
                  <a:pt x="147894" y="73947"/>
                </a:cubicBezTo>
                <a:cubicBezTo>
                  <a:pt x="147894" y="33135"/>
                  <a:pt x="114759" y="0"/>
                  <a:pt x="73947" y="0"/>
                </a:cubicBezTo>
                <a:cubicBezTo>
                  <a:pt x="33135" y="0"/>
                  <a:pt x="0" y="33135"/>
                  <a:pt x="0" y="73947"/>
                </a:cubicBezTo>
                <a:cubicBezTo>
                  <a:pt x="0" y="114759"/>
                  <a:pt x="33135" y="147894"/>
                  <a:pt x="73947" y="147894"/>
                </a:cubicBezTo>
                <a:close/>
                <a:moveTo>
                  <a:pt x="98326" y="61439"/>
                </a:moveTo>
                <a:lnTo>
                  <a:pt x="75218" y="98413"/>
                </a:lnTo>
                <a:cubicBezTo>
                  <a:pt x="74005" y="100348"/>
                  <a:pt x="71925" y="101561"/>
                  <a:pt x="69643" y="101677"/>
                </a:cubicBezTo>
                <a:cubicBezTo>
                  <a:pt x="67361" y="101793"/>
                  <a:pt x="65166" y="100753"/>
                  <a:pt x="63808" y="98904"/>
                </a:cubicBezTo>
                <a:lnTo>
                  <a:pt x="49943" y="80417"/>
                </a:lnTo>
                <a:cubicBezTo>
                  <a:pt x="47632" y="77355"/>
                  <a:pt x="48268" y="73023"/>
                  <a:pt x="51330" y="70712"/>
                </a:cubicBezTo>
                <a:cubicBezTo>
                  <a:pt x="54391" y="68401"/>
                  <a:pt x="58724" y="69036"/>
                  <a:pt x="61035" y="72098"/>
                </a:cubicBezTo>
                <a:lnTo>
                  <a:pt x="68834" y="82497"/>
                </a:lnTo>
                <a:lnTo>
                  <a:pt x="86570" y="54103"/>
                </a:lnTo>
                <a:cubicBezTo>
                  <a:pt x="88592" y="50867"/>
                  <a:pt x="92867" y="49856"/>
                  <a:pt x="96131" y="51907"/>
                </a:cubicBezTo>
                <a:cubicBezTo>
                  <a:pt x="99395" y="53958"/>
                  <a:pt x="100377" y="58204"/>
                  <a:pt x="98326" y="61468"/>
                </a:cubicBezTo>
                <a:close/>
              </a:path>
            </a:pathLst>
          </a:custGeom>
          <a:solidFill>
            <a:srgbClr val="F8F9FA"/>
          </a:solidFill>
          <a:ln/>
        </p:spPr>
      </p:sp>
      <p:sp>
        <p:nvSpPr>
          <p:cNvPr id="29" name="Text 27"/>
          <p:cNvSpPr/>
          <p:nvPr/>
        </p:nvSpPr>
        <p:spPr>
          <a:xfrm>
            <a:off x="7754006" y="2883930"/>
            <a:ext cx="3957801" cy="221841"/>
          </a:xfrm>
          <a:prstGeom prst="rect">
            <a:avLst/>
          </a:prstGeom>
          <a:noFill/>
          <a:ln/>
        </p:spPr>
        <p:txBody>
          <a:bodyPr wrap="square" lIns="0" tIns="0" rIns="0" bIns="0" rtlCol="0" anchor="ctr"/>
          <a:lstStyle/>
          <a:p>
            <a:pPr>
              <a:lnSpc>
                <a:spcPct val="130000"/>
              </a:lnSpc>
            </a:pPr>
            <a:r>
              <a:rPr lang="en-US" sz="1165" dirty="0">
                <a:solidFill>
                  <a:srgbClr val="F8F9FA"/>
                </a:solidFill>
                <a:latin typeface="MiSans" pitchFamily="34" charset="0"/>
                <a:ea typeface="MiSans" pitchFamily="34" charset="-122"/>
                <a:cs typeface="MiSans" pitchFamily="34" charset="-120"/>
              </a:rPr>
              <a:t>Above Hattie's 0.4 hinge point</a:t>
            </a:r>
            <a:endParaRPr lang="en-US" sz="1600" dirty="0"/>
          </a:p>
        </p:txBody>
      </p:sp>
      <p:sp>
        <p:nvSpPr>
          <p:cNvPr id="30" name="Shape 28"/>
          <p:cNvSpPr/>
          <p:nvPr/>
        </p:nvSpPr>
        <p:spPr>
          <a:xfrm>
            <a:off x="7533805" y="3221313"/>
            <a:ext cx="147894" cy="147894"/>
          </a:xfrm>
          <a:custGeom>
            <a:avLst/>
            <a:gdLst/>
            <a:ahLst/>
            <a:cxnLst/>
            <a:rect l="l" t="t" r="r" b="b"/>
            <a:pathLst>
              <a:path w="147894" h="147894">
                <a:moveTo>
                  <a:pt x="73947" y="147894"/>
                </a:moveTo>
                <a:cubicBezTo>
                  <a:pt x="114759" y="147894"/>
                  <a:pt x="147894" y="114759"/>
                  <a:pt x="147894" y="73947"/>
                </a:cubicBezTo>
                <a:cubicBezTo>
                  <a:pt x="147894" y="33135"/>
                  <a:pt x="114759" y="0"/>
                  <a:pt x="73947" y="0"/>
                </a:cubicBezTo>
                <a:cubicBezTo>
                  <a:pt x="33135" y="0"/>
                  <a:pt x="0" y="33135"/>
                  <a:pt x="0" y="73947"/>
                </a:cubicBezTo>
                <a:cubicBezTo>
                  <a:pt x="0" y="114759"/>
                  <a:pt x="33135" y="147894"/>
                  <a:pt x="73947" y="147894"/>
                </a:cubicBezTo>
                <a:close/>
                <a:moveTo>
                  <a:pt x="98326" y="61439"/>
                </a:moveTo>
                <a:lnTo>
                  <a:pt x="75218" y="98413"/>
                </a:lnTo>
                <a:cubicBezTo>
                  <a:pt x="74005" y="100348"/>
                  <a:pt x="71925" y="101561"/>
                  <a:pt x="69643" y="101677"/>
                </a:cubicBezTo>
                <a:cubicBezTo>
                  <a:pt x="67361" y="101793"/>
                  <a:pt x="65166" y="100753"/>
                  <a:pt x="63808" y="98904"/>
                </a:cubicBezTo>
                <a:lnTo>
                  <a:pt x="49943" y="80417"/>
                </a:lnTo>
                <a:cubicBezTo>
                  <a:pt x="47632" y="77355"/>
                  <a:pt x="48268" y="73023"/>
                  <a:pt x="51330" y="70712"/>
                </a:cubicBezTo>
                <a:cubicBezTo>
                  <a:pt x="54391" y="68401"/>
                  <a:pt x="58724" y="69036"/>
                  <a:pt x="61035" y="72098"/>
                </a:cubicBezTo>
                <a:lnTo>
                  <a:pt x="68834" y="82497"/>
                </a:lnTo>
                <a:lnTo>
                  <a:pt x="86570" y="54103"/>
                </a:lnTo>
                <a:cubicBezTo>
                  <a:pt x="88592" y="50867"/>
                  <a:pt x="92867" y="49856"/>
                  <a:pt x="96131" y="51907"/>
                </a:cubicBezTo>
                <a:cubicBezTo>
                  <a:pt x="99395" y="53958"/>
                  <a:pt x="100377" y="58204"/>
                  <a:pt x="98326" y="61468"/>
                </a:cubicBezTo>
                <a:close/>
              </a:path>
            </a:pathLst>
          </a:custGeom>
          <a:solidFill>
            <a:srgbClr val="F8F9FA"/>
          </a:solidFill>
          <a:ln/>
        </p:spPr>
      </p:sp>
      <p:sp>
        <p:nvSpPr>
          <p:cNvPr id="31" name="Text 29"/>
          <p:cNvSpPr/>
          <p:nvPr/>
        </p:nvSpPr>
        <p:spPr>
          <a:xfrm>
            <a:off x="7754006" y="3179718"/>
            <a:ext cx="3957801" cy="221841"/>
          </a:xfrm>
          <a:prstGeom prst="rect">
            <a:avLst/>
          </a:prstGeom>
          <a:noFill/>
          <a:ln/>
        </p:spPr>
        <p:txBody>
          <a:bodyPr wrap="square" lIns="0" tIns="0" rIns="0" bIns="0" rtlCol="0" anchor="ctr"/>
          <a:lstStyle/>
          <a:p>
            <a:pPr>
              <a:lnSpc>
                <a:spcPct val="130000"/>
              </a:lnSpc>
            </a:pPr>
            <a:r>
              <a:rPr lang="en-US" sz="1165" dirty="0">
                <a:solidFill>
                  <a:srgbClr val="F8F9FA"/>
                </a:solidFill>
                <a:latin typeface="MiSans" pitchFamily="34" charset="0"/>
                <a:ea typeface="MiSans" pitchFamily="34" charset="-122"/>
                <a:cs typeface="MiSans" pitchFamily="34" charset="-120"/>
              </a:rPr>
              <a:t>Comparable to MPI's 0.61</a:t>
            </a:r>
            <a:endParaRPr lang="en-US" sz="1600" dirty="0"/>
          </a:p>
        </p:txBody>
      </p:sp>
      <p:sp>
        <p:nvSpPr>
          <p:cNvPr id="32" name="Shape 30"/>
          <p:cNvSpPr/>
          <p:nvPr/>
        </p:nvSpPr>
        <p:spPr>
          <a:xfrm>
            <a:off x="7533805" y="3517101"/>
            <a:ext cx="147894" cy="147894"/>
          </a:xfrm>
          <a:custGeom>
            <a:avLst/>
            <a:gdLst/>
            <a:ahLst/>
            <a:cxnLst/>
            <a:rect l="l" t="t" r="r" b="b"/>
            <a:pathLst>
              <a:path w="147894" h="147894">
                <a:moveTo>
                  <a:pt x="73947" y="147894"/>
                </a:moveTo>
                <a:cubicBezTo>
                  <a:pt x="114759" y="147894"/>
                  <a:pt x="147894" y="114759"/>
                  <a:pt x="147894" y="73947"/>
                </a:cubicBezTo>
                <a:cubicBezTo>
                  <a:pt x="147894" y="33135"/>
                  <a:pt x="114759" y="0"/>
                  <a:pt x="73947" y="0"/>
                </a:cubicBezTo>
                <a:cubicBezTo>
                  <a:pt x="33135" y="0"/>
                  <a:pt x="0" y="33135"/>
                  <a:pt x="0" y="73947"/>
                </a:cubicBezTo>
                <a:cubicBezTo>
                  <a:pt x="0" y="114759"/>
                  <a:pt x="33135" y="147894"/>
                  <a:pt x="73947" y="147894"/>
                </a:cubicBezTo>
                <a:close/>
                <a:moveTo>
                  <a:pt x="98326" y="61439"/>
                </a:moveTo>
                <a:lnTo>
                  <a:pt x="75218" y="98413"/>
                </a:lnTo>
                <a:cubicBezTo>
                  <a:pt x="74005" y="100348"/>
                  <a:pt x="71925" y="101561"/>
                  <a:pt x="69643" y="101677"/>
                </a:cubicBezTo>
                <a:cubicBezTo>
                  <a:pt x="67361" y="101793"/>
                  <a:pt x="65166" y="100753"/>
                  <a:pt x="63808" y="98904"/>
                </a:cubicBezTo>
                <a:lnTo>
                  <a:pt x="49943" y="80417"/>
                </a:lnTo>
                <a:cubicBezTo>
                  <a:pt x="47632" y="77355"/>
                  <a:pt x="48268" y="73023"/>
                  <a:pt x="51330" y="70712"/>
                </a:cubicBezTo>
                <a:cubicBezTo>
                  <a:pt x="54391" y="68401"/>
                  <a:pt x="58724" y="69036"/>
                  <a:pt x="61035" y="72098"/>
                </a:cubicBezTo>
                <a:lnTo>
                  <a:pt x="68834" y="82497"/>
                </a:lnTo>
                <a:lnTo>
                  <a:pt x="86570" y="54103"/>
                </a:lnTo>
                <a:cubicBezTo>
                  <a:pt x="88592" y="50867"/>
                  <a:pt x="92867" y="49856"/>
                  <a:pt x="96131" y="51907"/>
                </a:cubicBezTo>
                <a:cubicBezTo>
                  <a:pt x="99395" y="53958"/>
                  <a:pt x="100377" y="58204"/>
                  <a:pt x="98326" y="61468"/>
                </a:cubicBezTo>
                <a:close/>
              </a:path>
            </a:pathLst>
          </a:custGeom>
          <a:solidFill>
            <a:srgbClr val="F8F9FA"/>
          </a:solidFill>
          <a:ln/>
        </p:spPr>
      </p:sp>
      <p:sp>
        <p:nvSpPr>
          <p:cNvPr id="33" name="Text 31"/>
          <p:cNvSpPr/>
          <p:nvPr/>
        </p:nvSpPr>
        <p:spPr>
          <a:xfrm>
            <a:off x="7754006" y="3475506"/>
            <a:ext cx="3957801" cy="221841"/>
          </a:xfrm>
          <a:prstGeom prst="rect">
            <a:avLst/>
          </a:prstGeom>
          <a:noFill/>
          <a:ln/>
        </p:spPr>
        <p:txBody>
          <a:bodyPr wrap="square" lIns="0" tIns="0" rIns="0" bIns="0" rtlCol="0" anchor="ctr"/>
          <a:lstStyle/>
          <a:p>
            <a:pPr>
              <a:lnSpc>
                <a:spcPct val="130000"/>
              </a:lnSpc>
            </a:pPr>
            <a:r>
              <a:rPr lang="en-US" sz="1165" dirty="0">
                <a:solidFill>
                  <a:srgbClr val="F8F9FA"/>
                </a:solidFill>
                <a:latin typeface="MiSans" pitchFamily="34" charset="0"/>
                <a:ea typeface="MiSans" pitchFamily="34" charset="-122"/>
                <a:cs typeface="MiSans" pitchFamily="34" charset="-120"/>
              </a:rPr>
              <a:t>Particularly strong for low-attaining pupils</a:t>
            </a:r>
            <a:endParaRPr lang="en-US" sz="1600" dirty="0"/>
          </a:p>
        </p:txBody>
      </p:sp>
      <p:sp>
        <p:nvSpPr>
          <p:cNvPr id="34" name="Shape 32"/>
          <p:cNvSpPr/>
          <p:nvPr/>
        </p:nvSpPr>
        <p:spPr>
          <a:xfrm>
            <a:off x="7348938" y="4030108"/>
            <a:ext cx="4473789" cy="1589859"/>
          </a:xfrm>
          <a:custGeom>
            <a:avLst/>
            <a:gdLst/>
            <a:ahLst/>
            <a:cxnLst/>
            <a:rect l="l" t="t" r="r" b="b"/>
            <a:pathLst>
              <a:path w="4473789" h="1589859">
                <a:moveTo>
                  <a:pt x="0" y="0"/>
                </a:moveTo>
                <a:lnTo>
                  <a:pt x="4473789" y="0"/>
                </a:lnTo>
                <a:lnTo>
                  <a:pt x="4473789" y="1589859"/>
                </a:lnTo>
                <a:lnTo>
                  <a:pt x="0" y="1589859"/>
                </a:lnTo>
                <a:lnTo>
                  <a:pt x="0" y="0"/>
                </a:lnTo>
                <a:close/>
              </a:path>
            </a:pathLst>
          </a:custGeom>
          <a:solidFill>
            <a:srgbClr val="FFFFFF"/>
          </a:solidFill>
          <a:ln/>
        </p:spPr>
      </p:sp>
      <p:sp>
        <p:nvSpPr>
          <p:cNvPr id="35" name="Shape 33"/>
          <p:cNvSpPr/>
          <p:nvPr/>
        </p:nvSpPr>
        <p:spPr>
          <a:xfrm>
            <a:off x="7348938" y="4030108"/>
            <a:ext cx="36973" cy="1589859"/>
          </a:xfrm>
          <a:custGeom>
            <a:avLst/>
            <a:gdLst/>
            <a:ahLst/>
            <a:cxnLst/>
            <a:rect l="l" t="t" r="r" b="b"/>
            <a:pathLst>
              <a:path w="36973" h="1589859">
                <a:moveTo>
                  <a:pt x="0" y="0"/>
                </a:moveTo>
                <a:lnTo>
                  <a:pt x="36973" y="0"/>
                </a:lnTo>
                <a:lnTo>
                  <a:pt x="36973" y="1589859"/>
                </a:lnTo>
                <a:lnTo>
                  <a:pt x="0" y="1589859"/>
                </a:lnTo>
                <a:lnTo>
                  <a:pt x="0" y="0"/>
                </a:lnTo>
                <a:close/>
              </a:path>
            </a:pathLst>
          </a:custGeom>
          <a:solidFill>
            <a:srgbClr val="C49A2C"/>
          </a:solidFill>
          <a:ln/>
        </p:spPr>
      </p:sp>
      <p:sp>
        <p:nvSpPr>
          <p:cNvPr id="36" name="Text 34"/>
          <p:cNvSpPr/>
          <p:nvPr/>
        </p:nvSpPr>
        <p:spPr>
          <a:xfrm>
            <a:off x="7515319" y="4178002"/>
            <a:ext cx="4242705" cy="258814"/>
          </a:xfrm>
          <a:prstGeom prst="rect">
            <a:avLst/>
          </a:prstGeom>
          <a:noFill/>
          <a:ln/>
        </p:spPr>
        <p:txBody>
          <a:bodyPr wrap="square" lIns="0" tIns="0" rIns="0" bIns="0" rtlCol="0" anchor="ctr"/>
          <a:lstStyle/>
          <a:p>
            <a:pPr>
              <a:lnSpc>
                <a:spcPct val="130000"/>
              </a:lnSpc>
            </a:pPr>
            <a:r>
              <a:rPr lang="en-US" sz="1310" b="1" dirty="0">
                <a:solidFill>
                  <a:srgbClr val="1E3A5F"/>
                </a:solidFill>
                <a:latin typeface="MiSans" pitchFamily="34" charset="0"/>
                <a:ea typeface="MiSans" pitchFamily="34" charset="-122"/>
                <a:cs typeface="MiSans" pitchFamily="34" charset="-120"/>
              </a:rPr>
              <a:t>Connection to the MPI</a:t>
            </a:r>
            <a:endParaRPr lang="en-US" sz="1600" dirty="0"/>
          </a:p>
        </p:txBody>
      </p:sp>
      <p:sp>
        <p:nvSpPr>
          <p:cNvPr id="37" name="Text 35"/>
          <p:cNvSpPr/>
          <p:nvPr/>
        </p:nvSpPr>
        <p:spPr>
          <a:xfrm>
            <a:off x="7515319" y="4510763"/>
            <a:ext cx="4233462" cy="961310"/>
          </a:xfrm>
          <a:prstGeom prst="rect">
            <a:avLst/>
          </a:prstGeom>
          <a:noFill/>
          <a:ln/>
        </p:spPr>
        <p:txBody>
          <a:bodyPr wrap="square" lIns="0" tIns="0" rIns="0" bIns="0" rtlCol="0" anchor="ctr"/>
          <a:lstStyle/>
          <a:p>
            <a:pPr>
              <a:lnSpc>
                <a:spcPct val="140000"/>
              </a:lnSpc>
            </a:pPr>
            <a:r>
              <a:rPr lang="en-US" sz="1165" dirty="0">
                <a:solidFill>
                  <a:srgbClr val="2D3436"/>
                </a:solidFill>
                <a:latin typeface="MiSans" pitchFamily="34" charset="0"/>
                <a:ea typeface="MiSans" pitchFamily="34" charset="-122"/>
                <a:cs typeface="MiSans" pitchFamily="34" charset="-120"/>
              </a:rPr>
              <a:t>The MPI's </a:t>
            </a:r>
            <a:pPr>
              <a:lnSpc>
                <a:spcPct val="140000"/>
              </a:lnSpc>
            </a:pPr>
            <a:r>
              <a:rPr lang="en-US" sz="1165" b="1" dirty="0">
                <a:solidFill>
                  <a:srgbClr val="2D3436"/>
                </a:solidFill>
                <a:latin typeface="MiSans" pitchFamily="34" charset="0"/>
                <a:ea typeface="MiSans" pitchFamily="34" charset="-122"/>
                <a:cs typeface="MiSans" pitchFamily="34" charset="-120"/>
              </a:rPr>
              <a:t>second strand — formative assessment integration</a:t>
            </a:r>
            <a:pPr>
              <a:lnSpc>
                <a:spcPct val="140000"/>
              </a:lnSpc>
            </a:pPr>
            <a:r>
              <a:rPr lang="en-US" sz="1165" dirty="0">
                <a:solidFill>
                  <a:srgbClr val="2D3436"/>
                </a:solidFill>
                <a:latin typeface="MiSans" pitchFamily="34" charset="0"/>
                <a:ea typeface="MiSans" pitchFamily="34" charset="-122"/>
                <a:cs typeface="MiSans" pitchFamily="34" charset="-120"/>
              </a:rPr>
              <a:t> — is built directly on this evidence base. It is, arguably, the strand with the strongest independent empirical support.</a:t>
            </a:r>
            <a:endParaRPr lang="en-US" sz="1600" dirty="0"/>
          </a:p>
        </p:txBody>
      </p:sp>
      <p:sp>
        <p:nvSpPr>
          <p:cNvPr id="38" name="Shape 36"/>
          <p:cNvSpPr/>
          <p:nvPr/>
        </p:nvSpPr>
        <p:spPr>
          <a:xfrm>
            <a:off x="7348938" y="5767861"/>
            <a:ext cx="4473789" cy="961310"/>
          </a:xfrm>
          <a:custGeom>
            <a:avLst/>
            <a:gdLst/>
            <a:ahLst/>
            <a:cxnLst/>
            <a:rect l="l" t="t" r="r" b="b"/>
            <a:pathLst>
              <a:path w="4473789" h="961310">
                <a:moveTo>
                  <a:pt x="0" y="0"/>
                </a:moveTo>
                <a:lnTo>
                  <a:pt x="4473789" y="0"/>
                </a:lnTo>
                <a:lnTo>
                  <a:pt x="4473789" y="961310"/>
                </a:lnTo>
                <a:lnTo>
                  <a:pt x="0" y="961310"/>
                </a:lnTo>
                <a:lnTo>
                  <a:pt x="0" y="0"/>
                </a:lnTo>
                <a:close/>
              </a:path>
            </a:pathLst>
          </a:custGeom>
          <a:solidFill>
            <a:srgbClr val="C49A2C">
              <a:alpha val="10196"/>
            </a:srgbClr>
          </a:solidFill>
          <a:ln/>
        </p:spPr>
      </p:sp>
      <p:sp>
        <p:nvSpPr>
          <p:cNvPr id="39" name="Shape 37"/>
          <p:cNvSpPr/>
          <p:nvPr/>
        </p:nvSpPr>
        <p:spPr>
          <a:xfrm>
            <a:off x="7348938" y="5767861"/>
            <a:ext cx="36973" cy="961310"/>
          </a:xfrm>
          <a:custGeom>
            <a:avLst/>
            <a:gdLst/>
            <a:ahLst/>
            <a:cxnLst/>
            <a:rect l="l" t="t" r="r" b="b"/>
            <a:pathLst>
              <a:path w="36973" h="961310">
                <a:moveTo>
                  <a:pt x="0" y="0"/>
                </a:moveTo>
                <a:lnTo>
                  <a:pt x="36973" y="0"/>
                </a:lnTo>
                <a:lnTo>
                  <a:pt x="36973" y="961310"/>
                </a:lnTo>
                <a:lnTo>
                  <a:pt x="0" y="961310"/>
                </a:lnTo>
                <a:lnTo>
                  <a:pt x="0" y="0"/>
                </a:lnTo>
                <a:close/>
              </a:path>
            </a:pathLst>
          </a:custGeom>
          <a:solidFill>
            <a:srgbClr val="C49A2C"/>
          </a:solidFill>
          <a:ln/>
        </p:spPr>
      </p:sp>
      <p:sp>
        <p:nvSpPr>
          <p:cNvPr id="40" name="Shape 38"/>
          <p:cNvSpPr/>
          <p:nvPr/>
        </p:nvSpPr>
        <p:spPr>
          <a:xfrm>
            <a:off x="7543049" y="5957350"/>
            <a:ext cx="129407" cy="147894"/>
          </a:xfrm>
          <a:custGeom>
            <a:avLst/>
            <a:gdLst/>
            <a:ahLst/>
            <a:cxnLst/>
            <a:rect l="l" t="t" r="r" b="b"/>
            <a:pathLst>
              <a:path w="129407" h="147894">
                <a:moveTo>
                  <a:pt x="110920" y="147894"/>
                </a:moveTo>
                <a:lnTo>
                  <a:pt x="27730" y="147894"/>
                </a:lnTo>
                <a:cubicBezTo>
                  <a:pt x="12421" y="147894"/>
                  <a:pt x="0" y="135473"/>
                  <a:pt x="0" y="120164"/>
                </a:cubicBezTo>
                <a:lnTo>
                  <a:pt x="0" y="27730"/>
                </a:lnTo>
                <a:cubicBezTo>
                  <a:pt x="0" y="12421"/>
                  <a:pt x="12421" y="0"/>
                  <a:pt x="27730" y="0"/>
                </a:cubicBezTo>
                <a:lnTo>
                  <a:pt x="115542" y="0"/>
                </a:lnTo>
                <a:cubicBezTo>
                  <a:pt x="123197" y="0"/>
                  <a:pt x="129407" y="6210"/>
                  <a:pt x="129407" y="13865"/>
                </a:cubicBezTo>
                <a:lnTo>
                  <a:pt x="129407" y="97055"/>
                </a:lnTo>
                <a:cubicBezTo>
                  <a:pt x="129407" y="103092"/>
                  <a:pt x="125536" y="108234"/>
                  <a:pt x="120164" y="110140"/>
                </a:cubicBezTo>
                <a:lnTo>
                  <a:pt x="120164" y="129407"/>
                </a:lnTo>
                <a:cubicBezTo>
                  <a:pt x="125276" y="129407"/>
                  <a:pt x="129407" y="133538"/>
                  <a:pt x="129407" y="138650"/>
                </a:cubicBezTo>
                <a:cubicBezTo>
                  <a:pt x="129407" y="143763"/>
                  <a:pt x="125276" y="147894"/>
                  <a:pt x="120164" y="147894"/>
                </a:cubicBezTo>
                <a:lnTo>
                  <a:pt x="110920" y="147894"/>
                </a:lnTo>
                <a:close/>
                <a:moveTo>
                  <a:pt x="27730" y="110920"/>
                </a:moveTo>
                <a:cubicBezTo>
                  <a:pt x="22617" y="110920"/>
                  <a:pt x="18487" y="115051"/>
                  <a:pt x="18487" y="120164"/>
                </a:cubicBezTo>
                <a:cubicBezTo>
                  <a:pt x="18487" y="125276"/>
                  <a:pt x="22617" y="129407"/>
                  <a:pt x="27730" y="129407"/>
                </a:cubicBezTo>
                <a:lnTo>
                  <a:pt x="101677" y="129407"/>
                </a:lnTo>
                <a:lnTo>
                  <a:pt x="101677" y="110920"/>
                </a:lnTo>
                <a:lnTo>
                  <a:pt x="27730" y="110920"/>
                </a:lnTo>
                <a:close/>
                <a:moveTo>
                  <a:pt x="36973" y="43906"/>
                </a:moveTo>
                <a:cubicBezTo>
                  <a:pt x="36973" y="47748"/>
                  <a:pt x="40064" y="50839"/>
                  <a:pt x="43906" y="50839"/>
                </a:cubicBezTo>
                <a:lnTo>
                  <a:pt x="94745" y="50839"/>
                </a:lnTo>
                <a:cubicBezTo>
                  <a:pt x="98586" y="50839"/>
                  <a:pt x="101677" y="47748"/>
                  <a:pt x="101677" y="43906"/>
                </a:cubicBezTo>
                <a:cubicBezTo>
                  <a:pt x="101677" y="40064"/>
                  <a:pt x="98586" y="36973"/>
                  <a:pt x="94745" y="36973"/>
                </a:cubicBezTo>
                <a:lnTo>
                  <a:pt x="43906" y="36973"/>
                </a:lnTo>
                <a:cubicBezTo>
                  <a:pt x="40064" y="36973"/>
                  <a:pt x="36973" y="40064"/>
                  <a:pt x="36973" y="43906"/>
                </a:cubicBezTo>
                <a:close/>
                <a:moveTo>
                  <a:pt x="43906" y="64704"/>
                </a:moveTo>
                <a:cubicBezTo>
                  <a:pt x="40064" y="64704"/>
                  <a:pt x="36973" y="67794"/>
                  <a:pt x="36973" y="71636"/>
                </a:cubicBezTo>
                <a:cubicBezTo>
                  <a:pt x="36973" y="75478"/>
                  <a:pt x="40064" y="78569"/>
                  <a:pt x="43906" y="78569"/>
                </a:cubicBezTo>
                <a:lnTo>
                  <a:pt x="94745" y="78569"/>
                </a:lnTo>
                <a:cubicBezTo>
                  <a:pt x="98586" y="78569"/>
                  <a:pt x="101677" y="75478"/>
                  <a:pt x="101677" y="71636"/>
                </a:cubicBezTo>
                <a:cubicBezTo>
                  <a:pt x="101677" y="67794"/>
                  <a:pt x="98586" y="64704"/>
                  <a:pt x="94745" y="64704"/>
                </a:cubicBezTo>
                <a:lnTo>
                  <a:pt x="43906" y="64704"/>
                </a:lnTo>
                <a:close/>
              </a:path>
            </a:pathLst>
          </a:custGeom>
          <a:solidFill>
            <a:srgbClr val="C49A2C"/>
          </a:solidFill>
          <a:ln/>
        </p:spPr>
      </p:sp>
      <p:sp>
        <p:nvSpPr>
          <p:cNvPr id="41" name="Text 39"/>
          <p:cNvSpPr/>
          <p:nvPr/>
        </p:nvSpPr>
        <p:spPr>
          <a:xfrm>
            <a:off x="7754006" y="5915754"/>
            <a:ext cx="3994774" cy="665522"/>
          </a:xfrm>
          <a:prstGeom prst="rect">
            <a:avLst/>
          </a:prstGeom>
          <a:noFill/>
          <a:ln/>
        </p:spPr>
        <p:txBody>
          <a:bodyPr wrap="square" lIns="0" tIns="0" rIns="0" bIns="0" rtlCol="0" anchor="ctr"/>
          <a:lstStyle/>
          <a:p>
            <a:pPr>
              <a:lnSpc>
                <a:spcPct val="130000"/>
              </a:lnSpc>
            </a:pPr>
            <a:r>
              <a:rPr lang="en-US" sz="1165" b="1" dirty="0">
                <a:solidFill>
                  <a:srgbClr val="1E3A5F"/>
                </a:solidFill>
                <a:latin typeface="MiSans" pitchFamily="34" charset="0"/>
                <a:ea typeface="MiSans" pitchFamily="34" charset="-122"/>
                <a:cs typeface="MiSans" pitchFamily="34" charset="-120"/>
              </a:rPr>
              <a:t>Reference:</a:t>
            </a:r>
            <a:pPr>
              <a:lnSpc>
                <a:spcPct val="130000"/>
              </a:lnSpc>
            </a:pPr>
            <a:r>
              <a:rPr lang="en-US" sz="1165" dirty="0">
                <a:solidFill>
                  <a:srgbClr val="1E3A5F"/>
                </a:solidFill>
                <a:latin typeface="MiSans" pitchFamily="34" charset="0"/>
                <a:ea typeface="MiSans" pitchFamily="34" charset="-122"/>
                <a:cs typeface="MiSans" pitchFamily="34" charset="-120"/>
              </a:rPr>
              <a:t> Black, P., &amp; Wiliam, D. (1998). Inside the Black Box: Raising Standards Through Classroom Assessment. London: King's College.</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57275" y="357275"/>
            <a:ext cx="71455" cy="428730"/>
          </a:xfrm>
          <a:custGeom>
            <a:avLst/>
            <a:gdLst/>
            <a:ahLst/>
            <a:cxnLst/>
            <a:rect l="l" t="t" r="r" b="b"/>
            <a:pathLst>
              <a:path w="71455" h="428730">
                <a:moveTo>
                  <a:pt x="0" y="0"/>
                </a:moveTo>
                <a:lnTo>
                  <a:pt x="71455" y="0"/>
                </a:lnTo>
                <a:lnTo>
                  <a:pt x="71455" y="428730"/>
                </a:lnTo>
                <a:lnTo>
                  <a:pt x="0" y="428730"/>
                </a:lnTo>
                <a:lnTo>
                  <a:pt x="0" y="0"/>
                </a:lnTo>
                <a:close/>
              </a:path>
            </a:pathLst>
          </a:custGeom>
          <a:solidFill>
            <a:srgbClr val="1E3A5F"/>
          </a:solidFill>
          <a:ln/>
        </p:spPr>
      </p:sp>
      <p:sp>
        <p:nvSpPr>
          <p:cNvPr id="3" name="Text 1"/>
          <p:cNvSpPr/>
          <p:nvPr/>
        </p:nvSpPr>
        <p:spPr>
          <a:xfrm>
            <a:off x="535912" y="410866"/>
            <a:ext cx="5510963" cy="321547"/>
          </a:xfrm>
          <a:prstGeom prst="rect">
            <a:avLst/>
          </a:prstGeom>
          <a:noFill/>
          <a:ln/>
        </p:spPr>
        <p:txBody>
          <a:bodyPr wrap="square" lIns="0" tIns="0" rIns="0" bIns="0" rtlCol="0" anchor="ctr"/>
          <a:lstStyle/>
          <a:p>
            <a:pPr>
              <a:lnSpc>
                <a:spcPct val="100000"/>
              </a:lnSpc>
            </a:pPr>
            <a:r>
              <a:rPr lang="en-US" sz="2110" b="1" dirty="0">
                <a:solidFill>
                  <a:srgbClr val="1E3A5F"/>
                </a:solidFill>
                <a:latin typeface="MiSans" pitchFamily="34" charset="0"/>
                <a:ea typeface="MiSans" pitchFamily="34" charset="-122"/>
                <a:cs typeface="MiSans" pitchFamily="34" charset="-120"/>
              </a:rPr>
              <a:t>Black and Wiliam: The Five Key Strategies</a:t>
            </a:r>
            <a:endParaRPr lang="en-US" sz="1600" dirty="0"/>
          </a:p>
        </p:txBody>
      </p:sp>
      <p:sp>
        <p:nvSpPr>
          <p:cNvPr id="4" name="Text 2"/>
          <p:cNvSpPr/>
          <p:nvPr/>
        </p:nvSpPr>
        <p:spPr>
          <a:xfrm>
            <a:off x="535912" y="857459"/>
            <a:ext cx="11370268" cy="214365"/>
          </a:xfrm>
          <a:prstGeom prst="rect">
            <a:avLst/>
          </a:prstGeom>
          <a:noFill/>
          <a:ln/>
        </p:spPr>
        <p:txBody>
          <a:bodyPr wrap="square" lIns="0" tIns="0" rIns="0" bIns="0" rtlCol="0" anchor="ctr"/>
          <a:lstStyle/>
          <a:p>
            <a:pPr>
              <a:lnSpc>
                <a:spcPct val="120000"/>
              </a:lnSpc>
            </a:pPr>
            <a:r>
              <a:rPr lang="en-US" sz="1125" dirty="0">
                <a:solidFill>
                  <a:srgbClr val="6C757D"/>
                </a:solidFill>
                <a:latin typeface="MiSans" pitchFamily="34" charset="0"/>
                <a:ea typeface="MiSans" pitchFamily="34" charset="-122"/>
                <a:cs typeface="MiSans" pitchFamily="34" charset="-120"/>
              </a:rPr>
              <a:t>How the MPI operationalises the formative assessment research tradition</a:t>
            </a:r>
            <a:endParaRPr lang="en-US" sz="1600" dirty="0"/>
          </a:p>
        </p:txBody>
      </p:sp>
      <p:sp>
        <p:nvSpPr>
          <p:cNvPr id="5" name="Shape 3"/>
          <p:cNvSpPr/>
          <p:nvPr/>
        </p:nvSpPr>
        <p:spPr>
          <a:xfrm>
            <a:off x="357275" y="1161143"/>
            <a:ext cx="5671736" cy="1661327"/>
          </a:xfrm>
          <a:custGeom>
            <a:avLst/>
            <a:gdLst/>
            <a:ahLst/>
            <a:cxnLst/>
            <a:rect l="l" t="t" r="r" b="b"/>
            <a:pathLst>
              <a:path w="5671736" h="1661327">
                <a:moveTo>
                  <a:pt x="0" y="0"/>
                </a:moveTo>
                <a:lnTo>
                  <a:pt x="5671736" y="0"/>
                </a:lnTo>
                <a:lnTo>
                  <a:pt x="5671736" y="1661327"/>
                </a:lnTo>
                <a:lnTo>
                  <a:pt x="0" y="1661327"/>
                </a:lnTo>
                <a:lnTo>
                  <a:pt x="0" y="0"/>
                </a:lnTo>
                <a:close/>
              </a:path>
            </a:pathLst>
          </a:custGeom>
          <a:solidFill>
            <a:srgbClr val="FFFFFF"/>
          </a:solidFill>
          <a:ln/>
        </p:spPr>
      </p:sp>
      <p:sp>
        <p:nvSpPr>
          <p:cNvPr id="6" name="Shape 4"/>
          <p:cNvSpPr/>
          <p:nvPr/>
        </p:nvSpPr>
        <p:spPr>
          <a:xfrm>
            <a:off x="357275" y="1161143"/>
            <a:ext cx="5671736" cy="35727"/>
          </a:xfrm>
          <a:custGeom>
            <a:avLst/>
            <a:gdLst/>
            <a:ahLst/>
            <a:cxnLst/>
            <a:rect l="l" t="t" r="r" b="b"/>
            <a:pathLst>
              <a:path w="5671736" h="35727">
                <a:moveTo>
                  <a:pt x="0" y="0"/>
                </a:moveTo>
                <a:lnTo>
                  <a:pt x="5671736" y="0"/>
                </a:lnTo>
                <a:lnTo>
                  <a:pt x="5671736" y="35727"/>
                </a:lnTo>
                <a:lnTo>
                  <a:pt x="0" y="35727"/>
                </a:lnTo>
                <a:lnTo>
                  <a:pt x="0" y="0"/>
                </a:lnTo>
                <a:close/>
              </a:path>
            </a:pathLst>
          </a:custGeom>
          <a:solidFill>
            <a:srgbClr val="1E3A5F"/>
          </a:solidFill>
          <a:ln/>
        </p:spPr>
      </p:sp>
      <p:sp>
        <p:nvSpPr>
          <p:cNvPr id="7" name="Shape 5"/>
          <p:cNvSpPr/>
          <p:nvPr/>
        </p:nvSpPr>
        <p:spPr>
          <a:xfrm>
            <a:off x="464457" y="1286189"/>
            <a:ext cx="357275" cy="357275"/>
          </a:xfrm>
          <a:custGeom>
            <a:avLst/>
            <a:gdLst/>
            <a:ahLst/>
            <a:cxnLst/>
            <a:rect l="l" t="t" r="r" b="b"/>
            <a:pathLst>
              <a:path w="357275" h="357275">
                <a:moveTo>
                  <a:pt x="0" y="0"/>
                </a:moveTo>
                <a:lnTo>
                  <a:pt x="357275" y="0"/>
                </a:lnTo>
                <a:lnTo>
                  <a:pt x="357275" y="357275"/>
                </a:lnTo>
                <a:lnTo>
                  <a:pt x="0" y="357275"/>
                </a:lnTo>
                <a:lnTo>
                  <a:pt x="0" y="0"/>
                </a:lnTo>
                <a:close/>
              </a:path>
            </a:pathLst>
          </a:custGeom>
          <a:solidFill>
            <a:srgbClr val="1E3A5F"/>
          </a:solidFill>
          <a:ln/>
        </p:spPr>
      </p:sp>
      <p:sp>
        <p:nvSpPr>
          <p:cNvPr id="8" name="Text 6"/>
          <p:cNvSpPr/>
          <p:nvPr/>
        </p:nvSpPr>
        <p:spPr>
          <a:xfrm>
            <a:off x="424264" y="1286189"/>
            <a:ext cx="437662" cy="357275"/>
          </a:xfrm>
          <a:prstGeom prst="rect">
            <a:avLst/>
          </a:prstGeom>
          <a:noFill/>
          <a:ln/>
        </p:spPr>
        <p:txBody>
          <a:bodyPr wrap="square" lIns="0" tIns="0" rIns="0" bIns="0" rtlCol="0" anchor="ctr"/>
          <a:lstStyle/>
          <a:p>
            <a:pPr algn="ctr">
              <a:lnSpc>
                <a:spcPct val="130000"/>
              </a:lnSpc>
            </a:pPr>
            <a:r>
              <a:rPr lang="en-US" sz="1266" b="1" dirty="0">
                <a:solidFill>
                  <a:srgbClr val="F8F9FA"/>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928914" y="1339780"/>
            <a:ext cx="3322655"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Clarifying and Sharing Learning Intentions</a:t>
            </a:r>
            <a:endParaRPr lang="en-US" sz="1600" dirty="0"/>
          </a:p>
        </p:txBody>
      </p:sp>
      <p:sp>
        <p:nvSpPr>
          <p:cNvPr id="10" name="Text 8"/>
          <p:cNvSpPr/>
          <p:nvPr/>
        </p:nvSpPr>
        <p:spPr>
          <a:xfrm>
            <a:off x="464457" y="1714919"/>
            <a:ext cx="5528826" cy="232229"/>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What it means:</a:t>
            </a:r>
            <a:pPr>
              <a:lnSpc>
                <a:spcPct val="140000"/>
              </a:lnSpc>
            </a:pPr>
            <a:r>
              <a:rPr lang="en-US" sz="1125" dirty="0">
                <a:solidFill>
                  <a:srgbClr val="2D3436"/>
                </a:solidFill>
                <a:latin typeface="MiSans" pitchFamily="34" charset="0"/>
                <a:ea typeface="MiSans" pitchFamily="34" charset="-122"/>
                <a:cs typeface="MiSans" pitchFamily="34" charset="-120"/>
              </a:rPr>
              <a:t> Making explicit the criteria for success at each stage of learning.</a:t>
            </a:r>
            <a:endParaRPr lang="en-US" sz="1600" dirty="0"/>
          </a:p>
        </p:txBody>
      </p:sp>
      <p:sp>
        <p:nvSpPr>
          <p:cNvPr id="11" name="Text 9"/>
          <p:cNvSpPr/>
          <p:nvPr/>
        </p:nvSpPr>
        <p:spPr>
          <a:xfrm>
            <a:off x="464457" y="2018602"/>
            <a:ext cx="5528826" cy="696686"/>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MPI implementation:</a:t>
            </a:r>
            <a:pPr>
              <a:lnSpc>
                <a:spcPct val="140000"/>
              </a:lnSpc>
            </a:pPr>
            <a:r>
              <a:rPr lang="en-US" sz="1125" dirty="0">
                <a:solidFill>
                  <a:srgbClr val="2D3436"/>
                </a:solidFill>
                <a:latin typeface="MiSans" pitchFamily="34" charset="0"/>
                <a:ea typeface="MiSans" pitchFamily="34" charset="-122"/>
                <a:cs typeface="MiSans" pitchFamily="34" charset="-120"/>
              </a:rPr>
              <a:t> The learning intentions framework provides </a:t>
            </a:r>
            <a:pPr>
              <a:lnSpc>
                <a:spcPct val="140000"/>
              </a:lnSpc>
            </a:pPr>
            <a:r>
              <a:rPr lang="en-US" sz="1125" dirty="0">
                <a:solidFill>
                  <a:srgbClr val="2D3436"/>
                </a:solidFill>
                <a:highlight>
                  <a:srgbClr val="C49A2C">
                    <a:alpha val="20000"/>
                  </a:srgbClr>
                </a:highlight>
                <a:latin typeface="MiSans" pitchFamily="34" charset="0"/>
                <a:ea typeface="MiSans" pitchFamily="34" charset="-122"/>
                <a:cs typeface="MiSans" pitchFamily="34" charset="-120"/>
              </a:rPr>
              <a:t>explicit criteria for success at each taxonomy level </a:t>
            </a:r>
            <a:pPr>
              <a:lnSpc>
                <a:spcPct val="140000"/>
              </a:lnSpc>
            </a:pPr>
            <a:r>
              <a:rPr lang="en-US" sz="1125" dirty="0">
                <a:solidFill>
                  <a:srgbClr val="2D3436"/>
                </a:solidFill>
                <a:latin typeface="MiSans" pitchFamily="34" charset="0"/>
                <a:ea typeface="MiSans" pitchFamily="34" charset="-122"/>
                <a:cs typeface="MiSans" pitchFamily="34" charset="-120"/>
              </a:rPr>
              <a:t>, ensuring pupils understand what they are working toward.</a:t>
            </a:r>
            <a:endParaRPr lang="en-US" sz="1600" dirty="0"/>
          </a:p>
        </p:txBody>
      </p:sp>
      <p:sp>
        <p:nvSpPr>
          <p:cNvPr id="12" name="Shape 10"/>
          <p:cNvSpPr/>
          <p:nvPr/>
        </p:nvSpPr>
        <p:spPr>
          <a:xfrm>
            <a:off x="357275" y="2947516"/>
            <a:ext cx="5671736" cy="1893556"/>
          </a:xfrm>
          <a:custGeom>
            <a:avLst/>
            <a:gdLst/>
            <a:ahLst/>
            <a:cxnLst/>
            <a:rect l="l" t="t" r="r" b="b"/>
            <a:pathLst>
              <a:path w="5671736" h="1893556">
                <a:moveTo>
                  <a:pt x="0" y="0"/>
                </a:moveTo>
                <a:lnTo>
                  <a:pt x="5671736" y="0"/>
                </a:lnTo>
                <a:lnTo>
                  <a:pt x="5671736" y="1893556"/>
                </a:lnTo>
                <a:lnTo>
                  <a:pt x="0" y="1893556"/>
                </a:lnTo>
                <a:lnTo>
                  <a:pt x="0" y="0"/>
                </a:lnTo>
                <a:close/>
              </a:path>
            </a:pathLst>
          </a:custGeom>
          <a:solidFill>
            <a:srgbClr val="FFFFFF"/>
          </a:solidFill>
          <a:ln/>
        </p:spPr>
      </p:sp>
      <p:sp>
        <p:nvSpPr>
          <p:cNvPr id="13" name="Shape 11"/>
          <p:cNvSpPr/>
          <p:nvPr/>
        </p:nvSpPr>
        <p:spPr>
          <a:xfrm>
            <a:off x="357275" y="2947516"/>
            <a:ext cx="5671736" cy="35727"/>
          </a:xfrm>
          <a:custGeom>
            <a:avLst/>
            <a:gdLst/>
            <a:ahLst/>
            <a:cxnLst/>
            <a:rect l="l" t="t" r="r" b="b"/>
            <a:pathLst>
              <a:path w="5671736" h="35727">
                <a:moveTo>
                  <a:pt x="0" y="0"/>
                </a:moveTo>
                <a:lnTo>
                  <a:pt x="5671736" y="0"/>
                </a:lnTo>
                <a:lnTo>
                  <a:pt x="5671736" y="35727"/>
                </a:lnTo>
                <a:lnTo>
                  <a:pt x="0" y="35727"/>
                </a:lnTo>
                <a:lnTo>
                  <a:pt x="0" y="0"/>
                </a:lnTo>
                <a:close/>
              </a:path>
            </a:pathLst>
          </a:custGeom>
          <a:solidFill>
            <a:srgbClr val="1E3A5F"/>
          </a:solidFill>
          <a:ln/>
        </p:spPr>
      </p:sp>
      <p:sp>
        <p:nvSpPr>
          <p:cNvPr id="14" name="Shape 12"/>
          <p:cNvSpPr/>
          <p:nvPr/>
        </p:nvSpPr>
        <p:spPr>
          <a:xfrm>
            <a:off x="464457" y="3072563"/>
            <a:ext cx="357275" cy="357275"/>
          </a:xfrm>
          <a:custGeom>
            <a:avLst/>
            <a:gdLst/>
            <a:ahLst/>
            <a:cxnLst/>
            <a:rect l="l" t="t" r="r" b="b"/>
            <a:pathLst>
              <a:path w="357275" h="357275">
                <a:moveTo>
                  <a:pt x="0" y="0"/>
                </a:moveTo>
                <a:lnTo>
                  <a:pt x="357275" y="0"/>
                </a:lnTo>
                <a:lnTo>
                  <a:pt x="357275" y="357275"/>
                </a:lnTo>
                <a:lnTo>
                  <a:pt x="0" y="357275"/>
                </a:lnTo>
                <a:lnTo>
                  <a:pt x="0" y="0"/>
                </a:lnTo>
                <a:close/>
              </a:path>
            </a:pathLst>
          </a:custGeom>
          <a:solidFill>
            <a:srgbClr val="1E3A5F"/>
          </a:solidFill>
          <a:ln/>
        </p:spPr>
      </p:sp>
      <p:sp>
        <p:nvSpPr>
          <p:cNvPr id="15" name="Text 13"/>
          <p:cNvSpPr/>
          <p:nvPr/>
        </p:nvSpPr>
        <p:spPr>
          <a:xfrm>
            <a:off x="424264" y="3072563"/>
            <a:ext cx="437662" cy="357275"/>
          </a:xfrm>
          <a:prstGeom prst="rect">
            <a:avLst/>
          </a:prstGeom>
          <a:noFill/>
          <a:ln/>
        </p:spPr>
        <p:txBody>
          <a:bodyPr wrap="square" lIns="0" tIns="0" rIns="0" bIns="0" rtlCol="0" anchor="ctr"/>
          <a:lstStyle/>
          <a:p>
            <a:pPr algn="ctr">
              <a:lnSpc>
                <a:spcPct val="130000"/>
              </a:lnSpc>
            </a:pPr>
            <a:r>
              <a:rPr lang="en-US" sz="1266" b="1" dirty="0">
                <a:solidFill>
                  <a:srgbClr val="F8F9FA"/>
                </a:solidFill>
                <a:latin typeface="MiSans" pitchFamily="34" charset="0"/>
                <a:ea typeface="MiSans" pitchFamily="34" charset="-122"/>
                <a:cs typeface="MiSans" pitchFamily="34" charset="-120"/>
              </a:rPr>
              <a:t>2</a:t>
            </a:r>
            <a:endParaRPr lang="en-US" sz="1600" dirty="0"/>
          </a:p>
        </p:txBody>
      </p:sp>
      <p:sp>
        <p:nvSpPr>
          <p:cNvPr id="16" name="Text 14"/>
          <p:cNvSpPr/>
          <p:nvPr/>
        </p:nvSpPr>
        <p:spPr>
          <a:xfrm>
            <a:off x="928914" y="3126154"/>
            <a:ext cx="2679560"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Engineering Effective Discussions</a:t>
            </a:r>
            <a:endParaRPr lang="en-US" sz="1600" dirty="0"/>
          </a:p>
        </p:txBody>
      </p:sp>
      <p:sp>
        <p:nvSpPr>
          <p:cNvPr id="17" name="Text 15"/>
          <p:cNvSpPr/>
          <p:nvPr/>
        </p:nvSpPr>
        <p:spPr>
          <a:xfrm>
            <a:off x="464457" y="3501292"/>
            <a:ext cx="5528826" cy="464457"/>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What it means:</a:t>
            </a:r>
            <a:pPr>
              <a:lnSpc>
                <a:spcPct val="140000"/>
              </a:lnSpc>
            </a:pPr>
            <a:r>
              <a:rPr lang="en-US" sz="1125" dirty="0">
                <a:solidFill>
                  <a:srgbClr val="2D3436"/>
                </a:solidFill>
                <a:latin typeface="MiSans" pitchFamily="34" charset="0"/>
                <a:ea typeface="MiSans" pitchFamily="34" charset="-122"/>
                <a:cs typeface="MiSans" pitchFamily="34" charset="-120"/>
              </a:rPr>
              <a:t> Designing classroom discussions, questions, and tasks that elicit evidence of learning.</a:t>
            </a:r>
            <a:endParaRPr lang="en-US" sz="1600" dirty="0"/>
          </a:p>
        </p:txBody>
      </p:sp>
      <p:sp>
        <p:nvSpPr>
          <p:cNvPr id="18" name="Text 16"/>
          <p:cNvSpPr/>
          <p:nvPr/>
        </p:nvSpPr>
        <p:spPr>
          <a:xfrm>
            <a:off x="464457" y="4037204"/>
            <a:ext cx="5528826" cy="696686"/>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MPI implementation:</a:t>
            </a:r>
            <a:pPr>
              <a:lnSpc>
                <a:spcPct val="140000"/>
              </a:lnSpc>
            </a:pPr>
            <a:r>
              <a:rPr lang="en-US" sz="1125" dirty="0">
                <a:solidFill>
                  <a:srgbClr val="2D3436"/>
                </a:solidFill>
                <a:latin typeface="MiSans" pitchFamily="34" charset="0"/>
                <a:ea typeface="MiSans" pitchFamily="34" charset="-122"/>
                <a:cs typeface="MiSans" pitchFamily="34" charset="-120"/>
              </a:rPr>
              <a:t> The assessment item bank is designed to </a:t>
            </a:r>
            <a:pPr>
              <a:lnSpc>
                <a:spcPct val="140000"/>
              </a:lnSpc>
            </a:pPr>
            <a:r>
              <a:rPr lang="en-US" sz="1125" b="1" dirty="0">
                <a:solidFill>
                  <a:srgbClr val="2D3436"/>
                </a:solidFill>
                <a:latin typeface="MiSans" pitchFamily="34" charset="0"/>
                <a:ea typeface="MiSans" pitchFamily="34" charset="-122"/>
                <a:cs typeface="MiSans" pitchFamily="34" charset="-120"/>
              </a:rPr>
              <a:t>elicit evidence of learning at specific cognitive levels</a:t>
            </a:r>
            <a:pPr>
              <a:lnSpc>
                <a:spcPct val="140000"/>
              </a:lnSpc>
            </a:pPr>
            <a:r>
              <a:rPr lang="en-US" sz="1125" dirty="0">
                <a:solidFill>
                  <a:srgbClr val="2D3436"/>
                </a:solidFill>
                <a:latin typeface="MiSans" pitchFamily="34" charset="0"/>
                <a:ea typeface="MiSans" pitchFamily="34" charset="-122"/>
                <a:cs typeface="MiSans" pitchFamily="34" charset="-120"/>
              </a:rPr>
              <a:t>, providing diagnostic data on pupil understanding.</a:t>
            </a:r>
            <a:endParaRPr lang="en-US" sz="1600" dirty="0"/>
          </a:p>
        </p:txBody>
      </p:sp>
      <p:sp>
        <p:nvSpPr>
          <p:cNvPr id="19" name="Shape 17"/>
          <p:cNvSpPr/>
          <p:nvPr/>
        </p:nvSpPr>
        <p:spPr>
          <a:xfrm>
            <a:off x="357275" y="4966119"/>
            <a:ext cx="5671736" cy="1661327"/>
          </a:xfrm>
          <a:custGeom>
            <a:avLst/>
            <a:gdLst/>
            <a:ahLst/>
            <a:cxnLst/>
            <a:rect l="l" t="t" r="r" b="b"/>
            <a:pathLst>
              <a:path w="5671736" h="1661327">
                <a:moveTo>
                  <a:pt x="0" y="0"/>
                </a:moveTo>
                <a:lnTo>
                  <a:pt x="5671736" y="0"/>
                </a:lnTo>
                <a:lnTo>
                  <a:pt x="5671736" y="1661327"/>
                </a:lnTo>
                <a:lnTo>
                  <a:pt x="0" y="1661327"/>
                </a:lnTo>
                <a:lnTo>
                  <a:pt x="0" y="0"/>
                </a:lnTo>
                <a:close/>
              </a:path>
            </a:pathLst>
          </a:custGeom>
          <a:solidFill>
            <a:srgbClr val="FFFFFF"/>
          </a:solidFill>
          <a:ln/>
        </p:spPr>
      </p:sp>
      <p:sp>
        <p:nvSpPr>
          <p:cNvPr id="20" name="Shape 18"/>
          <p:cNvSpPr/>
          <p:nvPr/>
        </p:nvSpPr>
        <p:spPr>
          <a:xfrm>
            <a:off x="357275" y="4966119"/>
            <a:ext cx="5671736" cy="35727"/>
          </a:xfrm>
          <a:custGeom>
            <a:avLst/>
            <a:gdLst/>
            <a:ahLst/>
            <a:cxnLst/>
            <a:rect l="l" t="t" r="r" b="b"/>
            <a:pathLst>
              <a:path w="5671736" h="35727">
                <a:moveTo>
                  <a:pt x="0" y="0"/>
                </a:moveTo>
                <a:lnTo>
                  <a:pt x="5671736" y="0"/>
                </a:lnTo>
                <a:lnTo>
                  <a:pt x="5671736" y="35727"/>
                </a:lnTo>
                <a:lnTo>
                  <a:pt x="0" y="35727"/>
                </a:lnTo>
                <a:lnTo>
                  <a:pt x="0" y="0"/>
                </a:lnTo>
                <a:close/>
              </a:path>
            </a:pathLst>
          </a:custGeom>
          <a:solidFill>
            <a:srgbClr val="C49A2C"/>
          </a:solidFill>
          <a:ln/>
        </p:spPr>
      </p:sp>
      <p:sp>
        <p:nvSpPr>
          <p:cNvPr id="21" name="Shape 19"/>
          <p:cNvSpPr/>
          <p:nvPr/>
        </p:nvSpPr>
        <p:spPr>
          <a:xfrm>
            <a:off x="464457" y="5091165"/>
            <a:ext cx="357275" cy="357275"/>
          </a:xfrm>
          <a:custGeom>
            <a:avLst/>
            <a:gdLst/>
            <a:ahLst/>
            <a:cxnLst/>
            <a:rect l="l" t="t" r="r" b="b"/>
            <a:pathLst>
              <a:path w="357275" h="357275">
                <a:moveTo>
                  <a:pt x="0" y="0"/>
                </a:moveTo>
                <a:lnTo>
                  <a:pt x="357275" y="0"/>
                </a:lnTo>
                <a:lnTo>
                  <a:pt x="357275" y="357275"/>
                </a:lnTo>
                <a:lnTo>
                  <a:pt x="0" y="357275"/>
                </a:lnTo>
                <a:lnTo>
                  <a:pt x="0" y="0"/>
                </a:lnTo>
                <a:close/>
              </a:path>
            </a:pathLst>
          </a:custGeom>
          <a:solidFill>
            <a:srgbClr val="C49A2C"/>
          </a:solidFill>
          <a:ln/>
        </p:spPr>
      </p:sp>
      <p:sp>
        <p:nvSpPr>
          <p:cNvPr id="22" name="Text 20"/>
          <p:cNvSpPr/>
          <p:nvPr/>
        </p:nvSpPr>
        <p:spPr>
          <a:xfrm>
            <a:off x="424264" y="5091165"/>
            <a:ext cx="437662" cy="357275"/>
          </a:xfrm>
          <a:prstGeom prst="rect">
            <a:avLst/>
          </a:prstGeom>
          <a:noFill/>
          <a:ln/>
        </p:spPr>
        <p:txBody>
          <a:bodyPr wrap="square" lIns="0" tIns="0" rIns="0" bIns="0" rtlCol="0" anchor="ctr"/>
          <a:lstStyle/>
          <a:p>
            <a:pPr algn="ctr">
              <a:lnSpc>
                <a:spcPct val="130000"/>
              </a:lnSpc>
            </a:pPr>
            <a:r>
              <a:rPr lang="en-US" sz="1266" b="1" dirty="0">
                <a:solidFill>
                  <a:srgbClr val="F8F9FA"/>
                </a:solidFill>
                <a:latin typeface="MiSans" pitchFamily="34" charset="0"/>
                <a:ea typeface="MiSans" pitchFamily="34" charset="-122"/>
                <a:cs typeface="MiSans" pitchFamily="34" charset="-120"/>
              </a:rPr>
              <a:t>3</a:t>
            </a:r>
            <a:endParaRPr lang="en-US" sz="1600" dirty="0"/>
          </a:p>
        </p:txBody>
      </p:sp>
      <p:sp>
        <p:nvSpPr>
          <p:cNvPr id="23" name="Text 21"/>
          <p:cNvSpPr/>
          <p:nvPr/>
        </p:nvSpPr>
        <p:spPr>
          <a:xfrm>
            <a:off x="928914" y="5144756"/>
            <a:ext cx="3233336"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Providing Feedback That Moves Forward</a:t>
            </a:r>
            <a:endParaRPr lang="en-US" sz="1600" dirty="0"/>
          </a:p>
        </p:txBody>
      </p:sp>
      <p:sp>
        <p:nvSpPr>
          <p:cNvPr id="24" name="Text 22"/>
          <p:cNvSpPr/>
          <p:nvPr/>
        </p:nvSpPr>
        <p:spPr>
          <a:xfrm>
            <a:off x="464457" y="5519895"/>
            <a:ext cx="5528826" cy="464457"/>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What it means:</a:t>
            </a:r>
            <a:pPr>
              <a:lnSpc>
                <a:spcPct val="140000"/>
              </a:lnSpc>
            </a:pPr>
            <a:r>
              <a:rPr lang="en-US" sz="1125" dirty="0">
                <a:solidFill>
                  <a:srgbClr val="2D3436"/>
                </a:solidFill>
                <a:latin typeface="MiSans" pitchFamily="34" charset="0"/>
                <a:ea typeface="MiSans" pitchFamily="34" charset="-122"/>
                <a:cs typeface="MiSans" pitchFamily="34" charset="-120"/>
              </a:rPr>
              <a:t> Feedback that informs subsequent learning, not just evaluates past performance.</a:t>
            </a:r>
            <a:endParaRPr lang="en-US" sz="1600" dirty="0"/>
          </a:p>
        </p:txBody>
      </p:sp>
      <p:sp>
        <p:nvSpPr>
          <p:cNvPr id="25" name="Text 23"/>
          <p:cNvSpPr/>
          <p:nvPr/>
        </p:nvSpPr>
        <p:spPr>
          <a:xfrm>
            <a:off x="464457" y="6055807"/>
            <a:ext cx="5528826" cy="464457"/>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MPI implementation:</a:t>
            </a:r>
            <a:pPr>
              <a:lnSpc>
                <a:spcPct val="140000"/>
              </a:lnSpc>
            </a:pPr>
            <a:r>
              <a:rPr lang="en-US" sz="1125" dirty="0">
                <a:solidFill>
                  <a:srgbClr val="2D3436"/>
                </a:solidFill>
                <a:latin typeface="MiSans" pitchFamily="34" charset="0"/>
                <a:ea typeface="MiSans" pitchFamily="34" charset="-122"/>
                <a:cs typeface="MiSans" pitchFamily="34" charset="-120"/>
              </a:rPr>
              <a:t> The feedback protocols specify what </a:t>
            </a:r>
            <a:pPr>
              <a:lnSpc>
                <a:spcPct val="140000"/>
              </a:lnSpc>
            </a:pPr>
            <a:r>
              <a:rPr lang="en-US" sz="1125" b="1" dirty="0">
                <a:solidFill>
                  <a:srgbClr val="2D3436"/>
                </a:solidFill>
                <a:latin typeface="MiSans" pitchFamily="34" charset="0"/>
                <a:ea typeface="MiSans" pitchFamily="34" charset="-122"/>
                <a:cs typeface="MiSans" pitchFamily="34" charset="-120"/>
              </a:rPr>
              <a:t>effective feedback looks like</a:t>
            </a:r>
            <a:pPr>
              <a:lnSpc>
                <a:spcPct val="140000"/>
              </a:lnSpc>
            </a:pPr>
            <a:r>
              <a:rPr lang="en-US" sz="1125" dirty="0">
                <a:solidFill>
                  <a:srgbClr val="2D3436"/>
                </a:solidFill>
                <a:latin typeface="MiSans" pitchFamily="34" charset="0"/>
                <a:ea typeface="MiSans" pitchFamily="34" charset="-122"/>
                <a:cs typeface="MiSans" pitchFamily="34" charset="-120"/>
              </a:rPr>
              <a:t> and how it differs from praise or evaluation.</a:t>
            </a:r>
            <a:endParaRPr lang="en-US" sz="1600" dirty="0"/>
          </a:p>
        </p:txBody>
      </p:sp>
      <p:sp>
        <p:nvSpPr>
          <p:cNvPr id="26" name="Shape 24"/>
          <p:cNvSpPr/>
          <p:nvPr/>
        </p:nvSpPr>
        <p:spPr>
          <a:xfrm>
            <a:off x="6168944" y="1161143"/>
            <a:ext cx="5671736" cy="1661327"/>
          </a:xfrm>
          <a:custGeom>
            <a:avLst/>
            <a:gdLst/>
            <a:ahLst/>
            <a:cxnLst/>
            <a:rect l="l" t="t" r="r" b="b"/>
            <a:pathLst>
              <a:path w="5671736" h="1661327">
                <a:moveTo>
                  <a:pt x="0" y="0"/>
                </a:moveTo>
                <a:lnTo>
                  <a:pt x="5671736" y="0"/>
                </a:lnTo>
                <a:lnTo>
                  <a:pt x="5671736" y="1661327"/>
                </a:lnTo>
                <a:lnTo>
                  <a:pt x="0" y="1661327"/>
                </a:lnTo>
                <a:lnTo>
                  <a:pt x="0" y="0"/>
                </a:lnTo>
                <a:close/>
              </a:path>
            </a:pathLst>
          </a:custGeom>
          <a:solidFill>
            <a:srgbClr val="FFFFFF"/>
          </a:solidFill>
          <a:ln/>
        </p:spPr>
      </p:sp>
      <p:sp>
        <p:nvSpPr>
          <p:cNvPr id="27" name="Shape 25"/>
          <p:cNvSpPr/>
          <p:nvPr/>
        </p:nvSpPr>
        <p:spPr>
          <a:xfrm>
            <a:off x="6168944" y="1161143"/>
            <a:ext cx="5671736" cy="35727"/>
          </a:xfrm>
          <a:custGeom>
            <a:avLst/>
            <a:gdLst/>
            <a:ahLst/>
            <a:cxnLst/>
            <a:rect l="l" t="t" r="r" b="b"/>
            <a:pathLst>
              <a:path w="5671736" h="35727">
                <a:moveTo>
                  <a:pt x="0" y="0"/>
                </a:moveTo>
                <a:lnTo>
                  <a:pt x="5671736" y="0"/>
                </a:lnTo>
                <a:lnTo>
                  <a:pt x="5671736" y="35727"/>
                </a:lnTo>
                <a:lnTo>
                  <a:pt x="0" y="35727"/>
                </a:lnTo>
                <a:lnTo>
                  <a:pt x="0" y="0"/>
                </a:lnTo>
                <a:close/>
              </a:path>
            </a:pathLst>
          </a:custGeom>
          <a:solidFill>
            <a:srgbClr val="C49A2C"/>
          </a:solidFill>
          <a:ln/>
        </p:spPr>
      </p:sp>
      <p:sp>
        <p:nvSpPr>
          <p:cNvPr id="28" name="Shape 26"/>
          <p:cNvSpPr/>
          <p:nvPr/>
        </p:nvSpPr>
        <p:spPr>
          <a:xfrm>
            <a:off x="6276126" y="1286189"/>
            <a:ext cx="357275" cy="357275"/>
          </a:xfrm>
          <a:custGeom>
            <a:avLst/>
            <a:gdLst/>
            <a:ahLst/>
            <a:cxnLst/>
            <a:rect l="l" t="t" r="r" b="b"/>
            <a:pathLst>
              <a:path w="357275" h="357275">
                <a:moveTo>
                  <a:pt x="0" y="0"/>
                </a:moveTo>
                <a:lnTo>
                  <a:pt x="357275" y="0"/>
                </a:lnTo>
                <a:lnTo>
                  <a:pt x="357275" y="357275"/>
                </a:lnTo>
                <a:lnTo>
                  <a:pt x="0" y="357275"/>
                </a:lnTo>
                <a:lnTo>
                  <a:pt x="0" y="0"/>
                </a:lnTo>
                <a:close/>
              </a:path>
            </a:pathLst>
          </a:custGeom>
          <a:solidFill>
            <a:srgbClr val="C49A2C"/>
          </a:solidFill>
          <a:ln/>
        </p:spPr>
      </p:sp>
      <p:sp>
        <p:nvSpPr>
          <p:cNvPr id="29" name="Text 27"/>
          <p:cNvSpPr/>
          <p:nvPr/>
        </p:nvSpPr>
        <p:spPr>
          <a:xfrm>
            <a:off x="6235933" y="1286189"/>
            <a:ext cx="437662" cy="357275"/>
          </a:xfrm>
          <a:prstGeom prst="rect">
            <a:avLst/>
          </a:prstGeom>
          <a:noFill/>
          <a:ln/>
        </p:spPr>
        <p:txBody>
          <a:bodyPr wrap="square" lIns="0" tIns="0" rIns="0" bIns="0" rtlCol="0" anchor="ctr"/>
          <a:lstStyle/>
          <a:p>
            <a:pPr algn="ctr">
              <a:lnSpc>
                <a:spcPct val="130000"/>
              </a:lnSpc>
            </a:pPr>
            <a:r>
              <a:rPr lang="en-US" sz="1266" b="1" dirty="0">
                <a:solidFill>
                  <a:srgbClr val="F8F9FA"/>
                </a:solidFill>
                <a:latin typeface="MiSans" pitchFamily="34" charset="0"/>
                <a:ea typeface="MiSans" pitchFamily="34" charset="-122"/>
                <a:cs typeface="MiSans" pitchFamily="34" charset="-120"/>
              </a:rPr>
              <a:t>4</a:t>
            </a:r>
            <a:endParaRPr lang="en-US" sz="1600" dirty="0"/>
          </a:p>
        </p:txBody>
      </p:sp>
      <p:sp>
        <p:nvSpPr>
          <p:cNvPr id="30" name="Text 28"/>
          <p:cNvSpPr/>
          <p:nvPr/>
        </p:nvSpPr>
        <p:spPr>
          <a:xfrm>
            <a:off x="6740583" y="1339780"/>
            <a:ext cx="2652765"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Activating Students as Resources</a:t>
            </a:r>
            <a:endParaRPr lang="en-US" sz="1600" dirty="0"/>
          </a:p>
        </p:txBody>
      </p:sp>
      <p:sp>
        <p:nvSpPr>
          <p:cNvPr id="31" name="Text 29"/>
          <p:cNvSpPr/>
          <p:nvPr/>
        </p:nvSpPr>
        <p:spPr>
          <a:xfrm>
            <a:off x="6276126" y="1714919"/>
            <a:ext cx="5528826" cy="464457"/>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What it means:</a:t>
            </a:r>
            <a:pPr>
              <a:lnSpc>
                <a:spcPct val="140000"/>
              </a:lnSpc>
            </a:pPr>
            <a:r>
              <a:rPr lang="en-US" sz="1125" dirty="0">
                <a:solidFill>
                  <a:srgbClr val="2D3436"/>
                </a:solidFill>
                <a:latin typeface="MiSans" pitchFamily="34" charset="0"/>
                <a:ea typeface="MiSans" pitchFamily="34" charset="-122"/>
                <a:cs typeface="MiSans" pitchFamily="34" charset="-120"/>
              </a:rPr>
              <a:t> Using peer assessment and collaborative learning to enhance understanding.</a:t>
            </a:r>
            <a:endParaRPr lang="en-US" sz="1600" dirty="0"/>
          </a:p>
        </p:txBody>
      </p:sp>
      <p:sp>
        <p:nvSpPr>
          <p:cNvPr id="32" name="Text 30"/>
          <p:cNvSpPr/>
          <p:nvPr/>
        </p:nvSpPr>
        <p:spPr>
          <a:xfrm>
            <a:off x="6276126" y="2250831"/>
            <a:ext cx="5528826" cy="464457"/>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MPI implementation:</a:t>
            </a:r>
            <a:pPr>
              <a:lnSpc>
                <a:spcPct val="140000"/>
              </a:lnSpc>
            </a:pPr>
            <a:r>
              <a:rPr lang="en-US" sz="1125" dirty="0">
                <a:solidFill>
                  <a:srgbClr val="2D3436"/>
                </a:solidFill>
                <a:latin typeface="MiSans" pitchFamily="34" charset="0"/>
                <a:ea typeface="MiSans" pitchFamily="34" charset="-122"/>
                <a:cs typeface="MiSans" pitchFamily="34" charset="-120"/>
              </a:rPr>
              <a:t> The </a:t>
            </a:r>
            <a:pPr>
              <a:lnSpc>
                <a:spcPct val="140000"/>
              </a:lnSpc>
            </a:pPr>
            <a:r>
              <a:rPr lang="en-US" sz="1125" b="1" dirty="0">
                <a:solidFill>
                  <a:srgbClr val="2D3436"/>
                </a:solidFill>
                <a:latin typeface="MiSans" pitchFamily="34" charset="0"/>
                <a:ea typeface="MiSans" pitchFamily="34" charset="-122"/>
                <a:cs typeface="MiSans" pitchFamily="34" charset="-120"/>
              </a:rPr>
              <a:t>peer assessment components</a:t>
            </a:r>
            <a:pPr>
              <a:lnSpc>
                <a:spcPct val="140000"/>
              </a:lnSpc>
            </a:pPr>
            <a:r>
              <a:rPr lang="en-US" sz="1125" dirty="0">
                <a:solidFill>
                  <a:srgbClr val="2D3436"/>
                </a:solidFill>
                <a:latin typeface="MiSans" pitchFamily="34" charset="0"/>
                <a:ea typeface="MiSans" pitchFamily="34" charset="-122"/>
                <a:cs typeface="MiSans" pitchFamily="34" charset="-120"/>
              </a:rPr>
              <a:t> activate students as instructional resources for one another.</a:t>
            </a:r>
            <a:endParaRPr lang="en-US" sz="1600" dirty="0"/>
          </a:p>
        </p:txBody>
      </p:sp>
      <p:sp>
        <p:nvSpPr>
          <p:cNvPr id="33" name="Shape 31"/>
          <p:cNvSpPr/>
          <p:nvPr/>
        </p:nvSpPr>
        <p:spPr>
          <a:xfrm>
            <a:off x="6168944" y="2947516"/>
            <a:ext cx="5671736" cy="1429099"/>
          </a:xfrm>
          <a:custGeom>
            <a:avLst/>
            <a:gdLst/>
            <a:ahLst/>
            <a:cxnLst/>
            <a:rect l="l" t="t" r="r" b="b"/>
            <a:pathLst>
              <a:path w="5671736" h="1429099">
                <a:moveTo>
                  <a:pt x="0" y="0"/>
                </a:moveTo>
                <a:lnTo>
                  <a:pt x="5671736" y="0"/>
                </a:lnTo>
                <a:lnTo>
                  <a:pt x="5671736" y="1429099"/>
                </a:lnTo>
                <a:lnTo>
                  <a:pt x="0" y="1429099"/>
                </a:lnTo>
                <a:lnTo>
                  <a:pt x="0" y="0"/>
                </a:lnTo>
                <a:close/>
              </a:path>
            </a:pathLst>
          </a:custGeom>
          <a:solidFill>
            <a:srgbClr val="FFFFFF"/>
          </a:solidFill>
          <a:ln/>
        </p:spPr>
      </p:sp>
      <p:sp>
        <p:nvSpPr>
          <p:cNvPr id="34" name="Shape 32"/>
          <p:cNvSpPr/>
          <p:nvPr/>
        </p:nvSpPr>
        <p:spPr>
          <a:xfrm>
            <a:off x="6168944" y="2947516"/>
            <a:ext cx="5671736" cy="35727"/>
          </a:xfrm>
          <a:custGeom>
            <a:avLst/>
            <a:gdLst/>
            <a:ahLst/>
            <a:cxnLst/>
            <a:rect l="l" t="t" r="r" b="b"/>
            <a:pathLst>
              <a:path w="5671736" h="35727">
                <a:moveTo>
                  <a:pt x="0" y="0"/>
                </a:moveTo>
                <a:lnTo>
                  <a:pt x="5671736" y="0"/>
                </a:lnTo>
                <a:lnTo>
                  <a:pt x="5671736" y="35727"/>
                </a:lnTo>
                <a:lnTo>
                  <a:pt x="0" y="35727"/>
                </a:lnTo>
                <a:lnTo>
                  <a:pt x="0" y="0"/>
                </a:lnTo>
                <a:close/>
              </a:path>
            </a:pathLst>
          </a:custGeom>
          <a:solidFill>
            <a:srgbClr val="C49A2C"/>
          </a:solidFill>
          <a:ln/>
        </p:spPr>
      </p:sp>
      <p:sp>
        <p:nvSpPr>
          <p:cNvPr id="35" name="Shape 33"/>
          <p:cNvSpPr/>
          <p:nvPr/>
        </p:nvSpPr>
        <p:spPr>
          <a:xfrm>
            <a:off x="6276126" y="3072563"/>
            <a:ext cx="357275" cy="357275"/>
          </a:xfrm>
          <a:custGeom>
            <a:avLst/>
            <a:gdLst/>
            <a:ahLst/>
            <a:cxnLst/>
            <a:rect l="l" t="t" r="r" b="b"/>
            <a:pathLst>
              <a:path w="357275" h="357275">
                <a:moveTo>
                  <a:pt x="0" y="0"/>
                </a:moveTo>
                <a:lnTo>
                  <a:pt x="357275" y="0"/>
                </a:lnTo>
                <a:lnTo>
                  <a:pt x="357275" y="357275"/>
                </a:lnTo>
                <a:lnTo>
                  <a:pt x="0" y="357275"/>
                </a:lnTo>
                <a:lnTo>
                  <a:pt x="0" y="0"/>
                </a:lnTo>
                <a:close/>
              </a:path>
            </a:pathLst>
          </a:custGeom>
          <a:solidFill>
            <a:srgbClr val="C49A2C"/>
          </a:solidFill>
          <a:ln/>
        </p:spPr>
      </p:sp>
      <p:sp>
        <p:nvSpPr>
          <p:cNvPr id="36" name="Text 34"/>
          <p:cNvSpPr/>
          <p:nvPr/>
        </p:nvSpPr>
        <p:spPr>
          <a:xfrm>
            <a:off x="6235933" y="3072563"/>
            <a:ext cx="437662" cy="357275"/>
          </a:xfrm>
          <a:prstGeom prst="rect">
            <a:avLst/>
          </a:prstGeom>
          <a:noFill/>
          <a:ln/>
        </p:spPr>
        <p:txBody>
          <a:bodyPr wrap="square" lIns="0" tIns="0" rIns="0" bIns="0" rtlCol="0" anchor="ctr"/>
          <a:lstStyle/>
          <a:p>
            <a:pPr algn="ctr">
              <a:lnSpc>
                <a:spcPct val="130000"/>
              </a:lnSpc>
            </a:pPr>
            <a:r>
              <a:rPr lang="en-US" sz="1266" b="1" dirty="0">
                <a:solidFill>
                  <a:srgbClr val="F8F9FA"/>
                </a:solidFill>
                <a:latin typeface="MiSans" pitchFamily="34" charset="0"/>
                <a:ea typeface="MiSans" pitchFamily="34" charset="-122"/>
                <a:cs typeface="MiSans" pitchFamily="34" charset="-120"/>
              </a:rPr>
              <a:t>5</a:t>
            </a:r>
            <a:endParaRPr lang="en-US" sz="1600" dirty="0"/>
          </a:p>
        </p:txBody>
      </p:sp>
      <p:sp>
        <p:nvSpPr>
          <p:cNvPr id="37" name="Text 35"/>
          <p:cNvSpPr/>
          <p:nvPr/>
        </p:nvSpPr>
        <p:spPr>
          <a:xfrm>
            <a:off x="6740583" y="3126154"/>
            <a:ext cx="2447332"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Activating Students as Owners</a:t>
            </a:r>
            <a:endParaRPr lang="en-US" sz="1600" dirty="0"/>
          </a:p>
        </p:txBody>
      </p:sp>
      <p:sp>
        <p:nvSpPr>
          <p:cNvPr id="38" name="Text 36"/>
          <p:cNvSpPr/>
          <p:nvPr/>
        </p:nvSpPr>
        <p:spPr>
          <a:xfrm>
            <a:off x="6276126" y="3501292"/>
            <a:ext cx="5528826" cy="232229"/>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What it means:</a:t>
            </a:r>
            <a:pPr>
              <a:lnSpc>
                <a:spcPct val="140000"/>
              </a:lnSpc>
            </a:pPr>
            <a:r>
              <a:rPr lang="en-US" sz="1125" dirty="0">
                <a:solidFill>
                  <a:srgbClr val="2D3436"/>
                </a:solidFill>
                <a:latin typeface="MiSans" pitchFamily="34" charset="0"/>
                <a:ea typeface="MiSans" pitchFamily="34" charset="-122"/>
                <a:cs typeface="MiSans" pitchFamily="34" charset="-120"/>
              </a:rPr>
              <a:t> Developing pupil self-assessment and self-regulation capabilities.</a:t>
            </a:r>
            <a:endParaRPr lang="en-US" sz="1600" dirty="0"/>
          </a:p>
        </p:txBody>
      </p:sp>
      <p:sp>
        <p:nvSpPr>
          <p:cNvPr id="39" name="Text 37"/>
          <p:cNvSpPr/>
          <p:nvPr/>
        </p:nvSpPr>
        <p:spPr>
          <a:xfrm>
            <a:off x="6276126" y="3804976"/>
            <a:ext cx="5528826" cy="464457"/>
          </a:xfrm>
          <a:prstGeom prst="rect">
            <a:avLst/>
          </a:prstGeom>
          <a:noFill/>
          <a:ln/>
        </p:spPr>
        <p:txBody>
          <a:bodyPr wrap="square" lIns="0" tIns="0" rIns="0" bIns="0" rtlCol="0" anchor="ctr"/>
          <a:lstStyle/>
          <a:p>
            <a:pPr>
              <a:lnSpc>
                <a:spcPct val="140000"/>
              </a:lnSpc>
            </a:pPr>
            <a:r>
              <a:rPr lang="en-US" sz="1125" b="1" dirty="0">
                <a:solidFill>
                  <a:srgbClr val="2D3436"/>
                </a:solidFill>
                <a:latin typeface="MiSans" pitchFamily="34" charset="0"/>
                <a:ea typeface="MiSans" pitchFamily="34" charset="-122"/>
                <a:cs typeface="MiSans" pitchFamily="34" charset="-120"/>
              </a:rPr>
              <a:t>MPI implementation:</a:t>
            </a:r>
            <a:pPr>
              <a:lnSpc>
                <a:spcPct val="140000"/>
              </a:lnSpc>
            </a:pPr>
            <a:r>
              <a:rPr lang="en-US" sz="1125" dirty="0">
                <a:solidFill>
                  <a:srgbClr val="2D3436"/>
                </a:solidFill>
                <a:latin typeface="MiSans" pitchFamily="34" charset="0"/>
                <a:ea typeface="MiSans" pitchFamily="34" charset="-122"/>
                <a:cs typeface="MiSans" pitchFamily="34" charset="-120"/>
              </a:rPr>
              <a:t> The </a:t>
            </a:r>
            <a:pPr>
              <a:lnSpc>
                <a:spcPct val="140000"/>
              </a:lnSpc>
            </a:pPr>
            <a:r>
              <a:rPr lang="en-US" sz="1125" b="1" dirty="0">
                <a:solidFill>
                  <a:srgbClr val="2D3436"/>
                </a:solidFill>
                <a:latin typeface="MiSans" pitchFamily="34" charset="0"/>
                <a:ea typeface="MiSans" pitchFamily="34" charset="-122"/>
                <a:cs typeface="MiSans" pitchFamily="34" charset="-120"/>
              </a:rPr>
              <a:t>pupil progress tracking tools</a:t>
            </a:r>
            <a:pPr>
              <a:lnSpc>
                <a:spcPct val="140000"/>
              </a:lnSpc>
            </a:pPr>
            <a:r>
              <a:rPr lang="en-US" sz="1125" dirty="0">
                <a:solidFill>
                  <a:srgbClr val="2D3436"/>
                </a:solidFill>
                <a:latin typeface="MiSans" pitchFamily="34" charset="0"/>
                <a:ea typeface="MiSans" pitchFamily="34" charset="-122"/>
                <a:cs typeface="MiSans" pitchFamily="34" charset="-120"/>
              </a:rPr>
              <a:t> support student ownership of their own learning trajectory.</a:t>
            </a:r>
            <a:endParaRPr lang="en-US" sz="1600" dirty="0"/>
          </a:p>
        </p:txBody>
      </p:sp>
      <p:sp>
        <p:nvSpPr>
          <p:cNvPr id="40" name="Shape 38"/>
          <p:cNvSpPr/>
          <p:nvPr/>
        </p:nvSpPr>
        <p:spPr>
          <a:xfrm>
            <a:off x="6168944" y="4483798"/>
            <a:ext cx="5671736" cy="2000738"/>
          </a:xfrm>
          <a:custGeom>
            <a:avLst/>
            <a:gdLst/>
            <a:ahLst/>
            <a:cxnLst/>
            <a:rect l="l" t="t" r="r" b="b"/>
            <a:pathLst>
              <a:path w="5671736" h="2000738">
                <a:moveTo>
                  <a:pt x="0" y="0"/>
                </a:moveTo>
                <a:lnTo>
                  <a:pt x="5671736" y="0"/>
                </a:lnTo>
                <a:lnTo>
                  <a:pt x="5671736" y="2000738"/>
                </a:lnTo>
                <a:lnTo>
                  <a:pt x="0" y="2000738"/>
                </a:lnTo>
                <a:lnTo>
                  <a:pt x="0" y="0"/>
                </a:lnTo>
                <a:close/>
              </a:path>
            </a:pathLst>
          </a:custGeom>
          <a:solidFill>
            <a:srgbClr val="1E3A5F"/>
          </a:solidFill>
          <a:ln/>
        </p:spPr>
      </p:sp>
      <p:sp>
        <p:nvSpPr>
          <p:cNvPr id="41" name="Text 39"/>
          <p:cNvSpPr/>
          <p:nvPr/>
        </p:nvSpPr>
        <p:spPr>
          <a:xfrm>
            <a:off x="6311854" y="4626708"/>
            <a:ext cx="5466303" cy="250092"/>
          </a:xfrm>
          <a:prstGeom prst="rect">
            <a:avLst/>
          </a:prstGeom>
          <a:noFill/>
          <a:ln/>
        </p:spPr>
        <p:txBody>
          <a:bodyPr wrap="square" lIns="0" tIns="0" rIns="0" bIns="0" rtlCol="0" anchor="ctr"/>
          <a:lstStyle/>
          <a:p>
            <a:pPr>
              <a:lnSpc>
                <a:spcPct val="130000"/>
              </a:lnSpc>
            </a:pPr>
            <a:r>
              <a:rPr lang="en-US" sz="1266" b="1" dirty="0">
                <a:solidFill>
                  <a:srgbClr val="F8F9FA"/>
                </a:solidFill>
                <a:latin typeface="MiSans" pitchFamily="34" charset="0"/>
                <a:ea typeface="MiSans" pitchFamily="34" charset="-122"/>
                <a:cs typeface="MiSans" pitchFamily="34" charset="-120"/>
              </a:rPr>
              <a:t>This Is Not Incidental Alignment</a:t>
            </a:r>
            <a:endParaRPr lang="en-US" sz="1600" dirty="0"/>
          </a:p>
        </p:txBody>
      </p:sp>
      <p:sp>
        <p:nvSpPr>
          <p:cNvPr id="42" name="Text 40"/>
          <p:cNvSpPr/>
          <p:nvPr/>
        </p:nvSpPr>
        <p:spPr>
          <a:xfrm>
            <a:off x="6311854" y="4983982"/>
            <a:ext cx="5457371" cy="464457"/>
          </a:xfrm>
          <a:prstGeom prst="rect">
            <a:avLst/>
          </a:prstGeom>
          <a:noFill/>
          <a:ln/>
        </p:spPr>
        <p:txBody>
          <a:bodyPr wrap="square" lIns="0" tIns="0" rIns="0" bIns="0" rtlCol="0" anchor="ctr"/>
          <a:lstStyle/>
          <a:p>
            <a:pPr>
              <a:lnSpc>
                <a:spcPct val="140000"/>
              </a:lnSpc>
            </a:pPr>
            <a:r>
              <a:rPr lang="en-US" sz="1125" dirty="0">
                <a:solidFill>
                  <a:srgbClr val="F8F9FA"/>
                </a:solidFill>
                <a:latin typeface="MiSans" pitchFamily="34" charset="0"/>
                <a:ea typeface="MiSans" pitchFamily="34" charset="-122"/>
                <a:cs typeface="MiSans" pitchFamily="34" charset="-120"/>
              </a:rPr>
              <a:t>The MPI was designed with these five strategies as </a:t>
            </a:r>
            <a:pPr>
              <a:lnSpc>
                <a:spcPct val="140000"/>
              </a:lnSpc>
            </a:pPr>
            <a:r>
              <a:rPr lang="en-US" sz="1125" b="1" dirty="0">
                <a:solidFill>
                  <a:srgbClr val="F8F9FA"/>
                </a:solidFill>
                <a:latin typeface="MiSans" pitchFamily="34" charset="0"/>
                <a:ea typeface="MiSans" pitchFamily="34" charset="-122"/>
                <a:cs typeface="MiSans" pitchFamily="34" charset="-120"/>
              </a:rPr>
              <a:t>explicit structural commitments</a:t>
            </a:r>
            <a:pPr>
              <a:lnSpc>
                <a:spcPct val="140000"/>
              </a:lnSpc>
            </a:pPr>
            <a:r>
              <a:rPr lang="en-US" sz="1125" dirty="0">
                <a:solidFill>
                  <a:srgbClr val="F8F9FA"/>
                </a:solidFill>
                <a:latin typeface="MiSans" pitchFamily="34" charset="0"/>
                <a:ea typeface="MiSans" pitchFamily="34" charset="-122"/>
                <a:cs typeface="MiSans" pitchFamily="34" charset="-120"/>
              </a:rPr>
              <a:t>. Each strategy is operationalised through:</a:t>
            </a:r>
            <a:endParaRPr lang="en-US" sz="1600" dirty="0"/>
          </a:p>
        </p:txBody>
      </p:sp>
      <p:sp>
        <p:nvSpPr>
          <p:cNvPr id="43" name="Shape 41"/>
          <p:cNvSpPr/>
          <p:nvPr/>
        </p:nvSpPr>
        <p:spPr>
          <a:xfrm>
            <a:off x="6338649" y="5595815"/>
            <a:ext cx="125046" cy="142910"/>
          </a:xfrm>
          <a:custGeom>
            <a:avLst/>
            <a:gdLst/>
            <a:ahLst/>
            <a:cxnLst/>
            <a:rect l="l" t="t" r="r" b="b"/>
            <a:pathLst>
              <a:path w="125046" h="142910">
                <a:moveTo>
                  <a:pt x="121362" y="19566"/>
                </a:moveTo>
                <a:cubicBezTo>
                  <a:pt x="125353" y="22469"/>
                  <a:pt x="126246" y="28052"/>
                  <a:pt x="123344" y="32043"/>
                </a:cubicBezTo>
                <a:lnTo>
                  <a:pt x="51889" y="130294"/>
                </a:lnTo>
                <a:cubicBezTo>
                  <a:pt x="50353" y="132415"/>
                  <a:pt x="47981" y="133727"/>
                  <a:pt x="45357" y="133950"/>
                </a:cubicBezTo>
                <a:cubicBezTo>
                  <a:pt x="42733" y="134173"/>
                  <a:pt x="40193" y="133196"/>
                  <a:pt x="38351" y="131354"/>
                </a:cubicBezTo>
                <a:lnTo>
                  <a:pt x="2624" y="95627"/>
                </a:lnTo>
                <a:cubicBezTo>
                  <a:pt x="-865" y="92138"/>
                  <a:pt x="-865" y="86472"/>
                  <a:pt x="2624" y="82983"/>
                </a:cubicBezTo>
                <a:cubicBezTo>
                  <a:pt x="6113" y="79494"/>
                  <a:pt x="11779" y="79494"/>
                  <a:pt x="15268" y="82983"/>
                </a:cubicBezTo>
                <a:lnTo>
                  <a:pt x="43599" y="111313"/>
                </a:lnTo>
                <a:lnTo>
                  <a:pt x="108913" y="21520"/>
                </a:lnTo>
                <a:cubicBezTo>
                  <a:pt x="111816" y="17529"/>
                  <a:pt x="117398" y="16636"/>
                  <a:pt x="121390" y="19538"/>
                </a:cubicBezTo>
                <a:close/>
              </a:path>
            </a:pathLst>
          </a:custGeom>
          <a:solidFill>
            <a:srgbClr val="C49A2C"/>
          </a:solidFill>
          <a:ln/>
        </p:spPr>
      </p:sp>
      <p:sp>
        <p:nvSpPr>
          <p:cNvPr id="44" name="Text 42"/>
          <p:cNvSpPr/>
          <p:nvPr/>
        </p:nvSpPr>
        <p:spPr>
          <a:xfrm>
            <a:off x="6540745" y="5555622"/>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The assessment architecture</a:t>
            </a:r>
            <a:endParaRPr lang="en-US" sz="1600" dirty="0"/>
          </a:p>
        </p:txBody>
      </p:sp>
      <p:sp>
        <p:nvSpPr>
          <p:cNvPr id="45" name="Shape 43"/>
          <p:cNvSpPr/>
          <p:nvPr/>
        </p:nvSpPr>
        <p:spPr>
          <a:xfrm>
            <a:off x="6338649" y="5881635"/>
            <a:ext cx="125046" cy="142910"/>
          </a:xfrm>
          <a:custGeom>
            <a:avLst/>
            <a:gdLst/>
            <a:ahLst/>
            <a:cxnLst/>
            <a:rect l="l" t="t" r="r" b="b"/>
            <a:pathLst>
              <a:path w="125046" h="142910">
                <a:moveTo>
                  <a:pt x="121362" y="19566"/>
                </a:moveTo>
                <a:cubicBezTo>
                  <a:pt x="125353" y="22469"/>
                  <a:pt x="126246" y="28052"/>
                  <a:pt x="123344" y="32043"/>
                </a:cubicBezTo>
                <a:lnTo>
                  <a:pt x="51889" y="130294"/>
                </a:lnTo>
                <a:cubicBezTo>
                  <a:pt x="50353" y="132415"/>
                  <a:pt x="47981" y="133727"/>
                  <a:pt x="45357" y="133950"/>
                </a:cubicBezTo>
                <a:cubicBezTo>
                  <a:pt x="42733" y="134173"/>
                  <a:pt x="40193" y="133196"/>
                  <a:pt x="38351" y="131354"/>
                </a:cubicBezTo>
                <a:lnTo>
                  <a:pt x="2624" y="95627"/>
                </a:lnTo>
                <a:cubicBezTo>
                  <a:pt x="-865" y="92138"/>
                  <a:pt x="-865" y="86472"/>
                  <a:pt x="2624" y="82983"/>
                </a:cubicBezTo>
                <a:cubicBezTo>
                  <a:pt x="6113" y="79494"/>
                  <a:pt x="11779" y="79494"/>
                  <a:pt x="15268" y="82983"/>
                </a:cubicBezTo>
                <a:lnTo>
                  <a:pt x="43599" y="111313"/>
                </a:lnTo>
                <a:lnTo>
                  <a:pt x="108913" y="21520"/>
                </a:lnTo>
                <a:cubicBezTo>
                  <a:pt x="111816" y="17529"/>
                  <a:pt x="117398" y="16636"/>
                  <a:pt x="121390" y="19538"/>
                </a:cubicBezTo>
                <a:close/>
              </a:path>
            </a:pathLst>
          </a:custGeom>
          <a:solidFill>
            <a:srgbClr val="C49A2C"/>
          </a:solidFill>
          <a:ln/>
        </p:spPr>
      </p:sp>
      <p:sp>
        <p:nvSpPr>
          <p:cNvPr id="46" name="Text 44"/>
          <p:cNvSpPr/>
          <p:nvPr/>
        </p:nvSpPr>
        <p:spPr>
          <a:xfrm>
            <a:off x="6540745" y="5841442"/>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The coordinator training programme</a:t>
            </a:r>
            <a:endParaRPr lang="en-US" sz="1600" dirty="0"/>
          </a:p>
        </p:txBody>
      </p:sp>
      <p:sp>
        <p:nvSpPr>
          <p:cNvPr id="47" name="Shape 45"/>
          <p:cNvSpPr/>
          <p:nvPr/>
        </p:nvSpPr>
        <p:spPr>
          <a:xfrm>
            <a:off x="6338649" y="6167455"/>
            <a:ext cx="125046" cy="142910"/>
          </a:xfrm>
          <a:custGeom>
            <a:avLst/>
            <a:gdLst/>
            <a:ahLst/>
            <a:cxnLst/>
            <a:rect l="l" t="t" r="r" b="b"/>
            <a:pathLst>
              <a:path w="125046" h="142910">
                <a:moveTo>
                  <a:pt x="121362" y="19566"/>
                </a:moveTo>
                <a:cubicBezTo>
                  <a:pt x="125353" y="22469"/>
                  <a:pt x="126246" y="28052"/>
                  <a:pt x="123344" y="32043"/>
                </a:cubicBezTo>
                <a:lnTo>
                  <a:pt x="51889" y="130294"/>
                </a:lnTo>
                <a:cubicBezTo>
                  <a:pt x="50353" y="132415"/>
                  <a:pt x="47981" y="133727"/>
                  <a:pt x="45357" y="133950"/>
                </a:cubicBezTo>
                <a:cubicBezTo>
                  <a:pt x="42733" y="134173"/>
                  <a:pt x="40193" y="133196"/>
                  <a:pt x="38351" y="131354"/>
                </a:cubicBezTo>
                <a:lnTo>
                  <a:pt x="2624" y="95627"/>
                </a:lnTo>
                <a:cubicBezTo>
                  <a:pt x="-865" y="92138"/>
                  <a:pt x="-865" y="86472"/>
                  <a:pt x="2624" y="82983"/>
                </a:cubicBezTo>
                <a:cubicBezTo>
                  <a:pt x="6113" y="79494"/>
                  <a:pt x="11779" y="79494"/>
                  <a:pt x="15268" y="82983"/>
                </a:cubicBezTo>
                <a:lnTo>
                  <a:pt x="43599" y="111313"/>
                </a:lnTo>
                <a:lnTo>
                  <a:pt x="108913" y="21520"/>
                </a:lnTo>
                <a:cubicBezTo>
                  <a:pt x="111816" y="17529"/>
                  <a:pt x="117398" y="16636"/>
                  <a:pt x="121390" y="19538"/>
                </a:cubicBezTo>
                <a:close/>
              </a:path>
            </a:pathLst>
          </a:custGeom>
          <a:solidFill>
            <a:srgbClr val="C49A2C"/>
          </a:solidFill>
          <a:ln/>
        </p:spPr>
      </p:sp>
      <p:sp>
        <p:nvSpPr>
          <p:cNvPr id="48" name="Text 46"/>
          <p:cNvSpPr/>
          <p:nvPr/>
        </p:nvSpPr>
        <p:spPr>
          <a:xfrm>
            <a:off x="6540745" y="6127262"/>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The digital platform (MPI Connect)</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57275" y="357275"/>
            <a:ext cx="71455" cy="428730"/>
          </a:xfrm>
          <a:custGeom>
            <a:avLst/>
            <a:gdLst/>
            <a:ahLst/>
            <a:cxnLst/>
            <a:rect l="l" t="t" r="r" b="b"/>
            <a:pathLst>
              <a:path w="71455" h="428730">
                <a:moveTo>
                  <a:pt x="0" y="0"/>
                </a:moveTo>
                <a:lnTo>
                  <a:pt x="71455" y="0"/>
                </a:lnTo>
                <a:lnTo>
                  <a:pt x="71455" y="428730"/>
                </a:lnTo>
                <a:lnTo>
                  <a:pt x="0" y="428730"/>
                </a:lnTo>
                <a:lnTo>
                  <a:pt x="0" y="0"/>
                </a:lnTo>
                <a:close/>
              </a:path>
            </a:pathLst>
          </a:custGeom>
          <a:solidFill>
            <a:srgbClr val="C49A2C"/>
          </a:solidFill>
          <a:ln/>
        </p:spPr>
      </p:sp>
      <p:sp>
        <p:nvSpPr>
          <p:cNvPr id="3" name="Text 1"/>
          <p:cNvSpPr/>
          <p:nvPr/>
        </p:nvSpPr>
        <p:spPr>
          <a:xfrm>
            <a:off x="535912" y="410866"/>
            <a:ext cx="7350927" cy="321547"/>
          </a:xfrm>
          <a:prstGeom prst="rect">
            <a:avLst/>
          </a:prstGeom>
          <a:noFill/>
          <a:ln/>
        </p:spPr>
        <p:txBody>
          <a:bodyPr wrap="square" lIns="0" tIns="0" rIns="0" bIns="0" rtlCol="0" anchor="ctr"/>
          <a:lstStyle/>
          <a:p>
            <a:pPr>
              <a:lnSpc>
                <a:spcPct val="100000"/>
              </a:lnSpc>
            </a:pPr>
            <a:r>
              <a:rPr lang="en-US" sz="2110" b="1" dirty="0">
                <a:solidFill>
                  <a:srgbClr val="1E3A5F"/>
                </a:solidFill>
                <a:latin typeface="MiSans" pitchFamily="34" charset="0"/>
                <a:ea typeface="MiSans" pitchFamily="34" charset="-122"/>
                <a:cs typeface="MiSans" pitchFamily="34" charset="-120"/>
              </a:rPr>
              <a:t>The Hattie Effect Size Hinge Point: A Critical Benchmark</a:t>
            </a:r>
            <a:endParaRPr lang="en-US" sz="1600" dirty="0"/>
          </a:p>
        </p:txBody>
      </p:sp>
      <p:sp>
        <p:nvSpPr>
          <p:cNvPr id="4" name="Text 2"/>
          <p:cNvSpPr/>
          <p:nvPr/>
        </p:nvSpPr>
        <p:spPr>
          <a:xfrm>
            <a:off x="535912" y="857459"/>
            <a:ext cx="11370268" cy="214365"/>
          </a:xfrm>
          <a:prstGeom prst="rect">
            <a:avLst/>
          </a:prstGeom>
          <a:noFill/>
          <a:ln/>
        </p:spPr>
        <p:txBody>
          <a:bodyPr wrap="square" lIns="0" tIns="0" rIns="0" bIns="0" rtlCol="0" anchor="ctr"/>
          <a:lstStyle/>
          <a:p>
            <a:pPr>
              <a:lnSpc>
                <a:spcPct val="120000"/>
              </a:lnSpc>
            </a:pPr>
            <a:r>
              <a:rPr lang="en-US" sz="1125" dirty="0">
                <a:solidFill>
                  <a:srgbClr val="6C757D"/>
                </a:solidFill>
                <a:latin typeface="MiSans" pitchFamily="34" charset="0"/>
                <a:ea typeface="MiSans" pitchFamily="34" charset="-122"/>
                <a:cs typeface="MiSans" pitchFamily="34" charset="-120"/>
              </a:rPr>
              <a:t>The single most important numerical value in the MPI's evidentiary architecture</a:t>
            </a:r>
            <a:endParaRPr lang="en-US" sz="1600" dirty="0"/>
          </a:p>
        </p:txBody>
      </p:sp>
      <p:sp>
        <p:nvSpPr>
          <p:cNvPr id="5" name="Shape 3"/>
          <p:cNvSpPr/>
          <p:nvPr/>
        </p:nvSpPr>
        <p:spPr>
          <a:xfrm>
            <a:off x="357275" y="1143279"/>
            <a:ext cx="5671736" cy="2572378"/>
          </a:xfrm>
          <a:custGeom>
            <a:avLst/>
            <a:gdLst/>
            <a:ahLst/>
            <a:cxnLst/>
            <a:rect l="l" t="t" r="r" b="b"/>
            <a:pathLst>
              <a:path w="5671736" h="2572378">
                <a:moveTo>
                  <a:pt x="0" y="0"/>
                </a:moveTo>
                <a:lnTo>
                  <a:pt x="5671736" y="0"/>
                </a:lnTo>
                <a:lnTo>
                  <a:pt x="5671736" y="2572378"/>
                </a:lnTo>
                <a:lnTo>
                  <a:pt x="0" y="2572378"/>
                </a:lnTo>
                <a:lnTo>
                  <a:pt x="0" y="0"/>
                </a:lnTo>
                <a:close/>
              </a:path>
            </a:pathLst>
          </a:custGeom>
          <a:solidFill>
            <a:srgbClr val="1E3A5F"/>
          </a:solidFill>
          <a:ln/>
        </p:spPr>
      </p:sp>
      <p:sp>
        <p:nvSpPr>
          <p:cNvPr id="6" name="Text 4"/>
          <p:cNvSpPr/>
          <p:nvPr/>
        </p:nvSpPr>
        <p:spPr>
          <a:xfrm>
            <a:off x="500185" y="1286189"/>
            <a:ext cx="5475235" cy="250092"/>
          </a:xfrm>
          <a:prstGeom prst="rect">
            <a:avLst/>
          </a:prstGeom>
          <a:noFill/>
          <a:ln/>
        </p:spPr>
        <p:txBody>
          <a:bodyPr wrap="square" lIns="0" tIns="0" rIns="0" bIns="0" rtlCol="0" anchor="ctr"/>
          <a:lstStyle/>
          <a:p>
            <a:pPr>
              <a:lnSpc>
                <a:spcPct val="120000"/>
              </a:lnSpc>
            </a:pPr>
            <a:r>
              <a:rPr lang="en-US" sz="1407" b="1" dirty="0">
                <a:solidFill>
                  <a:srgbClr val="F8F9FA"/>
                </a:solidFill>
                <a:latin typeface="MiSans" pitchFamily="34" charset="0"/>
                <a:ea typeface="MiSans" pitchFamily="34" charset="-122"/>
                <a:cs typeface="MiSans" pitchFamily="34" charset="-120"/>
              </a:rPr>
              <a:t>Understanding Effect Sizes</a:t>
            </a:r>
            <a:endParaRPr lang="en-US" sz="1600" dirty="0"/>
          </a:p>
        </p:txBody>
      </p:sp>
      <p:sp>
        <p:nvSpPr>
          <p:cNvPr id="7" name="Text 5"/>
          <p:cNvSpPr/>
          <p:nvPr/>
        </p:nvSpPr>
        <p:spPr>
          <a:xfrm>
            <a:off x="500185" y="1643464"/>
            <a:ext cx="5457371" cy="464457"/>
          </a:xfrm>
          <a:prstGeom prst="rect">
            <a:avLst/>
          </a:prstGeom>
          <a:noFill/>
          <a:ln/>
        </p:spPr>
        <p:txBody>
          <a:bodyPr wrap="square" lIns="0" tIns="0" rIns="0" bIns="0" rtlCol="0" anchor="ctr"/>
          <a:lstStyle/>
          <a:p>
            <a:pPr>
              <a:lnSpc>
                <a:spcPct val="140000"/>
              </a:lnSpc>
            </a:pPr>
            <a:r>
              <a:rPr lang="en-US" sz="1125" dirty="0">
                <a:solidFill>
                  <a:srgbClr val="F8F9FA"/>
                </a:solidFill>
                <a:latin typeface="MiSans" pitchFamily="34" charset="0"/>
                <a:ea typeface="MiSans" pitchFamily="34" charset="-122"/>
                <a:cs typeface="MiSans" pitchFamily="34" charset="-120"/>
              </a:rPr>
              <a:t>An </a:t>
            </a:r>
            <a:pPr>
              <a:lnSpc>
                <a:spcPct val="140000"/>
              </a:lnSpc>
            </a:pPr>
            <a:r>
              <a:rPr lang="en-US" sz="1125" b="1" dirty="0">
                <a:solidFill>
                  <a:srgbClr val="F8F9FA"/>
                </a:solidFill>
                <a:latin typeface="MiSans" pitchFamily="34" charset="0"/>
                <a:ea typeface="MiSans" pitchFamily="34" charset="-122"/>
                <a:cs typeface="MiSans" pitchFamily="34" charset="-120"/>
              </a:rPr>
              <a:t>effect size (Cohen's d)</a:t>
            </a:r>
            <a:pPr>
              <a:lnSpc>
                <a:spcPct val="140000"/>
              </a:lnSpc>
            </a:pPr>
            <a:r>
              <a:rPr lang="en-US" sz="1125" dirty="0">
                <a:solidFill>
                  <a:srgbClr val="F8F9FA"/>
                </a:solidFill>
                <a:latin typeface="MiSans" pitchFamily="34" charset="0"/>
                <a:ea typeface="MiSans" pitchFamily="34" charset="-122"/>
                <a:cs typeface="MiSans" pitchFamily="34" charset="-120"/>
              </a:rPr>
              <a:t> expresses the difference between two groups in terms of standard deviations:</a:t>
            </a:r>
            <a:endParaRPr lang="en-US" sz="1600" dirty="0"/>
          </a:p>
        </p:txBody>
      </p:sp>
      <p:sp>
        <p:nvSpPr>
          <p:cNvPr id="8" name="Shape 6"/>
          <p:cNvSpPr/>
          <p:nvPr/>
        </p:nvSpPr>
        <p:spPr>
          <a:xfrm>
            <a:off x="500185" y="2250831"/>
            <a:ext cx="857459" cy="142910"/>
          </a:xfrm>
          <a:custGeom>
            <a:avLst/>
            <a:gdLst/>
            <a:ahLst/>
            <a:cxnLst/>
            <a:rect l="l" t="t" r="r" b="b"/>
            <a:pathLst>
              <a:path w="857459" h="142910">
                <a:moveTo>
                  <a:pt x="0" y="0"/>
                </a:moveTo>
                <a:lnTo>
                  <a:pt x="857459" y="0"/>
                </a:lnTo>
                <a:lnTo>
                  <a:pt x="857459" y="142910"/>
                </a:lnTo>
                <a:lnTo>
                  <a:pt x="0" y="142910"/>
                </a:lnTo>
                <a:lnTo>
                  <a:pt x="0" y="0"/>
                </a:lnTo>
                <a:close/>
              </a:path>
            </a:pathLst>
          </a:custGeom>
          <a:solidFill>
            <a:srgbClr val="6C757D"/>
          </a:solidFill>
          <a:ln/>
        </p:spPr>
      </p:sp>
      <p:sp>
        <p:nvSpPr>
          <p:cNvPr id="9" name="Text 7"/>
          <p:cNvSpPr/>
          <p:nvPr/>
        </p:nvSpPr>
        <p:spPr>
          <a:xfrm>
            <a:off x="1464826" y="2215103"/>
            <a:ext cx="1241530"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0.2</a:t>
            </a:r>
            <a:pPr>
              <a:lnSpc>
                <a:spcPct val="120000"/>
              </a:lnSpc>
            </a:pPr>
            <a:r>
              <a:rPr lang="en-US" sz="1125" dirty="0">
                <a:solidFill>
                  <a:srgbClr val="F8F9FA"/>
                </a:solidFill>
                <a:latin typeface="MiSans" pitchFamily="34" charset="0"/>
                <a:ea typeface="MiSans" pitchFamily="34" charset="-122"/>
                <a:cs typeface="MiSans" pitchFamily="34" charset="-120"/>
              </a:rPr>
              <a:t> = Small effect</a:t>
            </a:r>
            <a:endParaRPr lang="en-US" sz="1600" dirty="0"/>
          </a:p>
        </p:txBody>
      </p:sp>
      <p:sp>
        <p:nvSpPr>
          <p:cNvPr id="10" name="Shape 8"/>
          <p:cNvSpPr/>
          <p:nvPr/>
        </p:nvSpPr>
        <p:spPr>
          <a:xfrm>
            <a:off x="500185" y="2536651"/>
            <a:ext cx="1143279" cy="142910"/>
          </a:xfrm>
          <a:custGeom>
            <a:avLst/>
            <a:gdLst/>
            <a:ahLst/>
            <a:cxnLst/>
            <a:rect l="l" t="t" r="r" b="b"/>
            <a:pathLst>
              <a:path w="1143279" h="142910">
                <a:moveTo>
                  <a:pt x="0" y="0"/>
                </a:moveTo>
                <a:lnTo>
                  <a:pt x="1143279" y="0"/>
                </a:lnTo>
                <a:lnTo>
                  <a:pt x="1143279" y="142910"/>
                </a:lnTo>
                <a:lnTo>
                  <a:pt x="0" y="142910"/>
                </a:lnTo>
                <a:lnTo>
                  <a:pt x="0" y="0"/>
                </a:lnTo>
                <a:close/>
              </a:path>
            </a:pathLst>
          </a:custGeom>
          <a:solidFill>
            <a:srgbClr val="1E3A5F"/>
          </a:solidFill>
          <a:ln/>
        </p:spPr>
      </p:sp>
      <p:sp>
        <p:nvSpPr>
          <p:cNvPr id="11" name="Text 9"/>
          <p:cNvSpPr/>
          <p:nvPr/>
        </p:nvSpPr>
        <p:spPr>
          <a:xfrm>
            <a:off x="1750646" y="2500923"/>
            <a:ext cx="1420167"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0.5</a:t>
            </a:r>
            <a:pPr>
              <a:lnSpc>
                <a:spcPct val="120000"/>
              </a:lnSpc>
            </a:pPr>
            <a:r>
              <a:rPr lang="en-US" sz="1125" dirty="0">
                <a:solidFill>
                  <a:srgbClr val="F8F9FA"/>
                </a:solidFill>
                <a:latin typeface="MiSans" pitchFamily="34" charset="0"/>
                <a:ea typeface="MiSans" pitchFamily="34" charset="-122"/>
                <a:cs typeface="MiSans" pitchFamily="34" charset="-120"/>
              </a:rPr>
              <a:t> = Medium effect</a:t>
            </a:r>
            <a:endParaRPr lang="en-US" sz="1600" dirty="0"/>
          </a:p>
        </p:txBody>
      </p:sp>
      <p:sp>
        <p:nvSpPr>
          <p:cNvPr id="12" name="Shape 10"/>
          <p:cNvSpPr/>
          <p:nvPr/>
        </p:nvSpPr>
        <p:spPr>
          <a:xfrm>
            <a:off x="500185" y="2822470"/>
            <a:ext cx="1714919" cy="142910"/>
          </a:xfrm>
          <a:custGeom>
            <a:avLst/>
            <a:gdLst/>
            <a:ahLst/>
            <a:cxnLst/>
            <a:rect l="l" t="t" r="r" b="b"/>
            <a:pathLst>
              <a:path w="1714919" h="142910">
                <a:moveTo>
                  <a:pt x="0" y="0"/>
                </a:moveTo>
                <a:lnTo>
                  <a:pt x="1714919" y="0"/>
                </a:lnTo>
                <a:lnTo>
                  <a:pt x="1714919" y="142910"/>
                </a:lnTo>
                <a:lnTo>
                  <a:pt x="0" y="142910"/>
                </a:lnTo>
                <a:lnTo>
                  <a:pt x="0" y="0"/>
                </a:lnTo>
                <a:close/>
              </a:path>
            </a:pathLst>
          </a:custGeom>
          <a:solidFill>
            <a:srgbClr val="C49A2C"/>
          </a:solidFill>
          <a:ln/>
        </p:spPr>
      </p:sp>
      <p:sp>
        <p:nvSpPr>
          <p:cNvPr id="13" name="Text 11"/>
          <p:cNvSpPr/>
          <p:nvPr/>
        </p:nvSpPr>
        <p:spPr>
          <a:xfrm>
            <a:off x="2322286" y="2786743"/>
            <a:ext cx="1268325" cy="214365"/>
          </a:xfrm>
          <a:prstGeom prst="rect">
            <a:avLst/>
          </a:prstGeom>
          <a:noFill/>
          <a:ln/>
        </p:spPr>
        <p:txBody>
          <a:bodyPr wrap="square" lIns="0" tIns="0" rIns="0" bIns="0" rtlCol="0" anchor="ctr"/>
          <a:lstStyle/>
          <a:p>
            <a:pPr>
              <a:lnSpc>
                <a:spcPct val="120000"/>
              </a:lnSpc>
            </a:pPr>
            <a:r>
              <a:rPr lang="en-US" sz="1125" b="1" dirty="0">
                <a:solidFill>
                  <a:srgbClr val="F8F9FA"/>
                </a:solidFill>
                <a:latin typeface="MiSans" pitchFamily="34" charset="0"/>
                <a:ea typeface="MiSans" pitchFamily="34" charset="-122"/>
                <a:cs typeface="MiSans" pitchFamily="34" charset="-120"/>
              </a:rPr>
              <a:t>0.8</a:t>
            </a:r>
            <a:pPr>
              <a:lnSpc>
                <a:spcPct val="120000"/>
              </a:lnSpc>
            </a:pPr>
            <a:r>
              <a:rPr lang="en-US" sz="1125" dirty="0">
                <a:solidFill>
                  <a:srgbClr val="F8F9FA"/>
                </a:solidFill>
                <a:latin typeface="MiSans" pitchFamily="34" charset="0"/>
                <a:ea typeface="MiSans" pitchFamily="34" charset="-122"/>
                <a:cs typeface="MiSans" pitchFamily="34" charset="-120"/>
              </a:rPr>
              <a:t> = Large effect</a:t>
            </a:r>
            <a:endParaRPr lang="en-US" sz="1600" dirty="0"/>
          </a:p>
        </p:txBody>
      </p:sp>
      <p:sp>
        <p:nvSpPr>
          <p:cNvPr id="14" name="Text 12"/>
          <p:cNvSpPr/>
          <p:nvPr/>
        </p:nvSpPr>
        <p:spPr>
          <a:xfrm>
            <a:off x="500185" y="3108290"/>
            <a:ext cx="5457371" cy="464457"/>
          </a:xfrm>
          <a:prstGeom prst="rect">
            <a:avLst/>
          </a:prstGeom>
          <a:noFill/>
          <a:ln/>
        </p:spPr>
        <p:txBody>
          <a:bodyPr wrap="square" lIns="0" tIns="0" rIns="0" bIns="0" rtlCol="0" anchor="ctr"/>
          <a:lstStyle/>
          <a:p>
            <a:pPr>
              <a:lnSpc>
                <a:spcPct val="140000"/>
              </a:lnSpc>
            </a:pPr>
            <a:r>
              <a:rPr lang="en-US" sz="1125" dirty="0">
                <a:solidFill>
                  <a:srgbClr val="F8F9FA"/>
                </a:solidFill>
                <a:latin typeface="MiSans" pitchFamily="34" charset="0"/>
                <a:ea typeface="MiSans" pitchFamily="34" charset="-122"/>
                <a:cs typeface="MiSans" pitchFamily="34" charset="-120"/>
              </a:rPr>
              <a:t>The </a:t>
            </a:r>
            <a:pPr>
              <a:lnSpc>
                <a:spcPct val="140000"/>
              </a:lnSpc>
            </a:pPr>
            <a:r>
              <a:rPr lang="en-US" sz="1125" b="1" dirty="0">
                <a:solidFill>
                  <a:srgbClr val="F8F9FA"/>
                </a:solidFill>
                <a:latin typeface="MiSans" pitchFamily="34" charset="0"/>
                <a:ea typeface="MiSans" pitchFamily="34" charset="-122"/>
                <a:cs typeface="MiSans" pitchFamily="34" charset="-120"/>
              </a:rPr>
              <a:t>0.4 hinge point</a:t>
            </a:r>
            <a:pPr>
              <a:lnSpc>
                <a:spcPct val="140000"/>
              </a:lnSpc>
            </a:pPr>
            <a:r>
              <a:rPr lang="en-US" sz="1125" dirty="0">
                <a:solidFill>
                  <a:srgbClr val="F8F9FA"/>
                </a:solidFill>
                <a:latin typeface="MiSans" pitchFamily="34" charset="0"/>
                <a:ea typeface="MiSans" pitchFamily="34" charset="-122"/>
                <a:cs typeface="MiSans" pitchFamily="34" charset="-120"/>
              </a:rPr>
              <a:t> represents the boundary between interventions that add meaningful value and those that do not.</a:t>
            </a:r>
            <a:endParaRPr lang="en-US" sz="1600" dirty="0"/>
          </a:p>
        </p:txBody>
      </p:sp>
      <p:sp>
        <p:nvSpPr>
          <p:cNvPr id="15" name="Shape 13"/>
          <p:cNvSpPr/>
          <p:nvPr/>
        </p:nvSpPr>
        <p:spPr>
          <a:xfrm>
            <a:off x="357275" y="3840703"/>
            <a:ext cx="5671736" cy="2590242"/>
          </a:xfrm>
          <a:custGeom>
            <a:avLst/>
            <a:gdLst/>
            <a:ahLst/>
            <a:cxnLst/>
            <a:rect l="l" t="t" r="r" b="b"/>
            <a:pathLst>
              <a:path w="5671736" h="2590242">
                <a:moveTo>
                  <a:pt x="0" y="0"/>
                </a:moveTo>
                <a:lnTo>
                  <a:pt x="5671736" y="0"/>
                </a:lnTo>
                <a:lnTo>
                  <a:pt x="5671736" y="2590242"/>
                </a:lnTo>
                <a:lnTo>
                  <a:pt x="0" y="2590242"/>
                </a:lnTo>
                <a:lnTo>
                  <a:pt x="0" y="0"/>
                </a:lnTo>
                <a:close/>
              </a:path>
            </a:pathLst>
          </a:custGeom>
          <a:solidFill>
            <a:srgbClr val="FFFFFF"/>
          </a:solidFill>
          <a:ln/>
        </p:spPr>
      </p:sp>
      <p:sp>
        <p:nvSpPr>
          <p:cNvPr id="16" name="Shape 14"/>
          <p:cNvSpPr/>
          <p:nvPr/>
        </p:nvSpPr>
        <p:spPr>
          <a:xfrm>
            <a:off x="357275" y="3840703"/>
            <a:ext cx="5671736" cy="35727"/>
          </a:xfrm>
          <a:custGeom>
            <a:avLst/>
            <a:gdLst/>
            <a:ahLst/>
            <a:cxnLst/>
            <a:rect l="l" t="t" r="r" b="b"/>
            <a:pathLst>
              <a:path w="5671736" h="35727">
                <a:moveTo>
                  <a:pt x="0" y="0"/>
                </a:moveTo>
                <a:lnTo>
                  <a:pt x="5671736" y="0"/>
                </a:lnTo>
                <a:lnTo>
                  <a:pt x="5671736" y="35727"/>
                </a:lnTo>
                <a:lnTo>
                  <a:pt x="0" y="35727"/>
                </a:lnTo>
                <a:lnTo>
                  <a:pt x="0" y="0"/>
                </a:lnTo>
                <a:close/>
              </a:path>
            </a:pathLst>
          </a:custGeom>
          <a:solidFill>
            <a:srgbClr val="C49A2C"/>
          </a:solidFill>
          <a:ln/>
        </p:spPr>
      </p:sp>
      <p:sp>
        <p:nvSpPr>
          <p:cNvPr id="17" name="Text 15"/>
          <p:cNvSpPr/>
          <p:nvPr/>
        </p:nvSpPr>
        <p:spPr>
          <a:xfrm>
            <a:off x="500185" y="4001477"/>
            <a:ext cx="5466303" cy="250092"/>
          </a:xfrm>
          <a:prstGeom prst="rect">
            <a:avLst/>
          </a:prstGeom>
          <a:noFill/>
          <a:ln/>
        </p:spPr>
        <p:txBody>
          <a:bodyPr wrap="square" lIns="0" tIns="0" rIns="0" bIns="0" rtlCol="0" anchor="ctr"/>
          <a:lstStyle/>
          <a:p>
            <a:pPr>
              <a:lnSpc>
                <a:spcPct val="130000"/>
              </a:lnSpc>
            </a:pPr>
            <a:r>
              <a:rPr lang="en-US" sz="1266" b="1" dirty="0">
                <a:solidFill>
                  <a:srgbClr val="1E3A5F"/>
                </a:solidFill>
                <a:latin typeface="MiSans" pitchFamily="34" charset="0"/>
                <a:ea typeface="MiSans" pitchFamily="34" charset="-122"/>
                <a:cs typeface="MiSans" pitchFamily="34" charset="-120"/>
              </a:rPr>
              <a:t>Comparison Group Construction</a:t>
            </a:r>
            <a:endParaRPr lang="en-US" sz="1600" dirty="0"/>
          </a:p>
        </p:txBody>
      </p:sp>
      <p:sp>
        <p:nvSpPr>
          <p:cNvPr id="18" name="Text 16"/>
          <p:cNvSpPr/>
          <p:nvPr/>
        </p:nvSpPr>
        <p:spPr>
          <a:xfrm>
            <a:off x="500185" y="4358752"/>
            <a:ext cx="5457371" cy="464457"/>
          </a:xfrm>
          <a:prstGeom prst="rect">
            <a:avLst/>
          </a:prstGeom>
          <a:noFill/>
          <a:ln/>
        </p:spPr>
        <p:txBody>
          <a:bodyPr wrap="square" lIns="0" tIns="0" rIns="0" bIns="0" rtlCol="0" anchor="ctr"/>
          <a:lstStyle/>
          <a:p>
            <a:pPr>
              <a:lnSpc>
                <a:spcPct val="140000"/>
              </a:lnSpc>
            </a:pPr>
            <a:r>
              <a:rPr lang="en-US" sz="1125" dirty="0">
                <a:solidFill>
                  <a:srgbClr val="2D3436"/>
                </a:solidFill>
                <a:latin typeface="MiSans" pitchFamily="34" charset="0"/>
                <a:ea typeface="MiSans" pitchFamily="34" charset="-122"/>
                <a:cs typeface="MiSans" pitchFamily="34" charset="-120"/>
              </a:rPr>
              <a:t>The MPI's effect size is calculated against a </a:t>
            </a:r>
            <a:pPr>
              <a:lnSpc>
                <a:spcPct val="140000"/>
              </a:lnSpc>
            </a:pPr>
            <a:r>
              <a:rPr lang="en-US" sz="1125" b="1" dirty="0">
                <a:solidFill>
                  <a:srgbClr val="2D3436"/>
                </a:solidFill>
                <a:latin typeface="MiSans" pitchFamily="34" charset="0"/>
                <a:ea typeface="MiSans" pitchFamily="34" charset="-122"/>
                <a:cs typeface="MiSans" pitchFamily="34" charset="-120"/>
              </a:rPr>
              <a:t>matched comparison group</a:t>
            </a:r>
            <a:pPr>
              <a:lnSpc>
                <a:spcPct val="140000"/>
              </a:lnSpc>
            </a:pPr>
            <a:r>
              <a:rPr lang="en-US" sz="1125" dirty="0">
                <a:solidFill>
                  <a:srgbClr val="2D3436"/>
                </a:solidFill>
                <a:latin typeface="MiSans" pitchFamily="34" charset="0"/>
                <a:ea typeface="MiSans" pitchFamily="34" charset="-122"/>
                <a:cs typeface="MiSans" pitchFamily="34" charset="-120"/>
              </a:rPr>
              <a:t> of non-programme schools in the same districts, using:</a:t>
            </a:r>
            <a:endParaRPr lang="en-US" sz="1600" dirty="0"/>
          </a:p>
        </p:txBody>
      </p:sp>
      <p:sp>
        <p:nvSpPr>
          <p:cNvPr id="19" name="Shape 17"/>
          <p:cNvSpPr/>
          <p:nvPr/>
        </p:nvSpPr>
        <p:spPr>
          <a:xfrm>
            <a:off x="500185" y="4930391"/>
            <a:ext cx="2652765" cy="357275"/>
          </a:xfrm>
          <a:custGeom>
            <a:avLst/>
            <a:gdLst/>
            <a:ahLst/>
            <a:cxnLst/>
            <a:rect l="l" t="t" r="r" b="b"/>
            <a:pathLst>
              <a:path w="2652765" h="357275">
                <a:moveTo>
                  <a:pt x="0" y="0"/>
                </a:moveTo>
                <a:lnTo>
                  <a:pt x="2652765" y="0"/>
                </a:lnTo>
                <a:lnTo>
                  <a:pt x="2652765" y="357275"/>
                </a:lnTo>
                <a:lnTo>
                  <a:pt x="0" y="357275"/>
                </a:lnTo>
                <a:lnTo>
                  <a:pt x="0" y="0"/>
                </a:lnTo>
                <a:close/>
              </a:path>
            </a:pathLst>
          </a:custGeom>
          <a:solidFill>
            <a:srgbClr val="F8F9FA"/>
          </a:solidFill>
          <a:ln/>
        </p:spPr>
      </p:sp>
      <p:sp>
        <p:nvSpPr>
          <p:cNvPr id="20" name="Shape 18"/>
          <p:cNvSpPr/>
          <p:nvPr/>
        </p:nvSpPr>
        <p:spPr>
          <a:xfrm>
            <a:off x="1362557" y="5042040"/>
            <a:ext cx="160774" cy="142910"/>
          </a:xfrm>
          <a:custGeom>
            <a:avLst/>
            <a:gdLst/>
            <a:ahLst/>
            <a:cxnLst/>
            <a:rect l="l" t="t" r="r" b="b"/>
            <a:pathLst>
              <a:path w="160774" h="142910">
                <a:moveTo>
                  <a:pt x="0" y="53591"/>
                </a:moveTo>
                <a:cubicBezTo>
                  <a:pt x="0" y="43738"/>
                  <a:pt x="8011" y="35727"/>
                  <a:pt x="17864" y="35727"/>
                </a:cubicBezTo>
                <a:lnTo>
                  <a:pt x="35727" y="35727"/>
                </a:lnTo>
                <a:lnTo>
                  <a:pt x="71427" y="3601"/>
                </a:lnTo>
                <a:cubicBezTo>
                  <a:pt x="76535" y="-977"/>
                  <a:pt x="84267" y="-977"/>
                  <a:pt x="89347" y="3601"/>
                </a:cubicBezTo>
                <a:lnTo>
                  <a:pt x="125046" y="35727"/>
                </a:lnTo>
                <a:lnTo>
                  <a:pt x="142910" y="35727"/>
                </a:lnTo>
                <a:cubicBezTo>
                  <a:pt x="152763" y="35727"/>
                  <a:pt x="160774" y="43738"/>
                  <a:pt x="160774" y="53591"/>
                </a:cubicBezTo>
                <a:lnTo>
                  <a:pt x="160774" y="125046"/>
                </a:lnTo>
                <a:cubicBezTo>
                  <a:pt x="160774" y="134899"/>
                  <a:pt x="152763" y="142910"/>
                  <a:pt x="142910" y="142910"/>
                </a:cubicBezTo>
                <a:lnTo>
                  <a:pt x="17864" y="142910"/>
                </a:lnTo>
                <a:cubicBezTo>
                  <a:pt x="8011" y="142910"/>
                  <a:pt x="0" y="134899"/>
                  <a:pt x="0" y="125046"/>
                </a:cubicBezTo>
                <a:lnTo>
                  <a:pt x="0" y="53591"/>
                </a:lnTo>
                <a:close/>
                <a:moveTo>
                  <a:pt x="62523" y="104949"/>
                </a:moveTo>
                <a:lnTo>
                  <a:pt x="62523" y="129512"/>
                </a:lnTo>
                <a:lnTo>
                  <a:pt x="98251" y="129512"/>
                </a:lnTo>
                <a:lnTo>
                  <a:pt x="98251" y="104949"/>
                </a:lnTo>
                <a:cubicBezTo>
                  <a:pt x="98251" y="98781"/>
                  <a:pt x="93254" y="93785"/>
                  <a:pt x="87086" y="93785"/>
                </a:cubicBezTo>
                <a:lnTo>
                  <a:pt x="73688" y="93785"/>
                </a:lnTo>
                <a:cubicBezTo>
                  <a:pt x="67519" y="93785"/>
                  <a:pt x="62523" y="98781"/>
                  <a:pt x="62523" y="104949"/>
                </a:cubicBezTo>
                <a:close/>
                <a:moveTo>
                  <a:pt x="31262" y="107182"/>
                </a:moveTo>
                <a:cubicBezTo>
                  <a:pt x="33718" y="107182"/>
                  <a:pt x="35727" y="105173"/>
                  <a:pt x="35727" y="102716"/>
                </a:cubicBezTo>
                <a:lnTo>
                  <a:pt x="35727" y="93785"/>
                </a:lnTo>
                <a:cubicBezTo>
                  <a:pt x="35727" y="91328"/>
                  <a:pt x="33718" y="89319"/>
                  <a:pt x="31262" y="89319"/>
                </a:cubicBezTo>
                <a:lnTo>
                  <a:pt x="22330" y="89319"/>
                </a:lnTo>
                <a:cubicBezTo>
                  <a:pt x="19873" y="89319"/>
                  <a:pt x="17864" y="91328"/>
                  <a:pt x="17864" y="93785"/>
                </a:cubicBezTo>
                <a:lnTo>
                  <a:pt x="17864" y="102716"/>
                </a:lnTo>
                <a:cubicBezTo>
                  <a:pt x="17864" y="105173"/>
                  <a:pt x="19873" y="107182"/>
                  <a:pt x="22330" y="107182"/>
                </a:cubicBezTo>
                <a:lnTo>
                  <a:pt x="31262" y="107182"/>
                </a:lnTo>
                <a:close/>
                <a:moveTo>
                  <a:pt x="35727" y="66989"/>
                </a:moveTo>
                <a:lnTo>
                  <a:pt x="35727" y="58057"/>
                </a:lnTo>
                <a:cubicBezTo>
                  <a:pt x="35727" y="55601"/>
                  <a:pt x="33718" y="53591"/>
                  <a:pt x="31262" y="53591"/>
                </a:cubicBezTo>
                <a:lnTo>
                  <a:pt x="22330" y="53591"/>
                </a:lnTo>
                <a:cubicBezTo>
                  <a:pt x="19873" y="53591"/>
                  <a:pt x="17864" y="55601"/>
                  <a:pt x="17864" y="58057"/>
                </a:cubicBezTo>
                <a:lnTo>
                  <a:pt x="17864" y="66989"/>
                </a:lnTo>
                <a:cubicBezTo>
                  <a:pt x="17864" y="69445"/>
                  <a:pt x="19873" y="71455"/>
                  <a:pt x="22330" y="71455"/>
                </a:cubicBezTo>
                <a:lnTo>
                  <a:pt x="31262" y="71455"/>
                </a:lnTo>
                <a:cubicBezTo>
                  <a:pt x="33718" y="71455"/>
                  <a:pt x="35727" y="69445"/>
                  <a:pt x="35727" y="66989"/>
                </a:cubicBezTo>
                <a:close/>
                <a:moveTo>
                  <a:pt x="138444" y="107182"/>
                </a:moveTo>
                <a:cubicBezTo>
                  <a:pt x="140900" y="107182"/>
                  <a:pt x="142910" y="105173"/>
                  <a:pt x="142910" y="102716"/>
                </a:cubicBezTo>
                <a:lnTo>
                  <a:pt x="142910" y="93785"/>
                </a:lnTo>
                <a:cubicBezTo>
                  <a:pt x="142910" y="91328"/>
                  <a:pt x="140900" y="89319"/>
                  <a:pt x="138444" y="89319"/>
                </a:cubicBezTo>
                <a:lnTo>
                  <a:pt x="129512" y="89319"/>
                </a:lnTo>
                <a:cubicBezTo>
                  <a:pt x="127056" y="89319"/>
                  <a:pt x="125046" y="91328"/>
                  <a:pt x="125046" y="93785"/>
                </a:cubicBezTo>
                <a:lnTo>
                  <a:pt x="125046" y="102716"/>
                </a:lnTo>
                <a:cubicBezTo>
                  <a:pt x="125046" y="105173"/>
                  <a:pt x="127056" y="107182"/>
                  <a:pt x="129512" y="107182"/>
                </a:cubicBezTo>
                <a:lnTo>
                  <a:pt x="138444" y="107182"/>
                </a:lnTo>
                <a:close/>
                <a:moveTo>
                  <a:pt x="142910" y="66989"/>
                </a:moveTo>
                <a:lnTo>
                  <a:pt x="142910" y="58057"/>
                </a:lnTo>
                <a:cubicBezTo>
                  <a:pt x="142910" y="55601"/>
                  <a:pt x="140900" y="53591"/>
                  <a:pt x="138444" y="53591"/>
                </a:cubicBezTo>
                <a:lnTo>
                  <a:pt x="129512" y="53591"/>
                </a:lnTo>
                <a:cubicBezTo>
                  <a:pt x="127056" y="53591"/>
                  <a:pt x="125046" y="55601"/>
                  <a:pt x="125046" y="58057"/>
                </a:cubicBezTo>
                <a:lnTo>
                  <a:pt x="125046" y="66989"/>
                </a:lnTo>
                <a:cubicBezTo>
                  <a:pt x="125046" y="69445"/>
                  <a:pt x="127056" y="71455"/>
                  <a:pt x="129512" y="71455"/>
                </a:cubicBezTo>
                <a:lnTo>
                  <a:pt x="138444" y="71455"/>
                </a:lnTo>
                <a:cubicBezTo>
                  <a:pt x="140900" y="71455"/>
                  <a:pt x="142910" y="69445"/>
                  <a:pt x="142910" y="66989"/>
                </a:cubicBezTo>
                <a:close/>
                <a:moveTo>
                  <a:pt x="80387" y="71455"/>
                </a:moveTo>
                <a:cubicBezTo>
                  <a:pt x="90246" y="71455"/>
                  <a:pt x="98251" y="63450"/>
                  <a:pt x="98251" y="53591"/>
                </a:cubicBezTo>
                <a:cubicBezTo>
                  <a:pt x="98251" y="43732"/>
                  <a:pt x="90246" y="35727"/>
                  <a:pt x="80387" y="35727"/>
                </a:cubicBezTo>
                <a:cubicBezTo>
                  <a:pt x="70528" y="35727"/>
                  <a:pt x="62523" y="43732"/>
                  <a:pt x="62523" y="53591"/>
                </a:cubicBezTo>
                <a:cubicBezTo>
                  <a:pt x="62523" y="63450"/>
                  <a:pt x="70528" y="71455"/>
                  <a:pt x="80387" y="71455"/>
                </a:cubicBezTo>
                <a:close/>
              </a:path>
            </a:pathLst>
          </a:custGeom>
          <a:solidFill>
            <a:srgbClr val="1E3A5F"/>
          </a:solidFill>
          <a:ln/>
        </p:spPr>
      </p:sp>
      <p:sp>
        <p:nvSpPr>
          <p:cNvPr id="21" name="Text 19"/>
          <p:cNvSpPr/>
          <p:nvPr/>
        </p:nvSpPr>
        <p:spPr>
          <a:xfrm>
            <a:off x="668222" y="4930391"/>
            <a:ext cx="2520455" cy="357275"/>
          </a:xfrm>
          <a:prstGeom prst="rect">
            <a:avLst/>
          </a:prstGeom>
          <a:noFill/>
          <a:ln/>
        </p:spPr>
        <p:txBody>
          <a:bodyPr wrap="square" lIns="71455" tIns="71455" rIns="71455" bIns="71455" rtlCol="0" anchor="ctr"/>
          <a:lstStyle/>
          <a:p>
            <a:pPr algn="ctr">
              <a:lnSpc>
                <a:spcPct val="120000"/>
              </a:lnSpc>
            </a:pPr>
            <a:r>
              <a:rPr lang="en-US" sz="1125" dirty="0">
                <a:solidFill>
                  <a:srgbClr val="2D3436"/>
                </a:solidFill>
                <a:latin typeface="MiSans" pitchFamily="34" charset="0"/>
                <a:ea typeface="MiSans" pitchFamily="34" charset="-122"/>
                <a:cs typeface="MiSans" pitchFamily="34" charset="-120"/>
              </a:rPr>
              <a:t>School size</a:t>
            </a:r>
            <a:endParaRPr lang="en-US" sz="1600" dirty="0"/>
          </a:p>
        </p:txBody>
      </p:sp>
      <p:sp>
        <p:nvSpPr>
          <p:cNvPr id="22" name="Shape 20"/>
          <p:cNvSpPr/>
          <p:nvPr/>
        </p:nvSpPr>
        <p:spPr>
          <a:xfrm>
            <a:off x="3227382" y="4930391"/>
            <a:ext cx="2652765" cy="357275"/>
          </a:xfrm>
          <a:custGeom>
            <a:avLst/>
            <a:gdLst/>
            <a:ahLst/>
            <a:cxnLst/>
            <a:rect l="l" t="t" r="r" b="b"/>
            <a:pathLst>
              <a:path w="2652765" h="357275">
                <a:moveTo>
                  <a:pt x="0" y="0"/>
                </a:moveTo>
                <a:lnTo>
                  <a:pt x="2652765" y="0"/>
                </a:lnTo>
                <a:lnTo>
                  <a:pt x="2652765" y="357275"/>
                </a:lnTo>
                <a:lnTo>
                  <a:pt x="0" y="357275"/>
                </a:lnTo>
                <a:lnTo>
                  <a:pt x="0" y="0"/>
                </a:lnTo>
                <a:close/>
              </a:path>
            </a:pathLst>
          </a:custGeom>
          <a:solidFill>
            <a:srgbClr val="F8F9FA"/>
          </a:solidFill>
          <a:ln/>
        </p:spPr>
      </p:sp>
      <p:sp>
        <p:nvSpPr>
          <p:cNvPr id="23" name="Shape 21"/>
          <p:cNvSpPr/>
          <p:nvPr/>
        </p:nvSpPr>
        <p:spPr>
          <a:xfrm>
            <a:off x="4178328" y="5042040"/>
            <a:ext cx="125046" cy="142910"/>
          </a:xfrm>
          <a:custGeom>
            <a:avLst/>
            <a:gdLst/>
            <a:ahLst/>
            <a:cxnLst/>
            <a:rect l="l" t="t" r="r" b="b"/>
            <a:pathLst>
              <a:path w="125046" h="142910">
                <a:moveTo>
                  <a:pt x="53591" y="35727"/>
                </a:moveTo>
                <a:cubicBezTo>
                  <a:pt x="53591" y="20939"/>
                  <a:pt x="41585" y="8932"/>
                  <a:pt x="26796" y="8932"/>
                </a:cubicBezTo>
                <a:cubicBezTo>
                  <a:pt x="12007" y="8932"/>
                  <a:pt x="0" y="20939"/>
                  <a:pt x="0" y="35727"/>
                </a:cubicBezTo>
                <a:cubicBezTo>
                  <a:pt x="0" y="50516"/>
                  <a:pt x="12007" y="62523"/>
                  <a:pt x="26796" y="62523"/>
                </a:cubicBezTo>
                <a:cubicBezTo>
                  <a:pt x="41585" y="62523"/>
                  <a:pt x="53591" y="50516"/>
                  <a:pt x="53591" y="35727"/>
                </a:cubicBezTo>
                <a:close/>
                <a:moveTo>
                  <a:pt x="125046" y="107182"/>
                </a:moveTo>
                <a:cubicBezTo>
                  <a:pt x="125046" y="92394"/>
                  <a:pt x="113039" y="80387"/>
                  <a:pt x="98251" y="80387"/>
                </a:cubicBezTo>
                <a:cubicBezTo>
                  <a:pt x="83462" y="80387"/>
                  <a:pt x="71455" y="92394"/>
                  <a:pt x="71455" y="107182"/>
                </a:cubicBezTo>
                <a:cubicBezTo>
                  <a:pt x="71455" y="121971"/>
                  <a:pt x="83462" y="133978"/>
                  <a:pt x="98251" y="133978"/>
                </a:cubicBezTo>
                <a:cubicBezTo>
                  <a:pt x="113039" y="133978"/>
                  <a:pt x="125046" y="121971"/>
                  <a:pt x="125046" y="107182"/>
                </a:cubicBezTo>
                <a:close/>
                <a:moveTo>
                  <a:pt x="122422" y="24172"/>
                </a:moveTo>
                <a:cubicBezTo>
                  <a:pt x="125911" y="20683"/>
                  <a:pt x="125911" y="15017"/>
                  <a:pt x="122422" y="11528"/>
                </a:cubicBezTo>
                <a:cubicBezTo>
                  <a:pt x="118933" y="8039"/>
                  <a:pt x="113267" y="8039"/>
                  <a:pt x="109778" y="11528"/>
                </a:cubicBezTo>
                <a:lnTo>
                  <a:pt x="2596" y="118710"/>
                </a:lnTo>
                <a:cubicBezTo>
                  <a:pt x="-893" y="122199"/>
                  <a:pt x="-893" y="127865"/>
                  <a:pt x="2596" y="131354"/>
                </a:cubicBezTo>
                <a:cubicBezTo>
                  <a:pt x="6085" y="134843"/>
                  <a:pt x="11751" y="134843"/>
                  <a:pt x="15240" y="131354"/>
                </a:cubicBezTo>
                <a:lnTo>
                  <a:pt x="122422" y="24172"/>
                </a:lnTo>
                <a:close/>
              </a:path>
            </a:pathLst>
          </a:custGeom>
          <a:solidFill>
            <a:srgbClr val="1E3A5F"/>
          </a:solidFill>
          <a:ln/>
        </p:spPr>
      </p:sp>
      <p:sp>
        <p:nvSpPr>
          <p:cNvPr id="24" name="Text 22"/>
          <p:cNvSpPr/>
          <p:nvPr/>
        </p:nvSpPr>
        <p:spPr>
          <a:xfrm>
            <a:off x="3395418" y="4930391"/>
            <a:ext cx="2520455" cy="357275"/>
          </a:xfrm>
          <a:prstGeom prst="rect">
            <a:avLst/>
          </a:prstGeom>
          <a:noFill/>
          <a:ln/>
        </p:spPr>
        <p:txBody>
          <a:bodyPr wrap="square" lIns="71455" tIns="71455" rIns="71455" bIns="71455" rtlCol="0" anchor="ctr"/>
          <a:lstStyle/>
          <a:p>
            <a:pPr algn="ctr">
              <a:lnSpc>
                <a:spcPct val="120000"/>
              </a:lnSpc>
            </a:pPr>
            <a:r>
              <a:rPr lang="en-US" sz="1125" dirty="0">
                <a:solidFill>
                  <a:srgbClr val="2D3436"/>
                </a:solidFill>
                <a:latin typeface="MiSans" pitchFamily="34" charset="0"/>
                <a:ea typeface="MiSans" pitchFamily="34" charset="-122"/>
                <a:cs typeface="MiSans" pitchFamily="34" charset="-120"/>
              </a:rPr>
              <a:t>FSM rate</a:t>
            </a:r>
            <a:endParaRPr lang="en-US" sz="1600" dirty="0"/>
          </a:p>
        </p:txBody>
      </p:sp>
      <p:sp>
        <p:nvSpPr>
          <p:cNvPr id="25" name="Shape 23"/>
          <p:cNvSpPr/>
          <p:nvPr/>
        </p:nvSpPr>
        <p:spPr>
          <a:xfrm>
            <a:off x="500185" y="5359121"/>
            <a:ext cx="2652765" cy="357275"/>
          </a:xfrm>
          <a:custGeom>
            <a:avLst/>
            <a:gdLst/>
            <a:ahLst/>
            <a:cxnLst/>
            <a:rect l="l" t="t" r="r" b="b"/>
            <a:pathLst>
              <a:path w="2652765" h="357275">
                <a:moveTo>
                  <a:pt x="0" y="0"/>
                </a:moveTo>
                <a:lnTo>
                  <a:pt x="2652765" y="0"/>
                </a:lnTo>
                <a:lnTo>
                  <a:pt x="2652765" y="357275"/>
                </a:lnTo>
                <a:lnTo>
                  <a:pt x="0" y="357275"/>
                </a:lnTo>
                <a:lnTo>
                  <a:pt x="0" y="0"/>
                </a:lnTo>
                <a:close/>
              </a:path>
            </a:pathLst>
          </a:custGeom>
          <a:solidFill>
            <a:srgbClr val="F8F9FA"/>
          </a:solidFill>
          <a:ln/>
        </p:spPr>
      </p:sp>
      <p:sp>
        <p:nvSpPr>
          <p:cNvPr id="26" name="Shape 24"/>
          <p:cNvSpPr/>
          <p:nvPr/>
        </p:nvSpPr>
        <p:spPr>
          <a:xfrm>
            <a:off x="1208333" y="5470769"/>
            <a:ext cx="142910" cy="142910"/>
          </a:xfrm>
          <a:custGeom>
            <a:avLst/>
            <a:gdLst/>
            <a:ahLst/>
            <a:cxnLst/>
            <a:rect l="l" t="t" r="r" b="b"/>
            <a:pathLst>
              <a:path w="142910" h="142910">
                <a:moveTo>
                  <a:pt x="8932" y="8932"/>
                </a:moveTo>
                <a:cubicBezTo>
                  <a:pt x="13872" y="8932"/>
                  <a:pt x="17864" y="12923"/>
                  <a:pt x="17864" y="17864"/>
                </a:cubicBezTo>
                <a:lnTo>
                  <a:pt x="17864" y="111648"/>
                </a:lnTo>
                <a:cubicBezTo>
                  <a:pt x="17864" y="114105"/>
                  <a:pt x="19873" y="116114"/>
                  <a:pt x="22330" y="116114"/>
                </a:cubicBezTo>
                <a:lnTo>
                  <a:pt x="133978" y="116114"/>
                </a:lnTo>
                <a:cubicBezTo>
                  <a:pt x="138918" y="116114"/>
                  <a:pt x="142910" y="120106"/>
                  <a:pt x="142910" y="125046"/>
                </a:cubicBezTo>
                <a:cubicBezTo>
                  <a:pt x="142910" y="129987"/>
                  <a:pt x="138918" y="133978"/>
                  <a:pt x="133978" y="133978"/>
                </a:cubicBezTo>
                <a:lnTo>
                  <a:pt x="22330" y="133978"/>
                </a:lnTo>
                <a:cubicBezTo>
                  <a:pt x="9993" y="133978"/>
                  <a:pt x="0" y="123985"/>
                  <a:pt x="0" y="111648"/>
                </a:cubicBezTo>
                <a:lnTo>
                  <a:pt x="0" y="17864"/>
                </a:lnTo>
                <a:cubicBezTo>
                  <a:pt x="0" y="12923"/>
                  <a:pt x="3991" y="8932"/>
                  <a:pt x="8932" y="8932"/>
                </a:cubicBezTo>
                <a:close/>
                <a:moveTo>
                  <a:pt x="35727" y="26796"/>
                </a:moveTo>
                <a:cubicBezTo>
                  <a:pt x="35727" y="21855"/>
                  <a:pt x="39719" y="17864"/>
                  <a:pt x="44659" y="17864"/>
                </a:cubicBezTo>
                <a:lnTo>
                  <a:pt x="98251" y="17864"/>
                </a:lnTo>
                <a:cubicBezTo>
                  <a:pt x="103191" y="17864"/>
                  <a:pt x="107182" y="21855"/>
                  <a:pt x="107182" y="26796"/>
                </a:cubicBezTo>
                <a:cubicBezTo>
                  <a:pt x="107182" y="31736"/>
                  <a:pt x="103191" y="35727"/>
                  <a:pt x="98251" y="35727"/>
                </a:cubicBezTo>
                <a:lnTo>
                  <a:pt x="44659" y="35727"/>
                </a:lnTo>
                <a:cubicBezTo>
                  <a:pt x="39719" y="35727"/>
                  <a:pt x="35727" y="31736"/>
                  <a:pt x="35727" y="26796"/>
                </a:cubicBezTo>
                <a:close/>
                <a:moveTo>
                  <a:pt x="44659" y="49125"/>
                </a:moveTo>
                <a:lnTo>
                  <a:pt x="80387" y="49125"/>
                </a:lnTo>
                <a:cubicBezTo>
                  <a:pt x="85327" y="49125"/>
                  <a:pt x="89319" y="53117"/>
                  <a:pt x="89319" y="58057"/>
                </a:cubicBezTo>
                <a:cubicBezTo>
                  <a:pt x="89319" y="62998"/>
                  <a:pt x="85327" y="66989"/>
                  <a:pt x="80387" y="66989"/>
                </a:cubicBezTo>
                <a:lnTo>
                  <a:pt x="44659" y="66989"/>
                </a:lnTo>
                <a:cubicBezTo>
                  <a:pt x="39719" y="66989"/>
                  <a:pt x="35727" y="62998"/>
                  <a:pt x="35727" y="58057"/>
                </a:cubicBezTo>
                <a:cubicBezTo>
                  <a:pt x="35727" y="53117"/>
                  <a:pt x="39719" y="49125"/>
                  <a:pt x="44659" y="49125"/>
                </a:cubicBezTo>
                <a:close/>
                <a:moveTo>
                  <a:pt x="44659" y="80387"/>
                </a:moveTo>
                <a:lnTo>
                  <a:pt x="116114" y="80387"/>
                </a:lnTo>
                <a:cubicBezTo>
                  <a:pt x="121055" y="80387"/>
                  <a:pt x="125046" y="84378"/>
                  <a:pt x="125046" y="89319"/>
                </a:cubicBezTo>
                <a:cubicBezTo>
                  <a:pt x="125046" y="94259"/>
                  <a:pt x="121055" y="98251"/>
                  <a:pt x="116114" y="98251"/>
                </a:cubicBezTo>
                <a:lnTo>
                  <a:pt x="44659" y="98251"/>
                </a:lnTo>
                <a:cubicBezTo>
                  <a:pt x="39719" y="98251"/>
                  <a:pt x="35727" y="94259"/>
                  <a:pt x="35727" y="89319"/>
                </a:cubicBezTo>
                <a:cubicBezTo>
                  <a:pt x="35727" y="84378"/>
                  <a:pt x="39719" y="80387"/>
                  <a:pt x="44659" y="80387"/>
                </a:cubicBezTo>
                <a:close/>
              </a:path>
            </a:pathLst>
          </a:custGeom>
          <a:solidFill>
            <a:srgbClr val="1E3A5F"/>
          </a:solidFill>
          <a:ln/>
        </p:spPr>
      </p:sp>
      <p:sp>
        <p:nvSpPr>
          <p:cNvPr id="27" name="Text 25"/>
          <p:cNvSpPr/>
          <p:nvPr/>
        </p:nvSpPr>
        <p:spPr>
          <a:xfrm>
            <a:off x="668222" y="5359121"/>
            <a:ext cx="2520455" cy="357275"/>
          </a:xfrm>
          <a:prstGeom prst="rect">
            <a:avLst/>
          </a:prstGeom>
          <a:noFill/>
          <a:ln/>
        </p:spPr>
        <p:txBody>
          <a:bodyPr wrap="square" lIns="71455" tIns="71455" rIns="71455" bIns="71455" rtlCol="0" anchor="ctr"/>
          <a:lstStyle/>
          <a:p>
            <a:pPr algn="ctr">
              <a:lnSpc>
                <a:spcPct val="120000"/>
              </a:lnSpc>
            </a:pPr>
            <a:r>
              <a:rPr lang="en-US" sz="1125" dirty="0">
                <a:solidFill>
                  <a:srgbClr val="2D3436"/>
                </a:solidFill>
                <a:latin typeface="MiSans" pitchFamily="34" charset="0"/>
                <a:ea typeface="MiSans" pitchFamily="34" charset="-122"/>
                <a:cs typeface="MiSans" pitchFamily="34" charset="-120"/>
              </a:rPr>
              <a:t>Prior attainment</a:t>
            </a:r>
            <a:endParaRPr lang="en-US" sz="1600" dirty="0"/>
          </a:p>
        </p:txBody>
      </p:sp>
      <p:sp>
        <p:nvSpPr>
          <p:cNvPr id="28" name="Shape 26"/>
          <p:cNvSpPr/>
          <p:nvPr/>
        </p:nvSpPr>
        <p:spPr>
          <a:xfrm>
            <a:off x="3227382" y="5359121"/>
            <a:ext cx="2652765" cy="357275"/>
          </a:xfrm>
          <a:custGeom>
            <a:avLst/>
            <a:gdLst/>
            <a:ahLst/>
            <a:cxnLst/>
            <a:rect l="l" t="t" r="r" b="b"/>
            <a:pathLst>
              <a:path w="2652765" h="357275">
                <a:moveTo>
                  <a:pt x="0" y="0"/>
                </a:moveTo>
                <a:lnTo>
                  <a:pt x="2652765" y="0"/>
                </a:lnTo>
                <a:lnTo>
                  <a:pt x="2652765" y="357275"/>
                </a:lnTo>
                <a:lnTo>
                  <a:pt x="0" y="357275"/>
                </a:lnTo>
                <a:lnTo>
                  <a:pt x="0" y="0"/>
                </a:lnTo>
                <a:close/>
              </a:path>
            </a:pathLst>
          </a:custGeom>
          <a:solidFill>
            <a:srgbClr val="F8F9FA"/>
          </a:solidFill>
          <a:ln/>
        </p:spPr>
      </p:sp>
      <p:sp>
        <p:nvSpPr>
          <p:cNvPr id="29" name="Shape 27"/>
          <p:cNvSpPr/>
          <p:nvPr/>
        </p:nvSpPr>
        <p:spPr>
          <a:xfrm>
            <a:off x="4106873" y="5470769"/>
            <a:ext cx="107182" cy="142910"/>
          </a:xfrm>
          <a:custGeom>
            <a:avLst/>
            <a:gdLst/>
            <a:ahLst/>
            <a:cxnLst/>
            <a:rect l="l" t="t" r="r" b="b"/>
            <a:pathLst>
              <a:path w="107182" h="142910">
                <a:moveTo>
                  <a:pt x="0" y="52642"/>
                </a:moveTo>
                <a:cubicBezTo>
                  <a:pt x="0" y="23558"/>
                  <a:pt x="24004" y="0"/>
                  <a:pt x="53591" y="0"/>
                </a:cubicBezTo>
                <a:cubicBezTo>
                  <a:pt x="83178" y="0"/>
                  <a:pt x="107182" y="23558"/>
                  <a:pt x="107182" y="52642"/>
                </a:cubicBezTo>
                <a:cubicBezTo>
                  <a:pt x="107182" y="85941"/>
                  <a:pt x="73632" y="125856"/>
                  <a:pt x="59620" y="141068"/>
                </a:cubicBezTo>
                <a:cubicBezTo>
                  <a:pt x="56327" y="144640"/>
                  <a:pt x="50828" y="144640"/>
                  <a:pt x="47534" y="141068"/>
                </a:cubicBezTo>
                <a:cubicBezTo>
                  <a:pt x="33522" y="125856"/>
                  <a:pt x="-28" y="85941"/>
                  <a:pt x="-28" y="52642"/>
                </a:cubicBezTo>
                <a:close/>
                <a:moveTo>
                  <a:pt x="53591" y="71455"/>
                </a:moveTo>
                <a:cubicBezTo>
                  <a:pt x="63450" y="71455"/>
                  <a:pt x="71455" y="63450"/>
                  <a:pt x="71455" y="53591"/>
                </a:cubicBezTo>
                <a:cubicBezTo>
                  <a:pt x="71455" y="43732"/>
                  <a:pt x="63450" y="35727"/>
                  <a:pt x="53591" y="35727"/>
                </a:cubicBezTo>
                <a:cubicBezTo>
                  <a:pt x="43732" y="35727"/>
                  <a:pt x="35727" y="43732"/>
                  <a:pt x="35727" y="53591"/>
                </a:cubicBezTo>
                <a:cubicBezTo>
                  <a:pt x="35727" y="63450"/>
                  <a:pt x="43732" y="71455"/>
                  <a:pt x="53591" y="71455"/>
                </a:cubicBezTo>
                <a:close/>
              </a:path>
            </a:pathLst>
          </a:custGeom>
          <a:solidFill>
            <a:srgbClr val="1E3A5F"/>
          </a:solidFill>
          <a:ln/>
        </p:spPr>
      </p:sp>
      <p:sp>
        <p:nvSpPr>
          <p:cNvPr id="30" name="Text 28"/>
          <p:cNvSpPr/>
          <p:nvPr/>
        </p:nvSpPr>
        <p:spPr>
          <a:xfrm>
            <a:off x="3395418" y="5359121"/>
            <a:ext cx="2520455" cy="357275"/>
          </a:xfrm>
          <a:prstGeom prst="rect">
            <a:avLst/>
          </a:prstGeom>
          <a:noFill/>
          <a:ln/>
        </p:spPr>
        <p:txBody>
          <a:bodyPr wrap="square" lIns="71455" tIns="71455" rIns="71455" bIns="71455" rtlCol="0" anchor="ctr"/>
          <a:lstStyle/>
          <a:p>
            <a:pPr algn="ctr">
              <a:lnSpc>
                <a:spcPct val="120000"/>
              </a:lnSpc>
            </a:pPr>
            <a:r>
              <a:rPr lang="en-US" sz="1125" dirty="0">
                <a:solidFill>
                  <a:srgbClr val="2D3436"/>
                </a:solidFill>
                <a:latin typeface="MiSans" pitchFamily="34" charset="0"/>
                <a:ea typeface="MiSans" pitchFamily="34" charset="-122"/>
                <a:cs typeface="MiSans" pitchFamily="34" charset="-120"/>
              </a:rPr>
              <a:t>Urban/rural</a:t>
            </a:r>
            <a:endParaRPr lang="en-US" sz="1600" dirty="0"/>
          </a:p>
        </p:txBody>
      </p:sp>
      <p:sp>
        <p:nvSpPr>
          <p:cNvPr id="31" name="Text 29"/>
          <p:cNvSpPr/>
          <p:nvPr/>
        </p:nvSpPr>
        <p:spPr>
          <a:xfrm>
            <a:off x="500185" y="5823578"/>
            <a:ext cx="5457371" cy="464457"/>
          </a:xfrm>
          <a:prstGeom prst="rect">
            <a:avLst/>
          </a:prstGeom>
          <a:noFill/>
          <a:ln/>
        </p:spPr>
        <p:txBody>
          <a:bodyPr wrap="square" lIns="0" tIns="0" rIns="0" bIns="0" rtlCol="0" anchor="ctr"/>
          <a:lstStyle/>
          <a:p>
            <a:pPr>
              <a:lnSpc>
                <a:spcPct val="140000"/>
              </a:lnSpc>
            </a:pPr>
            <a:r>
              <a:rPr lang="en-US" sz="1125" dirty="0">
                <a:solidFill>
                  <a:srgbClr val="2D3436"/>
                </a:solidFill>
                <a:latin typeface="MiSans" pitchFamily="34" charset="0"/>
                <a:ea typeface="MiSans" pitchFamily="34" charset="-122"/>
                <a:cs typeface="MiSans" pitchFamily="34" charset="-120"/>
              </a:rPr>
              <a:t>This is a </a:t>
            </a:r>
            <a:pPr>
              <a:lnSpc>
                <a:spcPct val="140000"/>
              </a:lnSpc>
            </a:pPr>
            <a:r>
              <a:rPr lang="en-US" sz="1125" b="1" dirty="0">
                <a:solidFill>
                  <a:srgbClr val="2D3436"/>
                </a:solidFill>
                <a:latin typeface="MiSans" pitchFamily="34" charset="0"/>
                <a:ea typeface="MiSans" pitchFamily="34" charset="-122"/>
                <a:cs typeface="MiSans" pitchFamily="34" charset="-120"/>
              </a:rPr>
              <a:t>legitimate comparison</a:t>
            </a:r>
            <a:pPr>
              <a:lnSpc>
                <a:spcPct val="140000"/>
              </a:lnSpc>
            </a:pPr>
            <a:r>
              <a:rPr lang="en-US" sz="1125" dirty="0">
                <a:solidFill>
                  <a:srgbClr val="2D3436"/>
                </a:solidFill>
                <a:latin typeface="MiSans" pitchFamily="34" charset="0"/>
                <a:ea typeface="MiSans" pitchFamily="34" charset="-122"/>
                <a:cs typeface="MiSans" pitchFamily="34" charset="-120"/>
              </a:rPr>
              <a:t>. It is also the most favourable available comparison. Staff should understand this distinction.</a:t>
            </a:r>
            <a:endParaRPr lang="en-US" sz="1600" dirty="0"/>
          </a:p>
        </p:txBody>
      </p:sp>
      <p:sp>
        <p:nvSpPr>
          <p:cNvPr id="32" name="Shape 30"/>
          <p:cNvSpPr/>
          <p:nvPr/>
        </p:nvSpPr>
        <p:spPr>
          <a:xfrm>
            <a:off x="6168944" y="1143279"/>
            <a:ext cx="5671736" cy="3144018"/>
          </a:xfrm>
          <a:custGeom>
            <a:avLst/>
            <a:gdLst/>
            <a:ahLst/>
            <a:cxnLst/>
            <a:rect l="l" t="t" r="r" b="b"/>
            <a:pathLst>
              <a:path w="5671736" h="3144018">
                <a:moveTo>
                  <a:pt x="0" y="0"/>
                </a:moveTo>
                <a:lnTo>
                  <a:pt x="5671736" y="0"/>
                </a:lnTo>
                <a:lnTo>
                  <a:pt x="5671736" y="3144018"/>
                </a:lnTo>
                <a:lnTo>
                  <a:pt x="0" y="3144018"/>
                </a:lnTo>
                <a:lnTo>
                  <a:pt x="0" y="0"/>
                </a:lnTo>
                <a:close/>
              </a:path>
            </a:pathLst>
          </a:custGeom>
          <a:solidFill>
            <a:srgbClr val="C49A2C"/>
          </a:solidFill>
          <a:ln/>
        </p:spPr>
      </p:sp>
      <p:sp>
        <p:nvSpPr>
          <p:cNvPr id="33" name="Text 31"/>
          <p:cNvSpPr/>
          <p:nvPr/>
        </p:nvSpPr>
        <p:spPr>
          <a:xfrm>
            <a:off x="6258262" y="1286189"/>
            <a:ext cx="5493099" cy="285820"/>
          </a:xfrm>
          <a:prstGeom prst="rect">
            <a:avLst/>
          </a:prstGeom>
          <a:noFill/>
          <a:ln/>
        </p:spPr>
        <p:txBody>
          <a:bodyPr wrap="square" lIns="0" tIns="0" rIns="0" bIns="0" rtlCol="0" anchor="ctr"/>
          <a:lstStyle/>
          <a:p>
            <a:pPr algn="ctr">
              <a:lnSpc>
                <a:spcPct val="110000"/>
              </a:lnSpc>
            </a:pPr>
            <a:r>
              <a:rPr lang="en-US" sz="1688" b="1" dirty="0">
                <a:solidFill>
                  <a:srgbClr val="F8F9FA"/>
                </a:solidFill>
                <a:latin typeface="MiSans" pitchFamily="34" charset="0"/>
                <a:ea typeface="MiSans" pitchFamily="34" charset="-122"/>
                <a:cs typeface="MiSans" pitchFamily="34" charset="-120"/>
              </a:rPr>
              <a:t>MPI Published Effect Size</a:t>
            </a:r>
            <a:endParaRPr lang="en-US" sz="1600" dirty="0"/>
          </a:p>
        </p:txBody>
      </p:sp>
      <p:sp>
        <p:nvSpPr>
          <p:cNvPr id="34" name="Text 32"/>
          <p:cNvSpPr/>
          <p:nvPr/>
        </p:nvSpPr>
        <p:spPr>
          <a:xfrm>
            <a:off x="6097489" y="1714919"/>
            <a:ext cx="5814646" cy="857459"/>
          </a:xfrm>
          <a:prstGeom prst="rect">
            <a:avLst/>
          </a:prstGeom>
          <a:noFill/>
          <a:ln/>
        </p:spPr>
        <p:txBody>
          <a:bodyPr wrap="square" lIns="0" tIns="0" rIns="0" bIns="0" rtlCol="0" anchor="ctr"/>
          <a:lstStyle/>
          <a:p>
            <a:pPr algn="ctr">
              <a:lnSpc>
                <a:spcPct val="80000"/>
              </a:lnSpc>
            </a:pPr>
            <a:r>
              <a:rPr lang="en-US" sz="6752" b="1" dirty="0">
                <a:solidFill>
                  <a:srgbClr val="F8F9FA"/>
                </a:solidFill>
                <a:latin typeface="MiSans" pitchFamily="34" charset="0"/>
                <a:ea typeface="MiSans" pitchFamily="34" charset="-122"/>
                <a:cs typeface="MiSans" pitchFamily="34" charset="-120"/>
              </a:rPr>
              <a:t>0.61</a:t>
            </a:r>
            <a:endParaRPr lang="en-US" sz="1600" dirty="0"/>
          </a:p>
        </p:txBody>
      </p:sp>
      <p:sp>
        <p:nvSpPr>
          <p:cNvPr id="35" name="Text 33"/>
          <p:cNvSpPr/>
          <p:nvPr/>
        </p:nvSpPr>
        <p:spPr>
          <a:xfrm>
            <a:off x="6258262" y="2643833"/>
            <a:ext cx="5493099" cy="285820"/>
          </a:xfrm>
          <a:prstGeom prst="rect">
            <a:avLst/>
          </a:prstGeom>
          <a:noFill/>
          <a:ln/>
        </p:spPr>
        <p:txBody>
          <a:bodyPr wrap="square" lIns="0" tIns="0" rIns="0" bIns="0" rtlCol="0" anchor="ctr"/>
          <a:lstStyle/>
          <a:p>
            <a:pPr algn="ctr">
              <a:lnSpc>
                <a:spcPct val="110000"/>
              </a:lnSpc>
            </a:pPr>
            <a:r>
              <a:rPr lang="en-US" sz="1688" dirty="0">
                <a:solidFill>
                  <a:srgbClr val="F8F9FA"/>
                </a:solidFill>
                <a:latin typeface="MiSans" pitchFamily="34" charset="0"/>
                <a:ea typeface="MiSans" pitchFamily="34" charset="-122"/>
                <a:cs typeface="MiSans" pitchFamily="34" charset="-120"/>
              </a:rPr>
              <a:t>Cohen's d</a:t>
            </a:r>
            <a:endParaRPr lang="en-US" sz="1600" dirty="0"/>
          </a:p>
        </p:txBody>
      </p:sp>
      <p:sp>
        <p:nvSpPr>
          <p:cNvPr id="36" name="Shape 34"/>
          <p:cNvSpPr/>
          <p:nvPr/>
        </p:nvSpPr>
        <p:spPr>
          <a:xfrm>
            <a:off x="6329717" y="3112756"/>
            <a:ext cx="142910" cy="142910"/>
          </a:xfrm>
          <a:custGeom>
            <a:avLst/>
            <a:gdLst/>
            <a:ahLst/>
            <a:cxnLst/>
            <a:rect l="l" t="t" r="r" b="b"/>
            <a:pathLst>
              <a:path w="142910" h="142910">
                <a:moveTo>
                  <a:pt x="71455" y="142910"/>
                </a:moveTo>
                <a:cubicBezTo>
                  <a:pt x="110892" y="142910"/>
                  <a:pt x="142910" y="110892"/>
                  <a:pt x="142910" y="71455"/>
                </a:cubicBezTo>
                <a:cubicBezTo>
                  <a:pt x="142910" y="32018"/>
                  <a:pt x="110892" y="0"/>
                  <a:pt x="71455" y="0"/>
                </a:cubicBezTo>
                <a:cubicBezTo>
                  <a:pt x="32018" y="0"/>
                  <a:pt x="0" y="32018"/>
                  <a:pt x="0" y="71455"/>
                </a:cubicBezTo>
                <a:cubicBezTo>
                  <a:pt x="0" y="110892"/>
                  <a:pt x="32018" y="142910"/>
                  <a:pt x="71455" y="142910"/>
                </a:cubicBezTo>
                <a:close/>
                <a:moveTo>
                  <a:pt x="95013" y="59369"/>
                </a:moveTo>
                <a:lnTo>
                  <a:pt x="72683" y="95096"/>
                </a:lnTo>
                <a:cubicBezTo>
                  <a:pt x="71511" y="96967"/>
                  <a:pt x="69501" y="98139"/>
                  <a:pt x="67296" y="98251"/>
                </a:cubicBezTo>
                <a:cubicBezTo>
                  <a:pt x="65091" y="98362"/>
                  <a:pt x="62970" y="97357"/>
                  <a:pt x="61658" y="95571"/>
                </a:cubicBezTo>
                <a:lnTo>
                  <a:pt x="48260" y="77707"/>
                </a:lnTo>
                <a:cubicBezTo>
                  <a:pt x="46027" y="74749"/>
                  <a:pt x="46641" y="70562"/>
                  <a:pt x="49600" y="68329"/>
                </a:cubicBezTo>
                <a:cubicBezTo>
                  <a:pt x="52558" y="66096"/>
                  <a:pt x="56745" y="66710"/>
                  <a:pt x="58978" y="69669"/>
                </a:cubicBezTo>
                <a:lnTo>
                  <a:pt x="66515" y="79717"/>
                </a:lnTo>
                <a:lnTo>
                  <a:pt x="83653" y="52279"/>
                </a:lnTo>
                <a:cubicBezTo>
                  <a:pt x="85606" y="49153"/>
                  <a:pt x="89737" y="48176"/>
                  <a:pt x="92891" y="50158"/>
                </a:cubicBezTo>
                <a:cubicBezTo>
                  <a:pt x="96045" y="52140"/>
                  <a:pt x="96995" y="56243"/>
                  <a:pt x="95013" y="59397"/>
                </a:cubicBezTo>
                <a:close/>
              </a:path>
            </a:pathLst>
          </a:custGeom>
          <a:solidFill>
            <a:srgbClr val="F8F9FA"/>
          </a:solidFill>
          <a:ln/>
        </p:spPr>
      </p:sp>
      <p:sp>
        <p:nvSpPr>
          <p:cNvPr id="37" name="Text 35"/>
          <p:cNvSpPr/>
          <p:nvPr/>
        </p:nvSpPr>
        <p:spPr>
          <a:xfrm>
            <a:off x="6540745" y="3072563"/>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Well above the 0.4 hinge point</a:t>
            </a:r>
            <a:endParaRPr lang="en-US" sz="1600" dirty="0"/>
          </a:p>
        </p:txBody>
      </p:sp>
      <p:sp>
        <p:nvSpPr>
          <p:cNvPr id="38" name="Shape 36"/>
          <p:cNvSpPr/>
          <p:nvPr/>
        </p:nvSpPr>
        <p:spPr>
          <a:xfrm>
            <a:off x="6329717" y="3398576"/>
            <a:ext cx="142910" cy="142910"/>
          </a:xfrm>
          <a:custGeom>
            <a:avLst/>
            <a:gdLst/>
            <a:ahLst/>
            <a:cxnLst/>
            <a:rect l="l" t="t" r="r" b="b"/>
            <a:pathLst>
              <a:path w="142910" h="142910">
                <a:moveTo>
                  <a:pt x="71455" y="142910"/>
                </a:moveTo>
                <a:cubicBezTo>
                  <a:pt x="110892" y="142910"/>
                  <a:pt x="142910" y="110892"/>
                  <a:pt x="142910" y="71455"/>
                </a:cubicBezTo>
                <a:cubicBezTo>
                  <a:pt x="142910" y="32018"/>
                  <a:pt x="110892" y="0"/>
                  <a:pt x="71455" y="0"/>
                </a:cubicBezTo>
                <a:cubicBezTo>
                  <a:pt x="32018" y="0"/>
                  <a:pt x="0" y="32018"/>
                  <a:pt x="0" y="71455"/>
                </a:cubicBezTo>
                <a:cubicBezTo>
                  <a:pt x="0" y="110892"/>
                  <a:pt x="32018" y="142910"/>
                  <a:pt x="71455" y="142910"/>
                </a:cubicBezTo>
                <a:close/>
                <a:moveTo>
                  <a:pt x="95013" y="59369"/>
                </a:moveTo>
                <a:lnTo>
                  <a:pt x="72683" y="95096"/>
                </a:lnTo>
                <a:cubicBezTo>
                  <a:pt x="71511" y="96967"/>
                  <a:pt x="69501" y="98139"/>
                  <a:pt x="67296" y="98251"/>
                </a:cubicBezTo>
                <a:cubicBezTo>
                  <a:pt x="65091" y="98362"/>
                  <a:pt x="62970" y="97357"/>
                  <a:pt x="61658" y="95571"/>
                </a:cubicBezTo>
                <a:lnTo>
                  <a:pt x="48260" y="77707"/>
                </a:lnTo>
                <a:cubicBezTo>
                  <a:pt x="46027" y="74749"/>
                  <a:pt x="46641" y="70562"/>
                  <a:pt x="49600" y="68329"/>
                </a:cubicBezTo>
                <a:cubicBezTo>
                  <a:pt x="52558" y="66096"/>
                  <a:pt x="56745" y="66710"/>
                  <a:pt x="58978" y="69669"/>
                </a:cubicBezTo>
                <a:lnTo>
                  <a:pt x="66515" y="79717"/>
                </a:lnTo>
                <a:lnTo>
                  <a:pt x="83653" y="52279"/>
                </a:lnTo>
                <a:cubicBezTo>
                  <a:pt x="85606" y="49153"/>
                  <a:pt x="89737" y="48176"/>
                  <a:pt x="92891" y="50158"/>
                </a:cubicBezTo>
                <a:cubicBezTo>
                  <a:pt x="96045" y="52140"/>
                  <a:pt x="96995" y="56243"/>
                  <a:pt x="95013" y="59397"/>
                </a:cubicBezTo>
                <a:close/>
              </a:path>
            </a:pathLst>
          </a:custGeom>
          <a:solidFill>
            <a:srgbClr val="F8F9FA"/>
          </a:solidFill>
          <a:ln/>
        </p:spPr>
      </p:sp>
      <p:sp>
        <p:nvSpPr>
          <p:cNvPr id="39" name="Text 37"/>
          <p:cNvSpPr/>
          <p:nvPr/>
        </p:nvSpPr>
        <p:spPr>
          <a:xfrm>
            <a:off x="6540745" y="3358382"/>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Upper range for formative assessment</a:t>
            </a:r>
            <a:endParaRPr lang="en-US" sz="1600" dirty="0"/>
          </a:p>
        </p:txBody>
      </p:sp>
      <p:sp>
        <p:nvSpPr>
          <p:cNvPr id="40" name="Shape 38"/>
          <p:cNvSpPr/>
          <p:nvPr/>
        </p:nvSpPr>
        <p:spPr>
          <a:xfrm>
            <a:off x="6329717" y="3684396"/>
            <a:ext cx="142910" cy="142910"/>
          </a:xfrm>
          <a:custGeom>
            <a:avLst/>
            <a:gdLst/>
            <a:ahLst/>
            <a:cxnLst/>
            <a:rect l="l" t="t" r="r" b="b"/>
            <a:pathLst>
              <a:path w="142910" h="142910">
                <a:moveTo>
                  <a:pt x="71455" y="142910"/>
                </a:moveTo>
                <a:cubicBezTo>
                  <a:pt x="110892" y="142910"/>
                  <a:pt x="142910" y="110892"/>
                  <a:pt x="142910" y="71455"/>
                </a:cubicBezTo>
                <a:cubicBezTo>
                  <a:pt x="142910" y="32018"/>
                  <a:pt x="110892" y="0"/>
                  <a:pt x="71455" y="0"/>
                </a:cubicBezTo>
                <a:cubicBezTo>
                  <a:pt x="32018" y="0"/>
                  <a:pt x="0" y="32018"/>
                  <a:pt x="0" y="71455"/>
                </a:cubicBezTo>
                <a:cubicBezTo>
                  <a:pt x="0" y="110892"/>
                  <a:pt x="32018" y="142910"/>
                  <a:pt x="71455" y="142910"/>
                </a:cubicBezTo>
                <a:close/>
                <a:moveTo>
                  <a:pt x="95013" y="59369"/>
                </a:moveTo>
                <a:lnTo>
                  <a:pt x="72683" y="95096"/>
                </a:lnTo>
                <a:cubicBezTo>
                  <a:pt x="71511" y="96967"/>
                  <a:pt x="69501" y="98139"/>
                  <a:pt x="67296" y="98251"/>
                </a:cubicBezTo>
                <a:cubicBezTo>
                  <a:pt x="65091" y="98362"/>
                  <a:pt x="62970" y="97357"/>
                  <a:pt x="61658" y="95571"/>
                </a:cubicBezTo>
                <a:lnTo>
                  <a:pt x="48260" y="77707"/>
                </a:lnTo>
                <a:cubicBezTo>
                  <a:pt x="46027" y="74749"/>
                  <a:pt x="46641" y="70562"/>
                  <a:pt x="49600" y="68329"/>
                </a:cubicBezTo>
                <a:cubicBezTo>
                  <a:pt x="52558" y="66096"/>
                  <a:pt x="56745" y="66710"/>
                  <a:pt x="58978" y="69669"/>
                </a:cubicBezTo>
                <a:lnTo>
                  <a:pt x="66515" y="79717"/>
                </a:lnTo>
                <a:lnTo>
                  <a:pt x="83653" y="52279"/>
                </a:lnTo>
                <a:cubicBezTo>
                  <a:pt x="85606" y="49153"/>
                  <a:pt x="89737" y="48176"/>
                  <a:pt x="92891" y="50158"/>
                </a:cubicBezTo>
                <a:cubicBezTo>
                  <a:pt x="96045" y="52140"/>
                  <a:pt x="96995" y="56243"/>
                  <a:pt x="95013" y="59397"/>
                </a:cubicBezTo>
                <a:close/>
              </a:path>
            </a:pathLst>
          </a:custGeom>
          <a:solidFill>
            <a:srgbClr val="F8F9FA"/>
          </a:solidFill>
          <a:ln/>
        </p:spPr>
      </p:sp>
      <p:sp>
        <p:nvSpPr>
          <p:cNvPr id="41" name="Text 39"/>
          <p:cNvSpPr/>
          <p:nvPr/>
        </p:nvSpPr>
        <p:spPr>
          <a:xfrm>
            <a:off x="6540745" y="3644202"/>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Based on 2022–2024 outcome data</a:t>
            </a:r>
            <a:endParaRPr lang="en-US" sz="1600" dirty="0"/>
          </a:p>
        </p:txBody>
      </p:sp>
      <p:sp>
        <p:nvSpPr>
          <p:cNvPr id="42" name="Shape 40"/>
          <p:cNvSpPr/>
          <p:nvPr/>
        </p:nvSpPr>
        <p:spPr>
          <a:xfrm>
            <a:off x="6329717" y="3970215"/>
            <a:ext cx="142910" cy="142910"/>
          </a:xfrm>
          <a:custGeom>
            <a:avLst/>
            <a:gdLst/>
            <a:ahLst/>
            <a:cxnLst/>
            <a:rect l="l" t="t" r="r" b="b"/>
            <a:pathLst>
              <a:path w="142910" h="142910">
                <a:moveTo>
                  <a:pt x="71455" y="142910"/>
                </a:moveTo>
                <a:cubicBezTo>
                  <a:pt x="110892" y="142910"/>
                  <a:pt x="142910" y="110892"/>
                  <a:pt x="142910" y="71455"/>
                </a:cubicBezTo>
                <a:cubicBezTo>
                  <a:pt x="142910" y="32018"/>
                  <a:pt x="110892" y="0"/>
                  <a:pt x="71455" y="0"/>
                </a:cubicBezTo>
                <a:cubicBezTo>
                  <a:pt x="32018" y="0"/>
                  <a:pt x="0" y="32018"/>
                  <a:pt x="0" y="71455"/>
                </a:cubicBezTo>
                <a:cubicBezTo>
                  <a:pt x="0" y="110892"/>
                  <a:pt x="32018" y="142910"/>
                  <a:pt x="71455" y="142910"/>
                </a:cubicBezTo>
                <a:close/>
                <a:moveTo>
                  <a:pt x="95013" y="59369"/>
                </a:moveTo>
                <a:lnTo>
                  <a:pt x="72683" y="95096"/>
                </a:lnTo>
                <a:cubicBezTo>
                  <a:pt x="71511" y="96967"/>
                  <a:pt x="69501" y="98139"/>
                  <a:pt x="67296" y="98251"/>
                </a:cubicBezTo>
                <a:cubicBezTo>
                  <a:pt x="65091" y="98362"/>
                  <a:pt x="62970" y="97357"/>
                  <a:pt x="61658" y="95571"/>
                </a:cubicBezTo>
                <a:lnTo>
                  <a:pt x="48260" y="77707"/>
                </a:lnTo>
                <a:cubicBezTo>
                  <a:pt x="46027" y="74749"/>
                  <a:pt x="46641" y="70562"/>
                  <a:pt x="49600" y="68329"/>
                </a:cubicBezTo>
                <a:cubicBezTo>
                  <a:pt x="52558" y="66096"/>
                  <a:pt x="56745" y="66710"/>
                  <a:pt x="58978" y="69669"/>
                </a:cubicBezTo>
                <a:lnTo>
                  <a:pt x="66515" y="79717"/>
                </a:lnTo>
                <a:lnTo>
                  <a:pt x="83653" y="52279"/>
                </a:lnTo>
                <a:cubicBezTo>
                  <a:pt x="85606" y="49153"/>
                  <a:pt x="89737" y="48176"/>
                  <a:pt x="92891" y="50158"/>
                </a:cubicBezTo>
                <a:cubicBezTo>
                  <a:pt x="96045" y="52140"/>
                  <a:pt x="96995" y="56243"/>
                  <a:pt x="95013" y="59397"/>
                </a:cubicBezTo>
                <a:close/>
              </a:path>
            </a:pathLst>
          </a:custGeom>
          <a:solidFill>
            <a:srgbClr val="F8F9FA"/>
          </a:solidFill>
          <a:ln/>
        </p:spPr>
      </p:sp>
      <p:sp>
        <p:nvSpPr>
          <p:cNvPr id="43" name="Text 41"/>
          <p:cNvSpPr/>
          <p:nvPr/>
        </p:nvSpPr>
        <p:spPr>
          <a:xfrm>
            <a:off x="6540745" y="3930022"/>
            <a:ext cx="5228480" cy="214365"/>
          </a:xfrm>
          <a:prstGeom prst="rect">
            <a:avLst/>
          </a:prstGeom>
          <a:noFill/>
          <a:ln/>
        </p:spPr>
        <p:txBody>
          <a:bodyPr wrap="square" lIns="0" tIns="0" rIns="0" bIns="0" rtlCol="0" anchor="ctr"/>
          <a:lstStyle/>
          <a:p>
            <a:pPr>
              <a:lnSpc>
                <a:spcPct val="120000"/>
              </a:lnSpc>
            </a:pPr>
            <a:r>
              <a:rPr lang="en-US" sz="1125" dirty="0">
                <a:solidFill>
                  <a:srgbClr val="F8F9FA"/>
                </a:solidFill>
                <a:latin typeface="MiSans" pitchFamily="34" charset="0"/>
                <a:ea typeface="MiSans" pitchFamily="34" charset="-122"/>
                <a:cs typeface="MiSans" pitchFamily="34" charset="-120"/>
              </a:rPr>
              <a:t>31 partner schools in analysis</a:t>
            </a:r>
            <a:endParaRPr lang="en-US" sz="1600" dirty="0"/>
          </a:p>
        </p:txBody>
      </p:sp>
      <p:sp>
        <p:nvSpPr>
          <p:cNvPr id="44" name="Shape 42"/>
          <p:cNvSpPr/>
          <p:nvPr/>
        </p:nvSpPr>
        <p:spPr>
          <a:xfrm>
            <a:off x="6186808" y="4394479"/>
            <a:ext cx="5653873" cy="1714919"/>
          </a:xfrm>
          <a:custGeom>
            <a:avLst/>
            <a:gdLst/>
            <a:ahLst/>
            <a:cxnLst/>
            <a:rect l="l" t="t" r="r" b="b"/>
            <a:pathLst>
              <a:path w="5653873" h="1714919">
                <a:moveTo>
                  <a:pt x="0" y="0"/>
                </a:moveTo>
                <a:lnTo>
                  <a:pt x="5653873" y="0"/>
                </a:lnTo>
                <a:lnTo>
                  <a:pt x="5653873" y="1714919"/>
                </a:lnTo>
                <a:lnTo>
                  <a:pt x="0" y="1714919"/>
                </a:lnTo>
                <a:lnTo>
                  <a:pt x="0" y="0"/>
                </a:lnTo>
                <a:close/>
              </a:path>
            </a:pathLst>
          </a:custGeom>
          <a:solidFill>
            <a:srgbClr val="FEF2F2"/>
          </a:solidFill>
          <a:ln/>
        </p:spPr>
      </p:sp>
      <p:sp>
        <p:nvSpPr>
          <p:cNvPr id="45" name="Shape 43"/>
          <p:cNvSpPr/>
          <p:nvPr/>
        </p:nvSpPr>
        <p:spPr>
          <a:xfrm>
            <a:off x="6186808" y="4394479"/>
            <a:ext cx="35727" cy="1714919"/>
          </a:xfrm>
          <a:custGeom>
            <a:avLst/>
            <a:gdLst/>
            <a:ahLst/>
            <a:cxnLst/>
            <a:rect l="l" t="t" r="r" b="b"/>
            <a:pathLst>
              <a:path w="35727" h="1714919">
                <a:moveTo>
                  <a:pt x="0" y="0"/>
                </a:moveTo>
                <a:lnTo>
                  <a:pt x="35727" y="0"/>
                </a:lnTo>
                <a:lnTo>
                  <a:pt x="35727" y="1714919"/>
                </a:lnTo>
                <a:lnTo>
                  <a:pt x="0" y="1714919"/>
                </a:lnTo>
                <a:lnTo>
                  <a:pt x="0" y="0"/>
                </a:lnTo>
                <a:close/>
              </a:path>
            </a:pathLst>
          </a:custGeom>
          <a:solidFill>
            <a:srgbClr val="E7000B"/>
          </a:solidFill>
          <a:ln/>
        </p:spPr>
      </p:sp>
      <p:sp>
        <p:nvSpPr>
          <p:cNvPr id="46" name="Shape 44"/>
          <p:cNvSpPr/>
          <p:nvPr/>
        </p:nvSpPr>
        <p:spPr>
          <a:xfrm>
            <a:off x="6369911" y="4582048"/>
            <a:ext cx="160774" cy="160774"/>
          </a:xfrm>
          <a:custGeom>
            <a:avLst/>
            <a:gdLst/>
            <a:ahLst/>
            <a:cxnLst/>
            <a:rect l="l" t="t" r="r" b="b"/>
            <a:pathLst>
              <a:path w="160774" h="160774">
                <a:moveTo>
                  <a:pt x="80387" y="0"/>
                </a:moveTo>
                <a:cubicBezTo>
                  <a:pt x="85003" y="0"/>
                  <a:pt x="89242" y="2543"/>
                  <a:pt x="91440" y="6594"/>
                </a:cubicBezTo>
                <a:lnTo>
                  <a:pt x="159266" y="132199"/>
                </a:lnTo>
                <a:cubicBezTo>
                  <a:pt x="161370" y="136092"/>
                  <a:pt x="161276" y="140803"/>
                  <a:pt x="159015" y="144602"/>
                </a:cubicBezTo>
                <a:cubicBezTo>
                  <a:pt x="156754" y="148402"/>
                  <a:pt x="152641" y="150725"/>
                  <a:pt x="148213" y="150725"/>
                </a:cubicBezTo>
                <a:lnTo>
                  <a:pt x="12560" y="150725"/>
                </a:lnTo>
                <a:cubicBezTo>
                  <a:pt x="8133" y="150725"/>
                  <a:pt x="4051" y="148402"/>
                  <a:pt x="1758" y="144602"/>
                </a:cubicBezTo>
                <a:cubicBezTo>
                  <a:pt x="-534" y="140803"/>
                  <a:pt x="-597" y="136092"/>
                  <a:pt x="1507" y="132199"/>
                </a:cubicBezTo>
                <a:lnTo>
                  <a:pt x="69334" y="6594"/>
                </a:lnTo>
                <a:cubicBezTo>
                  <a:pt x="71532" y="2543"/>
                  <a:pt x="75771" y="0"/>
                  <a:pt x="80387" y="0"/>
                </a:cubicBezTo>
                <a:close/>
                <a:moveTo>
                  <a:pt x="80387" y="52754"/>
                </a:moveTo>
                <a:cubicBezTo>
                  <a:pt x="76210" y="52754"/>
                  <a:pt x="72851" y="56114"/>
                  <a:pt x="72851" y="60290"/>
                </a:cubicBezTo>
                <a:lnTo>
                  <a:pt x="72851" y="95459"/>
                </a:lnTo>
                <a:cubicBezTo>
                  <a:pt x="72851" y="99636"/>
                  <a:pt x="76210" y="102996"/>
                  <a:pt x="80387" y="102996"/>
                </a:cubicBezTo>
                <a:cubicBezTo>
                  <a:pt x="84563" y="102996"/>
                  <a:pt x="87923" y="99636"/>
                  <a:pt x="87923" y="95459"/>
                </a:cubicBezTo>
                <a:lnTo>
                  <a:pt x="87923" y="60290"/>
                </a:lnTo>
                <a:cubicBezTo>
                  <a:pt x="87923" y="56114"/>
                  <a:pt x="84563" y="52754"/>
                  <a:pt x="80387" y="52754"/>
                </a:cubicBezTo>
                <a:close/>
                <a:moveTo>
                  <a:pt x="88771" y="120580"/>
                </a:moveTo>
                <a:cubicBezTo>
                  <a:pt x="88962" y="117468"/>
                  <a:pt x="87410" y="114507"/>
                  <a:pt x="84742" y="112894"/>
                </a:cubicBezTo>
                <a:cubicBezTo>
                  <a:pt x="82074" y="111280"/>
                  <a:pt x="78731" y="111280"/>
                  <a:pt x="76063" y="112894"/>
                </a:cubicBezTo>
                <a:cubicBezTo>
                  <a:pt x="73395" y="114507"/>
                  <a:pt x="71843" y="117468"/>
                  <a:pt x="72034" y="120580"/>
                </a:cubicBezTo>
                <a:cubicBezTo>
                  <a:pt x="71843" y="123692"/>
                  <a:pt x="73395" y="126653"/>
                  <a:pt x="76063" y="128267"/>
                </a:cubicBezTo>
                <a:cubicBezTo>
                  <a:pt x="78731" y="129881"/>
                  <a:pt x="82074" y="129881"/>
                  <a:pt x="84742" y="128267"/>
                </a:cubicBezTo>
                <a:cubicBezTo>
                  <a:pt x="87410" y="126653"/>
                  <a:pt x="88962" y="123692"/>
                  <a:pt x="88771" y="120580"/>
                </a:cubicBezTo>
                <a:close/>
              </a:path>
            </a:pathLst>
          </a:custGeom>
          <a:solidFill>
            <a:srgbClr val="C10007"/>
          </a:solidFill>
          <a:ln/>
        </p:spPr>
      </p:sp>
      <p:sp>
        <p:nvSpPr>
          <p:cNvPr id="47" name="Text 45"/>
          <p:cNvSpPr/>
          <p:nvPr/>
        </p:nvSpPr>
        <p:spPr>
          <a:xfrm>
            <a:off x="6553014" y="4537389"/>
            <a:ext cx="5225143" cy="250092"/>
          </a:xfrm>
          <a:prstGeom prst="rect">
            <a:avLst/>
          </a:prstGeom>
          <a:noFill/>
          <a:ln/>
        </p:spPr>
        <p:txBody>
          <a:bodyPr wrap="square" lIns="0" tIns="0" rIns="0" bIns="0" rtlCol="0" anchor="ctr"/>
          <a:lstStyle/>
          <a:p>
            <a:pPr>
              <a:lnSpc>
                <a:spcPct val="130000"/>
              </a:lnSpc>
            </a:pPr>
            <a:r>
              <a:rPr lang="en-US" sz="1266" b="1" dirty="0">
                <a:solidFill>
                  <a:srgbClr val="C10007"/>
                </a:solidFill>
                <a:latin typeface="MiSans" pitchFamily="34" charset="0"/>
                <a:ea typeface="MiSans" pitchFamily="34" charset="-122"/>
                <a:cs typeface="MiSans" pitchFamily="34" charset="-120"/>
              </a:rPr>
              <a:t>Critical Cautions</a:t>
            </a:r>
            <a:endParaRPr lang="en-US" sz="1600" dirty="0"/>
          </a:p>
        </p:txBody>
      </p:sp>
      <p:sp>
        <p:nvSpPr>
          <p:cNvPr id="48" name="Shape 46"/>
          <p:cNvSpPr/>
          <p:nvPr/>
        </p:nvSpPr>
        <p:spPr>
          <a:xfrm>
            <a:off x="6383309" y="4934857"/>
            <a:ext cx="107182" cy="142910"/>
          </a:xfrm>
          <a:custGeom>
            <a:avLst/>
            <a:gdLst/>
            <a:ahLst/>
            <a:cxnLst/>
            <a:rect l="l" t="t" r="r" b="b"/>
            <a:pathLst>
              <a:path w="107182" h="142910">
                <a:moveTo>
                  <a:pt x="15380" y="20487"/>
                </a:moveTo>
                <a:cubicBezTo>
                  <a:pt x="11891" y="16998"/>
                  <a:pt x="6224" y="16998"/>
                  <a:pt x="2735" y="20487"/>
                </a:cubicBezTo>
                <a:cubicBezTo>
                  <a:pt x="-754" y="23976"/>
                  <a:pt x="-754" y="29643"/>
                  <a:pt x="2735" y="33132"/>
                </a:cubicBezTo>
                <a:lnTo>
                  <a:pt x="41087" y="71455"/>
                </a:lnTo>
                <a:lnTo>
                  <a:pt x="2763" y="109806"/>
                </a:lnTo>
                <a:cubicBezTo>
                  <a:pt x="-726" y="113295"/>
                  <a:pt x="-726" y="118961"/>
                  <a:pt x="2763" y="122450"/>
                </a:cubicBezTo>
                <a:cubicBezTo>
                  <a:pt x="6252" y="125939"/>
                  <a:pt x="11918" y="125939"/>
                  <a:pt x="15407" y="122450"/>
                </a:cubicBezTo>
                <a:lnTo>
                  <a:pt x="53731" y="84099"/>
                </a:lnTo>
                <a:lnTo>
                  <a:pt x="92082" y="122422"/>
                </a:lnTo>
                <a:cubicBezTo>
                  <a:pt x="95571" y="125911"/>
                  <a:pt x="101237" y="125911"/>
                  <a:pt x="104726" y="122422"/>
                </a:cubicBezTo>
                <a:cubicBezTo>
                  <a:pt x="108215" y="118933"/>
                  <a:pt x="108215" y="113267"/>
                  <a:pt x="104726" y="109778"/>
                </a:cubicBezTo>
                <a:lnTo>
                  <a:pt x="66375" y="71455"/>
                </a:lnTo>
                <a:lnTo>
                  <a:pt x="104698" y="33104"/>
                </a:lnTo>
                <a:cubicBezTo>
                  <a:pt x="108187" y="29615"/>
                  <a:pt x="108187" y="23949"/>
                  <a:pt x="104698" y="20460"/>
                </a:cubicBezTo>
                <a:cubicBezTo>
                  <a:pt x="101209" y="16971"/>
                  <a:pt x="95543" y="16971"/>
                  <a:pt x="92054" y="20460"/>
                </a:cubicBezTo>
                <a:lnTo>
                  <a:pt x="53731" y="58811"/>
                </a:lnTo>
                <a:lnTo>
                  <a:pt x="15380" y="20487"/>
                </a:lnTo>
                <a:close/>
              </a:path>
            </a:pathLst>
          </a:custGeom>
          <a:solidFill>
            <a:srgbClr val="E7000B"/>
          </a:solidFill>
          <a:ln/>
        </p:spPr>
      </p:sp>
      <p:sp>
        <p:nvSpPr>
          <p:cNvPr id="49" name="Text 47"/>
          <p:cNvSpPr/>
          <p:nvPr/>
        </p:nvSpPr>
        <p:spPr>
          <a:xfrm>
            <a:off x="6576473" y="4894664"/>
            <a:ext cx="5192753" cy="214365"/>
          </a:xfrm>
          <a:prstGeom prst="rect">
            <a:avLst/>
          </a:prstGeom>
          <a:noFill/>
          <a:ln/>
        </p:spPr>
        <p:txBody>
          <a:bodyPr wrap="square" lIns="0" tIns="0" rIns="0" bIns="0" rtlCol="0" anchor="ctr"/>
          <a:lstStyle/>
          <a:p>
            <a:pPr>
              <a:lnSpc>
                <a:spcPct val="120000"/>
              </a:lnSpc>
            </a:pPr>
            <a:r>
              <a:rPr lang="en-US" sz="1125" dirty="0">
                <a:solidFill>
                  <a:srgbClr val="2D3436"/>
                </a:solidFill>
                <a:latin typeface="MiSans" pitchFamily="34" charset="0"/>
                <a:ea typeface="MiSans" pitchFamily="34" charset="-122"/>
                <a:cs typeface="MiSans" pitchFamily="34" charset="-120"/>
              </a:rPr>
              <a:t>Do </a:t>
            </a:r>
            <a:pPr>
              <a:lnSpc>
                <a:spcPct val="120000"/>
              </a:lnSpc>
            </a:pPr>
            <a:r>
              <a:rPr lang="en-US" sz="1125" b="1" dirty="0">
                <a:solidFill>
                  <a:srgbClr val="2D3436"/>
                </a:solidFill>
                <a:latin typeface="MiSans" pitchFamily="34" charset="0"/>
                <a:ea typeface="MiSans" pitchFamily="34" charset="-122"/>
                <a:cs typeface="MiSans" pitchFamily="34" charset="-120"/>
              </a:rPr>
              <a:t>not</a:t>
            </a:r>
            <a:pPr>
              <a:lnSpc>
                <a:spcPct val="120000"/>
              </a:lnSpc>
            </a:pPr>
            <a:r>
              <a:rPr lang="en-US" sz="1125" dirty="0">
                <a:solidFill>
                  <a:srgbClr val="2D3436"/>
                </a:solidFill>
                <a:latin typeface="MiSans" pitchFamily="34" charset="0"/>
                <a:ea typeface="MiSans" pitchFamily="34" charset="-122"/>
                <a:cs typeface="MiSans" pitchFamily="34" charset="-120"/>
              </a:rPr>
              <a:t> modify or adjust this figure</a:t>
            </a:r>
            <a:endParaRPr lang="en-US" sz="1600" dirty="0"/>
          </a:p>
        </p:txBody>
      </p:sp>
      <p:sp>
        <p:nvSpPr>
          <p:cNvPr id="50" name="Shape 48"/>
          <p:cNvSpPr/>
          <p:nvPr/>
        </p:nvSpPr>
        <p:spPr>
          <a:xfrm>
            <a:off x="6383309" y="5220677"/>
            <a:ext cx="107182" cy="142910"/>
          </a:xfrm>
          <a:custGeom>
            <a:avLst/>
            <a:gdLst/>
            <a:ahLst/>
            <a:cxnLst/>
            <a:rect l="l" t="t" r="r" b="b"/>
            <a:pathLst>
              <a:path w="107182" h="142910">
                <a:moveTo>
                  <a:pt x="15380" y="20487"/>
                </a:moveTo>
                <a:cubicBezTo>
                  <a:pt x="11891" y="16998"/>
                  <a:pt x="6224" y="16998"/>
                  <a:pt x="2735" y="20487"/>
                </a:cubicBezTo>
                <a:cubicBezTo>
                  <a:pt x="-754" y="23976"/>
                  <a:pt x="-754" y="29643"/>
                  <a:pt x="2735" y="33132"/>
                </a:cubicBezTo>
                <a:lnTo>
                  <a:pt x="41087" y="71455"/>
                </a:lnTo>
                <a:lnTo>
                  <a:pt x="2763" y="109806"/>
                </a:lnTo>
                <a:cubicBezTo>
                  <a:pt x="-726" y="113295"/>
                  <a:pt x="-726" y="118961"/>
                  <a:pt x="2763" y="122450"/>
                </a:cubicBezTo>
                <a:cubicBezTo>
                  <a:pt x="6252" y="125939"/>
                  <a:pt x="11918" y="125939"/>
                  <a:pt x="15407" y="122450"/>
                </a:cubicBezTo>
                <a:lnTo>
                  <a:pt x="53731" y="84099"/>
                </a:lnTo>
                <a:lnTo>
                  <a:pt x="92082" y="122422"/>
                </a:lnTo>
                <a:cubicBezTo>
                  <a:pt x="95571" y="125911"/>
                  <a:pt x="101237" y="125911"/>
                  <a:pt x="104726" y="122422"/>
                </a:cubicBezTo>
                <a:cubicBezTo>
                  <a:pt x="108215" y="118933"/>
                  <a:pt x="108215" y="113267"/>
                  <a:pt x="104726" y="109778"/>
                </a:cubicBezTo>
                <a:lnTo>
                  <a:pt x="66375" y="71455"/>
                </a:lnTo>
                <a:lnTo>
                  <a:pt x="104698" y="33104"/>
                </a:lnTo>
                <a:cubicBezTo>
                  <a:pt x="108187" y="29615"/>
                  <a:pt x="108187" y="23949"/>
                  <a:pt x="104698" y="20460"/>
                </a:cubicBezTo>
                <a:cubicBezTo>
                  <a:pt x="101209" y="16971"/>
                  <a:pt x="95543" y="16971"/>
                  <a:pt x="92054" y="20460"/>
                </a:cubicBezTo>
                <a:lnTo>
                  <a:pt x="53731" y="58811"/>
                </a:lnTo>
                <a:lnTo>
                  <a:pt x="15380" y="20487"/>
                </a:lnTo>
                <a:close/>
              </a:path>
            </a:pathLst>
          </a:custGeom>
          <a:solidFill>
            <a:srgbClr val="E7000B"/>
          </a:solidFill>
          <a:ln/>
        </p:spPr>
      </p:sp>
      <p:sp>
        <p:nvSpPr>
          <p:cNvPr id="51" name="Text 49"/>
          <p:cNvSpPr/>
          <p:nvPr/>
        </p:nvSpPr>
        <p:spPr>
          <a:xfrm>
            <a:off x="6576473" y="5180484"/>
            <a:ext cx="5192753" cy="214365"/>
          </a:xfrm>
          <a:prstGeom prst="rect">
            <a:avLst/>
          </a:prstGeom>
          <a:noFill/>
          <a:ln/>
        </p:spPr>
        <p:txBody>
          <a:bodyPr wrap="square" lIns="0" tIns="0" rIns="0" bIns="0" rtlCol="0" anchor="ctr"/>
          <a:lstStyle/>
          <a:p>
            <a:pPr>
              <a:lnSpc>
                <a:spcPct val="120000"/>
              </a:lnSpc>
            </a:pPr>
            <a:r>
              <a:rPr lang="en-US" sz="1125" dirty="0">
                <a:solidFill>
                  <a:srgbClr val="2D3436"/>
                </a:solidFill>
                <a:latin typeface="MiSans" pitchFamily="34" charset="0"/>
                <a:ea typeface="MiSans" pitchFamily="34" charset="-122"/>
                <a:cs typeface="MiSans" pitchFamily="34" charset="-120"/>
              </a:rPr>
              <a:t>Do </a:t>
            </a:r>
            <a:pPr>
              <a:lnSpc>
                <a:spcPct val="120000"/>
              </a:lnSpc>
            </a:pPr>
            <a:r>
              <a:rPr lang="en-US" sz="1125" b="1" dirty="0">
                <a:solidFill>
                  <a:srgbClr val="2D3436"/>
                </a:solidFill>
                <a:latin typeface="MiSans" pitchFamily="34" charset="0"/>
                <a:ea typeface="MiSans" pitchFamily="34" charset="-122"/>
                <a:cs typeface="MiSans" pitchFamily="34" charset="-120"/>
              </a:rPr>
              <a:t>not</a:t>
            </a:r>
            <a:pPr>
              <a:lnSpc>
                <a:spcPct val="120000"/>
              </a:lnSpc>
            </a:pPr>
            <a:r>
              <a:rPr lang="en-US" sz="1125" dirty="0">
                <a:solidFill>
                  <a:srgbClr val="2D3436"/>
                </a:solidFill>
                <a:latin typeface="MiSans" pitchFamily="34" charset="0"/>
                <a:ea typeface="MiSans" pitchFamily="34" charset="-122"/>
                <a:cs typeface="MiSans" pitchFamily="34" charset="-120"/>
              </a:rPr>
              <a:t> qualify without sign-off</a:t>
            </a:r>
            <a:endParaRPr lang="en-US" sz="1600" dirty="0"/>
          </a:p>
        </p:txBody>
      </p:sp>
      <p:sp>
        <p:nvSpPr>
          <p:cNvPr id="52" name="Shape 50"/>
          <p:cNvSpPr/>
          <p:nvPr/>
        </p:nvSpPr>
        <p:spPr>
          <a:xfrm>
            <a:off x="6383309" y="5506497"/>
            <a:ext cx="107182" cy="142910"/>
          </a:xfrm>
          <a:custGeom>
            <a:avLst/>
            <a:gdLst/>
            <a:ahLst/>
            <a:cxnLst/>
            <a:rect l="l" t="t" r="r" b="b"/>
            <a:pathLst>
              <a:path w="107182" h="142910">
                <a:moveTo>
                  <a:pt x="15380" y="20487"/>
                </a:moveTo>
                <a:cubicBezTo>
                  <a:pt x="11891" y="16998"/>
                  <a:pt x="6224" y="16998"/>
                  <a:pt x="2735" y="20487"/>
                </a:cubicBezTo>
                <a:cubicBezTo>
                  <a:pt x="-754" y="23976"/>
                  <a:pt x="-754" y="29643"/>
                  <a:pt x="2735" y="33132"/>
                </a:cubicBezTo>
                <a:lnTo>
                  <a:pt x="41087" y="71455"/>
                </a:lnTo>
                <a:lnTo>
                  <a:pt x="2763" y="109806"/>
                </a:lnTo>
                <a:cubicBezTo>
                  <a:pt x="-726" y="113295"/>
                  <a:pt x="-726" y="118961"/>
                  <a:pt x="2763" y="122450"/>
                </a:cubicBezTo>
                <a:cubicBezTo>
                  <a:pt x="6252" y="125939"/>
                  <a:pt x="11918" y="125939"/>
                  <a:pt x="15407" y="122450"/>
                </a:cubicBezTo>
                <a:lnTo>
                  <a:pt x="53731" y="84099"/>
                </a:lnTo>
                <a:lnTo>
                  <a:pt x="92082" y="122422"/>
                </a:lnTo>
                <a:cubicBezTo>
                  <a:pt x="95571" y="125911"/>
                  <a:pt x="101237" y="125911"/>
                  <a:pt x="104726" y="122422"/>
                </a:cubicBezTo>
                <a:cubicBezTo>
                  <a:pt x="108215" y="118933"/>
                  <a:pt x="108215" y="113267"/>
                  <a:pt x="104726" y="109778"/>
                </a:cubicBezTo>
                <a:lnTo>
                  <a:pt x="66375" y="71455"/>
                </a:lnTo>
                <a:lnTo>
                  <a:pt x="104698" y="33104"/>
                </a:lnTo>
                <a:cubicBezTo>
                  <a:pt x="108187" y="29615"/>
                  <a:pt x="108187" y="23949"/>
                  <a:pt x="104698" y="20460"/>
                </a:cubicBezTo>
                <a:cubicBezTo>
                  <a:pt x="101209" y="16971"/>
                  <a:pt x="95543" y="16971"/>
                  <a:pt x="92054" y="20460"/>
                </a:cubicBezTo>
                <a:lnTo>
                  <a:pt x="53731" y="58811"/>
                </a:lnTo>
                <a:lnTo>
                  <a:pt x="15380" y="20487"/>
                </a:lnTo>
                <a:close/>
              </a:path>
            </a:pathLst>
          </a:custGeom>
          <a:solidFill>
            <a:srgbClr val="E7000B"/>
          </a:solidFill>
          <a:ln/>
        </p:spPr>
      </p:sp>
      <p:sp>
        <p:nvSpPr>
          <p:cNvPr id="53" name="Text 51"/>
          <p:cNvSpPr/>
          <p:nvPr/>
        </p:nvSpPr>
        <p:spPr>
          <a:xfrm>
            <a:off x="6576473" y="5466303"/>
            <a:ext cx="5192753" cy="214365"/>
          </a:xfrm>
          <a:prstGeom prst="rect">
            <a:avLst/>
          </a:prstGeom>
          <a:noFill/>
          <a:ln/>
        </p:spPr>
        <p:txBody>
          <a:bodyPr wrap="square" lIns="0" tIns="0" rIns="0" bIns="0" rtlCol="0" anchor="ctr"/>
          <a:lstStyle/>
          <a:p>
            <a:pPr>
              <a:lnSpc>
                <a:spcPct val="120000"/>
              </a:lnSpc>
            </a:pPr>
            <a:r>
              <a:rPr lang="en-US" sz="1125" dirty="0">
                <a:solidFill>
                  <a:srgbClr val="2D3436"/>
                </a:solidFill>
                <a:latin typeface="MiSans" pitchFamily="34" charset="0"/>
                <a:ea typeface="MiSans" pitchFamily="34" charset="-122"/>
                <a:cs typeface="MiSans" pitchFamily="34" charset="-120"/>
              </a:rPr>
              <a:t>Do </a:t>
            </a:r>
            <a:pPr>
              <a:lnSpc>
                <a:spcPct val="120000"/>
              </a:lnSpc>
            </a:pPr>
            <a:r>
              <a:rPr lang="en-US" sz="1125" b="1" dirty="0">
                <a:solidFill>
                  <a:srgbClr val="2D3436"/>
                </a:solidFill>
                <a:latin typeface="MiSans" pitchFamily="34" charset="0"/>
                <a:ea typeface="MiSans" pitchFamily="34" charset="-122"/>
                <a:cs typeface="MiSans" pitchFamily="34" charset="-120"/>
              </a:rPr>
              <a:t>not</a:t>
            </a:r>
            <a:pPr>
              <a:lnSpc>
                <a:spcPct val="120000"/>
              </a:lnSpc>
            </a:pPr>
            <a:r>
              <a:rPr lang="en-US" sz="1125" dirty="0">
                <a:solidFill>
                  <a:srgbClr val="2D3436"/>
                </a:solidFill>
                <a:latin typeface="MiSans" pitchFamily="34" charset="0"/>
                <a:ea typeface="MiSans" pitchFamily="34" charset="-122"/>
                <a:cs typeface="MiSans" pitchFamily="34" charset="-120"/>
              </a:rPr>
              <a:t> apply to non-compliant schools</a:t>
            </a:r>
            <a:endParaRPr lang="en-US" sz="1600" dirty="0"/>
          </a:p>
        </p:txBody>
      </p:sp>
      <p:sp>
        <p:nvSpPr>
          <p:cNvPr id="54" name="Shape 52"/>
          <p:cNvSpPr/>
          <p:nvPr/>
        </p:nvSpPr>
        <p:spPr>
          <a:xfrm>
            <a:off x="6383309" y="5792316"/>
            <a:ext cx="107182" cy="142910"/>
          </a:xfrm>
          <a:custGeom>
            <a:avLst/>
            <a:gdLst/>
            <a:ahLst/>
            <a:cxnLst/>
            <a:rect l="l" t="t" r="r" b="b"/>
            <a:pathLst>
              <a:path w="107182" h="142910">
                <a:moveTo>
                  <a:pt x="15380" y="20487"/>
                </a:moveTo>
                <a:cubicBezTo>
                  <a:pt x="11891" y="16998"/>
                  <a:pt x="6224" y="16998"/>
                  <a:pt x="2735" y="20487"/>
                </a:cubicBezTo>
                <a:cubicBezTo>
                  <a:pt x="-754" y="23976"/>
                  <a:pt x="-754" y="29643"/>
                  <a:pt x="2735" y="33132"/>
                </a:cubicBezTo>
                <a:lnTo>
                  <a:pt x="41087" y="71455"/>
                </a:lnTo>
                <a:lnTo>
                  <a:pt x="2763" y="109806"/>
                </a:lnTo>
                <a:cubicBezTo>
                  <a:pt x="-726" y="113295"/>
                  <a:pt x="-726" y="118961"/>
                  <a:pt x="2763" y="122450"/>
                </a:cubicBezTo>
                <a:cubicBezTo>
                  <a:pt x="6252" y="125939"/>
                  <a:pt x="11918" y="125939"/>
                  <a:pt x="15407" y="122450"/>
                </a:cubicBezTo>
                <a:lnTo>
                  <a:pt x="53731" y="84099"/>
                </a:lnTo>
                <a:lnTo>
                  <a:pt x="92082" y="122422"/>
                </a:lnTo>
                <a:cubicBezTo>
                  <a:pt x="95571" y="125911"/>
                  <a:pt x="101237" y="125911"/>
                  <a:pt x="104726" y="122422"/>
                </a:cubicBezTo>
                <a:cubicBezTo>
                  <a:pt x="108215" y="118933"/>
                  <a:pt x="108215" y="113267"/>
                  <a:pt x="104726" y="109778"/>
                </a:cubicBezTo>
                <a:lnTo>
                  <a:pt x="66375" y="71455"/>
                </a:lnTo>
                <a:lnTo>
                  <a:pt x="104698" y="33104"/>
                </a:lnTo>
                <a:cubicBezTo>
                  <a:pt x="108187" y="29615"/>
                  <a:pt x="108187" y="23949"/>
                  <a:pt x="104698" y="20460"/>
                </a:cubicBezTo>
                <a:cubicBezTo>
                  <a:pt x="101209" y="16971"/>
                  <a:pt x="95543" y="16971"/>
                  <a:pt x="92054" y="20460"/>
                </a:cubicBezTo>
                <a:lnTo>
                  <a:pt x="53731" y="58811"/>
                </a:lnTo>
                <a:lnTo>
                  <a:pt x="15380" y="20487"/>
                </a:lnTo>
                <a:close/>
              </a:path>
            </a:pathLst>
          </a:custGeom>
          <a:solidFill>
            <a:srgbClr val="E7000B"/>
          </a:solidFill>
          <a:ln/>
        </p:spPr>
      </p:sp>
      <p:sp>
        <p:nvSpPr>
          <p:cNvPr id="55" name="Text 53"/>
          <p:cNvSpPr/>
          <p:nvPr/>
        </p:nvSpPr>
        <p:spPr>
          <a:xfrm>
            <a:off x="6576473" y="5752123"/>
            <a:ext cx="5192753" cy="214365"/>
          </a:xfrm>
          <a:prstGeom prst="rect">
            <a:avLst/>
          </a:prstGeom>
          <a:noFill/>
          <a:ln/>
        </p:spPr>
        <p:txBody>
          <a:bodyPr wrap="square" lIns="0" tIns="0" rIns="0" bIns="0" rtlCol="0" anchor="ctr"/>
          <a:lstStyle/>
          <a:p>
            <a:pPr>
              <a:lnSpc>
                <a:spcPct val="120000"/>
              </a:lnSpc>
            </a:pPr>
            <a:r>
              <a:rPr lang="en-US" sz="1125" dirty="0">
                <a:solidFill>
                  <a:srgbClr val="2D3436"/>
                </a:solidFill>
                <a:latin typeface="MiSans" pitchFamily="34" charset="0"/>
                <a:ea typeface="MiSans" pitchFamily="34" charset="-122"/>
                <a:cs typeface="MiSans" pitchFamily="34" charset="-120"/>
              </a:rPr>
              <a:t>Do </a:t>
            </a:r>
            <a:pPr>
              <a:lnSpc>
                <a:spcPct val="120000"/>
              </a:lnSpc>
            </a:pPr>
            <a:r>
              <a:rPr lang="en-US" sz="1125" b="1" dirty="0">
                <a:solidFill>
                  <a:srgbClr val="2D3436"/>
                </a:solidFill>
                <a:latin typeface="MiSans" pitchFamily="34" charset="0"/>
                <a:ea typeface="MiSans" pitchFamily="34" charset="-122"/>
                <a:cs typeface="MiSans" pitchFamily="34" charset="-120"/>
              </a:rPr>
              <a:t>not</a:t>
            </a:r>
            <a:pPr>
              <a:lnSpc>
                <a:spcPct val="120000"/>
              </a:lnSpc>
            </a:pPr>
            <a:r>
              <a:rPr lang="en-US" sz="1125" dirty="0">
                <a:solidFill>
                  <a:srgbClr val="2D3436"/>
                </a:solidFill>
                <a:latin typeface="MiSans" pitchFamily="34" charset="0"/>
                <a:ea typeface="MiSans" pitchFamily="34" charset="-122"/>
                <a:cs typeface="MiSans" pitchFamily="34" charset="-120"/>
              </a:rPr>
              <a:t> generalise beyond stated scope</a:t>
            </a:r>
            <a:endParaRPr lang="en-US" sz="1600" dirty="0"/>
          </a:p>
        </p:txBody>
      </p:sp>
      <p:sp>
        <p:nvSpPr>
          <p:cNvPr id="56" name="Shape 54"/>
          <p:cNvSpPr/>
          <p:nvPr/>
        </p:nvSpPr>
        <p:spPr>
          <a:xfrm>
            <a:off x="6186808" y="6216580"/>
            <a:ext cx="5653873" cy="643095"/>
          </a:xfrm>
          <a:custGeom>
            <a:avLst/>
            <a:gdLst/>
            <a:ahLst/>
            <a:cxnLst/>
            <a:rect l="l" t="t" r="r" b="b"/>
            <a:pathLst>
              <a:path w="5653873" h="643095">
                <a:moveTo>
                  <a:pt x="0" y="0"/>
                </a:moveTo>
                <a:lnTo>
                  <a:pt x="5653873" y="0"/>
                </a:lnTo>
                <a:lnTo>
                  <a:pt x="5653873" y="643095"/>
                </a:lnTo>
                <a:lnTo>
                  <a:pt x="0" y="643095"/>
                </a:lnTo>
                <a:lnTo>
                  <a:pt x="0" y="0"/>
                </a:lnTo>
                <a:close/>
              </a:path>
            </a:pathLst>
          </a:custGeom>
          <a:solidFill>
            <a:srgbClr val="C49A2C">
              <a:alpha val="10196"/>
            </a:srgbClr>
          </a:solidFill>
          <a:ln/>
        </p:spPr>
      </p:sp>
      <p:sp>
        <p:nvSpPr>
          <p:cNvPr id="57" name="Shape 55"/>
          <p:cNvSpPr/>
          <p:nvPr/>
        </p:nvSpPr>
        <p:spPr>
          <a:xfrm>
            <a:off x="6186808" y="6216580"/>
            <a:ext cx="35727" cy="643095"/>
          </a:xfrm>
          <a:custGeom>
            <a:avLst/>
            <a:gdLst/>
            <a:ahLst/>
            <a:cxnLst/>
            <a:rect l="l" t="t" r="r" b="b"/>
            <a:pathLst>
              <a:path w="35727" h="643095">
                <a:moveTo>
                  <a:pt x="0" y="0"/>
                </a:moveTo>
                <a:lnTo>
                  <a:pt x="35727" y="0"/>
                </a:lnTo>
                <a:lnTo>
                  <a:pt x="35727" y="643095"/>
                </a:lnTo>
                <a:lnTo>
                  <a:pt x="0" y="643095"/>
                </a:lnTo>
                <a:lnTo>
                  <a:pt x="0" y="0"/>
                </a:lnTo>
                <a:close/>
              </a:path>
            </a:pathLst>
          </a:custGeom>
          <a:solidFill>
            <a:srgbClr val="C49A2C"/>
          </a:solidFill>
          <a:ln/>
        </p:spPr>
      </p:sp>
      <p:sp>
        <p:nvSpPr>
          <p:cNvPr id="58" name="Shape 56"/>
          <p:cNvSpPr/>
          <p:nvPr/>
        </p:nvSpPr>
        <p:spPr>
          <a:xfrm>
            <a:off x="6338649" y="6363956"/>
            <a:ext cx="125046" cy="142910"/>
          </a:xfrm>
          <a:custGeom>
            <a:avLst/>
            <a:gdLst/>
            <a:ahLst/>
            <a:cxnLst/>
            <a:rect l="l" t="t" r="r" b="b"/>
            <a:pathLst>
              <a:path w="125046" h="142910">
                <a:moveTo>
                  <a:pt x="107182" y="142910"/>
                </a:moveTo>
                <a:lnTo>
                  <a:pt x="26796" y="142910"/>
                </a:lnTo>
                <a:cubicBezTo>
                  <a:pt x="12002" y="142910"/>
                  <a:pt x="0" y="130908"/>
                  <a:pt x="0" y="116114"/>
                </a:cubicBezTo>
                <a:lnTo>
                  <a:pt x="0" y="26796"/>
                </a:lnTo>
                <a:cubicBezTo>
                  <a:pt x="0" y="12002"/>
                  <a:pt x="12002" y="0"/>
                  <a:pt x="26796" y="0"/>
                </a:cubicBezTo>
                <a:lnTo>
                  <a:pt x="111648" y="0"/>
                </a:lnTo>
                <a:cubicBezTo>
                  <a:pt x="119045" y="0"/>
                  <a:pt x="125046" y="6001"/>
                  <a:pt x="125046" y="13398"/>
                </a:cubicBezTo>
                <a:lnTo>
                  <a:pt x="125046" y="93785"/>
                </a:lnTo>
                <a:cubicBezTo>
                  <a:pt x="125046" y="99618"/>
                  <a:pt x="121306" y="104587"/>
                  <a:pt x="116114" y="106429"/>
                </a:cubicBezTo>
                <a:lnTo>
                  <a:pt x="116114" y="125046"/>
                </a:lnTo>
                <a:cubicBezTo>
                  <a:pt x="121055" y="125046"/>
                  <a:pt x="125046" y="129038"/>
                  <a:pt x="125046" y="133978"/>
                </a:cubicBezTo>
                <a:cubicBezTo>
                  <a:pt x="125046" y="138918"/>
                  <a:pt x="121055" y="142910"/>
                  <a:pt x="116114" y="142910"/>
                </a:cubicBezTo>
                <a:lnTo>
                  <a:pt x="107182" y="142910"/>
                </a:lnTo>
                <a:close/>
                <a:moveTo>
                  <a:pt x="26796" y="107182"/>
                </a:moveTo>
                <a:cubicBezTo>
                  <a:pt x="21855" y="107182"/>
                  <a:pt x="17864" y="111174"/>
                  <a:pt x="17864" y="116114"/>
                </a:cubicBezTo>
                <a:cubicBezTo>
                  <a:pt x="17864" y="121055"/>
                  <a:pt x="21855" y="125046"/>
                  <a:pt x="26796" y="125046"/>
                </a:cubicBezTo>
                <a:lnTo>
                  <a:pt x="98251" y="125046"/>
                </a:lnTo>
                <a:lnTo>
                  <a:pt x="98251" y="107182"/>
                </a:lnTo>
                <a:lnTo>
                  <a:pt x="26796" y="107182"/>
                </a:lnTo>
                <a:close/>
                <a:moveTo>
                  <a:pt x="35727" y="42426"/>
                </a:moveTo>
                <a:cubicBezTo>
                  <a:pt x="35727" y="46139"/>
                  <a:pt x="38714" y="49125"/>
                  <a:pt x="42426" y="49125"/>
                </a:cubicBezTo>
                <a:lnTo>
                  <a:pt x="91552" y="49125"/>
                </a:lnTo>
                <a:cubicBezTo>
                  <a:pt x="95264" y="49125"/>
                  <a:pt x="98251" y="46139"/>
                  <a:pt x="98251" y="42426"/>
                </a:cubicBezTo>
                <a:cubicBezTo>
                  <a:pt x="98251" y="38714"/>
                  <a:pt x="95264" y="35727"/>
                  <a:pt x="91552" y="35727"/>
                </a:cubicBezTo>
                <a:lnTo>
                  <a:pt x="42426" y="35727"/>
                </a:lnTo>
                <a:cubicBezTo>
                  <a:pt x="38714" y="35727"/>
                  <a:pt x="35727" y="38714"/>
                  <a:pt x="35727" y="42426"/>
                </a:cubicBezTo>
                <a:close/>
                <a:moveTo>
                  <a:pt x="42426" y="62523"/>
                </a:moveTo>
                <a:cubicBezTo>
                  <a:pt x="38714" y="62523"/>
                  <a:pt x="35727" y="65510"/>
                  <a:pt x="35727" y="69222"/>
                </a:cubicBezTo>
                <a:cubicBezTo>
                  <a:pt x="35727" y="72934"/>
                  <a:pt x="38714" y="75921"/>
                  <a:pt x="42426" y="75921"/>
                </a:cubicBezTo>
                <a:lnTo>
                  <a:pt x="91552" y="75921"/>
                </a:lnTo>
                <a:cubicBezTo>
                  <a:pt x="95264" y="75921"/>
                  <a:pt x="98251" y="72934"/>
                  <a:pt x="98251" y="69222"/>
                </a:cubicBezTo>
                <a:cubicBezTo>
                  <a:pt x="98251" y="65510"/>
                  <a:pt x="95264" y="62523"/>
                  <a:pt x="91552" y="62523"/>
                </a:cubicBezTo>
                <a:lnTo>
                  <a:pt x="42426" y="62523"/>
                </a:lnTo>
                <a:close/>
              </a:path>
            </a:pathLst>
          </a:custGeom>
          <a:solidFill>
            <a:srgbClr val="C49A2C"/>
          </a:solidFill>
          <a:ln/>
        </p:spPr>
      </p:sp>
      <p:sp>
        <p:nvSpPr>
          <p:cNvPr id="59" name="Text 57"/>
          <p:cNvSpPr/>
          <p:nvPr/>
        </p:nvSpPr>
        <p:spPr>
          <a:xfrm>
            <a:off x="6540745" y="6323763"/>
            <a:ext cx="5264208" cy="428730"/>
          </a:xfrm>
          <a:prstGeom prst="rect">
            <a:avLst/>
          </a:prstGeom>
          <a:noFill/>
          <a:ln/>
        </p:spPr>
        <p:txBody>
          <a:bodyPr wrap="square" lIns="0" tIns="0" rIns="0" bIns="0" rtlCol="0" anchor="ctr"/>
          <a:lstStyle/>
          <a:p>
            <a:pPr>
              <a:lnSpc>
                <a:spcPct val="120000"/>
              </a:lnSpc>
            </a:pPr>
            <a:r>
              <a:rPr lang="en-US" sz="1125" b="1" dirty="0">
                <a:solidFill>
                  <a:srgbClr val="1E3A5F"/>
                </a:solidFill>
                <a:latin typeface="MiSans" pitchFamily="34" charset="0"/>
                <a:ea typeface="MiSans" pitchFamily="34" charset="-122"/>
                <a:cs typeface="MiSans" pitchFamily="34" charset="-120"/>
              </a:rPr>
              <a:t>Reference:</a:t>
            </a:r>
            <a:pPr>
              <a:lnSpc>
                <a:spcPct val="120000"/>
              </a:lnSpc>
            </a:pPr>
            <a:r>
              <a:rPr lang="en-US" sz="1125" dirty="0">
                <a:solidFill>
                  <a:srgbClr val="1E3A5F"/>
                </a:solidFill>
                <a:latin typeface="MiSans" pitchFamily="34" charset="0"/>
                <a:ea typeface="MiSans" pitchFamily="34" charset="-122"/>
                <a:cs typeface="MiSans" pitchFamily="34" charset="-120"/>
              </a:rPr>
              <a:t> MPI Technical Handbook, Ch. 3 &amp; 6 | Cite as: "MPI programme effect size: 0.61 (MPI_Current, 2022–2024, calibrated)"</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pic>
        <p:nvPicPr>
          <p:cNvPr id="2" name="Image 0" descr="https://images.stockcake.com/public/e/f/3/ef308318-1f64-472a-b4a2-4610f7d18966/geometric-corporate-pattern-stockcake.jpg">    </p:cNvPr>
          <p:cNvPicPr>
            <a:picLocks noChangeAspect="1"/>
          </p:cNvPicPr>
          <p:nvPr/>
        </p:nvPicPr>
        <p:blipFill>
          <a:blip r:embed="rId1">
            <a:alphaModFix amt="1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E3A5F">
                  <a:alpha val="95000"/>
                </a:srgbClr>
              </a:gs>
              <a:gs pos="100000">
                <a:srgbClr val="1E3A5F">
                  <a:alpha val="85000"/>
                </a:srgbClr>
              </a:gs>
            </a:gsLst>
            <a:lin ang="0" scaled="1"/>
          </a:gradFill>
          <a:ln/>
        </p:spPr>
      </p:sp>
      <p:sp>
        <p:nvSpPr>
          <p:cNvPr id="4" name="Shape 1"/>
          <p:cNvSpPr/>
          <p:nvPr/>
        </p:nvSpPr>
        <p:spPr>
          <a:xfrm>
            <a:off x="381000" y="1438275"/>
            <a:ext cx="1333500" cy="381000"/>
          </a:xfrm>
          <a:custGeom>
            <a:avLst/>
            <a:gdLst/>
            <a:ahLst/>
            <a:cxnLst/>
            <a:rect l="l" t="t" r="r" b="b"/>
            <a:pathLst>
              <a:path w="1333500" h="381000">
                <a:moveTo>
                  <a:pt x="0" y="0"/>
                </a:moveTo>
                <a:lnTo>
                  <a:pt x="1333500" y="0"/>
                </a:lnTo>
                <a:lnTo>
                  <a:pt x="1333500" y="381000"/>
                </a:lnTo>
                <a:lnTo>
                  <a:pt x="0" y="381000"/>
                </a:lnTo>
                <a:lnTo>
                  <a:pt x="0" y="0"/>
                </a:lnTo>
                <a:close/>
              </a:path>
            </a:pathLst>
          </a:custGeom>
          <a:solidFill>
            <a:srgbClr val="C49A2C"/>
          </a:solidFill>
          <a:ln/>
        </p:spPr>
      </p:sp>
      <p:sp>
        <p:nvSpPr>
          <p:cNvPr id="5" name="Text 2"/>
          <p:cNvSpPr/>
          <p:nvPr/>
        </p:nvSpPr>
        <p:spPr>
          <a:xfrm>
            <a:off x="381000" y="1438275"/>
            <a:ext cx="1409700" cy="381000"/>
          </a:xfrm>
          <a:prstGeom prst="rect">
            <a:avLst/>
          </a:prstGeom>
          <a:noFill/>
          <a:ln/>
        </p:spPr>
        <p:txBody>
          <a:bodyPr wrap="square" lIns="190500" tIns="76200" rIns="190500" bIns="76200" rtlCol="0" anchor="ctr"/>
          <a:lstStyle/>
          <a:p>
            <a:pPr>
              <a:lnSpc>
                <a:spcPct val="130000"/>
              </a:lnSpc>
            </a:pPr>
            <a:r>
              <a:rPr lang="en-US" sz="1200" b="1" spc="120" kern="0" dirty="0">
                <a:solidFill>
                  <a:srgbClr val="F8F9FA"/>
                </a:solidFill>
                <a:latin typeface="MiSans" pitchFamily="34" charset="0"/>
                <a:ea typeface="MiSans" pitchFamily="34" charset="-122"/>
                <a:cs typeface="MiSans" pitchFamily="34" charset="-120"/>
              </a:rPr>
              <a:t>SECTION II</a:t>
            </a:r>
            <a:endParaRPr lang="en-US" sz="1600" dirty="0"/>
          </a:p>
        </p:txBody>
      </p:sp>
      <p:sp>
        <p:nvSpPr>
          <p:cNvPr id="6" name="Text 3"/>
          <p:cNvSpPr/>
          <p:nvPr/>
        </p:nvSpPr>
        <p:spPr>
          <a:xfrm>
            <a:off x="381000" y="2047875"/>
            <a:ext cx="11715750" cy="1428750"/>
          </a:xfrm>
          <a:prstGeom prst="rect">
            <a:avLst/>
          </a:prstGeom>
          <a:noFill/>
          <a:ln/>
        </p:spPr>
        <p:txBody>
          <a:bodyPr wrap="square" lIns="0" tIns="0" rIns="0" bIns="0" rtlCol="0" anchor="ctr"/>
          <a:lstStyle/>
          <a:p>
            <a:pPr>
              <a:lnSpc>
                <a:spcPct val="100000"/>
              </a:lnSpc>
            </a:pPr>
            <a:r>
              <a:rPr lang="en-US" sz="4500" b="1" dirty="0">
                <a:solidFill>
                  <a:srgbClr val="F8F9FA"/>
                </a:solidFill>
                <a:latin typeface="MiSans" pitchFamily="34" charset="0"/>
                <a:ea typeface="MiSans" pitchFamily="34" charset="-122"/>
                <a:cs typeface="MiSans" pitchFamily="34" charset="-120"/>
              </a:rPr>
              <a:t>Theoretical Basis of</a:t>
            </a:r>
            <a:endParaRPr lang="en-US" sz="1600" dirty="0"/>
          </a:p>
          <a:p>
            <a:pPr>
              <a:lnSpc>
                <a:spcPct val="100000"/>
              </a:lnSpc>
            </a:pPr>
            <a:r>
              <a:rPr lang="en-US" sz="4500" b="1" dirty="0">
                <a:solidFill>
                  <a:srgbClr val="C49A2C"/>
                </a:solidFill>
                <a:latin typeface="MiSans" pitchFamily="34" charset="0"/>
                <a:ea typeface="MiSans" pitchFamily="34" charset="-122"/>
                <a:cs typeface="MiSans" pitchFamily="34" charset="-120"/>
              </a:rPr>
              <a:t>the MPI</a:t>
            </a:r>
            <a:endParaRPr lang="en-US" sz="1600" dirty="0"/>
          </a:p>
        </p:txBody>
      </p:sp>
      <p:sp>
        <p:nvSpPr>
          <p:cNvPr id="7" name="Shape 4"/>
          <p:cNvSpPr/>
          <p:nvPr/>
        </p:nvSpPr>
        <p:spPr>
          <a:xfrm>
            <a:off x="381000" y="3705225"/>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49A2C"/>
          </a:solidFill>
          <a:ln/>
        </p:spPr>
      </p:sp>
      <p:sp>
        <p:nvSpPr>
          <p:cNvPr id="8" name="Text 5"/>
          <p:cNvSpPr/>
          <p:nvPr/>
        </p:nvSpPr>
        <p:spPr>
          <a:xfrm>
            <a:off x="381000" y="3990975"/>
            <a:ext cx="7429500" cy="742950"/>
          </a:xfrm>
          <a:prstGeom prst="rect">
            <a:avLst/>
          </a:prstGeom>
          <a:noFill/>
          <a:ln/>
        </p:spPr>
        <p:txBody>
          <a:bodyPr wrap="square" lIns="0" tIns="0" rIns="0" bIns="0" rtlCol="0" anchor="ctr"/>
          <a:lstStyle/>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Vygotsky, Proximal Development, and the Architecture</a:t>
            </a:r>
            <a:endParaRPr lang="en-US" sz="1600" dirty="0"/>
          </a:p>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of the Three-Strand Model</a:t>
            </a:r>
            <a:endParaRPr lang="en-US" sz="1600" dirty="0"/>
          </a:p>
        </p:txBody>
      </p:sp>
      <p:sp>
        <p:nvSpPr>
          <p:cNvPr id="9" name="Shape 6"/>
          <p:cNvSpPr/>
          <p:nvPr/>
        </p:nvSpPr>
        <p:spPr>
          <a:xfrm>
            <a:off x="409575" y="5191125"/>
            <a:ext cx="228600" cy="228600"/>
          </a:xfrm>
          <a:custGeom>
            <a:avLst/>
            <a:gdLst/>
            <a:ahLst/>
            <a:cxnLst/>
            <a:rect l="l" t="t" r="r" b="b"/>
            <a:pathLst>
              <a:path w="228600" h="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C49A2C"/>
          </a:solidFill>
          <a:ln/>
        </p:spPr>
      </p:sp>
      <p:sp>
        <p:nvSpPr>
          <p:cNvPr id="10" name="Text 7"/>
          <p:cNvSpPr/>
          <p:nvPr/>
        </p:nvSpPr>
        <p:spPr>
          <a:xfrm>
            <a:off x="819150" y="5191125"/>
            <a:ext cx="4429125" cy="228600"/>
          </a:xfrm>
          <a:prstGeom prst="rect">
            <a:avLst/>
          </a:prstGeom>
          <a:noFill/>
          <a:ln/>
        </p:spPr>
        <p:txBody>
          <a:bodyPr wrap="square" lIns="0" tIns="0" rIns="0" bIns="0" rtlCol="0" anchor="ctr"/>
          <a:lstStyle/>
          <a:p>
            <a:pPr>
              <a:lnSpc>
                <a:spcPct val="130000"/>
              </a:lnSpc>
            </a:pPr>
            <a:r>
              <a:rPr lang="en-US" sz="1200" dirty="0">
                <a:solidFill>
                  <a:srgbClr val="F8F9FA">
                    <a:alpha val="70000"/>
                  </a:srgbClr>
                </a:solidFill>
                <a:latin typeface="MiSans" pitchFamily="34" charset="0"/>
                <a:ea typeface="MiSans" pitchFamily="34" charset="-122"/>
                <a:cs typeface="MiSans" pitchFamily="34" charset="-120"/>
              </a:rPr>
              <a:t>Slides 15–27 | Vygotsky • ZPD • Scaffolding • Epistemology</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6738938"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Vygotsky's Zone of Proximal Development: Core Concepts</a:t>
            </a:r>
            <a:endParaRPr lang="en-US" sz="1600" dirty="0"/>
          </a:p>
        </p:txBody>
      </p:sp>
      <p:sp>
        <p:nvSpPr>
          <p:cNvPr id="4" name="Text 2"/>
          <p:cNvSpPr/>
          <p:nvPr/>
        </p:nvSpPr>
        <p:spPr>
          <a:xfrm>
            <a:off x="476250" y="762000"/>
            <a:ext cx="11461750" cy="190500"/>
          </a:xfrm>
          <a:prstGeom prst="rect">
            <a:avLst/>
          </a:prstGeom>
          <a:noFill/>
          <a:ln/>
        </p:spPr>
        <p:txBody>
          <a:bodyPr wrap="square" lIns="0" tIns="0" rIns="0" bIns="0" rtlCol="0" anchor="ctr"/>
          <a:lstStyle/>
          <a:p>
            <a:pPr>
              <a:lnSpc>
                <a:spcPct val="130000"/>
              </a:lnSpc>
            </a:pPr>
            <a:r>
              <a:rPr lang="en-US" sz="1000" dirty="0">
                <a:solidFill>
                  <a:srgbClr val="6C757D"/>
                </a:solidFill>
                <a:latin typeface="MiSans" pitchFamily="34" charset="0"/>
                <a:ea typeface="MiSans" pitchFamily="34" charset="-122"/>
                <a:cs typeface="MiSans" pitchFamily="34" charset="-120"/>
              </a:rPr>
              <a:t>Lev Vygotsky (1930s, translated 1978) | The theoretical cornerstone of the MPI</a:t>
            </a:r>
            <a:endParaRPr lang="en-US" sz="1600" dirty="0"/>
          </a:p>
        </p:txBody>
      </p:sp>
      <p:sp>
        <p:nvSpPr>
          <p:cNvPr id="5" name="Shape 3"/>
          <p:cNvSpPr/>
          <p:nvPr/>
        </p:nvSpPr>
        <p:spPr>
          <a:xfrm>
            <a:off x="317500" y="1031875"/>
            <a:ext cx="5715000" cy="3286125"/>
          </a:xfrm>
          <a:custGeom>
            <a:avLst/>
            <a:gdLst/>
            <a:ahLst/>
            <a:cxnLst/>
            <a:rect l="l" t="t" r="r" b="b"/>
            <a:pathLst>
              <a:path w="5715000" h="3286125">
                <a:moveTo>
                  <a:pt x="0" y="0"/>
                </a:moveTo>
                <a:lnTo>
                  <a:pt x="5715000" y="0"/>
                </a:lnTo>
                <a:lnTo>
                  <a:pt x="5715000" y="3286125"/>
                </a:lnTo>
                <a:lnTo>
                  <a:pt x="0" y="3286125"/>
                </a:lnTo>
                <a:lnTo>
                  <a:pt x="0" y="0"/>
                </a:lnTo>
                <a:close/>
              </a:path>
            </a:pathLst>
          </a:custGeom>
          <a:solidFill>
            <a:srgbClr val="FFFFFF"/>
          </a:solidFill>
          <a:ln/>
        </p:spPr>
      </p:sp>
      <p:sp>
        <p:nvSpPr>
          <p:cNvPr id="6" name="Shape 4"/>
          <p:cNvSpPr/>
          <p:nvPr/>
        </p:nvSpPr>
        <p:spPr>
          <a:xfrm>
            <a:off x="317500" y="1031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7" name="Text 5"/>
          <p:cNvSpPr/>
          <p:nvPr/>
        </p:nvSpPr>
        <p:spPr>
          <a:xfrm>
            <a:off x="444500" y="1174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Defining the ZPD</a:t>
            </a:r>
            <a:endParaRPr lang="en-US" sz="1600" dirty="0"/>
          </a:p>
        </p:txBody>
      </p:sp>
      <p:sp>
        <p:nvSpPr>
          <p:cNvPr id="8" name="Text 6"/>
          <p:cNvSpPr/>
          <p:nvPr/>
        </p:nvSpPr>
        <p:spPr>
          <a:xfrm>
            <a:off x="444500" y="1492250"/>
            <a:ext cx="5524500" cy="61912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Lev Vygotsky's concept of the </a:t>
            </a:r>
            <a:pPr>
              <a:lnSpc>
                <a:spcPct val="140000"/>
              </a:lnSpc>
            </a:pPr>
            <a:r>
              <a:rPr lang="en-US" sz="1000" b="1" dirty="0">
                <a:solidFill>
                  <a:srgbClr val="2D3436"/>
                </a:solidFill>
                <a:latin typeface="MiSans" pitchFamily="34" charset="0"/>
                <a:ea typeface="MiSans" pitchFamily="34" charset="-122"/>
                <a:cs typeface="MiSans" pitchFamily="34" charset="-120"/>
              </a:rPr>
              <a:t>Zone of Proximal Development (ZPD)</a:t>
            </a:r>
            <a:pPr>
              <a:lnSpc>
                <a:spcPct val="140000"/>
              </a:lnSpc>
            </a:pPr>
            <a:r>
              <a:rPr lang="en-US" sz="1000" dirty="0">
                <a:solidFill>
                  <a:srgbClr val="2D3436"/>
                </a:solidFill>
                <a:latin typeface="MiSans" pitchFamily="34" charset="0"/>
                <a:ea typeface="MiSans" pitchFamily="34" charset="-122"/>
                <a:cs typeface="MiSans" pitchFamily="34" charset="-120"/>
              </a:rPr>
              <a:t>, developed in the 1930s though not widely available in English until the 1978 translation of Mind in Society, is the theoretical cornerstone of the MPI's design.</a:t>
            </a:r>
            <a:endParaRPr lang="en-US" sz="1600" dirty="0"/>
          </a:p>
        </p:txBody>
      </p:sp>
      <p:sp>
        <p:nvSpPr>
          <p:cNvPr id="9" name="Shape 7"/>
          <p:cNvSpPr/>
          <p:nvPr/>
        </p:nvSpPr>
        <p:spPr>
          <a:xfrm>
            <a:off x="460375" y="2206625"/>
            <a:ext cx="5445125" cy="1270000"/>
          </a:xfrm>
          <a:custGeom>
            <a:avLst/>
            <a:gdLst/>
            <a:ahLst/>
            <a:cxnLst/>
            <a:rect l="l" t="t" r="r" b="b"/>
            <a:pathLst>
              <a:path w="5445125" h="1270000">
                <a:moveTo>
                  <a:pt x="0" y="0"/>
                </a:moveTo>
                <a:lnTo>
                  <a:pt x="5445125" y="0"/>
                </a:lnTo>
                <a:lnTo>
                  <a:pt x="5445125" y="1270000"/>
                </a:lnTo>
                <a:lnTo>
                  <a:pt x="0" y="1270000"/>
                </a:lnTo>
                <a:lnTo>
                  <a:pt x="0" y="0"/>
                </a:lnTo>
                <a:close/>
              </a:path>
            </a:pathLst>
          </a:custGeom>
          <a:solidFill>
            <a:srgbClr val="C49A2C">
              <a:alpha val="10196"/>
            </a:srgbClr>
          </a:solidFill>
          <a:ln/>
        </p:spPr>
      </p:sp>
      <p:sp>
        <p:nvSpPr>
          <p:cNvPr id="10" name="Shape 8"/>
          <p:cNvSpPr/>
          <p:nvPr/>
        </p:nvSpPr>
        <p:spPr>
          <a:xfrm>
            <a:off x="460375" y="2206625"/>
            <a:ext cx="31750" cy="1270000"/>
          </a:xfrm>
          <a:custGeom>
            <a:avLst/>
            <a:gdLst/>
            <a:ahLst/>
            <a:cxnLst/>
            <a:rect l="l" t="t" r="r" b="b"/>
            <a:pathLst>
              <a:path w="31750" h="1270000">
                <a:moveTo>
                  <a:pt x="0" y="0"/>
                </a:moveTo>
                <a:lnTo>
                  <a:pt x="31750" y="0"/>
                </a:lnTo>
                <a:lnTo>
                  <a:pt x="31750" y="1270000"/>
                </a:lnTo>
                <a:lnTo>
                  <a:pt x="0" y="1270000"/>
                </a:lnTo>
                <a:lnTo>
                  <a:pt x="0" y="0"/>
                </a:lnTo>
                <a:close/>
              </a:path>
            </a:pathLst>
          </a:custGeom>
          <a:solidFill>
            <a:srgbClr val="C49A2C"/>
          </a:solidFill>
          <a:ln/>
        </p:spPr>
      </p:sp>
      <p:sp>
        <p:nvSpPr>
          <p:cNvPr id="11" name="Text 9"/>
          <p:cNvSpPr/>
          <p:nvPr/>
        </p:nvSpPr>
        <p:spPr>
          <a:xfrm>
            <a:off x="571500" y="2301875"/>
            <a:ext cx="5302250" cy="825500"/>
          </a:xfrm>
          <a:prstGeom prst="rect">
            <a:avLst/>
          </a:prstGeom>
          <a:noFill/>
          <a:ln/>
        </p:spPr>
        <p:txBody>
          <a:bodyPr wrap="square" lIns="0" tIns="0" rIns="0" bIns="0" rtlCol="0" anchor="ctr"/>
          <a:lstStyle/>
          <a:p>
            <a:pPr>
              <a:lnSpc>
                <a:spcPct val="140000"/>
              </a:lnSpc>
            </a:pPr>
            <a:r>
              <a:rPr lang="en-US" sz="1000" dirty="0">
                <a:solidFill>
                  <a:srgbClr val="1E3A5F"/>
                </a:solidFill>
                <a:latin typeface="思源宋体" pitchFamily="34" charset="0"/>
                <a:ea typeface="思源宋体" pitchFamily="34" charset="-122"/>
                <a:cs typeface="思源宋体" pitchFamily="34" charset="-120"/>
              </a:rPr>
              <a:t>"The distance between the actual developmental level as determined by independent problem solving and the level of potential development as determined through problem solving under adult guidance or in collaboration with more capable peers."</a:t>
            </a:r>
            <a:endParaRPr lang="en-US" sz="1600" dirty="0"/>
          </a:p>
        </p:txBody>
      </p:sp>
      <p:sp>
        <p:nvSpPr>
          <p:cNvPr id="12" name="Text 10"/>
          <p:cNvSpPr/>
          <p:nvPr/>
        </p:nvSpPr>
        <p:spPr>
          <a:xfrm>
            <a:off x="508000" y="3190875"/>
            <a:ext cx="5302250" cy="190500"/>
          </a:xfrm>
          <a:prstGeom prst="rect">
            <a:avLst/>
          </a:prstGeom>
          <a:noFill/>
          <a:ln/>
        </p:spPr>
        <p:txBody>
          <a:bodyPr wrap="square" lIns="0" tIns="0" rIns="0" bIns="0" rtlCol="0" anchor="ctr"/>
          <a:lstStyle/>
          <a:p>
            <a:pPr algn="r">
              <a:lnSpc>
                <a:spcPct val="130000"/>
              </a:lnSpc>
            </a:pPr>
            <a:r>
              <a:rPr lang="en-US" sz="1000" dirty="0">
                <a:solidFill>
                  <a:srgbClr val="6C757D"/>
                </a:solidFill>
                <a:latin typeface="MiSans" pitchFamily="34" charset="0"/>
                <a:ea typeface="MiSans" pitchFamily="34" charset="-122"/>
                <a:cs typeface="MiSans" pitchFamily="34" charset="-120"/>
              </a:rPr>
              <a:t>— Vygotsky, 1978</a:t>
            </a:r>
            <a:endParaRPr lang="en-US" sz="1600" dirty="0"/>
          </a:p>
        </p:txBody>
      </p:sp>
      <p:sp>
        <p:nvSpPr>
          <p:cNvPr id="13" name="Text 11"/>
          <p:cNvSpPr/>
          <p:nvPr/>
        </p:nvSpPr>
        <p:spPr>
          <a:xfrm>
            <a:off x="444500" y="3571875"/>
            <a:ext cx="5524500" cy="61912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ZPD is </a:t>
            </a:r>
            <a:pPr>
              <a:lnSpc>
                <a:spcPct val="140000"/>
              </a:lnSpc>
            </a:pPr>
            <a:r>
              <a:rPr lang="en-US" sz="1000" b="1" dirty="0">
                <a:solidFill>
                  <a:srgbClr val="2D3436"/>
                </a:solidFill>
                <a:latin typeface="MiSans" pitchFamily="34" charset="0"/>
                <a:ea typeface="MiSans" pitchFamily="34" charset="-122"/>
                <a:cs typeface="MiSans" pitchFamily="34" charset="-120"/>
              </a:rPr>
              <a:t>not</a:t>
            </a:r>
            <a:pPr>
              <a:lnSpc>
                <a:spcPct val="140000"/>
              </a:lnSpc>
            </a:pPr>
            <a:r>
              <a:rPr lang="en-US" sz="1000" dirty="0">
                <a:solidFill>
                  <a:srgbClr val="2D3436"/>
                </a:solidFill>
                <a:latin typeface="MiSans" pitchFamily="34" charset="0"/>
                <a:ea typeface="MiSans" pitchFamily="34" charset="-122"/>
                <a:cs typeface="MiSans" pitchFamily="34" charset="-120"/>
              </a:rPr>
              <a:t> the gap between what a learner knows and what they do not know. It is specifically concerned with </a:t>
            </a:r>
            <a:pPr>
              <a:lnSpc>
                <a:spcPct val="140000"/>
              </a:lnSpc>
            </a:pPr>
            <a:r>
              <a:rPr lang="en-US" sz="1000" dirty="0">
                <a:solidFill>
                  <a:srgbClr val="2D3436"/>
                </a:solidFill>
                <a:highlight>
                  <a:srgbClr val="C49A2C">
                    <a:alpha val="20000"/>
                  </a:srgbClr>
                </a:highlight>
                <a:latin typeface="MiSans" pitchFamily="34" charset="0"/>
                <a:ea typeface="MiSans" pitchFamily="34" charset="-122"/>
                <a:cs typeface="MiSans" pitchFamily="34" charset="-120"/>
              </a:rPr>
              <a:t>what a learner can do with support that they cannot yet do independently </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14" name="Shape 12"/>
          <p:cNvSpPr/>
          <p:nvPr/>
        </p:nvSpPr>
        <p:spPr>
          <a:xfrm>
            <a:off x="317500" y="4413250"/>
            <a:ext cx="5715000" cy="3175000"/>
          </a:xfrm>
          <a:custGeom>
            <a:avLst/>
            <a:gdLst/>
            <a:ahLst/>
            <a:cxnLst/>
            <a:rect l="l" t="t" r="r" b="b"/>
            <a:pathLst>
              <a:path w="5715000" h="3175000">
                <a:moveTo>
                  <a:pt x="0" y="0"/>
                </a:moveTo>
                <a:lnTo>
                  <a:pt x="5715000" y="0"/>
                </a:lnTo>
                <a:lnTo>
                  <a:pt x="5715000" y="3175000"/>
                </a:lnTo>
                <a:lnTo>
                  <a:pt x="0" y="3175000"/>
                </a:lnTo>
                <a:lnTo>
                  <a:pt x="0" y="0"/>
                </a:lnTo>
                <a:close/>
              </a:path>
            </a:pathLst>
          </a:custGeom>
          <a:solidFill>
            <a:srgbClr val="1E3A5F"/>
          </a:solidFill>
          <a:ln/>
        </p:spPr>
      </p:sp>
      <p:sp>
        <p:nvSpPr>
          <p:cNvPr id="15" name="Text 13"/>
          <p:cNvSpPr/>
          <p:nvPr/>
        </p:nvSpPr>
        <p:spPr>
          <a:xfrm>
            <a:off x="444500" y="4540250"/>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Three Zones of Learning</a:t>
            </a:r>
            <a:endParaRPr lang="en-US" sz="1600" dirty="0"/>
          </a:p>
        </p:txBody>
      </p:sp>
      <p:sp>
        <p:nvSpPr>
          <p:cNvPr id="16" name="Shape 14"/>
          <p:cNvSpPr/>
          <p:nvPr/>
        </p:nvSpPr>
        <p:spPr>
          <a:xfrm>
            <a:off x="444500" y="4857750"/>
            <a:ext cx="5461000" cy="825500"/>
          </a:xfrm>
          <a:custGeom>
            <a:avLst/>
            <a:gdLst/>
            <a:ahLst/>
            <a:cxnLst/>
            <a:rect l="l" t="t" r="r" b="b"/>
            <a:pathLst>
              <a:path w="5461000" h="825500">
                <a:moveTo>
                  <a:pt x="0" y="0"/>
                </a:moveTo>
                <a:lnTo>
                  <a:pt x="5461000" y="0"/>
                </a:lnTo>
                <a:lnTo>
                  <a:pt x="5461000" y="825500"/>
                </a:lnTo>
                <a:lnTo>
                  <a:pt x="0" y="825500"/>
                </a:lnTo>
                <a:lnTo>
                  <a:pt x="0" y="0"/>
                </a:lnTo>
                <a:close/>
              </a:path>
            </a:pathLst>
          </a:custGeom>
          <a:solidFill>
            <a:srgbClr val="F8F9FA">
              <a:alpha val="10196"/>
            </a:srgbClr>
          </a:solidFill>
          <a:ln/>
        </p:spPr>
      </p:sp>
      <p:sp>
        <p:nvSpPr>
          <p:cNvPr id="17" name="Text 15"/>
          <p:cNvSpPr/>
          <p:nvPr/>
        </p:nvSpPr>
        <p:spPr>
          <a:xfrm>
            <a:off x="539750" y="4953000"/>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Zone 1: Comfort Zone</a:t>
            </a:r>
            <a:endParaRPr lang="en-US" sz="1600" dirty="0"/>
          </a:p>
        </p:txBody>
      </p:sp>
      <p:sp>
        <p:nvSpPr>
          <p:cNvPr id="18" name="Text 16"/>
          <p:cNvSpPr/>
          <p:nvPr/>
        </p:nvSpPr>
        <p:spPr>
          <a:xfrm>
            <a:off x="539750" y="5175250"/>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What the learner can do </a:t>
            </a:r>
            <a:pPr>
              <a:lnSpc>
                <a:spcPct val="140000"/>
              </a:lnSpc>
            </a:pPr>
            <a:r>
              <a:rPr lang="en-US" sz="1000" b="1" dirty="0">
                <a:solidFill>
                  <a:srgbClr val="F8F9FA"/>
                </a:solidFill>
                <a:latin typeface="MiSans" pitchFamily="34" charset="0"/>
                <a:ea typeface="MiSans" pitchFamily="34" charset="-122"/>
                <a:cs typeface="MiSans" pitchFamily="34" charset="-120"/>
              </a:rPr>
              <a:t>independently</a:t>
            </a:r>
            <a:pPr>
              <a:lnSpc>
                <a:spcPct val="140000"/>
              </a:lnSpc>
            </a:pPr>
            <a:r>
              <a:rPr lang="en-US" sz="1000" dirty="0">
                <a:solidFill>
                  <a:srgbClr val="F8F9FA"/>
                </a:solidFill>
                <a:latin typeface="MiSans" pitchFamily="34" charset="0"/>
                <a:ea typeface="MiSans" pitchFamily="34" charset="-122"/>
                <a:cs typeface="MiSans" pitchFamily="34" charset="-120"/>
              </a:rPr>
              <a:t>. Content here produces no development — the learner has already mastered it.</a:t>
            </a:r>
            <a:endParaRPr lang="en-US" sz="1600" dirty="0"/>
          </a:p>
        </p:txBody>
      </p:sp>
      <p:sp>
        <p:nvSpPr>
          <p:cNvPr id="19" name="Shape 17"/>
          <p:cNvSpPr/>
          <p:nvPr/>
        </p:nvSpPr>
        <p:spPr>
          <a:xfrm>
            <a:off x="444500" y="5746750"/>
            <a:ext cx="5461000" cy="825500"/>
          </a:xfrm>
          <a:custGeom>
            <a:avLst/>
            <a:gdLst/>
            <a:ahLst/>
            <a:cxnLst/>
            <a:rect l="l" t="t" r="r" b="b"/>
            <a:pathLst>
              <a:path w="5461000" h="825500">
                <a:moveTo>
                  <a:pt x="0" y="0"/>
                </a:moveTo>
                <a:lnTo>
                  <a:pt x="5461000" y="0"/>
                </a:lnTo>
                <a:lnTo>
                  <a:pt x="5461000" y="825500"/>
                </a:lnTo>
                <a:lnTo>
                  <a:pt x="0" y="825500"/>
                </a:lnTo>
                <a:lnTo>
                  <a:pt x="0" y="0"/>
                </a:lnTo>
                <a:close/>
              </a:path>
            </a:pathLst>
          </a:custGeom>
          <a:solidFill>
            <a:srgbClr val="C49A2C">
              <a:alpha val="30196"/>
            </a:srgbClr>
          </a:solidFill>
          <a:ln/>
        </p:spPr>
      </p:sp>
      <p:sp>
        <p:nvSpPr>
          <p:cNvPr id="20" name="Text 18"/>
          <p:cNvSpPr/>
          <p:nvPr/>
        </p:nvSpPr>
        <p:spPr>
          <a:xfrm>
            <a:off x="539750" y="5842000"/>
            <a:ext cx="5334000"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Zone 2: The ZPD</a:t>
            </a:r>
            <a:endParaRPr lang="en-US" sz="1600" dirty="0"/>
          </a:p>
        </p:txBody>
      </p:sp>
      <p:sp>
        <p:nvSpPr>
          <p:cNvPr id="21" name="Text 19"/>
          <p:cNvSpPr/>
          <p:nvPr/>
        </p:nvSpPr>
        <p:spPr>
          <a:xfrm>
            <a:off x="539750" y="6064250"/>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What the learner can do </a:t>
            </a:r>
            <a:pPr>
              <a:lnSpc>
                <a:spcPct val="140000"/>
              </a:lnSpc>
            </a:pPr>
            <a:r>
              <a:rPr lang="en-US" sz="1000" b="1" dirty="0">
                <a:solidFill>
                  <a:srgbClr val="F8F9FA"/>
                </a:solidFill>
                <a:latin typeface="MiSans" pitchFamily="34" charset="0"/>
                <a:ea typeface="MiSans" pitchFamily="34" charset="-122"/>
                <a:cs typeface="MiSans" pitchFamily="34" charset="-120"/>
              </a:rPr>
              <a:t>with support</a:t>
            </a:r>
            <a:pPr>
              <a:lnSpc>
                <a:spcPct val="140000"/>
              </a:lnSpc>
            </a:pPr>
            <a:r>
              <a:rPr lang="en-US" sz="1000" dirty="0">
                <a:solidFill>
                  <a:srgbClr val="F8F9FA"/>
                </a:solidFill>
                <a:latin typeface="MiSans" pitchFamily="34" charset="0"/>
                <a:ea typeface="MiSans" pitchFamily="34" charset="-122"/>
                <a:cs typeface="MiSans" pitchFamily="34" charset="-120"/>
              </a:rPr>
              <a:t>. This is where learning happens — challenging but achievable with scaffolding.</a:t>
            </a:r>
            <a:endParaRPr lang="en-US" sz="1600" dirty="0"/>
          </a:p>
        </p:txBody>
      </p:sp>
      <p:sp>
        <p:nvSpPr>
          <p:cNvPr id="22" name="Shape 20"/>
          <p:cNvSpPr/>
          <p:nvPr/>
        </p:nvSpPr>
        <p:spPr>
          <a:xfrm>
            <a:off x="444500" y="6635750"/>
            <a:ext cx="5461000" cy="825500"/>
          </a:xfrm>
          <a:custGeom>
            <a:avLst/>
            <a:gdLst/>
            <a:ahLst/>
            <a:cxnLst/>
            <a:rect l="l" t="t" r="r" b="b"/>
            <a:pathLst>
              <a:path w="5461000" h="825500">
                <a:moveTo>
                  <a:pt x="0" y="0"/>
                </a:moveTo>
                <a:lnTo>
                  <a:pt x="5461000" y="0"/>
                </a:lnTo>
                <a:lnTo>
                  <a:pt x="5461000" y="825500"/>
                </a:lnTo>
                <a:lnTo>
                  <a:pt x="0" y="825500"/>
                </a:lnTo>
                <a:lnTo>
                  <a:pt x="0" y="0"/>
                </a:lnTo>
                <a:close/>
              </a:path>
            </a:pathLst>
          </a:custGeom>
          <a:solidFill>
            <a:srgbClr val="FB2C36">
              <a:alpha val="30196"/>
            </a:srgbClr>
          </a:solidFill>
          <a:ln/>
        </p:spPr>
      </p:sp>
      <p:sp>
        <p:nvSpPr>
          <p:cNvPr id="23" name="Text 21"/>
          <p:cNvSpPr/>
          <p:nvPr/>
        </p:nvSpPr>
        <p:spPr>
          <a:xfrm>
            <a:off x="539750" y="6731000"/>
            <a:ext cx="5334000" cy="190500"/>
          </a:xfrm>
          <a:prstGeom prst="rect">
            <a:avLst/>
          </a:prstGeom>
          <a:noFill/>
          <a:ln/>
        </p:spPr>
        <p:txBody>
          <a:bodyPr wrap="square" lIns="0" tIns="0" rIns="0" bIns="0" rtlCol="0" anchor="ctr"/>
          <a:lstStyle/>
          <a:p>
            <a:pPr>
              <a:lnSpc>
                <a:spcPct val="130000"/>
              </a:lnSpc>
            </a:pPr>
            <a:r>
              <a:rPr lang="en-US" sz="1000" b="1" dirty="0">
                <a:solidFill>
                  <a:srgbClr val="FFA2A2"/>
                </a:solidFill>
                <a:latin typeface="MiSans" pitchFamily="34" charset="0"/>
                <a:ea typeface="MiSans" pitchFamily="34" charset="-122"/>
                <a:cs typeface="MiSans" pitchFamily="34" charset="-120"/>
              </a:rPr>
              <a:t>Zone 3: Frustration Zone</a:t>
            </a:r>
            <a:endParaRPr lang="en-US" sz="1600" dirty="0"/>
          </a:p>
        </p:txBody>
      </p:sp>
      <p:sp>
        <p:nvSpPr>
          <p:cNvPr id="24" name="Text 22"/>
          <p:cNvSpPr/>
          <p:nvPr/>
        </p:nvSpPr>
        <p:spPr>
          <a:xfrm>
            <a:off x="539750" y="6953250"/>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What is </a:t>
            </a:r>
            <a:pPr>
              <a:lnSpc>
                <a:spcPct val="140000"/>
              </a:lnSpc>
            </a:pPr>
            <a:r>
              <a:rPr lang="en-US" sz="1000" b="1" dirty="0">
                <a:solidFill>
                  <a:srgbClr val="F8F9FA"/>
                </a:solidFill>
                <a:latin typeface="MiSans" pitchFamily="34" charset="0"/>
                <a:ea typeface="MiSans" pitchFamily="34" charset="-122"/>
                <a:cs typeface="MiSans" pitchFamily="34" charset="-120"/>
              </a:rPr>
              <a:t>beyond the learner's capability</a:t>
            </a:r>
            <a:pPr>
              <a:lnSpc>
                <a:spcPct val="140000"/>
              </a:lnSpc>
            </a:pPr>
            <a:r>
              <a:rPr lang="en-US" sz="1000" dirty="0">
                <a:solidFill>
                  <a:srgbClr val="F8F9FA"/>
                </a:solidFill>
                <a:latin typeface="MiSans" pitchFamily="34" charset="0"/>
                <a:ea typeface="MiSans" pitchFamily="34" charset="-122"/>
                <a:cs typeface="MiSans" pitchFamily="34" charset="-120"/>
              </a:rPr>
              <a:t> even with support. Content here produces frustration and disengagement.</a:t>
            </a:r>
            <a:endParaRPr lang="en-US" sz="1600" dirty="0"/>
          </a:p>
        </p:txBody>
      </p:sp>
      <p:sp>
        <p:nvSpPr>
          <p:cNvPr id="25" name="Shape 23"/>
          <p:cNvSpPr/>
          <p:nvPr/>
        </p:nvSpPr>
        <p:spPr>
          <a:xfrm>
            <a:off x="6159500" y="1031875"/>
            <a:ext cx="5715000" cy="1793875"/>
          </a:xfrm>
          <a:custGeom>
            <a:avLst/>
            <a:gdLst/>
            <a:ahLst/>
            <a:cxnLst/>
            <a:rect l="l" t="t" r="r" b="b"/>
            <a:pathLst>
              <a:path w="5715000" h="1793875">
                <a:moveTo>
                  <a:pt x="0" y="0"/>
                </a:moveTo>
                <a:lnTo>
                  <a:pt x="5715000" y="0"/>
                </a:lnTo>
                <a:lnTo>
                  <a:pt x="5715000" y="1793875"/>
                </a:lnTo>
                <a:lnTo>
                  <a:pt x="0" y="1793875"/>
                </a:lnTo>
                <a:lnTo>
                  <a:pt x="0" y="0"/>
                </a:lnTo>
                <a:close/>
              </a:path>
            </a:pathLst>
          </a:custGeom>
          <a:solidFill>
            <a:srgbClr val="FFFFFF"/>
          </a:solidFill>
          <a:ln/>
        </p:spPr>
      </p:sp>
      <p:sp>
        <p:nvSpPr>
          <p:cNvPr id="26" name="Shape 24"/>
          <p:cNvSpPr/>
          <p:nvPr/>
        </p:nvSpPr>
        <p:spPr>
          <a:xfrm>
            <a:off x="6159500" y="1031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27" name="Text 25"/>
          <p:cNvSpPr/>
          <p:nvPr/>
        </p:nvSpPr>
        <p:spPr>
          <a:xfrm>
            <a:off x="6286500" y="1174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Why This Distinction Matters</a:t>
            </a:r>
            <a:endParaRPr lang="en-US" sz="1600" dirty="0"/>
          </a:p>
        </p:txBody>
      </p:sp>
      <p:sp>
        <p:nvSpPr>
          <p:cNvPr id="28" name="Text 26"/>
          <p:cNvSpPr/>
          <p:nvPr/>
        </p:nvSpPr>
        <p:spPr>
          <a:xfrm>
            <a:off x="6286500" y="1492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distinction is </a:t>
            </a:r>
            <a:pPr>
              <a:lnSpc>
                <a:spcPct val="140000"/>
              </a:lnSpc>
            </a:pPr>
            <a:r>
              <a:rPr lang="en-US" sz="1000" b="1" dirty="0">
                <a:solidFill>
                  <a:srgbClr val="2D3436"/>
                </a:solidFill>
                <a:latin typeface="MiSans" pitchFamily="34" charset="0"/>
                <a:ea typeface="MiSans" pitchFamily="34" charset="-122"/>
                <a:cs typeface="MiSans" pitchFamily="34" charset="-120"/>
              </a:rPr>
              <a:t>methodologically consequential</a:t>
            </a:r>
            <a:pPr>
              <a:lnSpc>
                <a:spcPct val="140000"/>
              </a:lnSpc>
            </a:pPr>
            <a:r>
              <a:rPr lang="en-US" sz="1000" dirty="0">
                <a:solidFill>
                  <a:srgbClr val="2D3436"/>
                </a:solidFill>
                <a:latin typeface="MiSans" pitchFamily="34" charset="0"/>
                <a:ea typeface="MiSans" pitchFamily="34" charset="-122"/>
                <a:cs typeface="MiSans" pitchFamily="34" charset="-120"/>
              </a:rPr>
              <a:t> because it determines what counts as appropriate instructional challenge:</a:t>
            </a:r>
            <a:endParaRPr lang="en-US" sz="1600" dirty="0"/>
          </a:p>
        </p:txBody>
      </p:sp>
      <p:sp>
        <p:nvSpPr>
          <p:cNvPr id="29" name="Shape 27"/>
          <p:cNvSpPr/>
          <p:nvPr/>
        </p:nvSpPr>
        <p:spPr>
          <a:xfrm>
            <a:off x="6318250" y="2032000"/>
            <a:ext cx="95250" cy="127000"/>
          </a:xfrm>
          <a:custGeom>
            <a:avLst/>
            <a:gdLst/>
            <a:ahLst/>
            <a:cxnLst/>
            <a:rect l="l" t="t" r="r" b="b"/>
            <a:pathLst>
              <a:path w="95250" h="127000">
                <a:moveTo>
                  <a:pt x="13667" y="18207"/>
                </a:moveTo>
                <a:cubicBezTo>
                  <a:pt x="10567" y="15106"/>
                  <a:pt x="5531" y="15106"/>
                  <a:pt x="2431" y="18207"/>
                </a:cubicBezTo>
                <a:cubicBezTo>
                  <a:pt x="-670" y="21307"/>
                  <a:pt x="-670" y="26343"/>
                  <a:pt x="2431" y="29443"/>
                </a:cubicBezTo>
                <a:lnTo>
                  <a:pt x="36513" y="63500"/>
                </a:lnTo>
                <a:lnTo>
                  <a:pt x="2456" y="97582"/>
                </a:lnTo>
                <a:cubicBezTo>
                  <a:pt x="-645" y="100682"/>
                  <a:pt x="-645" y="105718"/>
                  <a:pt x="2456" y="108818"/>
                </a:cubicBezTo>
                <a:cubicBezTo>
                  <a:pt x="5556" y="111919"/>
                  <a:pt x="10592" y="111919"/>
                  <a:pt x="13692" y="108818"/>
                </a:cubicBezTo>
                <a:lnTo>
                  <a:pt x="47749" y="74737"/>
                </a:lnTo>
                <a:lnTo>
                  <a:pt x="81831" y="108793"/>
                </a:lnTo>
                <a:cubicBezTo>
                  <a:pt x="84931" y="111894"/>
                  <a:pt x="89967" y="111894"/>
                  <a:pt x="93067" y="108793"/>
                </a:cubicBezTo>
                <a:cubicBezTo>
                  <a:pt x="96168" y="105693"/>
                  <a:pt x="96168" y="100657"/>
                  <a:pt x="93067" y="97557"/>
                </a:cubicBezTo>
                <a:lnTo>
                  <a:pt x="58986" y="63500"/>
                </a:lnTo>
                <a:lnTo>
                  <a:pt x="93042" y="29418"/>
                </a:lnTo>
                <a:cubicBezTo>
                  <a:pt x="96143" y="26318"/>
                  <a:pt x="96143" y="21282"/>
                  <a:pt x="93042" y="18182"/>
                </a:cubicBezTo>
                <a:cubicBezTo>
                  <a:pt x="89942" y="15081"/>
                  <a:pt x="84906" y="15081"/>
                  <a:pt x="81806" y="18182"/>
                </a:cubicBezTo>
                <a:lnTo>
                  <a:pt x="47749" y="52263"/>
                </a:lnTo>
                <a:lnTo>
                  <a:pt x="13667" y="18207"/>
                </a:lnTo>
                <a:close/>
              </a:path>
            </a:pathLst>
          </a:custGeom>
          <a:solidFill>
            <a:srgbClr val="E7000B"/>
          </a:solidFill>
          <a:ln/>
        </p:spPr>
      </p:sp>
      <p:sp>
        <p:nvSpPr>
          <p:cNvPr id="30" name="Text 28"/>
          <p:cNvSpPr/>
          <p:nvPr/>
        </p:nvSpPr>
        <p:spPr>
          <a:xfrm>
            <a:off x="6508750" y="2000250"/>
            <a:ext cx="3468688" cy="1905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Content within independent capability → </a:t>
            </a:r>
            <a:pPr>
              <a:lnSpc>
                <a:spcPct val="130000"/>
              </a:lnSpc>
            </a:pPr>
            <a:r>
              <a:rPr lang="en-US" sz="1000" b="1" dirty="0">
                <a:solidFill>
                  <a:srgbClr val="2D3436"/>
                </a:solidFill>
                <a:latin typeface="MiSans" pitchFamily="34" charset="0"/>
                <a:ea typeface="MiSans" pitchFamily="34" charset="-122"/>
                <a:cs typeface="MiSans" pitchFamily="34" charset="-120"/>
              </a:rPr>
              <a:t>no development</a:t>
            </a:r>
            <a:endParaRPr lang="en-US" sz="1600" dirty="0"/>
          </a:p>
        </p:txBody>
      </p:sp>
      <p:sp>
        <p:nvSpPr>
          <p:cNvPr id="31" name="Shape 29"/>
          <p:cNvSpPr/>
          <p:nvPr/>
        </p:nvSpPr>
        <p:spPr>
          <a:xfrm>
            <a:off x="6310313" y="2286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A63E"/>
          </a:solidFill>
          <a:ln/>
        </p:spPr>
      </p:sp>
      <p:sp>
        <p:nvSpPr>
          <p:cNvPr id="32" name="Text 30"/>
          <p:cNvSpPr/>
          <p:nvPr/>
        </p:nvSpPr>
        <p:spPr>
          <a:xfrm>
            <a:off x="6508750" y="2254250"/>
            <a:ext cx="2619375" cy="1905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Content within the ZPD → </a:t>
            </a:r>
            <a:pPr>
              <a:lnSpc>
                <a:spcPct val="130000"/>
              </a:lnSpc>
            </a:pPr>
            <a:r>
              <a:rPr lang="en-US" sz="1000" b="1" dirty="0">
                <a:solidFill>
                  <a:srgbClr val="2D3436"/>
                </a:solidFill>
                <a:latin typeface="MiSans" pitchFamily="34" charset="0"/>
                <a:ea typeface="MiSans" pitchFamily="34" charset="-122"/>
                <a:cs typeface="MiSans" pitchFamily="34" charset="-120"/>
              </a:rPr>
              <a:t>optimal learning</a:t>
            </a:r>
            <a:endParaRPr lang="en-US" sz="1600" dirty="0"/>
          </a:p>
        </p:txBody>
      </p:sp>
      <p:sp>
        <p:nvSpPr>
          <p:cNvPr id="33" name="Shape 31"/>
          <p:cNvSpPr/>
          <p:nvPr/>
        </p:nvSpPr>
        <p:spPr>
          <a:xfrm>
            <a:off x="6318250" y="2540000"/>
            <a:ext cx="95250" cy="127000"/>
          </a:xfrm>
          <a:custGeom>
            <a:avLst/>
            <a:gdLst/>
            <a:ahLst/>
            <a:cxnLst/>
            <a:rect l="l" t="t" r="r" b="b"/>
            <a:pathLst>
              <a:path w="95250" h="127000">
                <a:moveTo>
                  <a:pt x="13667" y="18207"/>
                </a:moveTo>
                <a:cubicBezTo>
                  <a:pt x="10567" y="15106"/>
                  <a:pt x="5531" y="15106"/>
                  <a:pt x="2431" y="18207"/>
                </a:cubicBezTo>
                <a:cubicBezTo>
                  <a:pt x="-670" y="21307"/>
                  <a:pt x="-670" y="26343"/>
                  <a:pt x="2431" y="29443"/>
                </a:cubicBezTo>
                <a:lnTo>
                  <a:pt x="36513" y="63500"/>
                </a:lnTo>
                <a:lnTo>
                  <a:pt x="2456" y="97582"/>
                </a:lnTo>
                <a:cubicBezTo>
                  <a:pt x="-645" y="100682"/>
                  <a:pt x="-645" y="105718"/>
                  <a:pt x="2456" y="108818"/>
                </a:cubicBezTo>
                <a:cubicBezTo>
                  <a:pt x="5556" y="111919"/>
                  <a:pt x="10592" y="111919"/>
                  <a:pt x="13692" y="108818"/>
                </a:cubicBezTo>
                <a:lnTo>
                  <a:pt x="47749" y="74737"/>
                </a:lnTo>
                <a:lnTo>
                  <a:pt x="81831" y="108793"/>
                </a:lnTo>
                <a:cubicBezTo>
                  <a:pt x="84931" y="111894"/>
                  <a:pt x="89967" y="111894"/>
                  <a:pt x="93067" y="108793"/>
                </a:cubicBezTo>
                <a:cubicBezTo>
                  <a:pt x="96168" y="105693"/>
                  <a:pt x="96168" y="100657"/>
                  <a:pt x="93067" y="97557"/>
                </a:cubicBezTo>
                <a:lnTo>
                  <a:pt x="58986" y="63500"/>
                </a:lnTo>
                <a:lnTo>
                  <a:pt x="93042" y="29418"/>
                </a:lnTo>
                <a:cubicBezTo>
                  <a:pt x="96143" y="26318"/>
                  <a:pt x="96143" y="21282"/>
                  <a:pt x="93042" y="18182"/>
                </a:cubicBezTo>
                <a:cubicBezTo>
                  <a:pt x="89942" y="15081"/>
                  <a:pt x="84906" y="15081"/>
                  <a:pt x="81806" y="18182"/>
                </a:cubicBezTo>
                <a:lnTo>
                  <a:pt x="47749" y="52263"/>
                </a:lnTo>
                <a:lnTo>
                  <a:pt x="13667" y="18207"/>
                </a:lnTo>
                <a:close/>
              </a:path>
            </a:pathLst>
          </a:custGeom>
          <a:solidFill>
            <a:srgbClr val="E7000B"/>
          </a:solidFill>
          <a:ln/>
        </p:spPr>
      </p:sp>
      <p:sp>
        <p:nvSpPr>
          <p:cNvPr id="34" name="Text 32"/>
          <p:cNvSpPr/>
          <p:nvPr/>
        </p:nvSpPr>
        <p:spPr>
          <a:xfrm>
            <a:off x="6508750" y="2508250"/>
            <a:ext cx="3063875" cy="1905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Content beyond supported capability → </a:t>
            </a:r>
            <a:pPr>
              <a:lnSpc>
                <a:spcPct val="130000"/>
              </a:lnSpc>
            </a:pPr>
            <a:r>
              <a:rPr lang="en-US" sz="1000" b="1" dirty="0">
                <a:solidFill>
                  <a:srgbClr val="2D3436"/>
                </a:solidFill>
                <a:latin typeface="MiSans" pitchFamily="34" charset="0"/>
                <a:ea typeface="MiSans" pitchFamily="34" charset="-122"/>
                <a:cs typeface="MiSans" pitchFamily="34" charset="-120"/>
              </a:rPr>
              <a:t>frustration</a:t>
            </a:r>
            <a:endParaRPr lang="en-US" sz="1600" dirty="0"/>
          </a:p>
        </p:txBody>
      </p:sp>
      <p:sp>
        <p:nvSpPr>
          <p:cNvPr id="35" name="Shape 33"/>
          <p:cNvSpPr/>
          <p:nvPr/>
        </p:nvSpPr>
        <p:spPr>
          <a:xfrm>
            <a:off x="6159500" y="2936875"/>
            <a:ext cx="5715000" cy="1587500"/>
          </a:xfrm>
          <a:custGeom>
            <a:avLst/>
            <a:gdLst/>
            <a:ahLst/>
            <a:cxnLst/>
            <a:rect l="l" t="t" r="r" b="b"/>
            <a:pathLst>
              <a:path w="5715000" h="1587500">
                <a:moveTo>
                  <a:pt x="0" y="0"/>
                </a:moveTo>
                <a:lnTo>
                  <a:pt x="5715000" y="0"/>
                </a:lnTo>
                <a:lnTo>
                  <a:pt x="5715000" y="1587500"/>
                </a:lnTo>
                <a:lnTo>
                  <a:pt x="0" y="1587500"/>
                </a:lnTo>
                <a:lnTo>
                  <a:pt x="0" y="0"/>
                </a:lnTo>
                <a:close/>
              </a:path>
            </a:pathLst>
          </a:custGeom>
          <a:solidFill>
            <a:srgbClr val="FFFFFF"/>
          </a:solidFill>
          <a:ln/>
        </p:spPr>
      </p:sp>
      <p:sp>
        <p:nvSpPr>
          <p:cNvPr id="36" name="Shape 34"/>
          <p:cNvSpPr/>
          <p:nvPr/>
        </p:nvSpPr>
        <p:spPr>
          <a:xfrm>
            <a:off x="6159500" y="2936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37" name="Text 35"/>
          <p:cNvSpPr/>
          <p:nvPr/>
        </p:nvSpPr>
        <p:spPr>
          <a:xfrm>
            <a:off x="6286500" y="3079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MPI's Architecture</a:t>
            </a:r>
            <a:endParaRPr lang="en-US" sz="1600" dirty="0"/>
          </a:p>
        </p:txBody>
      </p:sp>
      <p:sp>
        <p:nvSpPr>
          <p:cNvPr id="38" name="Text 36"/>
          <p:cNvSpPr/>
          <p:nvPr/>
        </p:nvSpPr>
        <p:spPr>
          <a:xfrm>
            <a:off x="6286500" y="339725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MPI's entire architecture is designed to:</a:t>
            </a:r>
            <a:endParaRPr lang="en-US" sz="1600" dirty="0"/>
          </a:p>
        </p:txBody>
      </p:sp>
      <p:sp>
        <p:nvSpPr>
          <p:cNvPr id="39" name="Shape 37"/>
          <p:cNvSpPr/>
          <p:nvPr/>
        </p:nvSpPr>
        <p:spPr>
          <a:xfrm>
            <a:off x="6302375" y="3734594"/>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C49A2C"/>
          </a:solidFill>
          <a:ln/>
        </p:spPr>
      </p:sp>
      <p:sp>
        <p:nvSpPr>
          <p:cNvPr id="40" name="Text 38"/>
          <p:cNvSpPr/>
          <p:nvPr/>
        </p:nvSpPr>
        <p:spPr>
          <a:xfrm>
            <a:off x="6484938" y="36988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Identify</a:t>
            </a:r>
            <a:pPr>
              <a:lnSpc>
                <a:spcPct val="130000"/>
              </a:lnSpc>
            </a:pPr>
            <a:r>
              <a:rPr lang="en-US" sz="1000" dirty="0">
                <a:solidFill>
                  <a:srgbClr val="2D3436"/>
                </a:solidFill>
                <a:latin typeface="MiSans" pitchFamily="34" charset="0"/>
                <a:ea typeface="MiSans" pitchFamily="34" charset="-122"/>
                <a:cs typeface="MiSans" pitchFamily="34" charset="-120"/>
              </a:rPr>
              <a:t> the learner's ZPD through entry assessments</a:t>
            </a:r>
            <a:endParaRPr lang="en-US" sz="1600" dirty="0"/>
          </a:p>
        </p:txBody>
      </p:sp>
      <p:sp>
        <p:nvSpPr>
          <p:cNvPr id="41" name="Shape 39"/>
          <p:cNvSpPr/>
          <p:nvPr/>
        </p:nvSpPr>
        <p:spPr>
          <a:xfrm>
            <a:off x="6302375" y="3988594"/>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C49A2C"/>
          </a:solidFill>
          <a:ln/>
        </p:spPr>
      </p:sp>
      <p:sp>
        <p:nvSpPr>
          <p:cNvPr id="42" name="Text 40"/>
          <p:cNvSpPr/>
          <p:nvPr/>
        </p:nvSpPr>
        <p:spPr>
          <a:xfrm>
            <a:off x="6484938" y="39528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Maintain</a:t>
            </a:r>
            <a:pPr>
              <a:lnSpc>
                <a:spcPct val="130000"/>
              </a:lnSpc>
            </a:pPr>
            <a:r>
              <a:rPr lang="en-US" sz="1000" dirty="0">
                <a:solidFill>
                  <a:srgbClr val="2D3436"/>
                </a:solidFill>
                <a:latin typeface="MiSans" pitchFamily="34" charset="0"/>
                <a:ea typeface="MiSans" pitchFamily="34" charset="-122"/>
                <a:cs typeface="MiSans" pitchFamily="34" charset="-120"/>
              </a:rPr>
              <a:t> ZPD alignment through embedded formative assessment</a:t>
            </a:r>
            <a:endParaRPr lang="en-US" sz="1600" dirty="0"/>
          </a:p>
        </p:txBody>
      </p:sp>
      <p:sp>
        <p:nvSpPr>
          <p:cNvPr id="43" name="Shape 41"/>
          <p:cNvSpPr/>
          <p:nvPr/>
        </p:nvSpPr>
        <p:spPr>
          <a:xfrm>
            <a:off x="6302375" y="4242594"/>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C49A2C"/>
          </a:solidFill>
          <a:ln/>
        </p:spPr>
      </p:sp>
      <p:sp>
        <p:nvSpPr>
          <p:cNvPr id="44" name="Text 42"/>
          <p:cNvSpPr/>
          <p:nvPr/>
        </p:nvSpPr>
        <p:spPr>
          <a:xfrm>
            <a:off x="6484938" y="42068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Expand</a:t>
            </a:r>
            <a:pPr>
              <a:lnSpc>
                <a:spcPct val="130000"/>
              </a:lnSpc>
            </a:pPr>
            <a:r>
              <a:rPr lang="en-US" sz="1000" dirty="0">
                <a:solidFill>
                  <a:srgbClr val="2D3436"/>
                </a:solidFill>
                <a:latin typeface="MiSans" pitchFamily="34" charset="0"/>
                <a:ea typeface="MiSans" pitchFamily="34" charset="-122"/>
                <a:cs typeface="MiSans" pitchFamily="34" charset="-120"/>
              </a:rPr>
              <a:t> the ZPD progressively through curriculum sequencing</a:t>
            </a:r>
            <a:endParaRPr lang="en-US" sz="1600" dirty="0"/>
          </a:p>
        </p:txBody>
      </p:sp>
      <p:sp>
        <p:nvSpPr>
          <p:cNvPr id="45" name="Shape 43"/>
          <p:cNvSpPr/>
          <p:nvPr/>
        </p:nvSpPr>
        <p:spPr>
          <a:xfrm>
            <a:off x="6175375" y="4619625"/>
            <a:ext cx="5699125" cy="571500"/>
          </a:xfrm>
          <a:custGeom>
            <a:avLst/>
            <a:gdLst/>
            <a:ahLst/>
            <a:cxnLst/>
            <a:rect l="l" t="t" r="r" b="b"/>
            <a:pathLst>
              <a:path w="5699125" h="571500">
                <a:moveTo>
                  <a:pt x="0" y="0"/>
                </a:moveTo>
                <a:lnTo>
                  <a:pt x="5699125" y="0"/>
                </a:lnTo>
                <a:lnTo>
                  <a:pt x="5699125" y="571500"/>
                </a:lnTo>
                <a:lnTo>
                  <a:pt x="0" y="571500"/>
                </a:lnTo>
                <a:lnTo>
                  <a:pt x="0" y="0"/>
                </a:lnTo>
                <a:close/>
              </a:path>
            </a:pathLst>
          </a:custGeom>
          <a:solidFill>
            <a:srgbClr val="C49A2C">
              <a:alpha val="10196"/>
            </a:srgbClr>
          </a:solidFill>
          <a:ln/>
        </p:spPr>
      </p:sp>
      <p:sp>
        <p:nvSpPr>
          <p:cNvPr id="46" name="Shape 44"/>
          <p:cNvSpPr/>
          <p:nvPr/>
        </p:nvSpPr>
        <p:spPr>
          <a:xfrm>
            <a:off x="6175375" y="4619625"/>
            <a:ext cx="31750" cy="571500"/>
          </a:xfrm>
          <a:custGeom>
            <a:avLst/>
            <a:gdLst/>
            <a:ahLst/>
            <a:cxnLst/>
            <a:rect l="l" t="t" r="r" b="b"/>
            <a:pathLst>
              <a:path w="31750" h="571500">
                <a:moveTo>
                  <a:pt x="0" y="0"/>
                </a:moveTo>
                <a:lnTo>
                  <a:pt x="31750" y="0"/>
                </a:lnTo>
                <a:lnTo>
                  <a:pt x="31750" y="571500"/>
                </a:lnTo>
                <a:lnTo>
                  <a:pt x="0" y="571500"/>
                </a:lnTo>
                <a:lnTo>
                  <a:pt x="0" y="0"/>
                </a:lnTo>
                <a:close/>
              </a:path>
            </a:pathLst>
          </a:custGeom>
          <a:solidFill>
            <a:srgbClr val="C49A2C"/>
          </a:solidFill>
          <a:ln/>
        </p:spPr>
      </p:sp>
      <p:sp>
        <p:nvSpPr>
          <p:cNvPr id="47" name="Shape 45"/>
          <p:cNvSpPr/>
          <p:nvPr/>
        </p:nvSpPr>
        <p:spPr>
          <a:xfrm>
            <a:off x="6310313" y="4750594"/>
            <a:ext cx="111125" cy="127000"/>
          </a:xfrm>
          <a:custGeom>
            <a:avLst/>
            <a:gdLst/>
            <a:ahLst/>
            <a:cxnLst/>
            <a:rect l="l" t="t" r="r" b="b"/>
            <a:pathLst>
              <a:path w="111125" h="127000">
                <a:moveTo>
                  <a:pt x="95250" y="127000"/>
                </a:moveTo>
                <a:lnTo>
                  <a:pt x="23812" y="127000"/>
                </a:lnTo>
                <a:cubicBezTo>
                  <a:pt x="10666" y="127000"/>
                  <a:pt x="0" y="116334"/>
                  <a:pt x="0" y="103188"/>
                </a:cubicBezTo>
                <a:lnTo>
                  <a:pt x="0" y="23812"/>
                </a:lnTo>
                <a:cubicBezTo>
                  <a:pt x="0" y="10666"/>
                  <a:pt x="10666" y="0"/>
                  <a:pt x="23812" y="0"/>
                </a:cubicBezTo>
                <a:lnTo>
                  <a:pt x="99219" y="0"/>
                </a:lnTo>
                <a:cubicBezTo>
                  <a:pt x="105792" y="0"/>
                  <a:pt x="111125" y="5333"/>
                  <a:pt x="111125" y="11906"/>
                </a:cubicBezTo>
                <a:lnTo>
                  <a:pt x="111125" y="83344"/>
                </a:lnTo>
                <a:cubicBezTo>
                  <a:pt x="111125" y="88528"/>
                  <a:pt x="107801" y="92943"/>
                  <a:pt x="103188" y="94580"/>
                </a:cubicBezTo>
                <a:lnTo>
                  <a:pt x="103188" y="111125"/>
                </a:lnTo>
                <a:cubicBezTo>
                  <a:pt x="107578" y="111125"/>
                  <a:pt x="111125" y="114672"/>
                  <a:pt x="111125" y="119063"/>
                </a:cubicBezTo>
                <a:cubicBezTo>
                  <a:pt x="111125" y="123453"/>
                  <a:pt x="107578" y="127000"/>
                  <a:pt x="103188" y="127000"/>
                </a:cubicBezTo>
                <a:lnTo>
                  <a:pt x="95250" y="127000"/>
                </a:lnTo>
                <a:close/>
                <a:moveTo>
                  <a:pt x="23812" y="95250"/>
                </a:moveTo>
                <a:cubicBezTo>
                  <a:pt x="19422" y="95250"/>
                  <a:pt x="15875" y="98797"/>
                  <a:pt x="15875" y="103188"/>
                </a:cubicBezTo>
                <a:cubicBezTo>
                  <a:pt x="15875" y="107578"/>
                  <a:pt x="19422" y="111125"/>
                  <a:pt x="23812" y="111125"/>
                </a:cubicBezTo>
                <a:lnTo>
                  <a:pt x="87313" y="111125"/>
                </a:lnTo>
                <a:lnTo>
                  <a:pt x="87313" y="95250"/>
                </a:lnTo>
                <a:lnTo>
                  <a:pt x="23812" y="95250"/>
                </a:lnTo>
                <a:close/>
                <a:moveTo>
                  <a:pt x="31750" y="37703"/>
                </a:moveTo>
                <a:cubicBezTo>
                  <a:pt x="31750" y="41002"/>
                  <a:pt x="34404" y="43656"/>
                  <a:pt x="37703" y="43656"/>
                </a:cubicBezTo>
                <a:lnTo>
                  <a:pt x="81359" y="43656"/>
                </a:lnTo>
                <a:cubicBezTo>
                  <a:pt x="84658" y="43656"/>
                  <a:pt x="87313" y="41002"/>
                  <a:pt x="87313" y="37703"/>
                </a:cubicBezTo>
                <a:cubicBezTo>
                  <a:pt x="87313" y="34404"/>
                  <a:pt x="84658" y="31750"/>
                  <a:pt x="81359" y="31750"/>
                </a:cubicBezTo>
                <a:lnTo>
                  <a:pt x="37703" y="31750"/>
                </a:lnTo>
                <a:cubicBezTo>
                  <a:pt x="34404" y="31750"/>
                  <a:pt x="31750" y="34404"/>
                  <a:pt x="31750" y="37703"/>
                </a:cubicBezTo>
                <a:close/>
                <a:moveTo>
                  <a:pt x="37703" y="55563"/>
                </a:moveTo>
                <a:cubicBezTo>
                  <a:pt x="34404" y="55563"/>
                  <a:pt x="31750" y="58217"/>
                  <a:pt x="31750" y="61516"/>
                </a:cubicBezTo>
                <a:cubicBezTo>
                  <a:pt x="31750" y="64815"/>
                  <a:pt x="34404" y="67469"/>
                  <a:pt x="37703" y="67469"/>
                </a:cubicBezTo>
                <a:lnTo>
                  <a:pt x="81359" y="67469"/>
                </a:lnTo>
                <a:cubicBezTo>
                  <a:pt x="84658" y="67469"/>
                  <a:pt x="87313" y="64815"/>
                  <a:pt x="87313" y="61516"/>
                </a:cubicBezTo>
                <a:cubicBezTo>
                  <a:pt x="87313" y="58217"/>
                  <a:pt x="84658" y="55563"/>
                  <a:pt x="81359" y="55563"/>
                </a:cubicBezTo>
                <a:lnTo>
                  <a:pt x="37703" y="55563"/>
                </a:lnTo>
                <a:close/>
              </a:path>
            </a:pathLst>
          </a:custGeom>
          <a:solidFill>
            <a:srgbClr val="C49A2C"/>
          </a:solidFill>
          <a:ln/>
        </p:spPr>
      </p:sp>
      <p:sp>
        <p:nvSpPr>
          <p:cNvPr id="48" name="Text 46"/>
          <p:cNvSpPr/>
          <p:nvPr/>
        </p:nvSpPr>
        <p:spPr>
          <a:xfrm>
            <a:off x="6484938" y="4714875"/>
            <a:ext cx="5357813" cy="3810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Reference:</a:t>
            </a:r>
            <a:pPr>
              <a:lnSpc>
                <a:spcPct val="130000"/>
              </a:lnSpc>
            </a:pPr>
            <a:r>
              <a:rPr lang="en-US" sz="1000" dirty="0">
                <a:solidFill>
                  <a:srgbClr val="1E3A5F"/>
                </a:solidFill>
                <a:latin typeface="MiSans" pitchFamily="34" charset="0"/>
                <a:ea typeface="MiSans" pitchFamily="34" charset="-122"/>
                <a:cs typeface="MiSans" pitchFamily="34" charset="-120"/>
              </a:rPr>
              <a:t> Vygotsky, L. S. (1978). Mind in Society: The Development of Higher Psychological Processes. Cambridge, MA: Harvard University Press.</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51608" y="351608"/>
            <a:ext cx="70322" cy="421929"/>
          </a:xfrm>
          <a:custGeom>
            <a:avLst/>
            <a:gdLst/>
            <a:ahLst/>
            <a:cxnLst/>
            <a:rect l="l" t="t" r="r" b="b"/>
            <a:pathLst>
              <a:path w="70322" h="421929">
                <a:moveTo>
                  <a:pt x="0" y="0"/>
                </a:moveTo>
                <a:lnTo>
                  <a:pt x="70322" y="0"/>
                </a:lnTo>
                <a:lnTo>
                  <a:pt x="70322" y="421929"/>
                </a:lnTo>
                <a:lnTo>
                  <a:pt x="0" y="421929"/>
                </a:lnTo>
                <a:lnTo>
                  <a:pt x="0" y="0"/>
                </a:lnTo>
                <a:close/>
              </a:path>
            </a:pathLst>
          </a:custGeom>
          <a:solidFill>
            <a:srgbClr val="1E3A5F"/>
          </a:solidFill>
          <a:ln/>
        </p:spPr>
      </p:sp>
      <p:sp>
        <p:nvSpPr>
          <p:cNvPr id="3" name="Text 1"/>
          <p:cNvSpPr/>
          <p:nvPr/>
        </p:nvSpPr>
        <p:spPr>
          <a:xfrm>
            <a:off x="527412" y="404349"/>
            <a:ext cx="4922509" cy="316447"/>
          </a:xfrm>
          <a:prstGeom prst="rect">
            <a:avLst/>
          </a:prstGeom>
          <a:noFill/>
          <a:ln/>
        </p:spPr>
        <p:txBody>
          <a:bodyPr wrap="square" lIns="0" tIns="0" rIns="0" bIns="0" rtlCol="0" anchor="ctr"/>
          <a:lstStyle/>
          <a:p>
            <a:pPr>
              <a:lnSpc>
                <a:spcPct val="100000"/>
              </a:lnSpc>
            </a:pPr>
            <a:r>
              <a:rPr lang="en-US" sz="2076" b="1" dirty="0">
                <a:solidFill>
                  <a:srgbClr val="1E3A5F"/>
                </a:solidFill>
                <a:latin typeface="MiSans" pitchFamily="34" charset="0"/>
                <a:ea typeface="MiSans" pitchFamily="34" charset="-122"/>
                <a:cs typeface="MiSans" pitchFamily="34" charset="-120"/>
              </a:rPr>
              <a:t>The ZPD and Instructional Scaffolding</a:t>
            </a:r>
            <a:endParaRPr lang="en-US" sz="1600" dirty="0"/>
          </a:p>
        </p:txBody>
      </p:sp>
      <p:sp>
        <p:nvSpPr>
          <p:cNvPr id="4" name="Text 2"/>
          <p:cNvSpPr/>
          <p:nvPr/>
        </p:nvSpPr>
        <p:spPr>
          <a:xfrm>
            <a:off x="527412" y="843859"/>
            <a:ext cx="11383302" cy="210965"/>
          </a:xfrm>
          <a:prstGeom prst="rect">
            <a:avLst/>
          </a:prstGeom>
          <a:noFill/>
          <a:ln/>
        </p:spPr>
        <p:txBody>
          <a:bodyPr wrap="square" lIns="0" tIns="0" rIns="0" bIns="0" rtlCol="0" anchor="ctr"/>
          <a:lstStyle/>
          <a:p>
            <a:pPr>
              <a:lnSpc>
                <a:spcPct val="130000"/>
              </a:lnSpc>
            </a:pPr>
            <a:r>
              <a:rPr lang="en-US" sz="1107" dirty="0">
                <a:solidFill>
                  <a:srgbClr val="6C757D"/>
                </a:solidFill>
                <a:latin typeface="MiSans" pitchFamily="34" charset="0"/>
                <a:ea typeface="MiSans" pitchFamily="34" charset="-122"/>
                <a:cs typeface="MiSans" pitchFamily="34" charset="-120"/>
              </a:rPr>
              <a:t>Wood, Bruner, &amp; Ross (1976) | The temporary support structures that enable learning</a:t>
            </a:r>
            <a:endParaRPr lang="en-US" sz="1600" dirty="0"/>
          </a:p>
        </p:txBody>
      </p:sp>
      <p:sp>
        <p:nvSpPr>
          <p:cNvPr id="5" name="Shape 3"/>
          <p:cNvSpPr/>
          <p:nvPr/>
        </p:nvSpPr>
        <p:spPr>
          <a:xfrm>
            <a:off x="351608" y="1213047"/>
            <a:ext cx="5669676" cy="2865603"/>
          </a:xfrm>
          <a:custGeom>
            <a:avLst/>
            <a:gdLst/>
            <a:ahLst/>
            <a:cxnLst/>
            <a:rect l="l" t="t" r="r" b="b"/>
            <a:pathLst>
              <a:path w="5669676" h="2865603">
                <a:moveTo>
                  <a:pt x="0" y="0"/>
                </a:moveTo>
                <a:lnTo>
                  <a:pt x="5669676" y="0"/>
                </a:lnTo>
                <a:lnTo>
                  <a:pt x="5669676" y="2865603"/>
                </a:lnTo>
                <a:lnTo>
                  <a:pt x="0" y="2865603"/>
                </a:lnTo>
                <a:lnTo>
                  <a:pt x="0" y="0"/>
                </a:lnTo>
                <a:close/>
              </a:path>
            </a:pathLst>
          </a:custGeom>
          <a:solidFill>
            <a:srgbClr val="FFFFFF"/>
          </a:solidFill>
          <a:ln/>
        </p:spPr>
      </p:sp>
      <p:sp>
        <p:nvSpPr>
          <p:cNvPr id="6" name="Shape 4"/>
          <p:cNvSpPr/>
          <p:nvPr/>
        </p:nvSpPr>
        <p:spPr>
          <a:xfrm>
            <a:off x="351608" y="1213047"/>
            <a:ext cx="5669676" cy="35161"/>
          </a:xfrm>
          <a:custGeom>
            <a:avLst/>
            <a:gdLst/>
            <a:ahLst/>
            <a:cxnLst/>
            <a:rect l="l" t="t" r="r" b="b"/>
            <a:pathLst>
              <a:path w="5669676" h="35161">
                <a:moveTo>
                  <a:pt x="0" y="0"/>
                </a:moveTo>
                <a:lnTo>
                  <a:pt x="5669676" y="0"/>
                </a:lnTo>
                <a:lnTo>
                  <a:pt x="5669676" y="35161"/>
                </a:lnTo>
                <a:lnTo>
                  <a:pt x="0" y="35161"/>
                </a:lnTo>
                <a:lnTo>
                  <a:pt x="0" y="0"/>
                </a:lnTo>
                <a:close/>
              </a:path>
            </a:pathLst>
          </a:custGeom>
          <a:solidFill>
            <a:srgbClr val="1E3A5F"/>
          </a:solidFill>
          <a:ln/>
        </p:spPr>
      </p:sp>
      <p:sp>
        <p:nvSpPr>
          <p:cNvPr id="7" name="Text 5"/>
          <p:cNvSpPr/>
          <p:nvPr/>
        </p:nvSpPr>
        <p:spPr>
          <a:xfrm>
            <a:off x="492251" y="1371270"/>
            <a:ext cx="5476291" cy="246125"/>
          </a:xfrm>
          <a:prstGeom prst="rect">
            <a:avLst/>
          </a:prstGeom>
          <a:noFill/>
          <a:ln/>
        </p:spPr>
        <p:txBody>
          <a:bodyPr wrap="square" lIns="0" tIns="0" rIns="0" bIns="0" rtlCol="0" anchor="ctr"/>
          <a:lstStyle/>
          <a:p>
            <a:pPr>
              <a:lnSpc>
                <a:spcPct val="120000"/>
              </a:lnSpc>
            </a:pPr>
            <a:r>
              <a:rPr lang="en-US" sz="1384" b="1" dirty="0">
                <a:solidFill>
                  <a:srgbClr val="1E3A5F"/>
                </a:solidFill>
                <a:latin typeface="MiSans" pitchFamily="34" charset="0"/>
                <a:ea typeface="MiSans" pitchFamily="34" charset="-122"/>
                <a:cs typeface="MiSans" pitchFamily="34" charset="-120"/>
              </a:rPr>
              <a:t>What Is Scaffolding?</a:t>
            </a:r>
            <a:endParaRPr lang="en-US" sz="1600" dirty="0"/>
          </a:p>
        </p:txBody>
      </p:sp>
      <p:sp>
        <p:nvSpPr>
          <p:cNvPr id="8" name="Text 6"/>
          <p:cNvSpPr/>
          <p:nvPr/>
        </p:nvSpPr>
        <p:spPr>
          <a:xfrm>
            <a:off x="492251" y="1722878"/>
            <a:ext cx="5458711" cy="685635"/>
          </a:xfrm>
          <a:prstGeom prst="rect">
            <a:avLst/>
          </a:prstGeom>
          <a:noFill/>
          <a:ln/>
        </p:spPr>
        <p:txBody>
          <a:bodyPr wrap="square" lIns="0" tIns="0" rIns="0" bIns="0" rtlCol="0" anchor="ctr"/>
          <a:lstStyle/>
          <a:p>
            <a:pPr>
              <a:lnSpc>
                <a:spcPct val="140000"/>
              </a:lnSpc>
            </a:pPr>
            <a:r>
              <a:rPr lang="en-US" sz="1107" dirty="0">
                <a:solidFill>
                  <a:srgbClr val="2D3436"/>
                </a:solidFill>
                <a:latin typeface="MiSans" pitchFamily="34" charset="0"/>
                <a:ea typeface="MiSans" pitchFamily="34" charset="-122"/>
                <a:cs typeface="MiSans" pitchFamily="34" charset="-120"/>
              </a:rPr>
              <a:t>Vygotsky's concept of </a:t>
            </a:r>
            <a:pPr>
              <a:lnSpc>
                <a:spcPct val="140000"/>
              </a:lnSpc>
            </a:pPr>
            <a:r>
              <a:rPr lang="en-US" sz="1107" b="1" dirty="0">
                <a:solidFill>
                  <a:srgbClr val="2D3436"/>
                </a:solidFill>
                <a:latin typeface="MiSans" pitchFamily="34" charset="0"/>
                <a:ea typeface="MiSans" pitchFamily="34" charset="-122"/>
                <a:cs typeface="MiSans" pitchFamily="34" charset="-120"/>
              </a:rPr>
              <a:t>scaffolding</a:t>
            </a:r>
            <a:pPr>
              <a:lnSpc>
                <a:spcPct val="140000"/>
              </a:lnSpc>
            </a:pPr>
            <a:r>
              <a:rPr lang="en-US" sz="1107" dirty="0">
                <a:solidFill>
                  <a:srgbClr val="2D3436"/>
                </a:solidFill>
                <a:latin typeface="MiSans" pitchFamily="34" charset="0"/>
                <a:ea typeface="MiSans" pitchFamily="34" charset="-122"/>
                <a:cs typeface="MiSans" pitchFamily="34" charset="-120"/>
              </a:rPr>
              <a:t> — though the term itself was introduced by Wood, Bruner, and Ross in 1976 — refers to the </a:t>
            </a:r>
            <a:pPr>
              <a:lnSpc>
                <a:spcPct val="140000"/>
              </a:lnSpc>
            </a:pPr>
            <a:r>
              <a:rPr lang="en-US" sz="1107" dirty="0">
                <a:solidFill>
                  <a:srgbClr val="2D3436"/>
                </a:solidFill>
                <a:highlight>
                  <a:srgbClr val="C49A2C">
                    <a:alpha val="20000"/>
                  </a:srgbClr>
                </a:highlight>
                <a:latin typeface="MiSans" pitchFamily="34" charset="0"/>
                <a:ea typeface="MiSans" pitchFamily="34" charset="-122"/>
                <a:cs typeface="MiSans" pitchFamily="34" charset="-120"/>
              </a:rPr>
              <a:t>temporary support structures that enable learners to operate within their ZPD </a:t>
            </a:r>
            <a:pPr>
              <a:lnSpc>
                <a:spcPct val="140000"/>
              </a:lnSpc>
            </a:pPr>
            <a:r>
              <a:rPr lang="en-US" sz="1107" dirty="0">
                <a:solidFill>
                  <a:srgbClr val="2D3436"/>
                </a:solidFill>
                <a:latin typeface="MiSans" pitchFamily="34" charset="0"/>
                <a:ea typeface="MiSans" pitchFamily="34" charset="-122"/>
                <a:cs typeface="MiSans" pitchFamily="34" charset="-120"/>
              </a:rPr>
              <a:t>.</a:t>
            </a:r>
            <a:endParaRPr lang="en-US" sz="1600" dirty="0"/>
          </a:p>
        </p:txBody>
      </p:sp>
      <p:sp>
        <p:nvSpPr>
          <p:cNvPr id="9" name="Text 7"/>
          <p:cNvSpPr/>
          <p:nvPr/>
        </p:nvSpPr>
        <p:spPr>
          <a:xfrm>
            <a:off x="492251" y="2513996"/>
            <a:ext cx="5458711" cy="685635"/>
          </a:xfrm>
          <a:prstGeom prst="rect">
            <a:avLst/>
          </a:prstGeom>
          <a:noFill/>
          <a:ln/>
        </p:spPr>
        <p:txBody>
          <a:bodyPr wrap="square" lIns="0" tIns="0" rIns="0" bIns="0" rtlCol="0" anchor="ctr"/>
          <a:lstStyle/>
          <a:p>
            <a:pPr>
              <a:lnSpc>
                <a:spcPct val="140000"/>
              </a:lnSpc>
            </a:pPr>
            <a:r>
              <a:rPr lang="en-US" sz="1107" dirty="0">
                <a:solidFill>
                  <a:srgbClr val="2D3436"/>
                </a:solidFill>
                <a:latin typeface="MiSans" pitchFamily="34" charset="0"/>
                <a:ea typeface="MiSans" pitchFamily="34" charset="-122"/>
                <a:cs typeface="MiSans" pitchFamily="34" charset="-120"/>
              </a:rPr>
              <a:t>Scaffolding is </a:t>
            </a:r>
            <a:pPr>
              <a:lnSpc>
                <a:spcPct val="140000"/>
              </a:lnSpc>
            </a:pPr>
            <a:r>
              <a:rPr lang="en-US" sz="1107" b="1" dirty="0">
                <a:solidFill>
                  <a:srgbClr val="2D3436"/>
                </a:solidFill>
                <a:latin typeface="MiSans" pitchFamily="34" charset="0"/>
                <a:ea typeface="MiSans" pitchFamily="34" charset="-122"/>
                <a:cs typeface="MiSans" pitchFamily="34" charset="-120"/>
              </a:rPr>
              <a:t>not permanent</a:t>
            </a:r>
            <a:pPr>
              <a:lnSpc>
                <a:spcPct val="140000"/>
              </a:lnSpc>
            </a:pPr>
            <a:r>
              <a:rPr lang="en-US" sz="1107" dirty="0">
                <a:solidFill>
                  <a:srgbClr val="2D3436"/>
                </a:solidFill>
                <a:latin typeface="MiSans" pitchFamily="34" charset="0"/>
                <a:ea typeface="MiSans" pitchFamily="34" charset="-122"/>
                <a:cs typeface="MiSans" pitchFamily="34" charset="-120"/>
              </a:rPr>
              <a:t>. It is gradually withdrawn as learner competence increases, in much the same way that physical scaffolding is removed as a building becomes structurally self-supporting.</a:t>
            </a:r>
            <a:endParaRPr lang="en-US" sz="1600" dirty="0"/>
          </a:p>
        </p:txBody>
      </p:sp>
      <p:sp>
        <p:nvSpPr>
          <p:cNvPr id="10" name="Shape 8"/>
          <p:cNvSpPr/>
          <p:nvPr/>
        </p:nvSpPr>
        <p:spPr>
          <a:xfrm>
            <a:off x="509831" y="3305113"/>
            <a:ext cx="5370809" cy="632894"/>
          </a:xfrm>
          <a:custGeom>
            <a:avLst/>
            <a:gdLst/>
            <a:ahLst/>
            <a:cxnLst/>
            <a:rect l="l" t="t" r="r" b="b"/>
            <a:pathLst>
              <a:path w="5370809" h="632894">
                <a:moveTo>
                  <a:pt x="0" y="0"/>
                </a:moveTo>
                <a:lnTo>
                  <a:pt x="5370809" y="0"/>
                </a:lnTo>
                <a:lnTo>
                  <a:pt x="5370809" y="632894"/>
                </a:lnTo>
                <a:lnTo>
                  <a:pt x="0" y="632894"/>
                </a:lnTo>
                <a:lnTo>
                  <a:pt x="0" y="0"/>
                </a:lnTo>
                <a:close/>
              </a:path>
            </a:pathLst>
          </a:custGeom>
          <a:solidFill>
            <a:srgbClr val="F8F9FA"/>
          </a:solidFill>
          <a:ln/>
        </p:spPr>
      </p:sp>
      <p:sp>
        <p:nvSpPr>
          <p:cNvPr id="11" name="Shape 9"/>
          <p:cNvSpPr/>
          <p:nvPr/>
        </p:nvSpPr>
        <p:spPr>
          <a:xfrm>
            <a:off x="509831" y="3305113"/>
            <a:ext cx="35161" cy="632894"/>
          </a:xfrm>
          <a:custGeom>
            <a:avLst/>
            <a:gdLst/>
            <a:ahLst/>
            <a:cxnLst/>
            <a:rect l="l" t="t" r="r" b="b"/>
            <a:pathLst>
              <a:path w="35161" h="632894">
                <a:moveTo>
                  <a:pt x="0" y="0"/>
                </a:moveTo>
                <a:lnTo>
                  <a:pt x="35161" y="0"/>
                </a:lnTo>
                <a:lnTo>
                  <a:pt x="35161" y="632894"/>
                </a:lnTo>
                <a:lnTo>
                  <a:pt x="0" y="632894"/>
                </a:lnTo>
                <a:lnTo>
                  <a:pt x="0" y="0"/>
                </a:lnTo>
                <a:close/>
              </a:path>
            </a:pathLst>
          </a:custGeom>
          <a:solidFill>
            <a:srgbClr val="1E3A5F"/>
          </a:solidFill>
          <a:ln/>
        </p:spPr>
      </p:sp>
      <p:sp>
        <p:nvSpPr>
          <p:cNvPr id="12" name="Text 10"/>
          <p:cNvSpPr/>
          <p:nvPr/>
        </p:nvSpPr>
        <p:spPr>
          <a:xfrm>
            <a:off x="632894" y="3410596"/>
            <a:ext cx="5212585" cy="421929"/>
          </a:xfrm>
          <a:prstGeom prst="rect">
            <a:avLst/>
          </a:prstGeom>
          <a:noFill/>
          <a:ln/>
        </p:spPr>
        <p:txBody>
          <a:bodyPr wrap="square" lIns="0" tIns="0" rIns="0" bIns="0" rtlCol="0" anchor="ctr"/>
          <a:lstStyle/>
          <a:p>
            <a:pPr>
              <a:lnSpc>
                <a:spcPct val="130000"/>
              </a:lnSpc>
            </a:pPr>
            <a:r>
              <a:rPr lang="en-US" sz="1107" dirty="0">
                <a:solidFill>
                  <a:srgbClr val="1E3A5F"/>
                </a:solidFill>
                <a:latin typeface="MiSans" pitchFamily="34" charset="0"/>
                <a:ea typeface="MiSans" pitchFamily="34" charset="-122"/>
                <a:cs typeface="MiSans" pitchFamily="34" charset="-120"/>
              </a:rPr>
              <a:t>"Scaffolding is not a permanent structure. It is a temporary support that is removed when the learner can stand alone."</a:t>
            </a:r>
            <a:endParaRPr lang="en-US" sz="1600" dirty="0"/>
          </a:p>
        </p:txBody>
      </p:sp>
      <p:sp>
        <p:nvSpPr>
          <p:cNvPr id="13" name="Shape 11"/>
          <p:cNvSpPr/>
          <p:nvPr/>
        </p:nvSpPr>
        <p:spPr>
          <a:xfrm>
            <a:off x="351608" y="4184133"/>
            <a:ext cx="5669676" cy="2672219"/>
          </a:xfrm>
          <a:custGeom>
            <a:avLst/>
            <a:gdLst/>
            <a:ahLst/>
            <a:cxnLst/>
            <a:rect l="l" t="t" r="r" b="b"/>
            <a:pathLst>
              <a:path w="5669676" h="2672219">
                <a:moveTo>
                  <a:pt x="0" y="0"/>
                </a:moveTo>
                <a:lnTo>
                  <a:pt x="5669676" y="0"/>
                </a:lnTo>
                <a:lnTo>
                  <a:pt x="5669676" y="2672219"/>
                </a:lnTo>
                <a:lnTo>
                  <a:pt x="0" y="2672219"/>
                </a:lnTo>
                <a:lnTo>
                  <a:pt x="0" y="0"/>
                </a:lnTo>
                <a:close/>
              </a:path>
            </a:pathLst>
          </a:custGeom>
          <a:solidFill>
            <a:srgbClr val="1E3A5F"/>
          </a:solidFill>
          <a:ln/>
        </p:spPr>
      </p:sp>
      <p:sp>
        <p:nvSpPr>
          <p:cNvPr id="14" name="Text 12"/>
          <p:cNvSpPr/>
          <p:nvPr/>
        </p:nvSpPr>
        <p:spPr>
          <a:xfrm>
            <a:off x="492251" y="4324776"/>
            <a:ext cx="5476291" cy="246125"/>
          </a:xfrm>
          <a:prstGeom prst="rect">
            <a:avLst/>
          </a:prstGeom>
          <a:noFill/>
          <a:ln/>
        </p:spPr>
        <p:txBody>
          <a:bodyPr wrap="square" lIns="0" tIns="0" rIns="0" bIns="0" rtlCol="0" anchor="ctr"/>
          <a:lstStyle/>
          <a:p>
            <a:pPr>
              <a:lnSpc>
                <a:spcPct val="120000"/>
              </a:lnSpc>
            </a:pPr>
            <a:r>
              <a:rPr lang="en-US" sz="1384" b="1" dirty="0">
                <a:solidFill>
                  <a:srgbClr val="F8F9FA"/>
                </a:solidFill>
                <a:latin typeface="MiSans" pitchFamily="34" charset="0"/>
                <a:ea typeface="MiSans" pitchFamily="34" charset="-122"/>
                <a:cs typeface="MiSans" pitchFamily="34" charset="-120"/>
              </a:rPr>
              <a:t>The Scaffolding Process</a:t>
            </a:r>
            <a:endParaRPr lang="en-US" sz="1600" dirty="0"/>
          </a:p>
        </p:txBody>
      </p:sp>
      <p:sp>
        <p:nvSpPr>
          <p:cNvPr id="15" name="Shape 13"/>
          <p:cNvSpPr/>
          <p:nvPr/>
        </p:nvSpPr>
        <p:spPr>
          <a:xfrm>
            <a:off x="492251" y="4676384"/>
            <a:ext cx="281286" cy="281286"/>
          </a:xfrm>
          <a:custGeom>
            <a:avLst/>
            <a:gdLst/>
            <a:ahLst/>
            <a:cxnLst/>
            <a:rect l="l" t="t" r="r" b="b"/>
            <a:pathLst>
              <a:path w="281286" h="281286">
                <a:moveTo>
                  <a:pt x="0" y="0"/>
                </a:moveTo>
                <a:lnTo>
                  <a:pt x="281286" y="0"/>
                </a:lnTo>
                <a:lnTo>
                  <a:pt x="281286" y="281286"/>
                </a:lnTo>
                <a:lnTo>
                  <a:pt x="0" y="281286"/>
                </a:lnTo>
                <a:lnTo>
                  <a:pt x="0" y="0"/>
                </a:lnTo>
                <a:close/>
              </a:path>
            </a:pathLst>
          </a:custGeom>
          <a:solidFill>
            <a:srgbClr val="C49A2C"/>
          </a:solidFill>
          <a:ln/>
        </p:spPr>
      </p:sp>
      <p:sp>
        <p:nvSpPr>
          <p:cNvPr id="16" name="Text 14"/>
          <p:cNvSpPr/>
          <p:nvPr/>
        </p:nvSpPr>
        <p:spPr>
          <a:xfrm>
            <a:off x="457090" y="4676384"/>
            <a:ext cx="351608" cy="281286"/>
          </a:xfrm>
          <a:prstGeom prst="rect">
            <a:avLst/>
          </a:prstGeom>
          <a:noFill/>
          <a:ln/>
        </p:spPr>
        <p:txBody>
          <a:bodyPr wrap="square" lIns="0" tIns="0" rIns="0" bIns="0" rtlCol="0" anchor="ctr"/>
          <a:lstStyle/>
          <a:p>
            <a:pPr algn="ctr">
              <a:lnSpc>
                <a:spcPct val="130000"/>
              </a:lnSpc>
            </a:pPr>
            <a:r>
              <a:rPr lang="en-US" sz="1107" b="1" dirty="0">
                <a:solidFill>
                  <a:srgbClr val="F8F9FA"/>
                </a:solidFill>
                <a:latin typeface="MiSans" pitchFamily="34" charset="0"/>
                <a:ea typeface="MiSans" pitchFamily="34" charset="-122"/>
                <a:cs typeface="MiSans" pitchFamily="34" charset="-120"/>
              </a:rPr>
              <a:t>1</a:t>
            </a:r>
            <a:endParaRPr lang="en-US" sz="1600" dirty="0"/>
          </a:p>
        </p:txBody>
      </p:sp>
      <p:sp>
        <p:nvSpPr>
          <p:cNvPr id="17" name="Text 15"/>
          <p:cNvSpPr/>
          <p:nvPr/>
        </p:nvSpPr>
        <p:spPr>
          <a:xfrm>
            <a:off x="879019" y="4676384"/>
            <a:ext cx="5071942" cy="457090"/>
          </a:xfrm>
          <a:prstGeom prst="rect">
            <a:avLst/>
          </a:prstGeom>
          <a:noFill/>
          <a:ln/>
        </p:spPr>
        <p:txBody>
          <a:bodyPr wrap="square" lIns="0" tIns="0" rIns="0" bIns="0" rtlCol="0" anchor="ctr"/>
          <a:lstStyle/>
          <a:p>
            <a:pPr>
              <a:lnSpc>
                <a:spcPct val="140000"/>
              </a:lnSpc>
            </a:pPr>
            <a:r>
              <a:rPr lang="en-US" sz="1107" b="1" dirty="0">
                <a:solidFill>
                  <a:srgbClr val="F8F9FA"/>
                </a:solidFill>
                <a:latin typeface="MiSans" pitchFamily="34" charset="0"/>
                <a:ea typeface="MiSans" pitchFamily="34" charset="-122"/>
                <a:cs typeface="MiSans" pitchFamily="34" charset="-120"/>
              </a:rPr>
              <a:t>Initial support:</a:t>
            </a:r>
            <a:pPr>
              <a:lnSpc>
                <a:spcPct val="140000"/>
              </a:lnSpc>
            </a:pPr>
            <a:r>
              <a:rPr lang="en-US" sz="1107" dirty="0">
                <a:solidFill>
                  <a:srgbClr val="F8F9FA"/>
                </a:solidFill>
                <a:latin typeface="MiSans" pitchFamily="34" charset="0"/>
                <a:ea typeface="MiSans" pitchFamily="34" charset="-122"/>
                <a:cs typeface="MiSans" pitchFamily="34" charset="-120"/>
              </a:rPr>
              <a:t> Teacher provides extensive scaffolding for new content at the upper boundary of the ZPD</a:t>
            </a:r>
            <a:endParaRPr lang="en-US" sz="1600" dirty="0"/>
          </a:p>
        </p:txBody>
      </p:sp>
      <p:sp>
        <p:nvSpPr>
          <p:cNvPr id="18" name="Shape 16"/>
          <p:cNvSpPr/>
          <p:nvPr/>
        </p:nvSpPr>
        <p:spPr>
          <a:xfrm>
            <a:off x="492251" y="5203795"/>
            <a:ext cx="281286" cy="281286"/>
          </a:xfrm>
          <a:custGeom>
            <a:avLst/>
            <a:gdLst/>
            <a:ahLst/>
            <a:cxnLst/>
            <a:rect l="l" t="t" r="r" b="b"/>
            <a:pathLst>
              <a:path w="281286" h="281286">
                <a:moveTo>
                  <a:pt x="0" y="0"/>
                </a:moveTo>
                <a:lnTo>
                  <a:pt x="281286" y="0"/>
                </a:lnTo>
                <a:lnTo>
                  <a:pt x="281286" y="281286"/>
                </a:lnTo>
                <a:lnTo>
                  <a:pt x="0" y="281286"/>
                </a:lnTo>
                <a:lnTo>
                  <a:pt x="0" y="0"/>
                </a:lnTo>
                <a:close/>
              </a:path>
            </a:pathLst>
          </a:custGeom>
          <a:solidFill>
            <a:srgbClr val="C49A2C"/>
          </a:solidFill>
          <a:ln/>
        </p:spPr>
      </p:sp>
      <p:sp>
        <p:nvSpPr>
          <p:cNvPr id="19" name="Text 17"/>
          <p:cNvSpPr/>
          <p:nvPr/>
        </p:nvSpPr>
        <p:spPr>
          <a:xfrm>
            <a:off x="457090" y="5203795"/>
            <a:ext cx="351608" cy="281286"/>
          </a:xfrm>
          <a:prstGeom prst="rect">
            <a:avLst/>
          </a:prstGeom>
          <a:noFill/>
          <a:ln/>
        </p:spPr>
        <p:txBody>
          <a:bodyPr wrap="square" lIns="0" tIns="0" rIns="0" bIns="0" rtlCol="0" anchor="ctr"/>
          <a:lstStyle/>
          <a:p>
            <a:pPr algn="ctr">
              <a:lnSpc>
                <a:spcPct val="130000"/>
              </a:lnSpc>
            </a:pPr>
            <a:r>
              <a:rPr lang="en-US" sz="1107" b="1" dirty="0">
                <a:solidFill>
                  <a:srgbClr val="F8F9FA"/>
                </a:solidFill>
                <a:latin typeface="MiSans" pitchFamily="34" charset="0"/>
                <a:ea typeface="MiSans" pitchFamily="34" charset="-122"/>
                <a:cs typeface="MiSans" pitchFamily="34" charset="-120"/>
              </a:rPr>
              <a:t>2</a:t>
            </a:r>
            <a:endParaRPr lang="en-US" sz="1600" dirty="0"/>
          </a:p>
        </p:txBody>
      </p:sp>
      <p:sp>
        <p:nvSpPr>
          <p:cNvPr id="20" name="Text 18"/>
          <p:cNvSpPr/>
          <p:nvPr/>
        </p:nvSpPr>
        <p:spPr>
          <a:xfrm>
            <a:off x="879019" y="5203795"/>
            <a:ext cx="5071942" cy="457090"/>
          </a:xfrm>
          <a:prstGeom prst="rect">
            <a:avLst/>
          </a:prstGeom>
          <a:noFill/>
          <a:ln/>
        </p:spPr>
        <p:txBody>
          <a:bodyPr wrap="square" lIns="0" tIns="0" rIns="0" bIns="0" rtlCol="0" anchor="ctr"/>
          <a:lstStyle/>
          <a:p>
            <a:pPr>
              <a:lnSpc>
                <a:spcPct val="140000"/>
              </a:lnSpc>
            </a:pPr>
            <a:r>
              <a:rPr lang="en-US" sz="1107" b="1" dirty="0">
                <a:solidFill>
                  <a:srgbClr val="F8F9FA"/>
                </a:solidFill>
                <a:latin typeface="MiSans" pitchFamily="34" charset="0"/>
                <a:ea typeface="MiSans" pitchFamily="34" charset="-122"/>
                <a:cs typeface="MiSans" pitchFamily="34" charset="-120"/>
              </a:rPr>
              <a:t>Formative assessment:</a:t>
            </a:r>
            <a:pPr>
              <a:lnSpc>
                <a:spcPct val="140000"/>
              </a:lnSpc>
            </a:pPr>
            <a:r>
              <a:rPr lang="en-US" sz="1107" dirty="0">
                <a:solidFill>
                  <a:srgbClr val="F8F9FA"/>
                </a:solidFill>
                <a:latin typeface="MiSans" pitchFamily="34" charset="0"/>
                <a:ea typeface="MiSans" pitchFamily="34" charset="-122"/>
                <a:cs typeface="MiSans" pitchFamily="34" charset="-120"/>
              </a:rPr>
              <a:t> Embedded assessments determine whether the learner is operating within the ZPD</a:t>
            </a:r>
            <a:endParaRPr lang="en-US" sz="1600" dirty="0"/>
          </a:p>
        </p:txBody>
      </p:sp>
      <p:sp>
        <p:nvSpPr>
          <p:cNvPr id="21" name="Shape 19"/>
          <p:cNvSpPr/>
          <p:nvPr/>
        </p:nvSpPr>
        <p:spPr>
          <a:xfrm>
            <a:off x="492251" y="5731207"/>
            <a:ext cx="281286" cy="281286"/>
          </a:xfrm>
          <a:custGeom>
            <a:avLst/>
            <a:gdLst/>
            <a:ahLst/>
            <a:cxnLst/>
            <a:rect l="l" t="t" r="r" b="b"/>
            <a:pathLst>
              <a:path w="281286" h="281286">
                <a:moveTo>
                  <a:pt x="0" y="0"/>
                </a:moveTo>
                <a:lnTo>
                  <a:pt x="281286" y="0"/>
                </a:lnTo>
                <a:lnTo>
                  <a:pt x="281286" y="281286"/>
                </a:lnTo>
                <a:lnTo>
                  <a:pt x="0" y="281286"/>
                </a:lnTo>
                <a:lnTo>
                  <a:pt x="0" y="0"/>
                </a:lnTo>
                <a:close/>
              </a:path>
            </a:pathLst>
          </a:custGeom>
          <a:solidFill>
            <a:srgbClr val="C49A2C"/>
          </a:solidFill>
          <a:ln/>
        </p:spPr>
      </p:sp>
      <p:sp>
        <p:nvSpPr>
          <p:cNvPr id="22" name="Text 20"/>
          <p:cNvSpPr/>
          <p:nvPr/>
        </p:nvSpPr>
        <p:spPr>
          <a:xfrm>
            <a:off x="457090" y="5731207"/>
            <a:ext cx="351608" cy="281286"/>
          </a:xfrm>
          <a:prstGeom prst="rect">
            <a:avLst/>
          </a:prstGeom>
          <a:noFill/>
          <a:ln/>
        </p:spPr>
        <p:txBody>
          <a:bodyPr wrap="square" lIns="0" tIns="0" rIns="0" bIns="0" rtlCol="0" anchor="ctr"/>
          <a:lstStyle/>
          <a:p>
            <a:pPr algn="ctr">
              <a:lnSpc>
                <a:spcPct val="130000"/>
              </a:lnSpc>
            </a:pPr>
            <a:r>
              <a:rPr lang="en-US" sz="1107" b="1" dirty="0">
                <a:solidFill>
                  <a:srgbClr val="F8F9FA"/>
                </a:solidFill>
                <a:latin typeface="MiSans" pitchFamily="34" charset="0"/>
                <a:ea typeface="MiSans" pitchFamily="34" charset="-122"/>
                <a:cs typeface="MiSans" pitchFamily="34" charset="-120"/>
              </a:rPr>
              <a:t>3</a:t>
            </a:r>
            <a:endParaRPr lang="en-US" sz="1600" dirty="0"/>
          </a:p>
        </p:txBody>
      </p:sp>
      <p:sp>
        <p:nvSpPr>
          <p:cNvPr id="23" name="Text 21"/>
          <p:cNvSpPr/>
          <p:nvPr/>
        </p:nvSpPr>
        <p:spPr>
          <a:xfrm>
            <a:off x="879019" y="5731207"/>
            <a:ext cx="5071942" cy="457090"/>
          </a:xfrm>
          <a:prstGeom prst="rect">
            <a:avLst/>
          </a:prstGeom>
          <a:noFill/>
          <a:ln/>
        </p:spPr>
        <p:txBody>
          <a:bodyPr wrap="square" lIns="0" tIns="0" rIns="0" bIns="0" rtlCol="0" anchor="ctr"/>
          <a:lstStyle/>
          <a:p>
            <a:pPr>
              <a:lnSpc>
                <a:spcPct val="140000"/>
              </a:lnSpc>
            </a:pPr>
            <a:r>
              <a:rPr lang="en-US" sz="1107" b="1" dirty="0">
                <a:solidFill>
                  <a:srgbClr val="F8F9FA"/>
                </a:solidFill>
                <a:latin typeface="MiSans" pitchFamily="34" charset="0"/>
                <a:ea typeface="MiSans" pitchFamily="34" charset="-122"/>
                <a:cs typeface="MiSans" pitchFamily="34" charset="-120"/>
              </a:rPr>
              <a:t>Gradual withdrawal:</a:t>
            </a:r>
            <a:pPr>
              <a:lnSpc>
                <a:spcPct val="140000"/>
              </a:lnSpc>
            </a:pPr>
            <a:r>
              <a:rPr lang="en-US" sz="1107" dirty="0">
                <a:solidFill>
                  <a:srgbClr val="F8F9FA"/>
                </a:solidFill>
                <a:latin typeface="MiSans" pitchFamily="34" charset="0"/>
                <a:ea typeface="MiSans" pitchFamily="34" charset="-122"/>
                <a:cs typeface="MiSans" pitchFamily="34" charset="-120"/>
              </a:rPr>
              <a:t> As competence increases, scaffolding is progressively reduced</a:t>
            </a:r>
            <a:endParaRPr lang="en-US" sz="1600" dirty="0"/>
          </a:p>
        </p:txBody>
      </p:sp>
      <p:sp>
        <p:nvSpPr>
          <p:cNvPr id="24" name="Shape 22"/>
          <p:cNvSpPr/>
          <p:nvPr/>
        </p:nvSpPr>
        <p:spPr>
          <a:xfrm>
            <a:off x="492251" y="6258619"/>
            <a:ext cx="281286" cy="281286"/>
          </a:xfrm>
          <a:custGeom>
            <a:avLst/>
            <a:gdLst/>
            <a:ahLst/>
            <a:cxnLst/>
            <a:rect l="l" t="t" r="r" b="b"/>
            <a:pathLst>
              <a:path w="281286" h="281286">
                <a:moveTo>
                  <a:pt x="0" y="0"/>
                </a:moveTo>
                <a:lnTo>
                  <a:pt x="281286" y="0"/>
                </a:lnTo>
                <a:lnTo>
                  <a:pt x="281286" y="281286"/>
                </a:lnTo>
                <a:lnTo>
                  <a:pt x="0" y="281286"/>
                </a:lnTo>
                <a:lnTo>
                  <a:pt x="0" y="0"/>
                </a:lnTo>
                <a:close/>
              </a:path>
            </a:pathLst>
          </a:custGeom>
          <a:solidFill>
            <a:srgbClr val="C49A2C"/>
          </a:solidFill>
          <a:ln/>
        </p:spPr>
      </p:sp>
      <p:sp>
        <p:nvSpPr>
          <p:cNvPr id="25" name="Text 23"/>
          <p:cNvSpPr/>
          <p:nvPr/>
        </p:nvSpPr>
        <p:spPr>
          <a:xfrm>
            <a:off x="457090" y="6258619"/>
            <a:ext cx="351608" cy="281286"/>
          </a:xfrm>
          <a:prstGeom prst="rect">
            <a:avLst/>
          </a:prstGeom>
          <a:noFill/>
          <a:ln/>
        </p:spPr>
        <p:txBody>
          <a:bodyPr wrap="square" lIns="0" tIns="0" rIns="0" bIns="0" rtlCol="0" anchor="ctr"/>
          <a:lstStyle/>
          <a:p>
            <a:pPr algn="ctr">
              <a:lnSpc>
                <a:spcPct val="130000"/>
              </a:lnSpc>
            </a:pPr>
            <a:r>
              <a:rPr lang="en-US" sz="1107" b="1" dirty="0">
                <a:solidFill>
                  <a:srgbClr val="F8F9FA"/>
                </a:solidFill>
                <a:latin typeface="MiSans" pitchFamily="34" charset="0"/>
                <a:ea typeface="MiSans" pitchFamily="34" charset="-122"/>
                <a:cs typeface="MiSans" pitchFamily="34" charset="-120"/>
              </a:rPr>
              <a:t>4</a:t>
            </a:r>
            <a:endParaRPr lang="en-US" sz="1600" dirty="0"/>
          </a:p>
        </p:txBody>
      </p:sp>
      <p:sp>
        <p:nvSpPr>
          <p:cNvPr id="26" name="Text 24"/>
          <p:cNvSpPr/>
          <p:nvPr/>
        </p:nvSpPr>
        <p:spPr>
          <a:xfrm>
            <a:off x="879019" y="6258619"/>
            <a:ext cx="5071942" cy="457090"/>
          </a:xfrm>
          <a:prstGeom prst="rect">
            <a:avLst/>
          </a:prstGeom>
          <a:noFill/>
          <a:ln/>
        </p:spPr>
        <p:txBody>
          <a:bodyPr wrap="square" lIns="0" tIns="0" rIns="0" bIns="0" rtlCol="0" anchor="ctr"/>
          <a:lstStyle/>
          <a:p>
            <a:pPr>
              <a:lnSpc>
                <a:spcPct val="140000"/>
              </a:lnSpc>
            </a:pPr>
            <a:r>
              <a:rPr lang="en-US" sz="1107" b="1" dirty="0">
                <a:solidFill>
                  <a:srgbClr val="F8F9FA"/>
                </a:solidFill>
                <a:latin typeface="MiSans" pitchFamily="34" charset="0"/>
                <a:ea typeface="MiSans" pitchFamily="34" charset="-122"/>
                <a:cs typeface="MiSans" pitchFamily="34" charset="-120"/>
              </a:rPr>
              <a:t>Independent operation:</a:t>
            </a:r>
            <a:pPr>
              <a:lnSpc>
                <a:spcPct val="140000"/>
              </a:lnSpc>
            </a:pPr>
            <a:r>
              <a:rPr lang="en-US" sz="1107" dirty="0">
                <a:solidFill>
                  <a:srgbClr val="F8F9FA"/>
                </a:solidFill>
                <a:latin typeface="MiSans" pitchFamily="34" charset="0"/>
                <a:ea typeface="MiSans" pitchFamily="34" charset="-122"/>
                <a:cs typeface="MiSans" pitchFamily="34" charset="-120"/>
              </a:rPr>
              <a:t> Learner can perform the task without support; ZPD has expanded</a:t>
            </a:r>
            <a:endParaRPr lang="en-US" sz="1600" dirty="0"/>
          </a:p>
        </p:txBody>
      </p:sp>
      <p:sp>
        <p:nvSpPr>
          <p:cNvPr id="27" name="Shape 25"/>
          <p:cNvSpPr/>
          <p:nvPr/>
        </p:nvSpPr>
        <p:spPr>
          <a:xfrm>
            <a:off x="6164856" y="1213047"/>
            <a:ext cx="5669676" cy="3938007"/>
          </a:xfrm>
          <a:custGeom>
            <a:avLst/>
            <a:gdLst/>
            <a:ahLst/>
            <a:cxnLst/>
            <a:rect l="l" t="t" r="r" b="b"/>
            <a:pathLst>
              <a:path w="5669676" h="3938007">
                <a:moveTo>
                  <a:pt x="0" y="0"/>
                </a:moveTo>
                <a:lnTo>
                  <a:pt x="5669676" y="0"/>
                </a:lnTo>
                <a:lnTo>
                  <a:pt x="5669676" y="3938007"/>
                </a:lnTo>
                <a:lnTo>
                  <a:pt x="0" y="3938007"/>
                </a:lnTo>
                <a:lnTo>
                  <a:pt x="0" y="0"/>
                </a:lnTo>
                <a:close/>
              </a:path>
            </a:pathLst>
          </a:custGeom>
          <a:solidFill>
            <a:srgbClr val="FFFFFF"/>
          </a:solidFill>
          <a:ln/>
        </p:spPr>
      </p:sp>
      <p:sp>
        <p:nvSpPr>
          <p:cNvPr id="28" name="Shape 26"/>
          <p:cNvSpPr/>
          <p:nvPr/>
        </p:nvSpPr>
        <p:spPr>
          <a:xfrm>
            <a:off x="6164856" y="1213047"/>
            <a:ext cx="5669676" cy="35161"/>
          </a:xfrm>
          <a:custGeom>
            <a:avLst/>
            <a:gdLst/>
            <a:ahLst/>
            <a:cxnLst/>
            <a:rect l="l" t="t" r="r" b="b"/>
            <a:pathLst>
              <a:path w="5669676" h="35161">
                <a:moveTo>
                  <a:pt x="0" y="0"/>
                </a:moveTo>
                <a:lnTo>
                  <a:pt x="5669676" y="0"/>
                </a:lnTo>
                <a:lnTo>
                  <a:pt x="5669676" y="35161"/>
                </a:lnTo>
                <a:lnTo>
                  <a:pt x="0" y="35161"/>
                </a:lnTo>
                <a:lnTo>
                  <a:pt x="0" y="0"/>
                </a:lnTo>
                <a:close/>
              </a:path>
            </a:pathLst>
          </a:custGeom>
          <a:solidFill>
            <a:srgbClr val="C49A2C"/>
          </a:solidFill>
          <a:ln/>
        </p:spPr>
      </p:sp>
      <p:sp>
        <p:nvSpPr>
          <p:cNvPr id="29" name="Text 27"/>
          <p:cNvSpPr/>
          <p:nvPr/>
        </p:nvSpPr>
        <p:spPr>
          <a:xfrm>
            <a:off x="6305499" y="1371270"/>
            <a:ext cx="5476291" cy="246125"/>
          </a:xfrm>
          <a:prstGeom prst="rect">
            <a:avLst/>
          </a:prstGeom>
          <a:noFill/>
          <a:ln/>
        </p:spPr>
        <p:txBody>
          <a:bodyPr wrap="square" lIns="0" tIns="0" rIns="0" bIns="0" rtlCol="0" anchor="ctr"/>
          <a:lstStyle/>
          <a:p>
            <a:pPr>
              <a:lnSpc>
                <a:spcPct val="120000"/>
              </a:lnSpc>
            </a:pPr>
            <a:r>
              <a:rPr lang="en-US" sz="1384" b="1" dirty="0">
                <a:solidFill>
                  <a:srgbClr val="1E3A5F"/>
                </a:solidFill>
                <a:latin typeface="MiSans" pitchFamily="34" charset="0"/>
                <a:ea typeface="MiSans" pitchFamily="34" charset="-122"/>
                <a:cs typeface="MiSans" pitchFamily="34" charset="-120"/>
              </a:rPr>
              <a:t>How the MPI Strands Deliver Scaffolding</a:t>
            </a:r>
            <a:endParaRPr lang="en-US" sz="1600" dirty="0"/>
          </a:p>
        </p:txBody>
      </p:sp>
      <p:sp>
        <p:nvSpPr>
          <p:cNvPr id="30" name="Shape 28"/>
          <p:cNvSpPr/>
          <p:nvPr/>
        </p:nvSpPr>
        <p:spPr>
          <a:xfrm>
            <a:off x="6305499" y="1722878"/>
            <a:ext cx="5388389" cy="1177886"/>
          </a:xfrm>
          <a:custGeom>
            <a:avLst/>
            <a:gdLst/>
            <a:ahLst/>
            <a:cxnLst/>
            <a:rect l="l" t="t" r="r" b="b"/>
            <a:pathLst>
              <a:path w="5388389" h="1177886">
                <a:moveTo>
                  <a:pt x="0" y="0"/>
                </a:moveTo>
                <a:lnTo>
                  <a:pt x="5388389" y="0"/>
                </a:lnTo>
                <a:lnTo>
                  <a:pt x="5388389" y="1177886"/>
                </a:lnTo>
                <a:lnTo>
                  <a:pt x="0" y="1177886"/>
                </a:lnTo>
                <a:lnTo>
                  <a:pt x="0" y="0"/>
                </a:lnTo>
                <a:close/>
              </a:path>
            </a:pathLst>
          </a:custGeom>
          <a:solidFill>
            <a:srgbClr val="F8F9FA"/>
          </a:solidFill>
          <a:ln/>
        </p:spPr>
      </p:sp>
      <p:sp>
        <p:nvSpPr>
          <p:cNvPr id="31" name="Text 29"/>
          <p:cNvSpPr/>
          <p:nvPr/>
        </p:nvSpPr>
        <p:spPr>
          <a:xfrm>
            <a:off x="6410982" y="1828360"/>
            <a:ext cx="5247746" cy="210965"/>
          </a:xfrm>
          <a:prstGeom prst="rect">
            <a:avLst/>
          </a:prstGeom>
          <a:noFill/>
          <a:ln/>
        </p:spPr>
        <p:txBody>
          <a:bodyPr wrap="square" lIns="0" tIns="0" rIns="0" bIns="0" rtlCol="0" anchor="ctr"/>
          <a:lstStyle/>
          <a:p>
            <a:pPr>
              <a:lnSpc>
                <a:spcPct val="130000"/>
              </a:lnSpc>
            </a:pPr>
            <a:r>
              <a:rPr lang="en-US" sz="1107" b="1" dirty="0">
                <a:solidFill>
                  <a:srgbClr val="1E3A5F"/>
                </a:solidFill>
                <a:latin typeface="MiSans" pitchFamily="34" charset="0"/>
                <a:ea typeface="MiSans" pitchFamily="34" charset="-122"/>
                <a:cs typeface="MiSans" pitchFamily="34" charset="-120"/>
              </a:rPr>
              <a:t>Strand 1: Structured Curriculum Sequencing</a:t>
            </a:r>
            <a:endParaRPr lang="en-US" sz="1600" dirty="0"/>
          </a:p>
        </p:txBody>
      </p:sp>
      <p:sp>
        <p:nvSpPr>
          <p:cNvPr id="32" name="Text 30"/>
          <p:cNvSpPr/>
          <p:nvPr/>
        </p:nvSpPr>
        <p:spPr>
          <a:xfrm>
            <a:off x="6410982" y="2109647"/>
            <a:ext cx="5247746" cy="685635"/>
          </a:xfrm>
          <a:prstGeom prst="rect">
            <a:avLst/>
          </a:prstGeom>
          <a:noFill/>
          <a:ln/>
        </p:spPr>
        <p:txBody>
          <a:bodyPr wrap="square" lIns="0" tIns="0" rIns="0" bIns="0" rtlCol="0" anchor="ctr"/>
          <a:lstStyle/>
          <a:p>
            <a:pPr>
              <a:lnSpc>
                <a:spcPct val="140000"/>
              </a:lnSpc>
            </a:pPr>
            <a:r>
              <a:rPr lang="en-US" sz="1107" dirty="0">
                <a:solidFill>
                  <a:srgbClr val="2D3436"/>
                </a:solidFill>
                <a:latin typeface="MiSans" pitchFamily="34" charset="0"/>
                <a:ea typeface="MiSans" pitchFamily="34" charset="-122"/>
                <a:cs typeface="MiSans" pitchFamily="34" charset="-120"/>
              </a:rPr>
              <a:t>Provides the </a:t>
            </a:r>
            <a:pPr>
              <a:lnSpc>
                <a:spcPct val="140000"/>
              </a:lnSpc>
            </a:pPr>
            <a:r>
              <a:rPr lang="en-US" sz="1107" b="1" dirty="0">
                <a:solidFill>
                  <a:srgbClr val="2D3436"/>
                </a:solidFill>
                <a:latin typeface="MiSans" pitchFamily="34" charset="0"/>
                <a:ea typeface="MiSans" pitchFamily="34" charset="-122"/>
                <a:cs typeface="MiSans" pitchFamily="34" charset="-120"/>
              </a:rPr>
              <a:t>architectural framework</a:t>
            </a:r>
            <a:pPr>
              <a:lnSpc>
                <a:spcPct val="140000"/>
              </a:lnSpc>
            </a:pPr>
            <a:r>
              <a:rPr lang="en-US" sz="1107" dirty="0">
                <a:solidFill>
                  <a:srgbClr val="2D3436"/>
                </a:solidFill>
                <a:latin typeface="MiSans" pitchFamily="34" charset="0"/>
                <a:ea typeface="MiSans" pitchFamily="34" charset="-122"/>
                <a:cs typeface="MiSans" pitchFamily="34" charset="-120"/>
              </a:rPr>
              <a:t> within which scaffolding is deployed. Each unit is designed to operate at a specific point in the learner's ZPD, with explicit scaffolding for content at the upper boundary.</a:t>
            </a:r>
            <a:endParaRPr lang="en-US" sz="1600" dirty="0"/>
          </a:p>
        </p:txBody>
      </p:sp>
      <p:sp>
        <p:nvSpPr>
          <p:cNvPr id="33" name="Shape 31"/>
          <p:cNvSpPr/>
          <p:nvPr/>
        </p:nvSpPr>
        <p:spPr>
          <a:xfrm>
            <a:off x="6305499" y="3006247"/>
            <a:ext cx="5388389" cy="949341"/>
          </a:xfrm>
          <a:custGeom>
            <a:avLst/>
            <a:gdLst/>
            <a:ahLst/>
            <a:cxnLst/>
            <a:rect l="l" t="t" r="r" b="b"/>
            <a:pathLst>
              <a:path w="5388389" h="949341">
                <a:moveTo>
                  <a:pt x="0" y="0"/>
                </a:moveTo>
                <a:lnTo>
                  <a:pt x="5388389" y="0"/>
                </a:lnTo>
                <a:lnTo>
                  <a:pt x="5388389" y="949341"/>
                </a:lnTo>
                <a:lnTo>
                  <a:pt x="0" y="949341"/>
                </a:lnTo>
                <a:lnTo>
                  <a:pt x="0" y="0"/>
                </a:lnTo>
                <a:close/>
              </a:path>
            </a:pathLst>
          </a:custGeom>
          <a:solidFill>
            <a:srgbClr val="F8F9FA"/>
          </a:solidFill>
          <a:ln/>
        </p:spPr>
      </p:sp>
      <p:sp>
        <p:nvSpPr>
          <p:cNvPr id="34" name="Text 32"/>
          <p:cNvSpPr/>
          <p:nvPr/>
        </p:nvSpPr>
        <p:spPr>
          <a:xfrm>
            <a:off x="6410982" y="3111729"/>
            <a:ext cx="5247746" cy="210965"/>
          </a:xfrm>
          <a:prstGeom prst="rect">
            <a:avLst/>
          </a:prstGeom>
          <a:noFill/>
          <a:ln/>
        </p:spPr>
        <p:txBody>
          <a:bodyPr wrap="square" lIns="0" tIns="0" rIns="0" bIns="0" rtlCol="0" anchor="ctr"/>
          <a:lstStyle/>
          <a:p>
            <a:pPr>
              <a:lnSpc>
                <a:spcPct val="130000"/>
              </a:lnSpc>
            </a:pPr>
            <a:r>
              <a:rPr lang="en-US" sz="1107" b="1" dirty="0">
                <a:solidFill>
                  <a:srgbClr val="1E3A5F"/>
                </a:solidFill>
                <a:latin typeface="MiSans" pitchFamily="34" charset="0"/>
                <a:ea typeface="MiSans" pitchFamily="34" charset="-122"/>
                <a:cs typeface="MiSans" pitchFamily="34" charset="-120"/>
              </a:rPr>
              <a:t>Strand 2: Formative Assessment Integration</a:t>
            </a:r>
            <a:endParaRPr lang="en-US" sz="1600" dirty="0"/>
          </a:p>
        </p:txBody>
      </p:sp>
      <p:sp>
        <p:nvSpPr>
          <p:cNvPr id="35" name="Text 33"/>
          <p:cNvSpPr/>
          <p:nvPr/>
        </p:nvSpPr>
        <p:spPr>
          <a:xfrm>
            <a:off x="6410982" y="3393015"/>
            <a:ext cx="5247746" cy="457090"/>
          </a:xfrm>
          <a:prstGeom prst="rect">
            <a:avLst/>
          </a:prstGeom>
          <a:noFill/>
          <a:ln/>
        </p:spPr>
        <p:txBody>
          <a:bodyPr wrap="square" lIns="0" tIns="0" rIns="0" bIns="0" rtlCol="0" anchor="ctr"/>
          <a:lstStyle/>
          <a:p>
            <a:pPr>
              <a:lnSpc>
                <a:spcPct val="140000"/>
              </a:lnSpc>
            </a:pPr>
            <a:r>
              <a:rPr lang="en-US" sz="1107" dirty="0">
                <a:solidFill>
                  <a:srgbClr val="2D3436"/>
                </a:solidFill>
                <a:latin typeface="MiSans" pitchFamily="34" charset="0"/>
                <a:ea typeface="MiSans" pitchFamily="34" charset="-122"/>
                <a:cs typeface="MiSans" pitchFamily="34" charset="-120"/>
              </a:rPr>
              <a:t>Provides the </a:t>
            </a:r>
            <a:pPr>
              <a:lnSpc>
                <a:spcPct val="140000"/>
              </a:lnSpc>
            </a:pPr>
            <a:r>
              <a:rPr lang="en-US" sz="1107" b="1" dirty="0">
                <a:solidFill>
                  <a:srgbClr val="2D3436"/>
                </a:solidFill>
                <a:latin typeface="MiSans" pitchFamily="34" charset="0"/>
                <a:ea typeface="MiSans" pitchFamily="34" charset="-122"/>
                <a:cs typeface="MiSans" pitchFamily="34" charset="-120"/>
              </a:rPr>
              <a:t>diagnostic mechanism</a:t>
            </a:r>
            <a:pPr>
              <a:lnSpc>
                <a:spcPct val="140000"/>
              </a:lnSpc>
            </a:pPr>
            <a:r>
              <a:rPr lang="en-US" sz="1107" dirty="0">
                <a:solidFill>
                  <a:srgbClr val="2D3436"/>
                </a:solidFill>
                <a:latin typeface="MiSans" pitchFamily="34" charset="0"/>
                <a:ea typeface="MiSans" pitchFamily="34" charset="-122"/>
                <a:cs typeface="MiSans" pitchFamily="34" charset="-120"/>
              </a:rPr>
              <a:t> that determines whether the scaffolding is appropriately calibrated — whether it is sufficient, excessive, or misaligned.</a:t>
            </a:r>
            <a:endParaRPr lang="en-US" sz="1600" dirty="0"/>
          </a:p>
        </p:txBody>
      </p:sp>
      <p:sp>
        <p:nvSpPr>
          <p:cNvPr id="36" name="Shape 34"/>
          <p:cNvSpPr/>
          <p:nvPr/>
        </p:nvSpPr>
        <p:spPr>
          <a:xfrm>
            <a:off x="6305499" y="4061070"/>
            <a:ext cx="5388389" cy="949341"/>
          </a:xfrm>
          <a:custGeom>
            <a:avLst/>
            <a:gdLst/>
            <a:ahLst/>
            <a:cxnLst/>
            <a:rect l="l" t="t" r="r" b="b"/>
            <a:pathLst>
              <a:path w="5388389" h="949341">
                <a:moveTo>
                  <a:pt x="0" y="0"/>
                </a:moveTo>
                <a:lnTo>
                  <a:pt x="5388389" y="0"/>
                </a:lnTo>
                <a:lnTo>
                  <a:pt x="5388389" y="949341"/>
                </a:lnTo>
                <a:lnTo>
                  <a:pt x="0" y="949341"/>
                </a:lnTo>
                <a:lnTo>
                  <a:pt x="0" y="0"/>
                </a:lnTo>
                <a:close/>
              </a:path>
            </a:pathLst>
          </a:custGeom>
          <a:solidFill>
            <a:srgbClr val="F8F9FA"/>
          </a:solidFill>
          <a:ln/>
        </p:spPr>
      </p:sp>
      <p:sp>
        <p:nvSpPr>
          <p:cNvPr id="37" name="Text 35"/>
          <p:cNvSpPr/>
          <p:nvPr/>
        </p:nvSpPr>
        <p:spPr>
          <a:xfrm>
            <a:off x="6410982" y="4166552"/>
            <a:ext cx="5247746" cy="210965"/>
          </a:xfrm>
          <a:prstGeom prst="rect">
            <a:avLst/>
          </a:prstGeom>
          <a:noFill/>
          <a:ln/>
        </p:spPr>
        <p:txBody>
          <a:bodyPr wrap="square" lIns="0" tIns="0" rIns="0" bIns="0" rtlCol="0" anchor="ctr"/>
          <a:lstStyle/>
          <a:p>
            <a:pPr>
              <a:lnSpc>
                <a:spcPct val="130000"/>
              </a:lnSpc>
            </a:pPr>
            <a:r>
              <a:rPr lang="en-US" sz="1107" b="1" dirty="0">
                <a:solidFill>
                  <a:srgbClr val="1E3A5F"/>
                </a:solidFill>
                <a:latin typeface="MiSans" pitchFamily="34" charset="0"/>
                <a:ea typeface="MiSans" pitchFamily="34" charset="-122"/>
                <a:cs typeface="MiSans" pitchFamily="34" charset="-120"/>
              </a:rPr>
              <a:t>Strand 3: Professional Development</a:t>
            </a:r>
            <a:endParaRPr lang="en-US" sz="1600" dirty="0"/>
          </a:p>
        </p:txBody>
      </p:sp>
      <p:sp>
        <p:nvSpPr>
          <p:cNvPr id="38" name="Text 36"/>
          <p:cNvSpPr/>
          <p:nvPr/>
        </p:nvSpPr>
        <p:spPr>
          <a:xfrm>
            <a:off x="6410982" y="4447839"/>
            <a:ext cx="5247746" cy="457090"/>
          </a:xfrm>
          <a:prstGeom prst="rect">
            <a:avLst/>
          </a:prstGeom>
          <a:noFill/>
          <a:ln/>
        </p:spPr>
        <p:txBody>
          <a:bodyPr wrap="square" lIns="0" tIns="0" rIns="0" bIns="0" rtlCol="0" anchor="ctr"/>
          <a:lstStyle/>
          <a:p>
            <a:pPr>
              <a:lnSpc>
                <a:spcPct val="140000"/>
              </a:lnSpc>
            </a:pPr>
            <a:r>
              <a:rPr lang="en-US" sz="1107" dirty="0">
                <a:solidFill>
                  <a:srgbClr val="2D3436"/>
                </a:solidFill>
                <a:latin typeface="MiSans" pitchFamily="34" charset="0"/>
                <a:ea typeface="MiSans" pitchFamily="34" charset="-122"/>
                <a:cs typeface="MiSans" pitchFamily="34" charset="-120"/>
              </a:rPr>
              <a:t>Ensures that teachers have the </a:t>
            </a:r>
            <a:pPr>
              <a:lnSpc>
                <a:spcPct val="140000"/>
              </a:lnSpc>
            </a:pPr>
            <a:r>
              <a:rPr lang="en-US" sz="1107" b="1" dirty="0">
                <a:solidFill>
                  <a:srgbClr val="2D3436"/>
                </a:solidFill>
                <a:latin typeface="MiSans" pitchFamily="34" charset="0"/>
                <a:ea typeface="MiSans" pitchFamily="34" charset="-122"/>
                <a:cs typeface="MiSans" pitchFamily="34" charset="-120"/>
              </a:rPr>
              <a:t>pedagogical skill</a:t>
            </a:r>
            <a:pPr>
              <a:lnSpc>
                <a:spcPct val="140000"/>
              </a:lnSpc>
            </a:pPr>
            <a:r>
              <a:rPr lang="en-US" sz="1107" dirty="0">
                <a:solidFill>
                  <a:srgbClr val="2D3436"/>
                </a:solidFill>
                <a:latin typeface="MiSans" pitchFamily="34" charset="0"/>
                <a:ea typeface="MiSans" pitchFamily="34" charset="-122"/>
                <a:cs typeface="MiSans" pitchFamily="34" charset="-120"/>
              </a:rPr>
              <a:t> to deploy and withdraw scaffolding in response to formative assessment data.</a:t>
            </a:r>
            <a:endParaRPr lang="en-US" sz="1600" dirty="0"/>
          </a:p>
        </p:txBody>
      </p:sp>
      <p:sp>
        <p:nvSpPr>
          <p:cNvPr id="39" name="Shape 37"/>
          <p:cNvSpPr/>
          <p:nvPr/>
        </p:nvSpPr>
        <p:spPr>
          <a:xfrm>
            <a:off x="6182437" y="5256536"/>
            <a:ext cx="5652095" cy="966921"/>
          </a:xfrm>
          <a:custGeom>
            <a:avLst/>
            <a:gdLst/>
            <a:ahLst/>
            <a:cxnLst/>
            <a:rect l="l" t="t" r="r" b="b"/>
            <a:pathLst>
              <a:path w="5652095" h="966921">
                <a:moveTo>
                  <a:pt x="0" y="0"/>
                </a:moveTo>
                <a:lnTo>
                  <a:pt x="5652095" y="0"/>
                </a:lnTo>
                <a:lnTo>
                  <a:pt x="5652095" y="966921"/>
                </a:lnTo>
                <a:lnTo>
                  <a:pt x="0" y="966921"/>
                </a:lnTo>
                <a:lnTo>
                  <a:pt x="0" y="0"/>
                </a:lnTo>
                <a:close/>
              </a:path>
            </a:pathLst>
          </a:custGeom>
          <a:solidFill>
            <a:srgbClr val="C49A2C">
              <a:alpha val="10196"/>
            </a:srgbClr>
          </a:solidFill>
          <a:ln/>
        </p:spPr>
      </p:sp>
      <p:sp>
        <p:nvSpPr>
          <p:cNvPr id="40" name="Shape 38"/>
          <p:cNvSpPr/>
          <p:nvPr/>
        </p:nvSpPr>
        <p:spPr>
          <a:xfrm>
            <a:off x="6182437" y="5256536"/>
            <a:ext cx="35161" cy="966921"/>
          </a:xfrm>
          <a:custGeom>
            <a:avLst/>
            <a:gdLst/>
            <a:ahLst/>
            <a:cxnLst/>
            <a:rect l="l" t="t" r="r" b="b"/>
            <a:pathLst>
              <a:path w="35161" h="966921">
                <a:moveTo>
                  <a:pt x="0" y="0"/>
                </a:moveTo>
                <a:lnTo>
                  <a:pt x="35161" y="0"/>
                </a:lnTo>
                <a:lnTo>
                  <a:pt x="35161" y="966921"/>
                </a:lnTo>
                <a:lnTo>
                  <a:pt x="0" y="966921"/>
                </a:lnTo>
                <a:lnTo>
                  <a:pt x="0" y="0"/>
                </a:lnTo>
                <a:close/>
              </a:path>
            </a:pathLst>
          </a:custGeom>
          <a:solidFill>
            <a:srgbClr val="C49A2C"/>
          </a:solidFill>
          <a:ln/>
        </p:spPr>
      </p:sp>
      <p:sp>
        <p:nvSpPr>
          <p:cNvPr id="41" name="Shape 39"/>
          <p:cNvSpPr/>
          <p:nvPr/>
        </p:nvSpPr>
        <p:spPr>
          <a:xfrm>
            <a:off x="6375821" y="5445526"/>
            <a:ext cx="105482" cy="140643"/>
          </a:xfrm>
          <a:custGeom>
            <a:avLst/>
            <a:gdLst/>
            <a:ahLst/>
            <a:cxnLst/>
            <a:rect l="l" t="t" r="r" b="b"/>
            <a:pathLst>
              <a:path w="105482" h="140643">
                <a:moveTo>
                  <a:pt x="80458" y="105482"/>
                </a:moveTo>
                <a:cubicBezTo>
                  <a:pt x="82463" y="99357"/>
                  <a:pt x="86474" y="93808"/>
                  <a:pt x="91006" y="89028"/>
                </a:cubicBezTo>
                <a:cubicBezTo>
                  <a:pt x="99988" y="79579"/>
                  <a:pt x="105482" y="66805"/>
                  <a:pt x="105482" y="52741"/>
                </a:cubicBezTo>
                <a:cubicBezTo>
                  <a:pt x="105482" y="23624"/>
                  <a:pt x="81859" y="0"/>
                  <a:pt x="52741" y="0"/>
                </a:cubicBezTo>
                <a:cubicBezTo>
                  <a:pt x="23624" y="0"/>
                  <a:pt x="0" y="23624"/>
                  <a:pt x="0" y="52741"/>
                </a:cubicBezTo>
                <a:cubicBezTo>
                  <a:pt x="0" y="66805"/>
                  <a:pt x="5494" y="79579"/>
                  <a:pt x="14476" y="89028"/>
                </a:cubicBezTo>
                <a:cubicBezTo>
                  <a:pt x="19009" y="93808"/>
                  <a:pt x="23047" y="99357"/>
                  <a:pt x="25025" y="105482"/>
                </a:cubicBezTo>
                <a:lnTo>
                  <a:pt x="80430" y="105482"/>
                </a:lnTo>
                <a:close/>
                <a:moveTo>
                  <a:pt x="79112" y="118668"/>
                </a:moveTo>
                <a:lnTo>
                  <a:pt x="26371" y="118668"/>
                </a:lnTo>
                <a:lnTo>
                  <a:pt x="26371" y="123063"/>
                </a:lnTo>
                <a:cubicBezTo>
                  <a:pt x="26371" y="135204"/>
                  <a:pt x="36205" y="145038"/>
                  <a:pt x="48346" y="145038"/>
                </a:cubicBezTo>
                <a:lnTo>
                  <a:pt x="57136" y="145038"/>
                </a:lnTo>
                <a:cubicBezTo>
                  <a:pt x="69278" y="145038"/>
                  <a:pt x="79112" y="135204"/>
                  <a:pt x="79112" y="123063"/>
                </a:cubicBezTo>
                <a:lnTo>
                  <a:pt x="79112" y="118668"/>
                </a:lnTo>
                <a:close/>
                <a:moveTo>
                  <a:pt x="50544" y="30766"/>
                </a:moveTo>
                <a:cubicBezTo>
                  <a:pt x="39611" y="30766"/>
                  <a:pt x="30766" y="39611"/>
                  <a:pt x="30766" y="50544"/>
                </a:cubicBezTo>
                <a:cubicBezTo>
                  <a:pt x="30766" y="54197"/>
                  <a:pt x="27826" y="57136"/>
                  <a:pt x="24173" y="57136"/>
                </a:cubicBezTo>
                <a:cubicBezTo>
                  <a:pt x="20520" y="57136"/>
                  <a:pt x="17580" y="54197"/>
                  <a:pt x="17580" y="50544"/>
                </a:cubicBezTo>
                <a:cubicBezTo>
                  <a:pt x="17580" y="32331"/>
                  <a:pt x="32331" y="17580"/>
                  <a:pt x="50544" y="17580"/>
                </a:cubicBezTo>
                <a:cubicBezTo>
                  <a:pt x="54197" y="17580"/>
                  <a:pt x="57136" y="20520"/>
                  <a:pt x="57136" y="24173"/>
                </a:cubicBezTo>
                <a:cubicBezTo>
                  <a:pt x="57136" y="27826"/>
                  <a:pt x="54197" y="30766"/>
                  <a:pt x="50544" y="30766"/>
                </a:cubicBezTo>
                <a:close/>
              </a:path>
            </a:pathLst>
          </a:custGeom>
          <a:solidFill>
            <a:srgbClr val="C49A2C"/>
          </a:solidFill>
          <a:ln/>
        </p:spPr>
      </p:sp>
      <p:sp>
        <p:nvSpPr>
          <p:cNvPr id="42" name="Text 40"/>
          <p:cNvSpPr/>
          <p:nvPr/>
        </p:nvSpPr>
        <p:spPr>
          <a:xfrm>
            <a:off x="6565137" y="5397180"/>
            <a:ext cx="5199074" cy="685635"/>
          </a:xfrm>
          <a:prstGeom prst="rect">
            <a:avLst/>
          </a:prstGeom>
          <a:noFill/>
          <a:ln/>
        </p:spPr>
        <p:txBody>
          <a:bodyPr wrap="square" lIns="0" tIns="0" rIns="0" bIns="0" rtlCol="0" anchor="ctr"/>
          <a:lstStyle/>
          <a:p>
            <a:pPr>
              <a:lnSpc>
                <a:spcPct val="140000"/>
              </a:lnSpc>
            </a:pPr>
            <a:r>
              <a:rPr lang="en-US" sz="1107" b="1" dirty="0">
                <a:solidFill>
                  <a:srgbClr val="1E3A5F"/>
                </a:solidFill>
                <a:latin typeface="MiSans" pitchFamily="34" charset="0"/>
                <a:ea typeface="MiSans" pitchFamily="34" charset="-122"/>
                <a:cs typeface="MiSans" pitchFamily="34" charset="-120"/>
              </a:rPr>
              <a:t>Key Insight:</a:t>
            </a:r>
            <a:pPr>
              <a:lnSpc>
                <a:spcPct val="140000"/>
              </a:lnSpc>
            </a:pPr>
            <a:r>
              <a:rPr lang="en-US" sz="1107" dirty="0">
                <a:solidFill>
                  <a:srgbClr val="1E3A5F"/>
                </a:solidFill>
                <a:latin typeface="MiSans" pitchFamily="34" charset="0"/>
                <a:ea typeface="MiSans" pitchFamily="34" charset="-122"/>
                <a:cs typeface="MiSans" pitchFamily="34" charset="-120"/>
              </a:rPr>
              <a:t> This is not a theoretical abstraction. It is the operational logic of the entire framework. Every component of the MPI is designed to support, monitor, or adjust the scaffolding process.</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30407" y="330407"/>
            <a:ext cx="66081" cy="396488"/>
          </a:xfrm>
          <a:custGeom>
            <a:avLst/>
            <a:gdLst/>
            <a:ahLst/>
            <a:cxnLst/>
            <a:rect l="l" t="t" r="r" b="b"/>
            <a:pathLst>
              <a:path w="66081" h="396488">
                <a:moveTo>
                  <a:pt x="0" y="0"/>
                </a:moveTo>
                <a:lnTo>
                  <a:pt x="66081" y="0"/>
                </a:lnTo>
                <a:lnTo>
                  <a:pt x="66081" y="396488"/>
                </a:lnTo>
                <a:lnTo>
                  <a:pt x="0" y="396488"/>
                </a:lnTo>
                <a:lnTo>
                  <a:pt x="0" y="0"/>
                </a:lnTo>
                <a:close/>
              </a:path>
            </a:pathLst>
          </a:custGeom>
          <a:solidFill>
            <a:srgbClr val="1E3A5F"/>
          </a:solidFill>
          <a:ln/>
        </p:spPr>
      </p:sp>
      <p:sp>
        <p:nvSpPr>
          <p:cNvPr id="3" name="Text 1"/>
          <p:cNvSpPr/>
          <p:nvPr/>
        </p:nvSpPr>
        <p:spPr>
          <a:xfrm>
            <a:off x="495610" y="379967"/>
            <a:ext cx="9532228" cy="297366"/>
          </a:xfrm>
          <a:prstGeom prst="rect">
            <a:avLst/>
          </a:prstGeom>
          <a:noFill/>
          <a:ln/>
        </p:spPr>
        <p:txBody>
          <a:bodyPr wrap="square" lIns="0" tIns="0" rIns="0" bIns="0" rtlCol="0" anchor="ctr"/>
          <a:lstStyle/>
          <a:p>
            <a:pPr>
              <a:lnSpc>
                <a:spcPct val="100000"/>
              </a:lnSpc>
            </a:pPr>
            <a:r>
              <a:rPr lang="en-US" sz="1951" b="1" dirty="0">
                <a:solidFill>
                  <a:srgbClr val="1E3A5F"/>
                </a:solidFill>
                <a:latin typeface="MiSans" pitchFamily="34" charset="0"/>
                <a:ea typeface="MiSans" pitchFamily="34" charset="-122"/>
                <a:cs typeface="MiSans" pitchFamily="34" charset="-120"/>
              </a:rPr>
              <a:t>Mapping Vygotsky onto the MPI: Strand 1 — Structured Curriculum Sequencing</a:t>
            </a:r>
            <a:endParaRPr lang="en-US" sz="1600" dirty="0"/>
          </a:p>
        </p:txBody>
      </p:sp>
      <p:sp>
        <p:nvSpPr>
          <p:cNvPr id="4" name="Shape 2"/>
          <p:cNvSpPr/>
          <p:nvPr/>
        </p:nvSpPr>
        <p:spPr>
          <a:xfrm>
            <a:off x="330407" y="941659"/>
            <a:ext cx="5699512" cy="2742374"/>
          </a:xfrm>
          <a:custGeom>
            <a:avLst/>
            <a:gdLst/>
            <a:ahLst/>
            <a:cxnLst/>
            <a:rect l="l" t="t" r="r" b="b"/>
            <a:pathLst>
              <a:path w="5699512" h="2742374">
                <a:moveTo>
                  <a:pt x="0" y="0"/>
                </a:moveTo>
                <a:lnTo>
                  <a:pt x="5699512" y="0"/>
                </a:lnTo>
                <a:lnTo>
                  <a:pt x="5699512" y="2742374"/>
                </a:lnTo>
                <a:lnTo>
                  <a:pt x="0" y="2742374"/>
                </a:lnTo>
                <a:lnTo>
                  <a:pt x="0" y="0"/>
                </a:lnTo>
                <a:close/>
              </a:path>
            </a:pathLst>
          </a:custGeom>
          <a:solidFill>
            <a:srgbClr val="FFFFFF"/>
          </a:solidFill>
          <a:ln/>
        </p:spPr>
      </p:sp>
      <p:sp>
        <p:nvSpPr>
          <p:cNvPr id="5" name="Shape 3"/>
          <p:cNvSpPr/>
          <p:nvPr/>
        </p:nvSpPr>
        <p:spPr>
          <a:xfrm>
            <a:off x="330407" y="941659"/>
            <a:ext cx="5699512" cy="33041"/>
          </a:xfrm>
          <a:custGeom>
            <a:avLst/>
            <a:gdLst/>
            <a:ahLst/>
            <a:cxnLst/>
            <a:rect l="l" t="t" r="r" b="b"/>
            <a:pathLst>
              <a:path w="5699512" h="33041">
                <a:moveTo>
                  <a:pt x="0" y="0"/>
                </a:moveTo>
                <a:lnTo>
                  <a:pt x="5699512" y="0"/>
                </a:lnTo>
                <a:lnTo>
                  <a:pt x="5699512" y="33041"/>
                </a:lnTo>
                <a:lnTo>
                  <a:pt x="0" y="33041"/>
                </a:lnTo>
                <a:lnTo>
                  <a:pt x="0" y="0"/>
                </a:lnTo>
                <a:close/>
              </a:path>
            </a:pathLst>
          </a:custGeom>
          <a:solidFill>
            <a:srgbClr val="1E3A5F"/>
          </a:solidFill>
          <a:ln/>
        </p:spPr>
      </p:sp>
      <p:sp>
        <p:nvSpPr>
          <p:cNvPr id="6" name="Text 4"/>
          <p:cNvSpPr/>
          <p:nvPr/>
        </p:nvSpPr>
        <p:spPr>
          <a:xfrm>
            <a:off x="462569" y="1090341"/>
            <a:ext cx="5517789" cy="231285"/>
          </a:xfrm>
          <a:prstGeom prst="rect">
            <a:avLst/>
          </a:prstGeom>
          <a:noFill/>
          <a:ln/>
        </p:spPr>
        <p:txBody>
          <a:bodyPr wrap="square" lIns="0" tIns="0" rIns="0" bIns="0" rtlCol="0" anchor="ctr"/>
          <a:lstStyle/>
          <a:p>
            <a:pPr>
              <a:lnSpc>
                <a:spcPct val="120000"/>
              </a:lnSpc>
            </a:pPr>
            <a:r>
              <a:rPr lang="en-US" sz="1301" b="1" dirty="0">
                <a:solidFill>
                  <a:srgbClr val="1E3A5F"/>
                </a:solidFill>
                <a:latin typeface="MiSans" pitchFamily="34" charset="0"/>
                <a:ea typeface="MiSans" pitchFamily="34" charset="-122"/>
                <a:cs typeface="MiSans" pitchFamily="34" charset="-120"/>
              </a:rPr>
              <a:t>Operationalising the ZPD</a:t>
            </a:r>
            <a:endParaRPr lang="en-US" sz="1600" dirty="0"/>
          </a:p>
        </p:txBody>
      </p:sp>
      <p:sp>
        <p:nvSpPr>
          <p:cNvPr id="7" name="Text 5"/>
          <p:cNvSpPr/>
          <p:nvPr/>
        </p:nvSpPr>
        <p:spPr>
          <a:xfrm>
            <a:off x="462569" y="1420748"/>
            <a:ext cx="5501268" cy="644293"/>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The first strand of the MPI — </a:t>
            </a:r>
            <a:pPr>
              <a:lnSpc>
                <a:spcPct val="140000"/>
              </a:lnSpc>
            </a:pPr>
            <a:r>
              <a:rPr lang="en-US" sz="1041" b="1" dirty="0">
                <a:solidFill>
                  <a:srgbClr val="2D3436"/>
                </a:solidFill>
                <a:latin typeface="MiSans" pitchFamily="34" charset="0"/>
                <a:ea typeface="MiSans" pitchFamily="34" charset="-122"/>
                <a:cs typeface="MiSans" pitchFamily="34" charset="-120"/>
              </a:rPr>
              <a:t>structured curriculum sequencing</a:t>
            </a:r>
            <a:pPr>
              <a:lnSpc>
                <a:spcPct val="140000"/>
              </a:lnSpc>
            </a:pPr>
            <a:r>
              <a:rPr lang="en-US" sz="1041" dirty="0">
                <a:solidFill>
                  <a:srgbClr val="2D3436"/>
                </a:solidFill>
                <a:latin typeface="MiSans" pitchFamily="34" charset="0"/>
                <a:ea typeface="MiSans" pitchFamily="34" charset="-122"/>
                <a:cs typeface="MiSans" pitchFamily="34" charset="-120"/>
              </a:rPr>
              <a:t> — operationalises Vygotsky's ZPD through a curriculum architecture that is </a:t>
            </a:r>
            <a:pPr>
              <a:lnSpc>
                <a:spcPct val="140000"/>
              </a:lnSpc>
            </a:pPr>
            <a:r>
              <a:rPr lang="en-US" sz="1041" dirty="0">
                <a:solidFill>
                  <a:srgbClr val="2D3436"/>
                </a:solidFill>
                <a:highlight>
                  <a:srgbClr val="C49A2C">
                    <a:alpha val="20000"/>
                  </a:srgbClr>
                </a:highlight>
                <a:latin typeface="MiSans" pitchFamily="34" charset="0"/>
                <a:ea typeface="MiSans" pitchFamily="34" charset="-122"/>
                <a:cs typeface="MiSans" pitchFamily="34" charset="-120"/>
              </a:rPr>
              <a:t>explicitly calibrated to cognitive demand levels </a:t>
            </a:r>
            <a:pPr>
              <a:lnSpc>
                <a:spcPct val="140000"/>
              </a:lnSpc>
            </a:pPr>
            <a:r>
              <a:rPr lang="en-US" sz="1041" dirty="0">
                <a:solidFill>
                  <a:srgbClr val="2D3436"/>
                </a:solidFill>
                <a:latin typeface="MiSans" pitchFamily="34" charset="0"/>
                <a:ea typeface="MiSans" pitchFamily="34" charset="-122"/>
                <a:cs typeface="MiSans" pitchFamily="34" charset="-120"/>
              </a:rPr>
              <a:t>.</a:t>
            </a:r>
            <a:endParaRPr lang="en-US" sz="1600" dirty="0"/>
          </a:p>
        </p:txBody>
      </p:sp>
      <p:sp>
        <p:nvSpPr>
          <p:cNvPr id="8" name="Text 6"/>
          <p:cNvSpPr/>
          <p:nvPr/>
        </p:nvSpPr>
        <p:spPr>
          <a:xfrm>
            <a:off x="462569" y="2164163"/>
            <a:ext cx="5501268" cy="644293"/>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The curriculum is organised into </a:t>
            </a:r>
            <a:pPr>
              <a:lnSpc>
                <a:spcPct val="140000"/>
              </a:lnSpc>
            </a:pPr>
            <a:r>
              <a:rPr lang="en-US" sz="1041" b="1" dirty="0">
                <a:solidFill>
                  <a:srgbClr val="2D3436"/>
                </a:solidFill>
                <a:latin typeface="MiSans" pitchFamily="34" charset="0"/>
                <a:ea typeface="MiSans" pitchFamily="34" charset="-122"/>
                <a:cs typeface="MiSans" pitchFamily="34" charset="-120"/>
              </a:rPr>
              <a:t>units</a:t>
            </a:r>
            <a:pPr>
              <a:lnSpc>
                <a:spcPct val="140000"/>
              </a:lnSpc>
            </a:pPr>
            <a:r>
              <a:rPr lang="en-US" sz="1041" dirty="0">
                <a:solidFill>
                  <a:srgbClr val="2D3436"/>
                </a:solidFill>
                <a:latin typeface="MiSans" pitchFamily="34" charset="0"/>
                <a:ea typeface="MiSans" pitchFamily="34" charset="-122"/>
                <a:cs typeface="MiSans" pitchFamily="34" charset="-120"/>
              </a:rPr>
              <a:t>, each of which is mapped to a specific level of Bloom's revised taxonomy. Unit sequencing is determined not by topic coverage requirements but by the </a:t>
            </a:r>
            <a:pPr>
              <a:lnSpc>
                <a:spcPct val="140000"/>
              </a:lnSpc>
            </a:pPr>
            <a:r>
              <a:rPr lang="en-US" sz="1041" b="1" dirty="0">
                <a:solidFill>
                  <a:srgbClr val="2D3436"/>
                </a:solidFill>
                <a:latin typeface="MiSans" pitchFamily="34" charset="0"/>
                <a:ea typeface="MiSans" pitchFamily="34" charset="-122"/>
                <a:cs typeface="MiSans" pitchFamily="34" charset="-120"/>
              </a:rPr>
              <a:t>progression of cognitive demand</a:t>
            </a:r>
            <a:pPr>
              <a:lnSpc>
                <a:spcPct val="140000"/>
              </a:lnSpc>
            </a:pPr>
            <a:r>
              <a:rPr lang="en-US" sz="1041" dirty="0">
                <a:solidFill>
                  <a:srgbClr val="2D3436"/>
                </a:solidFill>
                <a:latin typeface="MiSans" pitchFamily="34" charset="0"/>
                <a:ea typeface="MiSans" pitchFamily="34" charset="-122"/>
                <a:cs typeface="MiSans" pitchFamily="34" charset="-120"/>
              </a:rPr>
              <a:t>.</a:t>
            </a:r>
            <a:endParaRPr lang="en-US" sz="1600" dirty="0"/>
          </a:p>
        </p:txBody>
      </p:sp>
      <p:sp>
        <p:nvSpPr>
          <p:cNvPr id="9" name="Text 7"/>
          <p:cNvSpPr/>
          <p:nvPr/>
        </p:nvSpPr>
        <p:spPr>
          <a:xfrm>
            <a:off x="462569" y="2907577"/>
            <a:ext cx="5501268" cy="644293"/>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Each unit is designed to operate at the </a:t>
            </a:r>
            <a:pPr>
              <a:lnSpc>
                <a:spcPct val="140000"/>
              </a:lnSpc>
            </a:pPr>
            <a:r>
              <a:rPr lang="en-US" sz="1041" b="1" dirty="0">
                <a:solidFill>
                  <a:srgbClr val="2D3436"/>
                </a:solidFill>
                <a:latin typeface="MiSans" pitchFamily="34" charset="0"/>
                <a:ea typeface="MiSans" pitchFamily="34" charset="-122"/>
                <a:cs typeface="MiSans" pitchFamily="34" charset="-120"/>
              </a:rPr>
              <a:t>upper boundary of the typical learner's ZPD</a:t>
            </a:r>
            <a:pPr>
              <a:lnSpc>
                <a:spcPct val="140000"/>
              </a:lnSpc>
            </a:pPr>
            <a:r>
              <a:rPr lang="en-US" sz="1041" dirty="0">
                <a:solidFill>
                  <a:srgbClr val="2D3436"/>
                </a:solidFill>
                <a:latin typeface="MiSans" pitchFamily="34" charset="0"/>
                <a:ea typeface="MiSans" pitchFamily="34" charset="-122"/>
                <a:cs typeface="MiSans" pitchFamily="34" charset="-120"/>
              </a:rPr>
              <a:t> for that content domain, with explicit scaffolding strategies specified in the curriculum documentation.</a:t>
            </a:r>
            <a:endParaRPr lang="en-US" sz="1600" dirty="0"/>
          </a:p>
        </p:txBody>
      </p:sp>
      <p:sp>
        <p:nvSpPr>
          <p:cNvPr id="10" name="Shape 8"/>
          <p:cNvSpPr/>
          <p:nvPr/>
        </p:nvSpPr>
        <p:spPr>
          <a:xfrm>
            <a:off x="330407" y="3783154"/>
            <a:ext cx="5699512" cy="1899837"/>
          </a:xfrm>
          <a:custGeom>
            <a:avLst/>
            <a:gdLst/>
            <a:ahLst/>
            <a:cxnLst/>
            <a:rect l="l" t="t" r="r" b="b"/>
            <a:pathLst>
              <a:path w="5699512" h="1899837">
                <a:moveTo>
                  <a:pt x="0" y="0"/>
                </a:moveTo>
                <a:lnTo>
                  <a:pt x="5699512" y="0"/>
                </a:lnTo>
                <a:lnTo>
                  <a:pt x="5699512" y="1899837"/>
                </a:lnTo>
                <a:lnTo>
                  <a:pt x="0" y="1899837"/>
                </a:lnTo>
                <a:lnTo>
                  <a:pt x="0" y="0"/>
                </a:lnTo>
                <a:close/>
              </a:path>
            </a:pathLst>
          </a:custGeom>
          <a:solidFill>
            <a:srgbClr val="1E3A5F"/>
          </a:solidFill>
          <a:ln/>
        </p:spPr>
      </p:sp>
      <p:sp>
        <p:nvSpPr>
          <p:cNvPr id="11" name="Text 9"/>
          <p:cNvSpPr/>
          <p:nvPr/>
        </p:nvSpPr>
        <p:spPr>
          <a:xfrm>
            <a:off x="462569" y="3915317"/>
            <a:ext cx="5517789" cy="231285"/>
          </a:xfrm>
          <a:prstGeom prst="rect">
            <a:avLst/>
          </a:prstGeom>
          <a:noFill/>
          <a:ln/>
        </p:spPr>
        <p:txBody>
          <a:bodyPr wrap="square" lIns="0" tIns="0" rIns="0" bIns="0" rtlCol="0" anchor="ctr"/>
          <a:lstStyle/>
          <a:p>
            <a:pPr>
              <a:lnSpc>
                <a:spcPct val="120000"/>
              </a:lnSpc>
            </a:pPr>
            <a:r>
              <a:rPr lang="en-US" sz="1301" b="1" dirty="0">
                <a:solidFill>
                  <a:srgbClr val="F8F9FA"/>
                </a:solidFill>
                <a:latin typeface="MiSans" pitchFamily="34" charset="0"/>
                <a:ea typeface="MiSans" pitchFamily="34" charset="-122"/>
                <a:cs typeface="MiSans" pitchFamily="34" charset="-120"/>
              </a:rPr>
              <a:t>Curriculum Documentation Requirements</a:t>
            </a:r>
            <a:endParaRPr lang="en-US" sz="1600" dirty="0"/>
          </a:p>
        </p:txBody>
      </p:sp>
      <p:sp>
        <p:nvSpPr>
          <p:cNvPr id="12" name="Text 10"/>
          <p:cNvSpPr/>
          <p:nvPr/>
        </p:nvSpPr>
        <p:spPr>
          <a:xfrm>
            <a:off x="462569" y="4245724"/>
            <a:ext cx="5501268" cy="214764"/>
          </a:xfrm>
          <a:prstGeom prst="rect">
            <a:avLst/>
          </a:prstGeom>
          <a:noFill/>
          <a:ln/>
        </p:spPr>
        <p:txBody>
          <a:bodyPr wrap="square" lIns="0" tIns="0" rIns="0" bIns="0" rtlCol="0" anchor="ctr"/>
          <a:lstStyle/>
          <a:p>
            <a:pPr>
              <a:lnSpc>
                <a:spcPct val="140000"/>
              </a:lnSpc>
            </a:pPr>
            <a:r>
              <a:rPr lang="en-US" sz="1041" dirty="0">
                <a:solidFill>
                  <a:srgbClr val="F8F9FA"/>
                </a:solidFill>
                <a:latin typeface="MiSans" pitchFamily="34" charset="0"/>
                <a:ea typeface="MiSans" pitchFamily="34" charset="-122"/>
                <a:cs typeface="MiSans" pitchFamily="34" charset="-120"/>
              </a:rPr>
              <a:t>The curriculum documentation specifies for each unit:</a:t>
            </a:r>
            <a:endParaRPr lang="en-US" sz="1600" dirty="0"/>
          </a:p>
        </p:txBody>
      </p:sp>
      <p:sp>
        <p:nvSpPr>
          <p:cNvPr id="13" name="Shape 11"/>
          <p:cNvSpPr/>
          <p:nvPr/>
        </p:nvSpPr>
        <p:spPr>
          <a:xfrm>
            <a:off x="487350" y="4596780"/>
            <a:ext cx="115642" cy="132163"/>
          </a:xfrm>
          <a:custGeom>
            <a:avLst/>
            <a:gdLst/>
            <a:ahLst/>
            <a:cxnLst/>
            <a:rect l="l" t="t" r="r" b="b"/>
            <a:pathLst>
              <a:path w="115642" h="132163">
                <a:moveTo>
                  <a:pt x="112235" y="18095"/>
                </a:moveTo>
                <a:cubicBezTo>
                  <a:pt x="115926" y="20779"/>
                  <a:pt x="116752" y="25942"/>
                  <a:pt x="114068" y="29633"/>
                </a:cubicBezTo>
                <a:lnTo>
                  <a:pt x="47986" y="120495"/>
                </a:lnTo>
                <a:cubicBezTo>
                  <a:pt x="46567" y="122457"/>
                  <a:pt x="44373" y="123670"/>
                  <a:pt x="41946" y="123877"/>
                </a:cubicBezTo>
                <a:cubicBezTo>
                  <a:pt x="39520" y="124083"/>
                  <a:pt x="37171" y="123180"/>
                  <a:pt x="35467" y="121476"/>
                </a:cubicBezTo>
                <a:lnTo>
                  <a:pt x="2426" y="88435"/>
                </a:lnTo>
                <a:cubicBezTo>
                  <a:pt x="-800" y="85209"/>
                  <a:pt x="-800" y="79969"/>
                  <a:pt x="2426" y="76742"/>
                </a:cubicBezTo>
                <a:cubicBezTo>
                  <a:pt x="5653" y="73515"/>
                  <a:pt x="10893" y="73515"/>
                  <a:pt x="14120" y="76742"/>
                </a:cubicBezTo>
                <a:lnTo>
                  <a:pt x="40320" y="102942"/>
                </a:lnTo>
                <a:lnTo>
                  <a:pt x="100722" y="19902"/>
                </a:lnTo>
                <a:cubicBezTo>
                  <a:pt x="103407" y="16211"/>
                  <a:pt x="108570" y="15385"/>
                  <a:pt x="112261" y="18069"/>
                </a:cubicBezTo>
                <a:close/>
              </a:path>
            </a:pathLst>
          </a:custGeom>
          <a:solidFill>
            <a:srgbClr val="C49A2C"/>
          </a:solidFill>
          <a:ln/>
        </p:spPr>
      </p:sp>
      <p:sp>
        <p:nvSpPr>
          <p:cNvPr id="14" name="Text 12"/>
          <p:cNvSpPr/>
          <p:nvPr/>
        </p:nvSpPr>
        <p:spPr>
          <a:xfrm>
            <a:off x="670752" y="4559610"/>
            <a:ext cx="5293085" cy="198244"/>
          </a:xfrm>
          <a:prstGeom prst="rect">
            <a:avLst/>
          </a:prstGeom>
          <a:noFill/>
          <a:ln/>
        </p:spPr>
        <p:txBody>
          <a:bodyPr wrap="square" lIns="0" tIns="0" rIns="0" bIns="0" rtlCol="0" anchor="ctr"/>
          <a:lstStyle/>
          <a:p>
            <a:pPr>
              <a:lnSpc>
                <a:spcPct val="130000"/>
              </a:lnSpc>
            </a:pPr>
            <a:r>
              <a:rPr lang="en-US" sz="1041" dirty="0">
                <a:solidFill>
                  <a:srgbClr val="F8F9FA"/>
                </a:solidFill>
                <a:latin typeface="MiSans" pitchFamily="34" charset="0"/>
                <a:ea typeface="MiSans" pitchFamily="34" charset="-122"/>
                <a:cs typeface="MiSans" pitchFamily="34" charset="-120"/>
              </a:rPr>
              <a:t>The </a:t>
            </a:r>
            <a:pPr>
              <a:lnSpc>
                <a:spcPct val="130000"/>
              </a:lnSpc>
            </a:pPr>
            <a:r>
              <a:rPr lang="en-US" sz="1041" b="1" dirty="0">
                <a:solidFill>
                  <a:srgbClr val="F8F9FA"/>
                </a:solidFill>
                <a:latin typeface="MiSans" pitchFamily="34" charset="0"/>
                <a:ea typeface="MiSans" pitchFamily="34" charset="-122"/>
                <a:cs typeface="MiSans" pitchFamily="34" charset="-120"/>
              </a:rPr>
              <a:t>intended ZPD</a:t>
            </a:r>
            <a:pPr>
              <a:lnSpc>
                <a:spcPct val="130000"/>
              </a:lnSpc>
            </a:pPr>
            <a:r>
              <a:rPr lang="en-US" sz="1041" dirty="0">
                <a:solidFill>
                  <a:srgbClr val="F8F9FA"/>
                </a:solidFill>
                <a:latin typeface="MiSans" pitchFamily="34" charset="0"/>
                <a:ea typeface="MiSans" pitchFamily="34" charset="-122"/>
                <a:cs typeface="MiSans" pitchFamily="34" charset="-120"/>
              </a:rPr>
              <a:t> for the target cohort</a:t>
            </a:r>
            <a:endParaRPr lang="en-US" sz="1600" dirty="0"/>
          </a:p>
        </p:txBody>
      </p:sp>
      <p:sp>
        <p:nvSpPr>
          <p:cNvPr id="15" name="Shape 13"/>
          <p:cNvSpPr/>
          <p:nvPr/>
        </p:nvSpPr>
        <p:spPr>
          <a:xfrm>
            <a:off x="487350" y="4861106"/>
            <a:ext cx="115642" cy="132163"/>
          </a:xfrm>
          <a:custGeom>
            <a:avLst/>
            <a:gdLst/>
            <a:ahLst/>
            <a:cxnLst/>
            <a:rect l="l" t="t" r="r" b="b"/>
            <a:pathLst>
              <a:path w="115642" h="132163">
                <a:moveTo>
                  <a:pt x="112235" y="18095"/>
                </a:moveTo>
                <a:cubicBezTo>
                  <a:pt x="115926" y="20779"/>
                  <a:pt x="116752" y="25942"/>
                  <a:pt x="114068" y="29633"/>
                </a:cubicBezTo>
                <a:lnTo>
                  <a:pt x="47986" y="120495"/>
                </a:lnTo>
                <a:cubicBezTo>
                  <a:pt x="46567" y="122457"/>
                  <a:pt x="44373" y="123670"/>
                  <a:pt x="41946" y="123877"/>
                </a:cubicBezTo>
                <a:cubicBezTo>
                  <a:pt x="39520" y="124083"/>
                  <a:pt x="37171" y="123180"/>
                  <a:pt x="35467" y="121476"/>
                </a:cubicBezTo>
                <a:lnTo>
                  <a:pt x="2426" y="88435"/>
                </a:lnTo>
                <a:cubicBezTo>
                  <a:pt x="-800" y="85209"/>
                  <a:pt x="-800" y="79969"/>
                  <a:pt x="2426" y="76742"/>
                </a:cubicBezTo>
                <a:cubicBezTo>
                  <a:pt x="5653" y="73515"/>
                  <a:pt x="10893" y="73515"/>
                  <a:pt x="14120" y="76742"/>
                </a:cubicBezTo>
                <a:lnTo>
                  <a:pt x="40320" y="102942"/>
                </a:lnTo>
                <a:lnTo>
                  <a:pt x="100722" y="19902"/>
                </a:lnTo>
                <a:cubicBezTo>
                  <a:pt x="103407" y="16211"/>
                  <a:pt x="108570" y="15385"/>
                  <a:pt x="112261" y="18069"/>
                </a:cubicBezTo>
                <a:close/>
              </a:path>
            </a:pathLst>
          </a:custGeom>
          <a:solidFill>
            <a:srgbClr val="C49A2C"/>
          </a:solidFill>
          <a:ln/>
        </p:spPr>
      </p:sp>
      <p:sp>
        <p:nvSpPr>
          <p:cNvPr id="16" name="Text 14"/>
          <p:cNvSpPr/>
          <p:nvPr/>
        </p:nvSpPr>
        <p:spPr>
          <a:xfrm>
            <a:off x="670752" y="4823935"/>
            <a:ext cx="5293085" cy="198244"/>
          </a:xfrm>
          <a:prstGeom prst="rect">
            <a:avLst/>
          </a:prstGeom>
          <a:noFill/>
          <a:ln/>
        </p:spPr>
        <p:txBody>
          <a:bodyPr wrap="square" lIns="0" tIns="0" rIns="0" bIns="0" rtlCol="0" anchor="ctr"/>
          <a:lstStyle/>
          <a:p>
            <a:pPr>
              <a:lnSpc>
                <a:spcPct val="130000"/>
              </a:lnSpc>
            </a:pPr>
            <a:r>
              <a:rPr lang="en-US" sz="1041" dirty="0">
                <a:solidFill>
                  <a:srgbClr val="F8F9FA"/>
                </a:solidFill>
                <a:latin typeface="MiSans" pitchFamily="34" charset="0"/>
                <a:ea typeface="MiSans" pitchFamily="34" charset="-122"/>
                <a:cs typeface="MiSans" pitchFamily="34" charset="-120"/>
              </a:rPr>
              <a:t>The </a:t>
            </a:r>
            <a:pPr>
              <a:lnSpc>
                <a:spcPct val="130000"/>
              </a:lnSpc>
            </a:pPr>
            <a:r>
              <a:rPr lang="en-US" sz="1041" b="1" dirty="0">
                <a:solidFill>
                  <a:srgbClr val="F8F9FA"/>
                </a:solidFill>
                <a:latin typeface="MiSans" pitchFamily="34" charset="0"/>
                <a:ea typeface="MiSans" pitchFamily="34" charset="-122"/>
                <a:cs typeface="MiSans" pitchFamily="34" charset="-120"/>
              </a:rPr>
              <a:t>scaffolding strategies</a:t>
            </a:r>
            <a:pPr>
              <a:lnSpc>
                <a:spcPct val="130000"/>
              </a:lnSpc>
            </a:pPr>
            <a:r>
              <a:rPr lang="en-US" sz="1041" dirty="0">
                <a:solidFill>
                  <a:srgbClr val="F8F9FA"/>
                </a:solidFill>
                <a:latin typeface="MiSans" pitchFamily="34" charset="0"/>
                <a:ea typeface="MiSans" pitchFamily="34" charset="-122"/>
                <a:cs typeface="MiSans" pitchFamily="34" charset="-120"/>
              </a:rPr>
              <a:t> to be employed</a:t>
            </a:r>
            <a:endParaRPr lang="en-US" sz="1600" dirty="0"/>
          </a:p>
        </p:txBody>
      </p:sp>
      <p:sp>
        <p:nvSpPr>
          <p:cNvPr id="17" name="Shape 15"/>
          <p:cNvSpPr/>
          <p:nvPr/>
        </p:nvSpPr>
        <p:spPr>
          <a:xfrm>
            <a:off x="487350" y="5125431"/>
            <a:ext cx="115642" cy="132163"/>
          </a:xfrm>
          <a:custGeom>
            <a:avLst/>
            <a:gdLst/>
            <a:ahLst/>
            <a:cxnLst/>
            <a:rect l="l" t="t" r="r" b="b"/>
            <a:pathLst>
              <a:path w="115642" h="132163">
                <a:moveTo>
                  <a:pt x="112235" y="18095"/>
                </a:moveTo>
                <a:cubicBezTo>
                  <a:pt x="115926" y="20779"/>
                  <a:pt x="116752" y="25942"/>
                  <a:pt x="114068" y="29633"/>
                </a:cubicBezTo>
                <a:lnTo>
                  <a:pt x="47986" y="120495"/>
                </a:lnTo>
                <a:cubicBezTo>
                  <a:pt x="46567" y="122457"/>
                  <a:pt x="44373" y="123670"/>
                  <a:pt x="41946" y="123877"/>
                </a:cubicBezTo>
                <a:cubicBezTo>
                  <a:pt x="39520" y="124083"/>
                  <a:pt x="37171" y="123180"/>
                  <a:pt x="35467" y="121476"/>
                </a:cubicBezTo>
                <a:lnTo>
                  <a:pt x="2426" y="88435"/>
                </a:lnTo>
                <a:cubicBezTo>
                  <a:pt x="-800" y="85209"/>
                  <a:pt x="-800" y="79969"/>
                  <a:pt x="2426" y="76742"/>
                </a:cubicBezTo>
                <a:cubicBezTo>
                  <a:pt x="5653" y="73515"/>
                  <a:pt x="10893" y="73515"/>
                  <a:pt x="14120" y="76742"/>
                </a:cubicBezTo>
                <a:lnTo>
                  <a:pt x="40320" y="102942"/>
                </a:lnTo>
                <a:lnTo>
                  <a:pt x="100722" y="19902"/>
                </a:lnTo>
                <a:cubicBezTo>
                  <a:pt x="103407" y="16211"/>
                  <a:pt x="108570" y="15385"/>
                  <a:pt x="112261" y="18069"/>
                </a:cubicBezTo>
                <a:close/>
              </a:path>
            </a:pathLst>
          </a:custGeom>
          <a:solidFill>
            <a:srgbClr val="C49A2C"/>
          </a:solidFill>
          <a:ln/>
        </p:spPr>
      </p:sp>
      <p:sp>
        <p:nvSpPr>
          <p:cNvPr id="18" name="Text 16"/>
          <p:cNvSpPr/>
          <p:nvPr/>
        </p:nvSpPr>
        <p:spPr>
          <a:xfrm>
            <a:off x="670752" y="5088260"/>
            <a:ext cx="5293085" cy="198244"/>
          </a:xfrm>
          <a:prstGeom prst="rect">
            <a:avLst/>
          </a:prstGeom>
          <a:noFill/>
          <a:ln/>
        </p:spPr>
        <p:txBody>
          <a:bodyPr wrap="square" lIns="0" tIns="0" rIns="0" bIns="0" rtlCol="0" anchor="ctr"/>
          <a:lstStyle/>
          <a:p>
            <a:pPr>
              <a:lnSpc>
                <a:spcPct val="130000"/>
              </a:lnSpc>
            </a:pPr>
            <a:r>
              <a:rPr lang="en-US" sz="1041" dirty="0">
                <a:solidFill>
                  <a:srgbClr val="F8F9FA"/>
                </a:solidFill>
                <a:latin typeface="MiSans" pitchFamily="34" charset="0"/>
                <a:ea typeface="MiSans" pitchFamily="34" charset="-122"/>
                <a:cs typeface="MiSans" pitchFamily="34" charset="-120"/>
              </a:rPr>
              <a:t>The </a:t>
            </a:r>
            <a:pPr>
              <a:lnSpc>
                <a:spcPct val="130000"/>
              </a:lnSpc>
            </a:pPr>
            <a:r>
              <a:rPr lang="en-US" sz="1041" b="1" dirty="0">
                <a:solidFill>
                  <a:srgbClr val="F8F9FA"/>
                </a:solidFill>
                <a:latin typeface="MiSans" pitchFamily="34" charset="0"/>
                <a:ea typeface="MiSans" pitchFamily="34" charset="-122"/>
                <a:cs typeface="MiSans" pitchFamily="34" charset="-120"/>
              </a:rPr>
              <a:t>formative assessment items</a:t>
            </a:r>
            <a:pPr>
              <a:lnSpc>
                <a:spcPct val="130000"/>
              </a:lnSpc>
            </a:pPr>
            <a:r>
              <a:rPr lang="en-US" sz="1041" dirty="0">
                <a:solidFill>
                  <a:srgbClr val="F8F9FA"/>
                </a:solidFill>
                <a:latin typeface="MiSans" pitchFamily="34" charset="0"/>
                <a:ea typeface="MiSans" pitchFamily="34" charset="-122"/>
                <a:cs typeface="MiSans" pitchFamily="34" charset="-120"/>
              </a:rPr>
              <a:t> that determine readiness to progress</a:t>
            </a:r>
            <a:endParaRPr lang="en-US" sz="1600" dirty="0"/>
          </a:p>
        </p:txBody>
      </p:sp>
      <p:sp>
        <p:nvSpPr>
          <p:cNvPr id="19" name="Shape 17"/>
          <p:cNvSpPr/>
          <p:nvPr/>
        </p:nvSpPr>
        <p:spPr>
          <a:xfrm>
            <a:off x="487350" y="5389756"/>
            <a:ext cx="115642" cy="132163"/>
          </a:xfrm>
          <a:custGeom>
            <a:avLst/>
            <a:gdLst/>
            <a:ahLst/>
            <a:cxnLst/>
            <a:rect l="l" t="t" r="r" b="b"/>
            <a:pathLst>
              <a:path w="115642" h="132163">
                <a:moveTo>
                  <a:pt x="112235" y="18095"/>
                </a:moveTo>
                <a:cubicBezTo>
                  <a:pt x="115926" y="20779"/>
                  <a:pt x="116752" y="25942"/>
                  <a:pt x="114068" y="29633"/>
                </a:cubicBezTo>
                <a:lnTo>
                  <a:pt x="47986" y="120495"/>
                </a:lnTo>
                <a:cubicBezTo>
                  <a:pt x="46567" y="122457"/>
                  <a:pt x="44373" y="123670"/>
                  <a:pt x="41946" y="123877"/>
                </a:cubicBezTo>
                <a:cubicBezTo>
                  <a:pt x="39520" y="124083"/>
                  <a:pt x="37171" y="123180"/>
                  <a:pt x="35467" y="121476"/>
                </a:cubicBezTo>
                <a:lnTo>
                  <a:pt x="2426" y="88435"/>
                </a:lnTo>
                <a:cubicBezTo>
                  <a:pt x="-800" y="85209"/>
                  <a:pt x="-800" y="79969"/>
                  <a:pt x="2426" y="76742"/>
                </a:cubicBezTo>
                <a:cubicBezTo>
                  <a:pt x="5653" y="73515"/>
                  <a:pt x="10893" y="73515"/>
                  <a:pt x="14120" y="76742"/>
                </a:cubicBezTo>
                <a:lnTo>
                  <a:pt x="40320" y="102942"/>
                </a:lnTo>
                <a:lnTo>
                  <a:pt x="100722" y="19902"/>
                </a:lnTo>
                <a:cubicBezTo>
                  <a:pt x="103407" y="16211"/>
                  <a:pt x="108570" y="15385"/>
                  <a:pt x="112261" y="18069"/>
                </a:cubicBezTo>
                <a:close/>
              </a:path>
            </a:pathLst>
          </a:custGeom>
          <a:solidFill>
            <a:srgbClr val="C49A2C"/>
          </a:solidFill>
          <a:ln/>
        </p:spPr>
      </p:sp>
      <p:sp>
        <p:nvSpPr>
          <p:cNvPr id="20" name="Text 18"/>
          <p:cNvSpPr/>
          <p:nvPr/>
        </p:nvSpPr>
        <p:spPr>
          <a:xfrm>
            <a:off x="670752" y="5352585"/>
            <a:ext cx="5293085" cy="198244"/>
          </a:xfrm>
          <a:prstGeom prst="rect">
            <a:avLst/>
          </a:prstGeom>
          <a:noFill/>
          <a:ln/>
        </p:spPr>
        <p:txBody>
          <a:bodyPr wrap="square" lIns="0" tIns="0" rIns="0" bIns="0" rtlCol="0" anchor="ctr"/>
          <a:lstStyle/>
          <a:p>
            <a:pPr>
              <a:lnSpc>
                <a:spcPct val="130000"/>
              </a:lnSpc>
            </a:pPr>
            <a:r>
              <a:rPr lang="en-US" sz="1041" dirty="0">
                <a:solidFill>
                  <a:srgbClr val="F8F9FA"/>
                </a:solidFill>
                <a:latin typeface="MiSans" pitchFamily="34" charset="0"/>
                <a:ea typeface="MiSans" pitchFamily="34" charset="-122"/>
                <a:cs typeface="MiSans" pitchFamily="34" charset="-120"/>
              </a:rPr>
              <a:t>The </a:t>
            </a:r>
            <a:pPr>
              <a:lnSpc>
                <a:spcPct val="130000"/>
              </a:lnSpc>
            </a:pPr>
            <a:r>
              <a:rPr lang="en-US" sz="1041" b="1" dirty="0">
                <a:solidFill>
                  <a:srgbClr val="F8F9FA"/>
                </a:solidFill>
                <a:latin typeface="MiSans" pitchFamily="34" charset="0"/>
                <a:ea typeface="MiSans" pitchFamily="34" charset="-122"/>
                <a:cs typeface="MiSans" pitchFamily="34" charset="-120"/>
              </a:rPr>
              <a:t>exit criteria</a:t>
            </a:r>
            <a:pPr>
              <a:lnSpc>
                <a:spcPct val="130000"/>
              </a:lnSpc>
            </a:pPr>
            <a:r>
              <a:rPr lang="en-US" sz="1041" dirty="0">
                <a:solidFill>
                  <a:srgbClr val="F8F9FA"/>
                </a:solidFill>
                <a:latin typeface="MiSans" pitchFamily="34" charset="0"/>
                <a:ea typeface="MiSans" pitchFamily="34" charset="-122"/>
                <a:cs typeface="MiSans" pitchFamily="34" charset="-120"/>
              </a:rPr>
              <a:t> for demonstrating mastery</a:t>
            </a:r>
            <a:endParaRPr lang="en-US" sz="1600" dirty="0"/>
          </a:p>
        </p:txBody>
      </p:sp>
      <p:sp>
        <p:nvSpPr>
          <p:cNvPr id="21" name="Shape 19"/>
          <p:cNvSpPr/>
          <p:nvPr/>
        </p:nvSpPr>
        <p:spPr>
          <a:xfrm>
            <a:off x="6160292" y="941659"/>
            <a:ext cx="5699512" cy="2692813"/>
          </a:xfrm>
          <a:custGeom>
            <a:avLst/>
            <a:gdLst/>
            <a:ahLst/>
            <a:cxnLst/>
            <a:rect l="l" t="t" r="r" b="b"/>
            <a:pathLst>
              <a:path w="5699512" h="2692813">
                <a:moveTo>
                  <a:pt x="0" y="0"/>
                </a:moveTo>
                <a:lnTo>
                  <a:pt x="5699512" y="0"/>
                </a:lnTo>
                <a:lnTo>
                  <a:pt x="5699512" y="2692813"/>
                </a:lnTo>
                <a:lnTo>
                  <a:pt x="0" y="2692813"/>
                </a:lnTo>
                <a:lnTo>
                  <a:pt x="0" y="0"/>
                </a:lnTo>
                <a:close/>
              </a:path>
            </a:pathLst>
          </a:custGeom>
          <a:solidFill>
            <a:srgbClr val="FFFFFF"/>
          </a:solidFill>
          <a:ln/>
        </p:spPr>
      </p:sp>
      <p:sp>
        <p:nvSpPr>
          <p:cNvPr id="22" name="Shape 20"/>
          <p:cNvSpPr/>
          <p:nvPr/>
        </p:nvSpPr>
        <p:spPr>
          <a:xfrm>
            <a:off x="6160292" y="941659"/>
            <a:ext cx="5699512" cy="33041"/>
          </a:xfrm>
          <a:custGeom>
            <a:avLst/>
            <a:gdLst/>
            <a:ahLst/>
            <a:cxnLst/>
            <a:rect l="l" t="t" r="r" b="b"/>
            <a:pathLst>
              <a:path w="5699512" h="33041">
                <a:moveTo>
                  <a:pt x="0" y="0"/>
                </a:moveTo>
                <a:lnTo>
                  <a:pt x="5699512" y="0"/>
                </a:lnTo>
                <a:lnTo>
                  <a:pt x="5699512" y="33041"/>
                </a:lnTo>
                <a:lnTo>
                  <a:pt x="0" y="33041"/>
                </a:lnTo>
                <a:lnTo>
                  <a:pt x="0" y="0"/>
                </a:lnTo>
                <a:close/>
              </a:path>
            </a:pathLst>
          </a:custGeom>
          <a:solidFill>
            <a:srgbClr val="C49A2C"/>
          </a:solidFill>
          <a:ln/>
        </p:spPr>
      </p:sp>
      <p:sp>
        <p:nvSpPr>
          <p:cNvPr id="23" name="Text 21"/>
          <p:cNvSpPr/>
          <p:nvPr/>
        </p:nvSpPr>
        <p:spPr>
          <a:xfrm>
            <a:off x="6292454" y="1090341"/>
            <a:ext cx="5517789" cy="231285"/>
          </a:xfrm>
          <a:prstGeom prst="rect">
            <a:avLst/>
          </a:prstGeom>
          <a:noFill/>
          <a:ln/>
        </p:spPr>
        <p:txBody>
          <a:bodyPr wrap="square" lIns="0" tIns="0" rIns="0" bIns="0" rtlCol="0" anchor="ctr"/>
          <a:lstStyle/>
          <a:p>
            <a:pPr>
              <a:lnSpc>
                <a:spcPct val="120000"/>
              </a:lnSpc>
            </a:pPr>
            <a:r>
              <a:rPr lang="en-US" sz="1301" b="1" dirty="0">
                <a:solidFill>
                  <a:srgbClr val="1E3A5F"/>
                </a:solidFill>
                <a:latin typeface="MiSans" pitchFamily="34" charset="0"/>
                <a:ea typeface="MiSans" pitchFamily="34" charset="-122"/>
                <a:cs typeface="MiSans" pitchFamily="34" charset="-120"/>
              </a:rPr>
              <a:t>This Level of Specificity Is Unusual</a:t>
            </a:r>
            <a:endParaRPr lang="en-US" sz="1600" dirty="0"/>
          </a:p>
        </p:txBody>
      </p:sp>
      <p:sp>
        <p:nvSpPr>
          <p:cNvPr id="24" name="Text 22"/>
          <p:cNvSpPr/>
          <p:nvPr/>
        </p:nvSpPr>
        <p:spPr>
          <a:xfrm>
            <a:off x="6292454" y="1420748"/>
            <a:ext cx="5501268" cy="429528"/>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This level of specificity is </a:t>
            </a:r>
            <a:pPr>
              <a:lnSpc>
                <a:spcPct val="140000"/>
              </a:lnSpc>
            </a:pPr>
            <a:r>
              <a:rPr lang="en-US" sz="1041" b="1" dirty="0">
                <a:solidFill>
                  <a:srgbClr val="2D3436"/>
                </a:solidFill>
                <a:latin typeface="MiSans" pitchFamily="34" charset="0"/>
                <a:ea typeface="MiSans" pitchFamily="34" charset="-122"/>
                <a:cs typeface="MiSans" pitchFamily="34" charset="-120"/>
              </a:rPr>
              <a:t>unusual in curriculum frameworks</a:t>
            </a:r>
            <a:pPr>
              <a:lnSpc>
                <a:spcPct val="140000"/>
              </a:lnSpc>
            </a:pPr>
            <a:r>
              <a:rPr lang="en-US" sz="1041" dirty="0">
                <a:solidFill>
                  <a:srgbClr val="2D3436"/>
                </a:solidFill>
                <a:latin typeface="MiSans" pitchFamily="34" charset="0"/>
                <a:ea typeface="MiSans" pitchFamily="34" charset="-122"/>
                <a:cs typeface="MiSans" pitchFamily="34" charset="-120"/>
              </a:rPr>
              <a:t>, most of which specify content and leave cognitive demand to teacher discretion.</a:t>
            </a:r>
            <a:endParaRPr lang="en-US" sz="1600" dirty="0"/>
          </a:p>
        </p:txBody>
      </p:sp>
      <p:sp>
        <p:nvSpPr>
          <p:cNvPr id="25" name="Text 23"/>
          <p:cNvSpPr/>
          <p:nvPr/>
        </p:nvSpPr>
        <p:spPr>
          <a:xfrm>
            <a:off x="6292454" y="1949398"/>
            <a:ext cx="5501268" cy="859057"/>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The MPI's approach reflects a </a:t>
            </a:r>
            <a:pPr>
              <a:lnSpc>
                <a:spcPct val="140000"/>
              </a:lnSpc>
            </a:pPr>
            <a:r>
              <a:rPr lang="en-US" sz="1041" b="1" dirty="0">
                <a:solidFill>
                  <a:srgbClr val="2D3436"/>
                </a:solidFill>
                <a:latin typeface="MiSans" pitchFamily="34" charset="0"/>
                <a:ea typeface="MiSans" pitchFamily="34" charset="-122"/>
                <a:cs typeface="MiSans" pitchFamily="34" charset="-120"/>
              </a:rPr>
              <a:t>theoretical commitment to the ZPD as the organising principle of instructional design</a:t>
            </a:r>
            <a:pPr>
              <a:lnSpc>
                <a:spcPct val="140000"/>
              </a:lnSpc>
            </a:pPr>
            <a:r>
              <a:rPr lang="en-US" sz="1041" dirty="0">
                <a:solidFill>
                  <a:srgbClr val="2D3436"/>
                </a:solidFill>
                <a:latin typeface="MiSans" pitchFamily="34" charset="0"/>
                <a:ea typeface="MiSans" pitchFamily="34" charset="-122"/>
                <a:cs typeface="MiSans" pitchFamily="34" charset="-120"/>
              </a:rPr>
              <a:t>. The curriculum does not merely list what should be taught; it specifies at what cognitive level it should be taught, what support should be provided, and how readiness for progression should be determined.</a:t>
            </a:r>
            <a:endParaRPr lang="en-US" sz="1600" dirty="0"/>
          </a:p>
        </p:txBody>
      </p:sp>
      <p:sp>
        <p:nvSpPr>
          <p:cNvPr id="26" name="Shape 24"/>
          <p:cNvSpPr/>
          <p:nvPr/>
        </p:nvSpPr>
        <p:spPr>
          <a:xfrm>
            <a:off x="6308974" y="2907577"/>
            <a:ext cx="5418667" cy="594732"/>
          </a:xfrm>
          <a:custGeom>
            <a:avLst/>
            <a:gdLst/>
            <a:ahLst/>
            <a:cxnLst/>
            <a:rect l="l" t="t" r="r" b="b"/>
            <a:pathLst>
              <a:path w="5418667" h="594732">
                <a:moveTo>
                  <a:pt x="0" y="0"/>
                </a:moveTo>
                <a:lnTo>
                  <a:pt x="5418667" y="0"/>
                </a:lnTo>
                <a:lnTo>
                  <a:pt x="5418667" y="594732"/>
                </a:lnTo>
                <a:lnTo>
                  <a:pt x="0" y="594732"/>
                </a:lnTo>
                <a:lnTo>
                  <a:pt x="0" y="0"/>
                </a:lnTo>
                <a:close/>
              </a:path>
            </a:pathLst>
          </a:custGeom>
          <a:solidFill>
            <a:srgbClr val="F8F9FA"/>
          </a:solidFill>
          <a:ln/>
        </p:spPr>
      </p:sp>
      <p:sp>
        <p:nvSpPr>
          <p:cNvPr id="27" name="Shape 25"/>
          <p:cNvSpPr/>
          <p:nvPr/>
        </p:nvSpPr>
        <p:spPr>
          <a:xfrm>
            <a:off x="6308974" y="2907577"/>
            <a:ext cx="33041" cy="594732"/>
          </a:xfrm>
          <a:custGeom>
            <a:avLst/>
            <a:gdLst/>
            <a:ahLst/>
            <a:cxnLst/>
            <a:rect l="l" t="t" r="r" b="b"/>
            <a:pathLst>
              <a:path w="33041" h="594732">
                <a:moveTo>
                  <a:pt x="0" y="0"/>
                </a:moveTo>
                <a:lnTo>
                  <a:pt x="33041" y="0"/>
                </a:lnTo>
                <a:lnTo>
                  <a:pt x="33041" y="594732"/>
                </a:lnTo>
                <a:lnTo>
                  <a:pt x="0" y="594732"/>
                </a:lnTo>
                <a:lnTo>
                  <a:pt x="0" y="0"/>
                </a:lnTo>
                <a:close/>
              </a:path>
            </a:pathLst>
          </a:custGeom>
          <a:solidFill>
            <a:srgbClr val="C49A2C"/>
          </a:solidFill>
          <a:ln/>
        </p:spPr>
      </p:sp>
      <p:sp>
        <p:nvSpPr>
          <p:cNvPr id="28" name="Text 26"/>
          <p:cNvSpPr/>
          <p:nvPr/>
        </p:nvSpPr>
        <p:spPr>
          <a:xfrm>
            <a:off x="6424617" y="3006699"/>
            <a:ext cx="5269984" cy="396488"/>
          </a:xfrm>
          <a:prstGeom prst="rect">
            <a:avLst/>
          </a:prstGeom>
          <a:noFill/>
          <a:ln/>
        </p:spPr>
        <p:txBody>
          <a:bodyPr wrap="square" lIns="0" tIns="0" rIns="0" bIns="0" rtlCol="0" anchor="ctr"/>
          <a:lstStyle/>
          <a:p>
            <a:pPr>
              <a:lnSpc>
                <a:spcPct val="130000"/>
              </a:lnSpc>
            </a:pPr>
            <a:r>
              <a:rPr lang="en-US" sz="1041" dirty="0">
                <a:solidFill>
                  <a:srgbClr val="1E3A5F"/>
                </a:solidFill>
                <a:latin typeface="MiSans" pitchFamily="34" charset="0"/>
                <a:ea typeface="MiSans" pitchFamily="34" charset="-122"/>
                <a:cs typeface="MiSans" pitchFamily="34" charset="-120"/>
              </a:rPr>
              <a:t>"The question is not what to teach, but at what level of cognitive demand to teach it, and how to determine whether the learner is ready for that demand."</a:t>
            </a:r>
            <a:endParaRPr lang="en-US" sz="1600" dirty="0"/>
          </a:p>
        </p:txBody>
      </p:sp>
      <p:sp>
        <p:nvSpPr>
          <p:cNvPr id="29" name="Shape 27"/>
          <p:cNvSpPr/>
          <p:nvPr/>
        </p:nvSpPr>
        <p:spPr>
          <a:xfrm>
            <a:off x="6160292" y="3750114"/>
            <a:ext cx="5699512" cy="1784195"/>
          </a:xfrm>
          <a:custGeom>
            <a:avLst/>
            <a:gdLst/>
            <a:ahLst/>
            <a:cxnLst/>
            <a:rect l="l" t="t" r="r" b="b"/>
            <a:pathLst>
              <a:path w="5699512" h="1784195">
                <a:moveTo>
                  <a:pt x="0" y="0"/>
                </a:moveTo>
                <a:lnTo>
                  <a:pt x="5699512" y="0"/>
                </a:lnTo>
                <a:lnTo>
                  <a:pt x="5699512" y="1784195"/>
                </a:lnTo>
                <a:lnTo>
                  <a:pt x="0" y="1784195"/>
                </a:lnTo>
                <a:lnTo>
                  <a:pt x="0" y="0"/>
                </a:lnTo>
                <a:close/>
              </a:path>
            </a:pathLst>
          </a:custGeom>
          <a:solidFill>
            <a:srgbClr val="FFFFFF"/>
          </a:solidFill>
          <a:ln/>
        </p:spPr>
      </p:sp>
      <p:sp>
        <p:nvSpPr>
          <p:cNvPr id="30" name="Shape 28"/>
          <p:cNvSpPr/>
          <p:nvPr/>
        </p:nvSpPr>
        <p:spPr>
          <a:xfrm>
            <a:off x="6160292" y="3750114"/>
            <a:ext cx="5699512" cy="33041"/>
          </a:xfrm>
          <a:custGeom>
            <a:avLst/>
            <a:gdLst/>
            <a:ahLst/>
            <a:cxnLst/>
            <a:rect l="l" t="t" r="r" b="b"/>
            <a:pathLst>
              <a:path w="5699512" h="33041">
                <a:moveTo>
                  <a:pt x="0" y="0"/>
                </a:moveTo>
                <a:lnTo>
                  <a:pt x="5699512" y="0"/>
                </a:lnTo>
                <a:lnTo>
                  <a:pt x="5699512" y="33041"/>
                </a:lnTo>
                <a:lnTo>
                  <a:pt x="0" y="33041"/>
                </a:lnTo>
                <a:lnTo>
                  <a:pt x="0" y="0"/>
                </a:lnTo>
                <a:close/>
              </a:path>
            </a:pathLst>
          </a:custGeom>
          <a:solidFill>
            <a:srgbClr val="1E3A5F"/>
          </a:solidFill>
          <a:ln/>
        </p:spPr>
      </p:sp>
      <p:sp>
        <p:nvSpPr>
          <p:cNvPr id="31" name="Text 29"/>
          <p:cNvSpPr/>
          <p:nvPr/>
        </p:nvSpPr>
        <p:spPr>
          <a:xfrm>
            <a:off x="6292454" y="3898797"/>
            <a:ext cx="5517789" cy="231285"/>
          </a:xfrm>
          <a:prstGeom prst="rect">
            <a:avLst/>
          </a:prstGeom>
          <a:noFill/>
          <a:ln/>
        </p:spPr>
        <p:txBody>
          <a:bodyPr wrap="square" lIns="0" tIns="0" rIns="0" bIns="0" rtlCol="0" anchor="ctr"/>
          <a:lstStyle/>
          <a:p>
            <a:pPr>
              <a:lnSpc>
                <a:spcPct val="120000"/>
              </a:lnSpc>
            </a:pPr>
            <a:r>
              <a:rPr lang="en-US" sz="1301" b="1" dirty="0">
                <a:solidFill>
                  <a:srgbClr val="1E3A5F"/>
                </a:solidFill>
                <a:latin typeface="MiSans" pitchFamily="34" charset="0"/>
                <a:ea typeface="MiSans" pitchFamily="34" charset="-122"/>
                <a:cs typeface="MiSans" pitchFamily="34" charset="-120"/>
              </a:rPr>
              <a:t>Implementation Quality Matters</a:t>
            </a:r>
            <a:endParaRPr lang="en-US" sz="1600" dirty="0"/>
          </a:p>
        </p:txBody>
      </p:sp>
      <p:sp>
        <p:nvSpPr>
          <p:cNvPr id="32" name="Text 30"/>
          <p:cNvSpPr/>
          <p:nvPr/>
        </p:nvSpPr>
        <p:spPr>
          <a:xfrm>
            <a:off x="6292454" y="4229203"/>
            <a:ext cx="5501268" cy="429528"/>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Whether this commitment is realised in practice depends on </a:t>
            </a:r>
            <a:pPr>
              <a:lnSpc>
                <a:spcPct val="140000"/>
              </a:lnSpc>
            </a:pPr>
            <a:r>
              <a:rPr lang="en-US" sz="1041" b="1" dirty="0">
                <a:solidFill>
                  <a:srgbClr val="2D3436"/>
                </a:solidFill>
                <a:latin typeface="MiSans" pitchFamily="34" charset="0"/>
                <a:ea typeface="MiSans" pitchFamily="34" charset="-122"/>
                <a:cs typeface="MiSans" pitchFamily="34" charset="-120"/>
              </a:rPr>
              <a:t>implementation quality</a:t>
            </a:r>
            <a:pPr>
              <a:lnSpc>
                <a:spcPct val="140000"/>
              </a:lnSpc>
            </a:pPr>
            <a:r>
              <a:rPr lang="en-US" sz="1041" dirty="0">
                <a:solidFill>
                  <a:srgbClr val="2D3436"/>
                </a:solidFill>
                <a:latin typeface="MiSans" pitchFamily="34" charset="0"/>
                <a:ea typeface="MiSans" pitchFamily="34" charset="-122"/>
                <a:cs typeface="MiSans" pitchFamily="34" charset="-120"/>
              </a:rPr>
              <a:t>, which is addressed in Section IV of this module.</a:t>
            </a:r>
            <a:endParaRPr lang="en-US" sz="1600" dirty="0"/>
          </a:p>
        </p:txBody>
      </p:sp>
      <p:sp>
        <p:nvSpPr>
          <p:cNvPr id="33" name="Text 31"/>
          <p:cNvSpPr/>
          <p:nvPr/>
        </p:nvSpPr>
        <p:spPr>
          <a:xfrm>
            <a:off x="6292454" y="4757854"/>
            <a:ext cx="5501268" cy="644293"/>
          </a:xfrm>
          <a:prstGeom prst="rect">
            <a:avLst/>
          </a:prstGeom>
          <a:noFill/>
          <a:ln/>
        </p:spPr>
        <p:txBody>
          <a:bodyPr wrap="square" lIns="0" tIns="0" rIns="0" bIns="0" rtlCol="0" anchor="ctr"/>
          <a:lstStyle/>
          <a:p>
            <a:pPr>
              <a:lnSpc>
                <a:spcPct val="140000"/>
              </a:lnSpc>
            </a:pPr>
            <a:r>
              <a:rPr lang="en-US" sz="1041" dirty="0">
                <a:solidFill>
                  <a:srgbClr val="2D3436"/>
                </a:solidFill>
                <a:latin typeface="MiSans" pitchFamily="34" charset="0"/>
                <a:ea typeface="MiSans" pitchFamily="34" charset="-122"/>
                <a:cs typeface="MiSans" pitchFamily="34" charset="-120"/>
              </a:rPr>
              <a:t>Schools that treat the curriculum documentation as a checklist rather than a diagnostic tool are not, in the MPI's terms, implementing the first strand as designed. The annual audit reviews whether curriculum sequencing is </a:t>
            </a:r>
            <a:pPr>
              <a:lnSpc>
                <a:spcPct val="140000"/>
              </a:lnSpc>
            </a:pPr>
            <a:r>
              <a:rPr lang="en-US" sz="1041" b="1" dirty="0">
                <a:solidFill>
                  <a:srgbClr val="2D3436"/>
                </a:solidFill>
                <a:latin typeface="MiSans" pitchFamily="34" charset="0"/>
                <a:ea typeface="MiSans" pitchFamily="34" charset="-122"/>
                <a:cs typeface="MiSans" pitchFamily="34" charset="-120"/>
              </a:rPr>
              <a:t>substantive or cosmetic</a:t>
            </a:r>
            <a:pPr>
              <a:lnSpc>
                <a:spcPct val="140000"/>
              </a:lnSpc>
            </a:pPr>
            <a:r>
              <a:rPr lang="en-US" sz="1041" dirty="0">
                <a:solidFill>
                  <a:srgbClr val="2D3436"/>
                </a:solidFill>
                <a:latin typeface="MiSans" pitchFamily="34" charset="0"/>
                <a:ea typeface="MiSans" pitchFamily="34" charset="-122"/>
                <a:cs typeface="MiSans" pitchFamily="34" charset="-120"/>
              </a:rPr>
              <a:t>.</a:t>
            </a:r>
            <a:endParaRPr lang="en-US" sz="1600" dirty="0"/>
          </a:p>
        </p:txBody>
      </p:sp>
      <p:sp>
        <p:nvSpPr>
          <p:cNvPr id="34" name="Shape 32"/>
          <p:cNvSpPr/>
          <p:nvPr/>
        </p:nvSpPr>
        <p:spPr>
          <a:xfrm>
            <a:off x="6176812" y="5633431"/>
            <a:ext cx="5682992" cy="594732"/>
          </a:xfrm>
          <a:custGeom>
            <a:avLst/>
            <a:gdLst/>
            <a:ahLst/>
            <a:cxnLst/>
            <a:rect l="l" t="t" r="r" b="b"/>
            <a:pathLst>
              <a:path w="5682992" h="594732">
                <a:moveTo>
                  <a:pt x="0" y="0"/>
                </a:moveTo>
                <a:lnTo>
                  <a:pt x="5682992" y="0"/>
                </a:lnTo>
                <a:lnTo>
                  <a:pt x="5682992" y="594732"/>
                </a:lnTo>
                <a:lnTo>
                  <a:pt x="0" y="594732"/>
                </a:lnTo>
                <a:lnTo>
                  <a:pt x="0" y="0"/>
                </a:lnTo>
                <a:close/>
              </a:path>
            </a:pathLst>
          </a:custGeom>
          <a:solidFill>
            <a:srgbClr val="C49A2C">
              <a:alpha val="10196"/>
            </a:srgbClr>
          </a:solidFill>
          <a:ln/>
        </p:spPr>
      </p:sp>
      <p:sp>
        <p:nvSpPr>
          <p:cNvPr id="35" name="Shape 33"/>
          <p:cNvSpPr/>
          <p:nvPr/>
        </p:nvSpPr>
        <p:spPr>
          <a:xfrm>
            <a:off x="6176812" y="5633431"/>
            <a:ext cx="33041" cy="594732"/>
          </a:xfrm>
          <a:custGeom>
            <a:avLst/>
            <a:gdLst/>
            <a:ahLst/>
            <a:cxnLst/>
            <a:rect l="l" t="t" r="r" b="b"/>
            <a:pathLst>
              <a:path w="33041" h="594732">
                <a:moveTo>
                  <a:pt x="0" y="0"/>
                </a:moveTo>
                <a:lnTo>
                  <a:pt x="33041" y="0"/>
                </a:lnTo>
                <a:lnTo>
                  <a:pt x="33041" y="594732"/>
                </a:lnTo>
                <a:lnTo>
                  <a:pt x="0" y="594732"/>
                </a:lnTo>
                <a:lnTo>
                  <a:pt x="0" y="0"/>
                </a:lnTo>
                <a:close/>
              </a:path>
            </a:pathLst>
          </a:custGeom>
          <a:solidFill>
            <a:srgbClr val="C49A2C"/>
          </a:solidFill>
          <a:ln/>
        </p:spPr>
      </p:sp>
      <p:sp>
        <p:nvSpPr>
          <p:cNvPr id="36" name="Shape 34"/>
          <p:cNvSpPr/>
          <p:nvPr/>
        </p:nvSpPr>
        <p:spPr>
          <a:xfrm>
            <a:off x="6317235" y="5769724"/>
            <a:ext cx="115642" cy="132163"/>
          </a:xfrm>
          <a:custGeom>
            <a:avLst/>
            <a:gdLst/>
            <a:ahLst/>
            <a:cxnLst/>
            <a:rect l="l" t="t" r="r" b="b"/>
            <a:pathLst>
              <a:path w="115642" h="132163">
                <a:moveTo>
                  <a:pt x="99122" y="132163"/>
                </a:moveTo>
                <a:lnTo>
                  <a:pt x="24780" y="132163"/>
                </a:lnTo>
                <a:cubicBezTo>
                  <a:pt x="11100" y="132163"/>
                  <a:pt x="0" y="121063"/>
                  <a:pt x="0" y="107382"/>
                </a:cubicBezTo>
                <a:lnTo>
                  <a:pt x="0" y="24780"/>
                </a:lnTo>
                <a:cubicBezTo>
                  <a:pt x="0" y="11100"/>
                  <a:pt x="11100" y="0"/>
                  <a:pt x="24780" y="0"/>
                </a:cubicBezTo>
                <a:lnTo>
                  <a:pt x="103252" y="0"/>
                </a:lnTo>
                <a:cubicBezTo>
                  <a:pt x="110092" y="0"/>
                  <a:pt x="115642" y="5550"/>
                  <a:pt x="115642" y="12390"/>
                </a:cubicBezTo>
                <a:lnTo>
                  <a:pt x="115642" y="86732"/>
                </a:lnTo>
                <a:cubicBezTo>
                  <a:pt x="115642" y="92127"/>
                  <a:pt x="112183" y="96721"/>
                  <a:pt x="107382" y="98425"/>
                </a:cubicBezTo>
                <a:lnTo>
                  <a:pt x="107382" y="115642"/>
                </a:lnTo>
                <a:cubicBezTo>
                  <a:pt x="111951" y="115642"/>
                  <a:pt x="115642" y="119334"/>
                  <a:pt x="115642" y="123902"/>
                </a:cubicBezTo>
                <a:cubicBezTo>
                  <a:pt x="115642" y="128471"/>
                  <a:pt x="111951" y="132163"/>
                  <a:pt x="107382" y="132163"/>
                </a:cubicBezTo>
                <a:lnTo>
                  <a:pt x="99122" y="132163"/>
                </a:lnTo>
                <a:close/>
                <a:moveTo>
                  <a:pt x="24780" y="99122"/>
                </a:moveTo>
                <a:cubicBezTo>
                  <a:pt x="20212" y="99122"/>
                  <a:pt x="16520" y="102813"/>
                  <a:pt x="16520" y="107382"/>
                </a:cubicBezTo>
                <a:cubicBezTo>
                  <a:pt x="16520" y="111951"/>
                  <a:pt x="20212" y="115642"/>
                  <a:pt x="24780" y="115642"/>
                </a:cubicBezTo>
                <a:lnTo>
                  <a:pt x="90862" y="115642"/>
                </a:lnTo>
                <a:lnTo>
                  <a:pt x="90862" y="99122"/>
                </a:lnTo>
                <a:lnTo>
                  <a:pt x="24780" y="99122"/>
                </a:lnTo>
                <a:close/>
                <a:moveTo>
                  <a:pt x="33041" y="39236"/>
                </a:moveTo>
                <a:cubicBezTo>
                  <a:pt x="33041" y="42669"/>
                  <a:pt x="35803" y="45431"/>
                  <a:pt x="39236" y="45431"/>
                </a:cubicBezTo>
                <a:lnTo>
                  <a:pt x="84667" y="45431"/>
                </a:lnTo>
                <a:cubicBezTo>
                  <a:pt x="88100" y="45431"/>
                  <a:pt x="90862" y="42669"/>
                  <a:pt x="90862" y="39236"/>
                </a:cubicBezTo>
                <a:cubicBezTo>
                  <a:pt x="90862" y="35803"/>
                  <a:pt x="88100" y="33041"/>
                  <a:pt x="84667" y="33041"/>
                </a:cubicBezTo>
                <a:lnTo>
                  <a:pt x="39236" y="33041"/>
                </a:lnTo>
                <a:cubicBezTo>
                  <a:pt x="35803" y="33041"/>
                  <a:pt x="33041" y="35803"/>
                  <a:pt x="33041" y="39236"/>
                </a:cubicBezTo>
                <a:close/>
                <a:moveTo>
                  <a:pt x="39236" y="57821"/>
                </a:moveTo>
                <a:cubicBezTo>
                  <a:pt x="35803" y="57821"/>
                  <a:pt x="33041" y="60583"/>
                  <a:pt x="33041" y="64016"/>
                </a:cubicBezTo>
                <a:cubicBezTo>
                  <a:pt x="33041" y="67449"/>
                  <a:pt x="35803" y="70211"/>
                  <a:pt x="39236" y="70211"/>
                </a:cubicBezTo>
                <a:lnTo>
                  <a:pt x="84667" y="70211"/>
                </a:lnTo>
                <a:cubicBezTo>
                  <a:pt x="88100" y="70211"/>
                  <a:pt x="90862" y="67449"/>
                  <a:pt x="90862" y="64016"/>
                </a:cubicBezTo>
                <a:cubicBezTo>
                  <a:pt x="90862" y="60583"/>
                  <a:pt x="88100" y="57821"/>
                  <a:pt x="84667" y="57821"/>
                </a:cubicBezTo>
                <a:lnTo>
                  <a:pt x="39236" y="57821"/>
                </a:lnTo>
                <a:close/>
              </a:path>
            </a:pathLst>
          </a:custGeom>
          <a:solidFill>
            <a:srgbClr val="C49A2C"/>
          </a:solidFill>
          <a:ln/>
        </p:spPr>
      </p:sp>
      <p:sp>
        <p:nvSpPr>
          <p:cNvPr id="37" name="Text 35"/>
          <p:cNvSpPr/>
          <p:nvPr/>
        </p:nvSpPr>
        <p:spPr>
          <a:xfrm>
            <a:off x="6500637" y="5732553"/>
            <a:ext cx="5326126" cy="396488"/>
          </a:xfrm>
          <a:prstGeom prst="rect">
            <a:avLst/>
          </a:prstGeom>
          <a:noFill/>
          <a:ln/>
        </p:spPr>
        <p:txBody>
          <a:bodyPr wrap="square" lIns="0" tIns="0" rIns="0" bIns="0" rtlCol="0" anchor="ctr"/>
          <a:lstStyle/>
          <a:p>
            <a:pPr>
              <a:lnSpc>
                <a:spcPct val="130000"/>
              </a:lnSpc>
            </a:pPr>
            <a:r>
              <a:rPr lang="en-US" sz="1041" b="1" dirty="0">
                <a:solidFill>
                  <a:srgbClr val="1E3A5F"/>
                </a:solidFill>
                <a:latin typeface="MiSans" pitchFamily="34" charset="0"/>
                <a:ea typeface="MiSans" pitchFamily="34" charset="-122"/>
                <a:cs typeface="MiSans" pitchFamily="34" charset="-120"/>
              </a:rPr>
              <a:t>Reference:</a:t>
            </a:r>
            <a:pPr>
              <a:lnSpc>
                <a:spcPct val="130000"/>
              </a:lnSpc>
            </a:pPr>
            <a:r>
              <a:rPr lang="en-US" sz="1041" dirty="0">
                <a:solidFill>
                  <a:srgbClr val="1E3A5F"/>
                </a:solidFill>
                <a:latin typeface="MiSans" pitchFamily="34" charset="0"/>
                <a:ea typeface="MiSans" pitchFamily="34" charset="-122"/>
                <a:cs typeface="MiSans" pitchFamily="34" charset="-120"/>
              </a:rPr>
              <a:t> MPI Technical Handbook, Ch. 4 — Implementation Standards and Partnership Criteria</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9112250"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Mapping Vygotsky onto the MPI: Strand 2 — Formative Assessment Integration</a:t>
            </a:r>
            <a:endParaRPr lang="en-US" sz="1600" dirty="0"/>
          </a:p>
        </p:txBody>
      </p:sp>
      <p:sp>
        <p:nvSpPr>
          <p:cNvPr id="4" name="Shape 2"/>
          <p:cNvSpPr/>
          <p:nvPr/>
        </p:nvSpPr>
        <p:spPr>
          <a:xfrm>
            <a:off x="317500" y="904875"/>
            <a:ext cx="5715000" cy="2698750"/>
          </a:xfrm>
          <a:custGeom>
            <a:avLst/>
            <a:gdLst/>
            <a:ahLst/>
            <a:cxnLst/>
            <a:rect l="l" t="t" r="r" b="b"/>
            <a:pathLst>
              <a:path w="5715000" h="2698750">
                <a:moveTo>
                  <a:pt x="0" y="0"/>
                </a:moveTo>
                <a:lnTo>
                  <a:pt x="5715000" y="0"/>
                </a:lnTo>
                <a:lnTo>
                  <a:pt x="5715000" y="2698750"/>
                </a:lnTo>
                <a:lnTo>
                  <a:pt x="0" y="2698750"/>
                </a:lnTo>
                <a:lnTo>
                  <a:pt x="0" y="0"/>
                </a:lnTo>
                <a:close/>
              </a:path>
            </a:pathLst>
          </a:custGeom>
          <a:solidFill>
            <a:srgbClr val="FFFFFF"/>
          </a:solidFill>
          <a:ln/>
        </p:spPr>
      </p:sp>
      <p:sp>
        <p:nvSpPr>
          <p:cNvPr id="5" name="Shape 3"/>
          <p:cNvSpPr/>
          <p:nvPr/>
        </p:nvSpPr>
        <p:spPr>
          <a:xfrm>
            <a:off x="317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6" name="Text 4"/>
          <p:cNvSpPr/>
          <p:nvPr/>
        </p:nvSpPr>
        <p:spPr>
          <a:xfrm>
            <a:off x="444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Diagnostic Engine</a:t>
            </a:r>
            <a:endParaRPr lang="en-US" sz="1600" dirty="0"/>
          </a:p>
        </p:txBody>
      </p:sp>
      <p:sp>
        <p:nvSpPr>
          <p:cNvPr id="7" name="Text 5"/>
          <p:cNvSpPr/>
          <p:nvPr/>
        </p:nvSpPr>
        <p:spPr>
          <a:xfrm>
            <a:off x="444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second strand — </a:t>
            </a:r>
            <a:pPr>
              <a:lnSpc>
                <a:spcPct val="140000"/>
              </a:lnSpc>
            </a:pPr>
            <a:r>
              <a:rPr lang="en-US" sz="1000" b="1" dirty="0">
                <a:solidFill>
                  <a:srgbClr val="2D3436"/>
                </a:solidFill>
                <a:latin typeface="MiSans" pitchFamily="34" charset="0"/>
                <a:ea typeface="MiSans" pitchFamily="34" charset="-122"/>
                <a:cs typeface="MiSans" pitchFamily="34" charset="-120"/>
              </a:rPr>
              <a:t>formative assessment integration</a:t>
            </a:r>
            <a:pPr>
              <a:lnSpc>
                <a:spcPct val="140000"/>
              </a:lnSpc>
            </a:pPr>
            <a:r>
              <a:rPr lang="en-US" sz="1000" dirty="0">
                <a:solidFill>
                  <a:srgbClr val="2D3436"/>
                </a:solidFill>
                <a:latin typeface="MiSans" pitchFamily="34" charset="0"/>
                <a:ea typeface="MiSans" pitchFamily="34" charset="-122"/>
                <a:cs typeface="MiSans" pitchFamily="34" charset="-120"/>
              </a:rPr>
              <a:t> — is the diagnostic engine of the MPI's ZPD-based architecture.</a:t>
            </a:r>
            <a:endParaRPr lang="en-US" sz="1600" dirty="0"/>
          </a:p>
        </p:txBody>
      </p:sp>
      <p:sp>
        <p:nvSpPr>
          <p:cNvPr id="8" name="Text 6"/>
          <p:cNvSpPr/>
          <p:nvPr/>
        </p:nvSpPr>
        <p:spPr>
          <a:xfrm>
            <a:off x="444500" y="1873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Formative assessment, in the MPI framework, is </a:t>
            </a:r>
            <a:pPr>
              <a:lnSpc>
                <a:spcPct val="140000"/>
              </a:lnSpc>
            </a:pPr>
            <a:r>
              <a:rPr lang="en-US" sz="1000" b="1" dirty="0">
                <a:solidFill>
                  <a:srgbClr val="2D3436"/>
                </a:solidFill>
                <a:latin typeface="MiSans" pitchFamily="34" charset="0"/>
                <a:ea typeface="MiSans" pitchFamily="34" charset="-122"/>
                <a:cs typeface="MiSans" pitchFamily="34" charset="-120"/>
              </a:rPr>
              <a:t>not merely frequent testing</a:t>
            </a:r>
            <a:pPr>
              <a:lnSpc>
                <a:spcPct val="140000"/>
              </a:lnSpc>
            </a:pPr>
            <a:r>
              <a:rPr lang="en-US" sz="1000" dirty="0">
                <a:solidFill>
                  <a:srgbClr val="2D3436"/>
                </a:solidFill>
                <a:latin typeface="MiSans" pitchFamily="34" charset="0"/>
                <a:ea typeface="MiSans" pitchFamily="34" charset="-122"/>
                <a:cs typeface="MiSans" pitchFamily="34" charset="-120"/>
              </a:rPr>
              <a:t>. It is a structured feedback system designed to answer a specific question:</a:t>
            </a:r>
            <a:endParaRPr lang="en-US" sz="1600" dirty="0"/>
          </a:p>
        </p:txBody>
      </p:sp>
      <p:sp>
        <p:nvSpPr>
          <p:cNvPr id="9" name="Shape 7"/>
          <p:cNvSpPr/>
          <p:nvPr/>
        </p:nvSpPr>
        <p:spPr>
          <a:xfrm>
            <a:off x="460375" y="2381250"/>
            <a:ext cx="5445125" cy="381000"/>
          </a:xfrm>
          <a:custGeom>
            <a:avLst/>
            <a:gdLst/>
            <a:ahLst/>
            <a:cxnLst/>
            <a:rect l="l" t="t" r="r" b="b"/>
            <a:pathLst>
              <a:path w="5445125" h="381000">
                <a:moveTo>
                  <a:pt x="0" y="0"/>
                </a:moveTo>
                <a:lnTo>
                  <a:pt x="5445125" y="0"/>
                </a:lnTo>
                <a:lnTo>
                  <a:pt x="5445125" y="381000"/>
                </a:lnTo>
                <a:lnTo>
                  <a:pt x="0" y="381000"/>
                </a:lnTo>
                <a:lnTo>
                  <a:pt x="0" y="0"/>
                </a:lnTo>
                <a:close/>
              </a:path>
            </a:pathLst>
          </a:custGeom>
          <a:solidFill>
            <a:srgbClr val="C49A2C">
              <a:alpha val="10196"/>
            </a:srgbClr>
          </a:solidFill>
          <a:ln/>
        </p:spPr>
      </p:sp>
      <p:sp>
        <p:nvSpPr>
          <p:cNvPr id="10" name="Shape 8"/>
          <p:cNvSpPr/>
          <p:nvPr/>
        </p:nvSpPr>
        <p:spPr>
          <a:xfrm>
            <a:off x="460375" y="2381250"/>
            <a:ext cx="31750" cy="381000"/>
          </a:xfrm>
          <a:custGeom>
            <a:avLst/>
            <a:gdLst/>
            <a:ahLst/>
            <a:cxnLst/>
            <a:rect l="l" t="t" r="r" b="b"/>
            <a:pathLst>
              <a:path w="31750" h="381000">
                <a:moveTo>
                  <a:pt x="0" y="0"/>
                </a:moveTo>
                <a:lnTo>
                  <a:pt x="31750" y="0"/>
                </a:lnTo>
                <a:lnTo>
                  <a:pt x="31750" y="381000"/>
                </a:lnTo>
                <a:lnTo>
                  <a:pt x="0" y="381000"/>
                </a:lnTo>
                <a:lnTo>
                  <a:pt x="0" y="0"/>
                </a:lnTo>
                <a:close/>
              </a:path>
            </a:pathLst>
          </a:custGeom>
          <a:solidFill>
            <a:srgbClr val="C49A2C"/>
          </a:solidFill>
          <a:ln/>
        </p:spPr>
      </p:sp>
      <p:sp>
        <p:nvSpPr>
          <p:cNvPr id="11" name="Text 9"/>
          <p:cNvSpPr/>
          <p:nvPr/>
        </p:nvSpPr>
        <p:spPr>
          <a:xfrm>
            <a:off x="571500" y="24765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"Is this learner operating within their ZPD, and if not, what adjustment is required?"</a:t>
            </a:r>
            <a:endParaRPr lang="en-US" sz="1600" dirty="0"/>
          </a:p>
        </p:txBody>
      </p:sp>
      <p:sp>
        <p:nvSpPr>
          <p:cNvPr id="12" name="Text 10"/>
          <p:cNvSpPr/>
          <p:nvPr/>
        </p:nvSpPr>
        <p:spPr>
          <a:xfrm>
            <a:off x="444500" y="2857500"/>
            <a:ext cx="5524500" cy="61912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is the </a:t>
            </a:r>
            <a:pPr>
              <a:lnSpc>
                <a:spcPct val="140000"/>
              </a:lnSpc>
            </a:pPr>
            <a:r>
              <a:rPr lang="en-US" sz="1000" b="1" dirty="0">
                <a:solidFill>
                  <a:srgbClr val="2D3436"/>
                </a:solidFill>
                <a:latin typeface="MiSans" pitchFamily="34" charset="0"/>
                <a:ea typeface="MiSans" pitchFamily="34" charset="-122"/>
                <a:cs typeface="MiSans" pitchFamily="34" charset="-120"/>
              </a:rPr>
              <a:t>Black and Wiliam tradition operationalised through a Vygotskian lens</a:t>
            </a:r>
            <a:pPr>
              <a:lnSpc>
                <a:spcPct val="140000"/>
              </a:lnSpc>
            </a:pPr>
            <a:r>
              <a:rPr lang="en-US" sz="1000" dirty="0">
                <a:solidFill>
                  <a:srgbClr val="2D3436"/>
                </a:solidFill>
                <a:latin typeface="MiSans" pitchFamily="34" charset="0"/>
                <a:ea typeface="MiSans" pitchFamily="34" charset="-122"/>
                <a:cs typeface="MiSans" pitchFamily="34" charset="-120"/>
              </a:rPr>
              <a:t>. The feedback is not evaluative ('you got 7 out of 10') but diagnostic ('you are struggling with analysis-level questions in this domain; here is the specific scaffolding you need').</a:t>
            </a:r>
            <a:endParaRPr lang="en-US" sz="1600" dirty="0"/>
          </a:p>
        </p:txBody>
      </p:sp>
      <p:sp>
        <p:nvSpPr>
          <p:cNvPr id="13" name="Shape 11"/>
          <p:cNvSpPr/>
          <p:nvPr/>
        </p:nvSpPr>
        <p:spPr>
          <a:xfrm>
            <a:off x="317500" y="3698875"/>
            <a:ext cx="5715000" cy="3175000"/>
          </a:xfrm>
          <a:custGeom>
            <a:avLst/>
            <a:gdLst/>
            <a:ahLst/>
            <a:cxnLst/>
            <a:rect l="l" t="t" r="r" b="b"/>
            <a:pathLst>
              <a:path w="5715000" h="3175000">
                <a:moveTo>
                  <a:pt x="0" y="0"/>
                </a:moveTo>
                <a:lnTo>
                  <a:pt x="5715000" y="0"/>
                </a:lnTo>
                <a:lnTo>
                  <a:pt x="5715000" y="3175000"/>
                </a:lnTo>
                <a:lnTo>
                  <a:pt x="0" y="3175000"/>
                </a:lnTo>
                <a:lnTo>
                  <a:pt x="0" y="0"/>
                </a:lnTo>
                <a:close/>
              </a:path>
            </a:pathLst>
          </a:custGeom>
          <a:solidFill>
            <a:srgbClr val="1E3A5F"/>
          </a:solidFill>
          <a:ln/>
        </p:spPr>
      </p:sp>
      <p:sp>
        <p:nvSpPr>
          <p:cNvPr id="14" name="Text 12"/>
          <p:cNvSpPr/>
          <p:nvPr/>
        </p:nvSpPr>
        <p:spPr>
          <a:xfrm>
            <a:off x="444500" y="3825875"/>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Three-Component Assessment Architecture</a:t>
            </a:r>
            <a:endParaRPr lang="en-US" sz="1600" dirty="0"/>
          </a:p>
        </p:txBody>
      </p:sp>
      <p:sp>
        <p:nvSpPr>
          <p:cNvPr id="15" name="Shape 13"/>
          <p:cNvSpPr/>
          <p:nvPr/>
        </p:nvSpPr>
        <p:spPr>
          <a:xfrm>
            <a:off x="444500" y="4143375"/>
            <a:ext cx="5461000" cy="825500"/>
          </a:xfrm>
          <a:custGeom>
            <a:avLst/>
            <a:gdLst/>
            <a:ahLst/>
            <a:cxnLst/>
            <a:rect l="l" t="t" r="r" b="b"/>
            <a:pathLst>
              <a:path w="5461000" h="825500">
                <a:moveTo>
                  <a:pt x="0" y="0"/>
                </a:moveTo>
                <a:lnTo>
                  <a:pt x="5461000" y="0"/>
                </a:lnTo>
                <a:lnTo>
                  <a:pt x="5461000" y="825500"/>
                </a:lnTo>
                <a:lnTo>
                  <a:pt x="0" y="825500"/>
                </a:lnTo>
                <a:lnTo>
                  <a:pt x="0" y="0"/>
                </a:lnTo>
                <a:close/>
              </a:path>
            </a:pathLst>
          </a:custGeom>
          <a:solidFill>
            <a:srgbClr val="F8F9FA">
              <a:alpha val="10196"/>
            </a:srgbClr>
          </a:solidFill>
          <a:ln/>
        </p:spPr>
      </p:sp>
      <p:sp>
        <p:nvSpPr>
          <p:cNvPr id="16" name="Text 14"/>
          <p:cNvSpPr/>
          <p:nvPr/>
        </p:nvSpPr>
        <p:spPr>
          <a:xfrm>
            <a:off x="539750" y="4238625"/>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1. Entry Assessments</a:t>
            </a:r>
            <a:endParaRPr lang="en-US" sz="1600" dirty="0"/>
          </a:p>
        </p:txBody>
      </p:sp>
      <p:sp>
        <p:nvSpPr>
          <p:cNvPr id="17" name="Text 15"/>
          <p:cNvSpPr/>
          <p:nvPr/>
        </p:nvSpPr>
        <p:spPr>
          <a:xfrm>
            <a:off x="539750" y="4460875"/>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Establish the learner's </a:t>
            </a:r>
            <a:pPr>
              <a:lnSpc>
                <a:spcPct val="140000"/>
              </a:lnSpc>
            </a:pPr>
            <a:r>
              <a:rPr lang="en-US" sz="1000" b="1" dirty="0">
                <a:solidFill>
                  <a:srgbClr val="F8F9FA"/>
                </a:solidFill>
                <a:latin typeface="MiSans" pitchFamily="34" charset="0"/>
                <a:ea typeface="MiSans" pitchFamily="34" charset="-122"/>
                <a:cs typeface="MiSans" pitchFamily="34" charset="-120"/>
              </a:rPr>
              <a:t>baseline position</a:t>
            </a:r>
            <a:pPr>
              <a:lnSpc>
                <a:spcPct val="140000"/>
              </a:lnSpc>
            </a:pPr>
            <a:r>
              <a:rPr lang="en-US" sz="1000" dirty="0">
                <a:solidFill>
                  <a:srgbClr val="F8F9FA"/>
                </a:solidFill>
                <a:latin typeface="MiSans" pitchFamily="34" charset="0"/>
                <a:ea typeface="MiSans" pitchFamily="34" charset="-122"/>
                <a:cs typeface="MiSans" pitchFamily="34" charset="-120"/>
              </a:rPr>
              <a:t> relative to the ZPD for each unit. Administered at the start of each unit.</a:t>
            </a:r>
            <a:endParaRPr lang="en-US" sz="1600" dirty="0"/>
          </a:p>
        </p:txBody>
      </p:sp>
      <p:sp>
        <p:nvSpPr>
          <p:cNvPr id="18" name="Shape 16"/>
          <p:cNvSpPr/>
          <p:nvPr/>
        </p:nvSpPr>
        <p:spPr>
          <a:xfrm>
            <a:off x="444500" y="5032375"/>
            <a:ext cx="5461000" cy="825500"/>
          </a:xfrm>
          <a:custGeom>
            <a:avLst/>
            <a:gdLst/>
            <a:ahLst/>
            <a:cxnLst/>
            <a:rect l="l" t="t" r="r" b="b"/>
            <a:pathLst>
              <a:path w="5461000" h="825500">
                <a:moveTo>
                  <a:pt x="0" y="0"/>
                </a:moveTo>
                <a:lnTo>
                  <a:pt x="5461000" y="0"/>
                </a:lnTo>
                <a:lnTo>
                  <a:pt x="5461000" y="825500"/>
                </a:lnTo>
                <a:lnTo>
                  <a:pt x="0" y="825500"/>
                </a:lnTo>
                <a:lnTo>
                  <a:pt x="0" y="0"/>
                </a:lnTo>
                <a:close/>
              </a:path>
            </a:pathLst>
          </a:custGeom>
          <a:solidFill>
            <a:srgbClr val="F8F9FA">
              <a:alpha val="10196"/>
            </a:srgbClr>
          </a:solidFill>
          <a:ln/>
        </p:spPr>
      </p:sp>
      <p:sp>
        <p:nvSpPr>
          <p:cNvPr id="19" name="Text 17"/>
          <p:cNvSpPr/>
          <p:nvPr/>
        </p:nvSpPr>
        <p:spPr>
          <a:xfrm>
            <a:off x="539750" y="5127625"/>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2. Embedded Assessments</a:t>
            </a:r>
            <a:endParaRPr lang="en-US" sz="1600" dirty="0"/>
          </a:p>
        </p:txBody>
      </p:sp>
      <p:sp>
        <p:nvSpPr>
          <p:cNvPr id="20" name="Text 18"/>
          <p:cNvSpPr/>
          <p:nvPr/>
        </p:nvSpPr>
        <p:spPr>
          <a:xfrm>
            <a:off x="539750" y="5349875"/>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Administered at </a:t>
            </a:r>
            <a:pPr>
              <a:lnSpc>
                <a:spcPct val="140000"/>
              </a:lnSpc>
            </a:pPr>
            <a:r>
              <a:rPr lang="en-US" sz="1000" b="1" dirty="0">
                <a:solidFill>
                  <a:srgbClr val="F8F9FA"/>
                </a:solidFill>
                <a:latin typeface="MiSans" pitchFamily="34" charset="0"/>
                <a:ea typeface="MiSans" pitchFamily="34" charset="-122"/>
                <a:cs typeface="MiSans" pitchFamily="34" charset="-120"/>
              </a:rPr>
              <a:t>defined points within each unit</a:t>
            </a:r>
            <a:pPr>
              <a:lnSpc>
                <a:spcPct val="140000"/>
              </a:lnSpc>
            </a:pPr>
            <a:r>
              <a:rPr lang="en-US" sz="1000" dirty="0">
                <a:solidFill>
                  <a:srgbClr val="F8F9FA"/>
                </a:solidFill>
                <a:latin typeface="MiSans" pitchFamily="34" charset="0"/>
                <a:ea typeface="MiSans" pitchFamily="34" charset="-122"/>
                <a:cs typeface="MiSans" pitchFamily="34" charset="-120"/>
              </a:rPr>
              <a:t> to provide ongoing evidence of ZPD alignment.</a:t>
            </a:r>
            <a:endParaRPr lang="en-US" sz="1600" dirty="0"/>
          </a:p>
        </p:txBody>
      </p:sp>
      <p:sp>
        <p:nvSpPr>
          <p:cNvPr id="21" name="Shape 19"/>
          <p:cNvSpPr/>
          <p:nvPr/>
        </p:nvSpPr>
        <p:spPr>
          <a:xfrm>
            <a:off x="444500" y="5921375"/>
            <a:ext cx="5461000" cy="825500"/>
          </a:xfrm>
          <a:custGeom>
            <a:avLst/>
            <a:gdLst/>
            <a:ahLst/>
            <a:cxnLst/>
            <a:rect l="l" t="t" r="r" b="b"/>
            <a:pathLst>
              <a:path w="5461000" h="825500">
                <a:moveTo>
                  <a:pt x="0" y="0"/>
                </a:moveTo>
                <a:lnTo>
                  <a:pt x="5461000" y="0"/>
                </a:lnTo>
                <a:lnTo>
                  <a:pt x="5461000" y="825500"/>
                </a:lnTo>
                <a:lnTo>
                  <a:pt x="0" y="825500"/>
                </a:lnTo>
                <a:lnTo>
                  <a:pt x="0" y="0"/>
                </a:lnTo>
                <a:close/>
              </a:path>
            </a:pathLst>
          </a:custGeom>
          <a:solidFill>
            <a:srgbClr val="F8F9FA">
              <a:alpha val="10196"/>
            </a:srgbClr>
          </a:solidFill>
          <a:ln/>
        </p:spPr>
      </p:sp>
      <p:sp>
        <p:nvSpPr>
          <p:cNvPr id="22" name="Text 20"/>
          <p:cNvSpPr/>
          <p:nvPr/>
        </p:nvSpPr>
        <p:spPr>
          <a:xfrm>
            <a:off x="539750" y="6016625"/>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3. Exit Assessments</a:t>
            </a:r>
            <a:endParaRPr lang="en-US" sz="1600" dirty="0"/>
          </a:p>
        </p:txBody>
      </p:sp>
      <p:sp>
        <p:nvSpPr>
          <p:cNvPr id="23" name="Text 21"/>
          <p:cNvSpPr/>
          <p:nvPr/>
        </p:nvSpPr>
        <p:spPr>
          <a:xfrm>
            <a:off x="539750" y="6238875"/>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Determine whether the learner has </a:t>
            </a:r>
            <a:pPr>
              <a:lnSpc>
                <a:spcPct val="140000"/>
              </a:lnSpc>
            </a:pPr>
            <a:r>
              <a:rPr lang="en-US" sz="1000" b="1" dirty="0">
                <a:solidFill>
                  <a:srgbClr val="F8F9FA"/>
                </a:solidFill>
                <a:latin typeface="MiSans" pitchFamily="34" charset="0"/>
                <a:ea typeface="MiSans" pitchFamily="34" charset="-122"/>
                <a:cs typeface="MiSans" pitchFamily="34" charset="-120"/>
              </a:rPr>
              <a:t>consolidated the unit content</a:t>
            </a:r>
            <a:pPr>
              <a:lnSpc>
                <a:spcPct val="140000"/>
              </a:lnSpc>
            </a:pPr>
            <a:r>
              <a:rPr lang="en-US" sz="1000" dirty="0">
                <a:solidFill>
                  <a:srgbClr val="F8F9FA"/>
                </a:solidFill>
                <a:latin typeface="MiSans" pitchFamily="34" charset="0"/>
                <a:ea typeface="MiSans" pitchFamily="34" charset="-122"/>
                <a:cs typeface="MiSans" pitchFamily="34" charset="-120"/>
              </a:rPr>
              <a:t> to a level that permits progression.</a:t>
            </a:r>
            <a:endParaRPr lang="en-US" sz="1600" dirty="0"/>
          </a:p>
        </p:txBody>
      </p:sp>
      <p:sp>
        <p:nvSpPr>
          <p:cNvPr id="24" name="Shape 22"/>
          <p:cNvSpPr/>
          <p:nvPr/>
        </p:nvSpPr>
        <p:spPr>
          <a:xfrm>
            <a:off x="6159500" y="904875"/>
            <a:ext cx="5715000" cy="2476500"/>
          </a:xfrm>
          <a:custGeom>
            <a:avLst/>
            <a:gdLst/>
            <a:ahLst/>
            <a:cxnLst/>
            <a:rect l="l" t="t" r="r" b="b"/>
            <a:pathLst>
              <a:path w="5715000" h="2476500">
                <a:moveTo>
                  <a:pt x="0" y="0"/>
                </a:moveTo>
                <a:lnTo>
                  <a:pt x="5715000" y="0"/>
                </a:lnTo>
                <a:lnTo>
                  <a:pt x="5715000" y="2476500"/>
                </a:lnTo>
                <a:lnTo>
                  <a:pt x="0" y="2476500"/>
                </a:lnTo>
                <a:lnTo>
                  <a:pt x="0" y="0"/>
                </a:lnTo>
                <a:close/>
              </a:path>
            </a:pathLst>
          </a:custGeom>
          <a:solidFill>
            <a:srgbClr val="FFFFFF"/>
          </a:solidFill>
          <a:ln/>
        </p:spPr>
      </p:sp>
      <p:sp>
        <p:nvSpPr>
          <p:cNvPr id="25" name="Shape 23"/>
          <p:cNvSpPr/>
          <p:nvPr/>
        </p:nvSpPr>
        <p:spPr>
          <a:xfrm>
            <a:off x="6159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26" name="Text 24"/>
          <p:cNvSpPr/>
          <p:nvPr/>
        </p:nvSpPr>
        <p:spPr>
          <a:xfrm>
            <a:off x="6286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Feedback Design Principles</a:t>
            </a:r>
            <a:endParaRPr lang="en-US" sz="1600" dirty="0"/>
          </a:p>
        </p:txBody>
      </p:sp>
      <p:sp>
        <p:nvSpPr>
          <p:cNvPr id="27" name="Text 25"/>
          <p:cNvSpPr/>
          <p:nvPr/>
        </p:nvSpPr>
        <p:spPr>
          <a:xfrm>
            <a:off x="6286500" y="136525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feedback generated by this system adheres to the following design principles:</a:t>
            </a:r>
            <a:endParaRPr lang="en-US" sz="1600" dirty="0"/>
          </a:p>
        </p:txBody>
      </p:sp>
      <p:sp>
        <p:nvSpPr>
          <p:cNvPr id="28" name="Shape 26"/>
          <p:cNvSpPr/>
          <p:nvPr/>
        </p:nvSpPr>
        <p:spPr>
          <a:xfrm>
            <a:off x="6310313" y="17025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29" name="Text 27"/>
          <p:cNvSpPr/>
          <p:nvPr/>
        </p:nvSpPr>
        <p:spPr>
          <a:xfrm>
            <a:off x="6484938" y="1666875"/>
            <a:ext cx="5326063" cy="3810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Diagnostic, not evaluative:</a:t>
            </a:r>
            <a:pPr>
              <a:lnSpc>
                <a:spcPct val="130000"/>
              </a:lnSpc>
            </a:pPr>
            <a:r>
              <a:rPr lang="en-US" sz="1000" dirty="0">
                <a:solidFill>
                  <a:srgbClr val="2D3436"/>
                </a:solidFill>
                <a:latin typeface="MiSans" pitchFamily="34" charset="0"/>
                <a:ea typeface="MiSans" pitchFamily="34" charset="-122"/>
                <a:cs typeface="MiSans" pitchFamily="34" charset="-120"/>
              </a:rPr>
              <a:t> Identifies specific areas of difficulty, not just overall performance</a:t>
            </a:r>
            <a:endParaRPr lang="en-US" sz="1600" dirty="0"/>
          </a:p>
        </p:txBody>
      </p:sp>
      <p:sp>
        <p:nvSpPr>
          <p:cNvPr id="30" name="Shape 28"/>
          <p:cNvSpPr/>
          <p:nvPr/>
        </p:nvSpPr>
        <p:spPr>
          <a:xfrm>
            <a:off x="6310313" y="21470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31" name="Text 29"/>
          <p:cNvSpPr/>
          <p:nvPr/>
        </p:nvSpPr>
        <p:spPr>
          <a:xfrm>
            <a:off x="6484938" y="2111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Actionable:</a:t>
            </a:r>
            <a:pPr>
              <a:lnSpc>
                <a:spcPct val="130000"/>
              </a:lnSpc>
            </a:pPr>
            <a:r>
              <a:rPr lang="en-US" sz="1000" dirty="0">
                <a:solidFill>
                  <a:srgbClr val="2D3436"/>
                </a:solidFill>
                <a:latin typeface="MiSans" pitchFamily="34" charset="0"/>
                <a:ea typeface="MiSans" pitchFamily="34" charset="-122"/>
                <a:cs typeface="MiSans" pitchFamily="34" charset="-120"/>
              </a:rPr>
              <a:t> Provides specific guidance on what the learner should do next</a:t>
            </a:r>
            <a:endParaRPr lang="en-US" sz="1600" dirty="0"/>
          </a:p>
        </p:txBody>
      </p:sp>
      <p:sp>
        <p:nvSpPr>
          <p:cNvPr id="32" name="Shape 30"/>
          <p:cNvSpPr/>
          <p:nvPr/>
        </p:nvSpPr>
        <p:spPr>
          <a:xfrm>
            <a:off x="6310313" y="24010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33" name="Text 31"/>
          <p:cNvSpPr/>
          <p:nvPr/>
        </p:nvSpPr>
        <p:spPr>
          <a:xfrm>
            <a:off x="6484938" y="2365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Timely:</a:t>
            </a:r>
            <a:pPr>
              <a:lnSpc>
                <a:spcPct val="130000"/>
              </a:lnSpc>
            </a:pPr>
            <a:r>
              <a:rPr lang="en-US" sz="1000" dirty="0">
                <a:solidFill>
                  <a:srgbClr val="2D3436"/>
                </a:solidFill>
                <a:latin typeface="MiSans" pitchFamily="34" charset="0"/>
                <a:ea typeface="MiSans" pitchFamily="34" charset="-122"/>
                <a:cs typeface="MiSans" pitchFamily="34" charset="-120"/>
              </a:rPr>
              <a:t> Delivered close to the point of learning, not weeks later</a:t>
            </a:r>
            <a:endParaRPr lang="en-US" sz="1600" dirty="0"/>
          </a:p>
        </p:txBody>
      </p:sp>
      <p:sp>
        <p:nvSpPr>
          <p:cNvPr id="34" name="Shape 32"/>
          <p:cNvSpPr/>
          <p:nvPr/>
        </p:nvSpPr>
        <p:spPr>
          <a:xfrm>
            <a:off x="6310313" y="26550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35" name="Text 33"/>
          <p:cNvSpPr/>
          <p:nvPr/>
        </p:nvSpPr>
        <p:spPr>
          <a:xfrm>
            <a:off x="6484938" y="2619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Criterion-referenced:</a:t>
            </a:r>
            <a:pPr>
              <a:lnSpc>
                <a:spcPct val="130000"/>
              </a:lnSpc>
            </a:pPr>
            <a:r>
              <a:rPr lang="en-US" sz="1000" dirty="0">
                <a:solidFill>
                  <a:srgbClr val="2D3436"/>
                </a:solidFill>
                <a:latin typeface="MiSans" pitchFamily="34" charset="0"/>
                <a:ea typeface="MiSans" pitchFamily="34" charset="-122"/>
                <a:cs typeface="MiSans" pitchFamily="34" charset="-120"/>
              </a:rPr>
              <a:t> Compares performance to learning objectives, not to other pupils</a:t>
            </a:r>
            <a:endParaRPr lang="en-US" sz="1600" dirty="0"/>
          </a:p>
        </p:txBody>
      </p:sp>
      <p:sp>
        <p:nvSpPr>
          <p:cNvPr id="36" name="Shape 34"/>
          <p:cNvSpPr/>
          <p:nvPr/>
        </p:nvSpPr>
        <p:spPr>
          <a:xfrm>
            <a:off x="6310313" y="29090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37" name="Text 35"/>
          <p:cNvSpPr/>
          <p:nvPr/>
        </p:nvSpPr>
        <p:spPr>
          <a:xfrm>
            <a:off x="6484938" y="2873375"/>
            <a:ext cx="5326063" cy="3810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ZPD-calibrated:</a:t>
            </a:r>
            <a:pPr>
              <a:lnSpc>
                <a:spcPct val="130000"/>
              </a:lnSpc>
            </a:pPr>
            <a:r>
              <a:rPr lang="en-US" sz="1000" dirty="0">
                <a:solidFill>
                  <a:srgbClr val="2D3436"/>
                </a:solidFill>
                <a:latin typeface="MiSans" pitchFamily="34" charset="0"/>
                <a:ea typeface="MiSans" pitchFamily="34" charset="-122"/>
                <a:cs typeface="MiSans" pitchFamily="34" charset="-120"/>
              </a:rPr>
              <a:t> Indicates whether the learner is in the comfort zone, the ZPD, or the frustration zone</a:t>
            </a:r>
            <a:endParaRPr lang="en-US" sz="1600" dirty="0"/>
          </a:p>
        </p:txBody>
      </p:sp>
      <p:sp>
        <p:nvSpPr>
          <p:cNvPr id="38" name="Shape 36"/>
          <p:cNvSpPr/>
          <p:nvPr/>
        </p:nvSpPr>
        <p:spPr>
          <a:xfrm>
            <a:off x="6159500" y="3492500"/>
            <a:ext cx="5715000" cy="1714500"/>
          </a:xfrm>
          <a:custGeom>
            <a:avLst/>
            <a:gdLst/>
            <a:ahLst/>
            <a:cxnLst/>
            <a:rect l="l" t="t" r="r" b="b"/>
            <a:pathLst>
              <a:path w="5715000" h="1714500">
                <a:moveTo>
                  <a:pt x="0" y="0"/>
                </a:moveTo>
                <a:lnTo>
                  <a:pt x="5715000" y="0"/>
                </a:lnTo>
                <a:lnTo>
                  <a:pt x="5715000" y="1714500"/>
                </a:lnTo>
                <a:lnTo>
                  <a:pt x="0" y="1714500"/>
                </a:lnTo>
                <a:lnTo>
                  <a:pt x="0" y="0"/>
                </a:lnTo>
                <a:close/>
              </a:path>
            </a:pathLst>
          </a:custGeom>
          <a:solidFill>
            <a:srgbClr val="FFFFFF"/>
          </a:solidFill>
          <a:ln/>
        </p:spPr>
      </p:sp>
      <p:sp>
        <p:nvSpPr>
          <p:cNvPr id="39" name="Shape 37"/>
          <p:cNvSpPr/>
          <p:nvPr/>
        </p:nvSpPr>
        <p:spPr>
          <a:xfrm>
            <a:off x="6159500" y="3492500"/>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40" name="Text 38"/>
          <p:cNvSpPr/>
          <p:nvPr/>
        </p:nvSpPr>
        <p:spPr>
          <a:xfrm>
            <a:off x="6286500" y="3635375"/>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Formative-Summative Distinction</a:t>
            </a:r>
            <a:endParaRPr lang="en-US" sz="1600" dirty="0"/>
          </a:p>
        </p:txBody>
      </p:sp>
      <p:sp>
        <p:nvSpPr>
          <p:cNvPr id="41" name="Text 39"/>
          <p:cNvSpPr/>
          <p:nvPr/>
        </p:nvSpPr>
        <p:spPr>
          <a:xfrm>
            <a:off x="6286500" y="3952875"/>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It is critical to maintain the distinction between </a:t>
            </a:r>
            <a:pPr>
              <a:lnSpc>
                <a:spcPct val="140000"/>
              </a:lnSpc>
            </a:pPr>
            <a:r>
              <a:rPr lang="en-US" sz="1000" b="1" dirty="0">
                <a:solidFill>
                  <a:srgbClr val="2D3436"/>
                </a:solidFill>
                <a:latin typeface="MiSans" pitchFamily="34" charset="0"/>
                <a:ea typeface="MiSans" pitchFamily="34" charset="-122"/>
                <a:cs typeface="MiSans" pitchFamily="34" charset="-120"/>
              </a:rPr>
              <a:t>formative and summative assessment</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42" name="Shape 40"/>
          <p:cNvSpPr/>
          <p:nvPr/>
        </p:nvSpPr>
        <p:spPr>
          <a:xfrm>
            <a:off x="6286500" y="4254500"/>
            <a:ext cx="2682875" cy="825500"/>
          </a:xfrm>
          <a:custGeom>
            <a:avLst/>
            <a:gdLst/>
            <a:ahLst/>
            <a:cxnLst/>
            <a:rect l="l" t="t" r="r" b="b"/>
            <a:pathLst>
              <a:path w="2682875" h="825500">
                <a:moveTo>
                  <a:pt x="0" y="0"/>
                </a:moveTo>
                <a:lnTo>
                  <a:pt x="2682875" y="0"/>
                </a:lnTo>
                <a:lnTo>
                  <a:pt x="2682875" y="825500"/>
                </a:lnTo>
                <a:lnTo>
                  <a:pt x="0" y="825500"/>
                </a:lnTo>
                <a:lnTo>
                  <a:pt x="0" y="0"/>
                </a:lnTo>
                <a:close/>
              </a:path>
            </a:pathLst>
          </a:custGeom>
          <a:solidFill>
            <a:srgbClr val="F8F9FA"/>
          </a:solidFill>
          <a:ln/>
        </p:spPr>
      </p:sp>
      <p:sp>
        <p:nvSpPr>
          <p:cNvPr id="43" name="Text 41"/>
          <p:cNvSpPr/>
          <p:nvPr/>
        </p:nvSpPr>
        <p:spPr>
          <a:xfrm>
            <a:off x="6381750" y="4349750"/>
            <a:ext cx="2555875"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Formative</a:t>
            </a:r>
            <a:endParaRPr lang="en-US" sz="1600" dirty="0"/>
          </a:p>
        </p:txBody>
      </p:sp>
      <p:sp>
        <p:nvSpPr>
          <p:cNvPr id="44" name="Text 42"/>
          <p:cNvSpPr/>
          <p:nvPr/>
        </p:nvSpPr>
        <p:spPr>
          <a:xfrm>
            <a:off x="6381750" y="4603750"/>
            <a:ext cx="2555875" cy="3810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Forward-looking, diagnostic, informs instruction</a:t>
            </a:r>
            <a:endParaRPr lang="en-US" sz="1600" dirty="0"/>
          </a:p>
        </p:txBody>
      </p:sp>
      <p:sp>
        <p:nvSpPr>
          <p:cNvPr id="45" name="Shape 43"/>
          <p:cNvSpPr/>
          <p:nvPr/>
        </p:nvSpPr>
        <p:spPr>
          <a:xfrm>
            <a:off x="9064625" y="4254500"/>
            <a:ext cx="2682875" cy="825500"/>
          </a:xfrm>
          <a:custGeom>
            <a:avLst/>
            <a:gdLst/>
            <a:ahLst/>
            <a:cxnLst/>
            <a:rect l="l" t="t" r="r" b="b"/>
            <a:pathLst>
              <a:path w="2682875" h="825500">
                <a:moveTo>
                  <a:pt x="0" y="0"/>
                </a:moveTo>
                <a:lnTo>
                  <a:pt x="2682875" y="0"/>
                </a:lnTo>
                <a:lnTo>
                  <a:pt x="2682875" y="825500"/>
                </a:lnTo>
                <a:lnTo>
                  <a:pt x="0" y="825500"/>
                </a:lnTo>
                <a:lnTo>
                  <a:pt x="0" y="0"/>
                </a:lnTo>
                <a:close/>
              </a:path>
            </a:pathLst>
          </a:custGeom>
          <a:solidFill>
            <a:srgbClr val="F8F9FA"/>
          </a:solidFill>
          <a:ln/>
        </p:spPr>
      </p:sp>
      <p:sp>
        <p:nvSpPr>
          <p:cNvPr id="46" name="Text 44"/>
          <p:cNvSpPr/>
          <p:nvPr/>
        </p:nvSpPr>
        <p:spPr>
          <a:xfrm>
            <a:off x="9159875" y="4349750"/>
            <a:ext cx="2555875"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Summative</a:t>
            </a:r>
            <a:endParaRPr lang="en-US" sz="1600" dirty="0"/>
          </a:p>
        </p:txBody>
      </p:sp>
      <p:sp>
        <p:nvSpPr>
          <p:cNvPr id="47" name="Text 45"/>
          <p:cNvSpPr/>
          <p:nvPr/>
        </p:nvSpPr>
        <p:spPr>
          <a:xfrm>
            <a:off x="9159875" y="4603750"/>
            <a:ext cx="2555875" cy="3810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Backward-looking, evaluative, measures achievement</a:t>
            </a:r>
            <a:endParaRPr lang="en-US" sz="16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8223250"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Mapping Vygotsky onto the MPI: Strand 3 — Professional Development</a:t>
            </a:r>
            <a:endParaRPr lang="en-US" sz="1600" dirty="0"/>
          </a:p>
        </p:txBody>
      </p:sp>
      <p:sp>
        <p:nvSpPr>
          <p:cNvPr id="4" name="Shape 2"/>
          <p:cNvSpPr/>
          <p:nvPr/>
        </p:nvSpPr>
        <p:spPr>
          <a:xfrm>
            <a:off x="317500" y="904875"/>
            <a:ext cx="5715000" cy="2603500"/>
          </a:xfrm>
          <a:custGeom>
            <a:avLst/>
            <a:gdLst/>
            <a:ahLst/>
            <a:cxnLst/>
            <a:rect l="l" t="t" r="r" b="b"/>
            <a:pathLst>
              <a:path w="5715000" h="2603500">
                <a:moveTo>
                  <a:pt x="0" y="0"/>
                </a:moveTo>
                <a:lnTo>
                  <a:pt x="5715000" y="0"/>
                </a:lnTo>
                <a:lnTo>
                  <a:pt x="5715000" y="2603500"/>
                </a:lnTo>
                <a:lnTo>
                  <a:pt x="0" y="2603500"/>
                </a:lnTo>
                <a:lnTo>
                  <a:pt x="0" y="0"/>
                </a:lnTo>
                <a:close/>
              </a:path>
            </a:pathLst>
          </a:custGeom>
          <a:solidFill>
            <a:srgbClr val="FFFFFF"/>
          </a:solidFill>
          <a:ln/>
        </p:spPr>
      </p:sp>
      <p:sp>
        <p:nvSpPr>
          <p:cNvPr id="5" name="Shape 3"/>
          <p:cNvSpPr/>
          <p:nvPr/>
        </p:nvSpPr>
        <p:spPr>
          <a:xfrm>
            <a:off x="317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6" name="Text 4"/>
          <p:cNvSpPr/>
          <p:nvPr/>
        </p:nvSpPr>
        <p:spPr>
          <a:xfrm>
            <a:off x="444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'More Knowledgeable Other'</a:t>
            </a:r>
            <a:endParaRPr lang="en-US" sz="1600" dirty="0"/>
          </a:p>
        </p:txBody>
      </p:sp>
      <p:sp>
        <p:nvSpPr>
          <p:cNvPr id="7" name="Text 5"/>
          <p:cNvSpPr/>
          <p:nvPr/>
        </p:nvSpPr>
        <p:spPr>
          <a:xfrm>
            <a:off x="444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third strand — </a:t>
            </a:r>
            <a:pPr>
              <a:lnSpc>
                <a:spcPct val="140000"/>
              </a:lnSpc>
            </a:pPr>
            <a:r>
              <a:rPr lang="en-US" sz="1000" b="1" dirty="0">
                <a:solidFill>
                  <a:srgbClr val="2D3436"/>
                </a:solidFill>
                <a:latin typeface="MiSans" pitchFamily="34" charset="0"/>
                <a:ea typeface="MiSans" pitchFamily="34" charset="-122"/>
                <a:cs typeface="MiSans" pitchFamily="34" charset="-120"/>
              </a:rPr>
              <a:t>professional development for subject leads</a:t>
            </a:r>
            <a:pPr>
              <a:lnSpc>
                <a:spcPct val="140000"/>
              </a:lnSpc>
            </a:pPr>
            <a:r>
              <a:rPr lang="en-US" sz="1000" dirty="0">
                <a:solidFill>
                  <a:srgbClr val="2D3436"/>
                </a:solidFill>
                <a:latin typeface="MiSans" pitchFamily="34" charset="0"/>
                <a:ea typeface="MiSans" pitchFamily="34" charset="-122"/>
                <a:cs typeface="MiSans" pitchFamily="34" charset="-120"/>
              </a:rPr>
              <a:t> — addresses what Vygotsky would recognise as the </a:t>
            </a:r>
            <a:pPr>
              <a:lnSpc>
                <a:spcPct val="140000"/>
              </a:lnSpc>
            </a:pPr>
            <a:r>
              <a:rPr lang="en-US" sz="1000" dirty="0">
                <a:solidFill>
                  <a:srgbClr val="2D3436"/>
                </a:solidFill>
                <a:highlight>
                  <a:srgbClr val="C49A2C">
                    <a:alpha val="20000"/>
                  </a:srgbClr>
                </a:highlight>
                <a:latin typeface="MiSans" pitchFamily="34" charset="0"/>
                <a:ea typeface="MiSans" pitchFamily="34" charset="-122"/>
                <a:cs typeface="MiSans" pitchFamily="34" charset="-120"/>
              </a:rPr>
              <a:t>'more knowledgeable other' in the learning system </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8" name="Text 6"/>
          <p:cNvSpPr/>
          <p:nvPr/>
        </p:nvSpPr>
        <p:spPr>
          <a:xfrm>
            <a:off x="444500" y="187325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ZPD cannot be maintained without teachers who:</a:t>
            </a:r>
            <a:endParaRPr lang="en-US" sz="1600" dirty="0"/>
          </a:p>
        </p:txBody>
      </p:sp>
      <p:sp>
        <p:nvSpPr>
          <p:cNvPr id="9" name="Shape 7"/>
          <p:cNvSpPr/>
          <p:nvPr/>
        </p:nvSpPr>
        <p:spPr>
          <a:xfrm>
            <a:off x="468313" y="22105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10" name="Text 8"/>
          <p:cNvSpPr/>
          <p:nvPr/>
        </p:nvSpPr>
        <p:spPr>
          <a:xfrm>
            <a:off x="642938" y="21748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Understand the concept</a:t>
            </a:r>
            <a:pPr>
              <a:lnSpc>
                <a:spcPct val="130000"/>
              </a:lnSpc>
            </a:pPr>
            <a:r>
              <a:rPr lang="en-US" sz="1000" dirty="0">
                <a:solidFill>
                  <a:srgbClr val="2D3436"/>
                </a:solidFill>
                <a:latin typeface="MiSans" pitchFamily="34" charset="0"/>
                <a:ea typeface="MiSans" pitchFamily="34" charset="-122"/>
                <a:cs typeface="MiSans" pitchFamily="34" charset="-120"/>
              </a:rPr>
              <a:t> of the ZPD and its implications for instruction</a:t>
            </a:r>
            <a:endParaRPr lang="en-US" sz="1600" dirty="0"/>
          </a:p>
        </p:txBody>
      </p:sp>
      <p:sp>
        <p:nvSpPr>
          <p:cNvPr id="11" name="Shape 9"/>
          <p:cNvSpPr/>
          <p:nvPr/>
        </p:nvSpPr>
        <p:spPr>
          <a:xfrm>
            <a:off x="468313" y="24645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12" name="Text 10"/>
          <p:cNvSpPr/>
          <p:nvPr/>
        </p:nvSpPr>
        <p:spPr>
          <a:xfrm>
            <a:off x="642938" y="24288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Can diagnose</a:t>
            </a:r>
            <a:pPr>
              <a:lnSpc>
                <a:spcPct val="130000"/>
              </a:lnSpc>
            </a:pPr>
            <a:r>
              <a:rPr lang="en-US" sz="1000" dirty="0">
                <a:solidFill>
                  <a:srgbClr val="2D3436"/>
                </a:solidFill>
                <a:latin typeface="MiSans" pitchFamily="34" charset="0"/>
                <a:ea typeface="MiSans" pitchFamily="34" charset="-122"/>
                <a:cs typeface="MiSans" pitchFamily="34" charset="-120"/>
              </a:rPr>
              <a:t> a learner's position relative to their ZPD</a:t>
            </a:r>
            <a:endParaRPr lang="en-US" sz="1600" dirty="0"/>
          </a:p>
        </p:txBody>
      </p:sp>
      <p:sp>
        <p:nvSpPr>
          <p:cNvPr id="13" name="Shape 11"/>
          <p:cNvSpPr/>
          <p:nvPr/>
        </p:nvSpPr>
        <p:spPr>
          <a:xfrm>
            <a:off x="468313" y="2718594"/>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14" name="Text 12"/>
          <p:cNvSpPr/>
          <p:nvPr/>
        </p:nvSpPr>
        <p:spPr>
          <a:xfrm>
            <a:off x="642938" y="26828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Can deploy appropriate scaffolding</a:t>
            </a:r>
            <a:pPr>
              <a:lnSpc>
                <a:spcPct val="130000"/>
              </a:lnSpc>
            </a:pPr>
            <a:r>
              <a:rPr lang="en-US" sz="1000" dirty="0">
                <a:solidFill>
                  <a:srgbClr val="2D3436"/>
                </a:solidFill>
                <a:latin typeface="MiSans" pitchFamily="34" charset="0"/>
                <a:ea typeface="MiSans" pitchFamily="34" charset="-122"/>
                <a:cs typeface="MiSans" pitchFamily="34" charset="-120"/>
              </a:rPr>
              <a:t> in response to diagnostic data</a:t>
            </a:r>
            <a:endParaRPr lang="en-US" sz="1600" dirty="0"/>
          </a:p>
        </p:txBody>
      </p:sp>
      <p:sp>
        <p:nvSpPr>
          <p:cNvPr id="15" name="Text 13"/>
          <p:cNvSpPr/>
          <p:nvPr/>
        </p:nvSpPr>
        <p:spPr>
          <a:xfrm>
            <a:off x="444500" y="2968625"/>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is a </a:t>
            </a:r>
            <a:pPr>
              <a:lnSpc>
                <a:spcPct val="140000"/>
              </a:lnSpc>
            </a:pPr>
            <a:r>
              <a:rPr lang="en-US" sz="1000" b="1" dirty="0">
                <a:solidFill>
                  <a:srgbClr val="2D3436"/>
                </a:solidFill>
                <a:latin typeface="MiSans" pitchFamily="34" charset="0"/>
                <a:ea typeface="MiSans" pitchFamily="34" charset="-122"/>
                <a:cs typeface="MiSans" pitchFamily="34" charset="-120"/>
              </a:rPr>
              <a:t>high-skill pedagogical competency</a:t>
            </a:r>
            <a:pPr>
              <a:lnSpc>
                <a:spcPct val="140000"/>
              </a:lnSpc>
            </a:pPr>
            <a:r>
              <a:rPr lang="en-US" sz="1000" dirty="0">
                <a:solidFill>
                  <a:srgbClr val="2D3436"/>
                </a:solidFill>
                <a:latin typeface="MiSans" pitchFamily="34" charset="0"/>
                <a:ea typeface="MiSans" pitchFamily="34" charset="-122"/>
                <a:cs typeface="MiSans" pitchFamily="34" charset="-120"/>
              </a:rPr>
              <a:t> that cannot be assumed. It must be developed systematically.</a:t>
            </a:r>
            <a:endParaRPr lang="en-US" sz="1600" dirty="0"/>
          </a:p>
        </p:txBody>
      </p:sp>
      <p:sp>
        <p:nvSpPr>
          <p:cNvPr id="16" name="Shape 14"/>
          <p:cNvSpPr/>
          <p:nvPr/>
        </p:nvSpPr>
        <p:spPr>
          <a:xfrm>
            <a:off x="317500" y="3603625"/>
            <a:ext cx="5715000" cy="2349500"/>
          </a:xfrm>
          <a:custGeom>
            <a:avLst/>
            <a:gdLst/>
            <a:ahLst/>
            <a:cxnLst/>
            <a:rect l="l" t="t" r="r" b="b"/>
            <a:pathLst>
              <a:path w="5715000" h="2349500">
                <a:moveTo>
                  <a:pt x="0" y="0"/>
                </a:moveTo>
                <a:lnTo>
                  <a:pt x="5715000" y="0"/>
                </a:lnTo>
                <a:lnTo>
                  <a:pt x="5715000" y="2349500"/>
                </a:lnTo>
                <a:lnTo>
                  <a:pt x="0" y="2349500"/>
                </a:lnTo>
                <a:lnTo>
                  <a:pt x="0" y="0"/>
                </a:lnTo>
                <a:close/>
              </a:path>
            </a:pathLst>
          </a:custGeom>
          <a:solidFill>
            <a:srgbClr val="1E3A5F"/>
          </a:solidFill>
          <a:ln/>
        </p:spPr>
      </p:sp>
      <p:sp>
        <p:nvSpPr>
          <p:cNvPr id="17" name="Text 15"/>
          <p:cNvSpPr/>
          <p:nvPr/>
        </p:nvSpPr>
        <p:spPr>
          <a:xfrm>
            <a:off x="444500" y="3730625"/>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Four-Stage Professional Development Sequence</a:t>
            </a:r>
            <a:endParaRPr lang="en-US" sz="1600" dirty="0"/>
          </a:p>
        </p:txBody>
      </p:sp>
      <p:sp>
        <p:nvSpPr>
          <p:cNvPr id="18" name="Shape 16"/>
          <p:cNvSpPr/>
          <p:nvPr/>
        </p:nvSpPr>
        <p:spPr>
          <a:xfrm>
            <a:off x="444500" y="4048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C49A2C"/>
          </a:solidFill>
          <a:ln/>
        </p:spPr>
      </p:sp>
      <p:sp>
        <p:nvSpPr>
          <p:cNvPr id="19" name="Text 17"/>
          <p:cNvSpPr/>
          <p:nvPr/>
        </p:nvSpPr>
        <p:spPr>
          <a:xfrm>
            <a:off x="412750" y="4048125"/>
            <a:ext cx="381000" cy="317500"/>
          </a:xfrm>
          <a:prstGeom prst="rect">
            <a:avLst/>
          </a:prstGeom>
          <a:noFill/>
          <a:ln/>
        </p:spPr>
        <p:txBody>
          <a:bodyPr wrap="square" lIns="0" tIns="0" rIns="0" bIns="0" rtlCol="0" anchor="ctr"/>
          <a:lstStyle/>
          <a:p>
            <a:pPr algn="ctr">
              <a:lnSpc>
                <a:spcPct val="130000"/>
              </a:lnSpc>
            </a:pPr>
            <a:r>
              <a:rPr lang="en-US" sz="1000" b="1" dirty="0">
                <a:solidFill>
                  <a:srgbClr val="F8F9FA"/>
                </a:solidFill>
                <a:latin typeface="MiSans" pitchFamily="34" charset="0"/>
                <a:ea typeface="MiSans" pitchFamily="34" charset="-122"/>
                <a:cs typeface="MiSans" pitchFamily="34" charset="-120"/>
              </a:rPr>
              <a:t>1</a:t>
            </a:r>
            <a:endParaRPr lang="en-US" sz="1600" dirty="0"/>
          </a:p>
        </p:txBody>
      </p:sp>
      <p:sp>
        <p:nvSpPr>
          <p:cNvPr id="20" name="Text 18"/>
          <p:cNvSpPr/>
          <p:nvPr/>
        </p:nvSpPr>
        <p:spPr>
          <a:xfrm>
            <a:off x="857250" y="4048125"/>
            <a:ext cx="4841875"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Theoretical Grounding</a:t>
            </a:r>
            <a:endParaRPr lang="en-US" sz="1600" dirty="0"/>
          </a:p>
        </p:txBody>
      </p:sp>
      <p:sp>
        <p:nvSpPr>
          <p:cNvPr id="21" name="Text 19"/>
          <p:cNvSpPr/>
          <p:nvPr/>
        </p:nvSpPr>
        <p:spPr>
          <a:xfrm>
            <a:off x="857250" y="4238625"/>
            <a:ext cx="4841875" cy="20637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ZPD, formative assessment, curriculum sequencing — the conceptual foundations</a:t>
            </a:r>
            <a:endParaRPr lang="en-US" sz="1600" dirty="0"/>
          </a:p>
        </p:txBody>
      </p:sp>
      <p:sp>
        <p:nvSpPr>
          <p:cNvPr id="22" name="Shape 20"/>
          <p:cNvSpPr/>
          <p:nvPr/>
        </p:nvSpPr>
        <p:spPr>
          <a:xfrm>
            <a:off x="444500" y="45085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C49A2C"/>
          </a:solidFill>
          <a:ln/>
        </p:spPr>
      </p:sp>
      <p:sp>
        <p:nvSpPr>
          <p:cNvPr id="23" name="Text 21"/>
          <p:cNvSpPr/>
          <p:nvPr/>
        </p:nvSpPr>
        <p:spPr>
          <a:xfrm>
            <a:off x="412750" y="4508500"/>
            <a:ext cx="381000" cy="317500"/>
          </a:xfrm>
          <a:prstGeom prst="rect">
            <a:avLst/>
          </a:prstGeom>
          <a:noFill/>
          <a:ln/>
        </p:spPr>
        <p:txBody>
          <a:bodyPr wrap="square" lIns="0" tIns="0" rIns="0" bIns="0" rtlCol="0" anchor="ctr"/>
          <a:lstStyle/>
          <a:p>
            <a:pPr algn="ctr">
              <a:lnSpc>
                <a:spcPct val="130000"/>
              </a:lnSpc>
            </a:pPr>
            <a:r>
              <a:rPr lang="en-US" sz="1000" b="1" dirty="0">
                <a:solidFill>
                  <a:srgbClr val="F8F9FA"/>
                </a:solidFill>
                <a:latin typeface="MiSans" pitchFamily="34" charset="0"/>
                <a:ea typeface="MiSans" pitchFamily="34" charset="-122"/>
                <a:cs typeface="MiSans" pitchFamily="34" charset="-120"/>
              </a:rPr>
              <a:t>2</a:t>
            </a:r>
            <a:endParaRPr lang="en-US" sz="1600" dirty="0"/>
          </a:p>
        </p:txBody>
      </p:sp>
      <p:sp>
        <p:nvSpPr>
          <p:cNvPr id="24" name="Text 22"/>
          <p:cNvSpPr/>
          <p:nvPr/>
        </p:nvSpPr>
        <p:spPr>
          <a:xfrm>
            <a:off x="857250" y="4508500"/>
            <a:ext cx="4913313"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Diagnostic Skill Development</a:t>
            </a:r>
            <a:endParaRPr lang="en-US" sz="1600" dirty="0"/>
          </a:p>
        </p:txBody>
      </p:sp>
      <p:sp>
        <p:nvSpPr>
          <p:cNvPr id="25" name="Text 23"/>
          <p:cNvSpPr/>
          <p:nvPr/>
        </p:nvSpPr>
        <p:spPr>
          <a:xfrm>
            <a:off x="857250" y="4699000"/>
            <a:ext cx="4913313" cy="20637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Interpretation of formative assessment data and identification of ZPD misalignment</a:t>
            </a:r>
            <a:endParaRPr lang="en-US" sz="1600" dirty="0"/>
          </a:p>
        </p:txBody>
      </p:sp>
      <p:sp>
        <p:nvSpPr>
          <p:cNvPr id="26" name="Shape 24"/>
          <p:cNvSpPr/>
          <p:nvPr/>
        </p:nvSpPr>
        <p:spPr>
          <a:xfrm>
            <a:off x="444500" y="496887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C49A2C"/>
          </a:solidFill>
          <a:ln/>
        </p:spPr>
      </p:sp>
      <p:sp>
        <p:nvSpPr>
          <p:cNvPr id="27" name="Text 25"/>
          <p:cNvSpPr/>
          <p:nvPr/>
        </p:nvSpPr>
        <p:spPr>
          <a:xfrm>
            <a:off x="412750" y="4968875"/>
            <a:ext cx="381000" cy="317500"/>
          </a:xfrm>
          <a:prstGeom prst="rect">
            <a:avLst/>
          </a:prstGeom>
          <a:noFill/>
          <a:ln/>
        </p:spPr>
        <p:txBody>
          <a:bodyPr wrap="square" lIns="0" tIns="0" rIns="0" bIns="0" rtlCol="0" anchor="ctr"/>
          <a:lstStyle/>
          <a:p>
            <a:pPr algn="ctr">
              <a:lnSpc>
                <a:spcPct val="130000"/>
              </a:lnSpc>
            </a:pPr>
            <a:r>
              <a:rPr lang="en-US" sz="1000" b="1" dirty="0">
                <a:solidFill>
                  <a:srgbClr val="F8F9FA"/>
                </a:solidFill>
                <a:latin typeface="MiSans" pitchFamily="34" charset="0"/>
                <a:ea typeface="MiSans" pitchFamily="34" charset="-122"/>
                <a:cs typeface="MiSans" pitchFamily="34" charset="-120"/>
              </a:rPr>
              <a:t>3</a:t>
            </a:r>
            <a:endParaRPr lang="en-US" sz="1600" dirty="0"/>
          </a:p>
        </p:txBody>
      </p:sp>
      <p:sp>
        <p:nvSpPr>
          <p:cNvPr id="28" name="Text 26"/>
          <p:cNvSpPr/>
          <p:nvPr/>
        </p:nvSpPr>
        <p:spPr>
          <a:xfrm>
            <a:off x="857250" y="4968875"/>
            <a:ext cx="4119562"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Scaffolding Strategy Repertoire</a:t>
            </a:r>
            <a:endParaRPr lang="en-US" sz="1600" dirty="0"/>
          </a:p>
        </p:txBody>
      </p:sp>
      <p:sp>
        <p:nvSpPr>
          <p:cNvPr id="29" name="Text 27"/>
          <p:cNvSpPr/>
          <p:nvPr/>
        </p:nvSpPr>
        <p:spPr>
          <a:xfrm>
            <a:off x="857250" y="5159375"/>
            <a:ext cx="4119562" cy="20637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Specific techniques for different content domains and learner profiles</a:t>
            </a:r>
            <a:endParaRPr lang="en-US" sz="1600" dirty="0"/>
          </a:p>
        </p:txBody>
      </p:sp>
      <p:sp>
        <p:nvSpPr>
          <p:cNvPr id="30" name="Shape 28"/>
          <p:cNvSpPr/>
          <p:nvPr/>
        </p:nvSpPr>
        <p:spPr>
          <a:xfrm>
            <a:off x="444500" y="54292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C49A2C"/>
          </a:solidFill>
          <a:ln/>
        </p:spPr>
      </p:sp>
      <p:sp>
        <p:nvSpPr>
          <p:cNvPr id="31" name="Text 29"/>
          <p:cNvSpPr/>
          <p:nvPr/>
        </p:nvSpPr>
        <p:spPr>
          <a:xfrm>
            <a:off x="412750" y="5429250"/>
            <a:ext cx="381000" cy="317500"/>
          </a:xfrm>
          <a:prstGeom prst="rect">
            <a:avLst/>
          </a:prstGeom>
          <a:noFill/>
          <a:ln/>
        </p:spPr>
        <p:txBody>
          <a:bodyPr wrap="square" lIns="0" tIns="0" rIns="0" bIns="0" rtlCol="0" anchor="ctr"/>
          <a:lstStyle/>
          <a:p>
            <a:pPr algn="ctr">
              <a:lnSpc>
                <a:spcPct val="130000"/>
              </a:lnSpc>
            </a:pPr>
            <a:r>
              <a:rPr lang="en-US" sz="1000" b="1" dirty="0">
                <a:solidFill>
                  <a:srgbClr val="F8F9FA"/>
                </a:solidFill>
                <a:latin typeface="MiSans" pitchFamily="34" charset="0"/>
                <a:ea typeface="MiSans" pitchFamily="34" charset="-122"/>
                <a:cs typeface="MiSans" pitchFamily="34" charset="-120"/>
              </a:rPr>
              <a:t>4</a:t>
            </a:r>
            <a:endParaRPr lang="en-US" sz="1600" dirty="0"/>
          </a:p>
        </p:txBody>
      </p:sp>
      <p:sp>
        <p:nvSpPr>
          <p:cNvPr id="32" name="Text 30"/>
          <p:cNvSpPr/>
          <p:nvPr/>
        </p:nvSpPr>
        <p:spPr>
          <a:xfrm>
            <a:off x="857250" y="5429250"/>
            <a:ext cx="4198938"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Peer Observation and Feedback</a:t>
            </a:r>
            <a:endParaRPr lang="en-US" sz="1600" dirty="0"/>
          </a:p>
        </p:txBody>
      </p:sp>
      <p:sp>
        <p:nvSpPr>
          <p:cNvPr id="33" name="Text 31"/>
          <p:cNvSpPr/>
          <p:nvPr/>
        </p:nvSpPr>
        <p:spPr>
          <a:xfrm>
            <a:off x="857250" y="5619750"/>
            <a:ext cx="4198938" cy="20637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Structured critique of practice against the MPI's pedagogical standards</a:t>
            </a:r>
            <a:endParaRPr lang="en-US" sz="1600" dirty="0"/>
          </a:p>
        </p:txBody>
      </p:sp>
      <p:sp>
        <p:nvSpPr>
          <p:cNvPr id="34" name="Shape 32"/>
          <p:cNvSpPr/>
          <p:nvPr/>
        </p:nvSpPr>
        <p:spPr>
          <a:xfrm>
            <a:off x="6159500" y="904875"/>
            <a:ext cx="5715000" cy="2794000"/>
          </a:xfrm>
          <a:custGeom>
            <a:avLst/>
            <a:gdLst/>
            <a:ahLst/>
            <a:cxnLst/>
            <a:rect l="l" t="t" r="r" b="b"/>
            <a:pathLst>
              <a:path w="5715000" h="2794000">
                <a:moveTo>
                  <a:pt x="0" y="0"/>
                </a:moveTo>
                <a:lnTo>
                  <a:pt x="5715000" y="0"/>
                </a:lnTo>
                <a:lnTo>
                  <a:pt x="5715000" y="2794000"/>
                </a:lnTo>
                <a:lnTo>
                  <a:pt x="0" y="2794000"/>
                </a:lnTo>
                <a:lnTo>
                  <a:pt x="0" y="0"/>
                </a:lnTo>
                <a:close/>
              </a:path>
            </a:pathLst>
          </a:custGeom>
          <a:solidFill>
            <a:srgbClr val="FFFFFF"/>
          </a:solidFill>
          <a:ln/>
        </p:spPr>
      </p:sp>
      <p:sp>
        <p:nvSpPr>
          <p:cNvPr id="35" name="Shape 33"/>
          <p:cNvSpPr/>
          <p:nvPr/>
        </p:nvSpPr>
        <p:spPr>
          <a:xfrm>
            <a:off x="6159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36" name="Text 34"/>
          <p:cNvSpPr/>
          <p:nvPr/>
        </p:nvSpPr>
        <p:spPr>
          <a:xfrm>
            <a:off x="6286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This Is Not an Add-On</a:t>
            </a:r>
            <a:endParaRPr lang="en-US" sz="1600" dirty="0"/>
          </a:p>
        </p:txBody>
      </p:sp>
      <p:sp>
        <p:nvSpPr>
          <p:cNvPr id="37" name="Text 35"/>
          <p:cNvSpPr/>
          <p:nvPr/>
        </p:nvSpPr>
        <p:spPr>
          <a:xfrm>
            <a:off x="6286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professional development strand is </a:t>
            </a:r>
            <a:pPr>
              <a:lnSpc>
                <a:spcPct val="140000"/>
              </a:lnSpc>
            </a:pPr>
            <a:r>
              <a:rPr lang="en-US" sz="1000" b="1" dirty="0">
                <a:solidFill>
                  <a:srgbClr val="2D3436"/>
                </a:solidFill>
                <a:latin typeface="MiSans" pitchFamily="34" charset="0"/>
                <a:ea typeface="MiSans" pitchFamily="34" charset="-122"/>
                <a:cs typeface="MiSans" pitchFamily="34" charset="-120"/>
              </a:rPr>
              <a:t>not an add-on</a:t>
            </a:r>
            <a:pPr>
              <a:lnSpc>
                <a:spcPct val="140000"/>
              </a:lnSpc>
            </a:pPr>
            <a:r>
              <a:rPr lang="en-US" sz="1000" dirty="0">
                <a:solidFill>
                  <a:srgbClr val="2D3436"/>
                </a:solidFill>
                <a:latin typeface="MiSans" pitchFamily="34" charset="0"/>
                <a:ea typeface="MiSans" pitchFamily="34" charset="-122"/>
                <a:cs typeface="MiSans" pitchFamily="34" charset="-120"/>
              </a:rPr>
              <a:t>. It is the human infrastructure without which the other two strands cannot function.</a:t>
            </a:r>
            <a:endParaRPr lang="en-US" sz="1600" dirty="0"/>
          </a:p>
        </p:txBody>
      </p:sp>
      <p:sp>
        <p:nvSpPr>
          <p:cNvPr id="38" name="Text 36"/>
          <p:cNvSpPr/>
          <p:nvPr/>
        </p:nvSpPr>
        <p:spPr>
          <a:xfrm>
            <a:off x="6286500" y="1873250"/>
            <a:ext cx="5524500" cy="10318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curriculum sequenced by cognitive demand but without formative assessment cannot maintain ZPD alignment. A formative assessment system without teacher skill in scaffolding cannot translate diagnostic data into instructional action. A professional development programme without a structured curriculum and assessment architecture has nothing to develop teachers toward.</a:t>
            </a:r>
            <a:endParaRPr lang="en-US" sz="1600" dirty="0"/>
          </a:p>
        </p:txBody>
      </p:sp>
      <p:sp>
        <p:nvSpPr>
          <p:cNvPr id="39" name="Shape 37"/>
          <p:cNvSpPr/>
          <p:nvPr/>
        </p:nvSpPr>
        <p:spPr>
          <a:xfrm>
            <a:off x="6302375" y="3000375"/>
            <a:ext cx="5445125" cy="571500"/>
          </a:xfrm>
          <a:custGeom>
            <a:avLst/>
            <a:gdLst/>
            <a:ahLst/>
            <a:cxnLst/>
            <a:rect l="l" t="t" r="r" b="b"/>
            <a:pathLst>
              <a:path w="5445125" h="571500">
                <a:moveTo>
                  <a:pt x="0" y="0"/>
                </a:moveTo>
                <a:lnTo>
                  <a:pt x="5445125" y="0"/>
                </a:lnTo>
                <a:lnTo>
                  <a:pt x="5445125" y="571500"/>
                </a:lnTo>
                <a:lnTo>
                  <a:pt x="0" y="571500"/>
                </a:lnTo>
                <a:lnTo>
                  <a:pt x="0" y="0"/>
                </a:lnTo>
                <a:close/>
              </a:path>
            </a:pathLst>
          </a:custGeom>
          <a:solidFill>
            <a:srgbClr val="F8F9FA"/>
          </a:solidFill>
          <a:ln/>
        </p:spPr>
      </p:sp>
      <p:sp>
        <p:nvSpPr>
          <p:cNvPr id="40" name="Shape 38"/>
          <p:cNvSpPr/>
          <p:nvPr/>
        </p:nvSpPr>
        <p:spPr>
          <a:xfrm>
            <a:off x="6302375" y="3000375"/>
            <a:ext cx="31750" cy="571500"/>
          </a:xfrm>
          <a:custGeom>
            <a:avLst/>
            <a:gdLst/>
            <a:ahLst/>
            <a:cxnLst/>
            <a:rect l="l" t="t" r="r" b="b"/>
            <a:pathLst>
              <a:path w="31750" h="571500">
                <a:moveTo>
                  <a:pt x="0" y="0"/>
                </a:moveTo>
                <a:lnTo>
                  <a:pt x="31750" y="0"/>
                </a:lnTo>
                <a:lnTo>
                  <a:pt x="31750" y="571500"/>
                </a:lnTo>
                <a:lnTo>
                  <a:pt x="0" y="571500"/>
                </a:lnTo>
                <a:lnTo>
                  <a:pt x="0" y="0"/>
                </a:lnTo>
                <a:close/>
              </a:path>
            </a:pathLst>
          </a:custGeom>
          <a:solidFill>
            <a:srgbClr val="C49A2C"/>
          </a:solidFill>
          <a:ln/>
        </p:spPr>
      </p:sp>
      <p:sp>
        <p:nvSpPr>
          <p:cNvPr id="41" name="Text 39"/>
          <p:cNvSpPr/>
          <p:nvPr/>
        </p:nvSpPr>
        <p:spPr>
          <a:xfrm>
            <a:off x="6413500" y="3095625"/>
            <a:ext cx="5302250" cy="381000"/>
          </a:xfrm>
          <a:prstGeom prst="rect">
            <a:avLst/>
          </a:prstGeom>
          <a:noFill/>
          <a:ln/>
        </p:spPr>
        <p:txBody>
          <a:bodyPr wrap="square" lIns="0" tIns="0" rIns="0" bIns="0" rtlCol="0" anchor="ctr"/>
          <a:lstStyle/>
          <a:p>
            <a:pPr>
              <a:lnSpc>
                <a:spcPct val="130000"/>
              </a:lnSpc>
            </a:pPr>
            <a:r>
              <a:rPr lang="en-US" sz="1000" dirty="0">
                <a:solidFill>
                  <a:srgbClr val="1E3A5F"/>
                </a:solidFill>
                <a:latin typeface="MiSans" pitchFamily="34" charset="0"/>
                <a:ea typeface="MiSans" pitchFamily="34" charset="-122"/>
                <a:cs typeface="MiSans" pitchFamily="34" charset="-120"/>
              </a:rPr>
              <a:t>"The three strands are interdependent in a way that reflects the interdependence of the theoretical traditions from which they are derived."</a:t>
            </a:r>
            <a:endParaRPr lang="en-US" sz="1600" dirty="0"/>
          </a:p>
        </p:txBody>
      </p:sp>
      <p:sp>
        <p:nvSpPr>
          <p:cNvPr id="42" name="Shape 40"/>
          <p:cNvSpPr/>
          <p:nvPr/>
        </p:nvSpPr>
        <p:spPr>
          <a:xfrm>
            <a:off x="6159500" y="3810000"/>
            <a:ext cx="5715000" cy="1539875"/>
          </a:xfrm>
          <a:custGeom>
            <a:avLst/>
            <a:gdLst/>
            <a:ahLst/>
            <a:cxnLst/>
            <a:rect l="l" t="t" r="r" b="b"/>
            <a:pathLst>
              <a:path w="5715000" h="1539875">
                <a:moveTo>
                  <a:pt x="0" y="0"/>
                </a:moveTo>
                <a:lnTo>
                  <a:pt x="5715000" y="0"/>
                </a:lnTo>
                <a:lnTo>
                  <a:pt x="5715000" y="1539875"/>
                </a:lnTo>
                <a:lnTo>
                  <a:pt x="0" y="1539875"/>
                </a:lnTo>
                <a:lnTo>
                  <a:pt x="0" y="0"/>
                </a:lnTo>
                <a:close/>
              </a:path>
            </a:pathLst>
          </a:custGeom>
          <a:solidFill>
            <a:srgbClr val="FFFFFF"/>
          </a:solidFill>
          <a:ln/>
        </p:spPr>
      </p:sp>
      <p:sp>
        <p:nvSpPr>
          <p:cNvPr id="43" name="Shape 41"/>
          <p:cNvSpPr/>
          <p:nvPr/>
        </p:nvSpPr>
        <p:spPr>
          <a:xfrm>
            <a:off x="6159500" y="3810000"/>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44" name="Text 42"/>
          <p:cNvSpPr/>
          <p:nvPr/>
        </p:nvSpPr>
        <p:spPr>
          <a:xfrm>
            <a:off x="6286500" y="3952875"/>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Professional Development Delivery</a:t>
            </a:r>
            <a:endParaRPr lang="en-US" sz="1600" dirty="0"/>
          </a:p>
        </p:txBody>
      </p:sp>
      <p:sp>
        <p:nvSpPr>
          <p:cNvPr id="45" name="Shape 43"/>
          <p:cNvSpPr/>
          <p:nvPr/>
        </p:nvSpPr>
        <p:spPr>
          <a:xfrm>
            <a:off x="6310313" y="4306094"/>
            <a:ext cx="111125" cy="127000"/>
          </a:xfrm>
          <a:custGeom>
            <a:avLst/>
            <a:gdLst/>
            <a:ahLst/>
            <a:cxnLst/>
            <a:rect l="l" t="t" r="r" b="b"/>
            <a:pathLst>
              <a:path w="111125" h="127000">
                <a:moveTo>
                  <a:pt x="31750" y="0"/>
                </a:moveTo>
                <a:cubicBezTo>
                  <a:pt x="27360" y="0"/>
                  <a:pt x="23812" y="3547"/>
                  <a:pt x="23812" y="7938"/>
                </a:cubicBezTo>
                <a:lnTo>
                  <a:pt x="23812" y="15875"/>
                </a:lnTo>
                <a:lnTo>
                  <a:pt x="15875" y="15875"/>
                </a:lnTo>
                <a:cubicBezTo>
                  <a:pt x="7119" y="15875"/>
                  <a:pt x="0" y="22994"/>
                  <a:pt x="0" y="31750"/>
                </a:cubicBezTo>
                <a:lnTo>
                  <a:pt x="0" y="43656"/>
                </a:lnTo>
                <a:lnTo>
                  <a:pt x="111125" y="43656"/>
                </a:lnTo>
                <a:lnTo>
                  <a:pt x="111125" y="31750"/>
                </a:lnTo>
                <a:cubicBezTo>
                  <a:pt x="111125" y="22994"/>
                  <a:pt x="104006" y="15875"/>
                  <a:pt x="95250" y="15875"/>
                </a:cubicBezTo>
                <a:lnTo>
                  <a:pt x="87313" y="15875"/>
                </a:lnTo>
                <a:lnTo>
                  <a:pt x="87313" y="7938"/>
                </a:lnTo>
                <a:cubicBezTo>
                  <a:pt x="87313" y="3547"/>
                  <a:pt x="83765" y="0"/>
                  <a:pt x="79375" y="0"/>
                </a:cubicBezTo>
                <a:cubicBezTo>
                  <a:pt x="74985" y="0"/>
                  <a:pt x="71438" y="3547"/>
                  <a:pt x="71438" y="7938"/>
                </a:cubicBezTo>
                <a:lnTo>
                  <a:pt x="71438" y="15875"/>
                </a:lnTo>
                <a:lnTo>
                  <a:pt x="39688" y="15875"/>
                </a:lnTo>
                <a:lnTo>
                  <a:pt x="39688" y="7938"/>
                </a:lnTo>
                <a:cubicBezTo>
                  <a:pt x="39688" y="3547"/>
                  <a:pt x="36140" y="0"/>
                  <a:pt x="31750" y="0"/>
                </a:cubicBezTo>
                <a:close/>
                <a:moveTo>
                  <a:pt x="0" y="55563"/>
                </a:moveTo>
                <a:lnTo>
                  <a:pt x="0" y="103188"/>
                </a:lnTo>
                <a:cubicBezTo>
                  <a:pt x="0" y="111944"/>
                  <a:pt x="7119" y="119063"/>
                  <a:pt x="15875" y="119063"/>
                </a:cubicBezTo>
                <a:lnTo>
                  <a:pt x="95250" y="119063"/>
                </a:lnTo>
                <a:cubicBezTo>
                  <a:pt x="104006" y="119063"/>
                  <a:pt x="111125" y="111944"/>
                  <a:pt x="111125" y="103188"/>
                </a:cubicBezTo>
                <a:lnTo>
                  <a:pt x="111125" y="55563"/>
                </a:lnTo>
                <a:lnTo>
                  <a:pt x="0" y="55563"/>
                </a:lnTo>
                <a:close/>
              </a:path>
            </a:pathLst>
          </a:custGeom>
          <a:solidFill>
            <a:srgbClr val="C49A2C"/>
          </a:solidFill>
          <a:ln/>
        </p:spPr>
      </p:sp>
      <p:sp>
        <p:nvSpPr>
          <p:cNvPr id="46" name="Text 44"/>
          <p:cNvSpPr/>
          <p:nvPr/>
        </p:nvSpPr>
        <p:spPr>
          <a:xfrm>
            <a:off x="6484938" y="4270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Initial training:</a:t>
            </a:r>
            <a:pPr>
              <a:lnSpc>
                <a:spcPct val="130000"/>
              </a:lnSpc>
            </a:pPr>
            <a:r>
              <a:rPr lang="en-US" sz="1000" dirty="0">
                <a:solidFill>
                  <a:srgbClr val="2D3436"/>
                </a:solidFill>
                <a:latin typeface="MiSans" pitchFamily="34" charset="0"/>
                <a:ea typeface="MiSans" pitchFamily="34" charset="-122"/>
                <a:cs typeface="MiSans" pitchFamily="34" charset="-120"/>
              </a:rPr>
              <a:t> Two-day coordinator training programme</a:t>
            </a:r>
            <a:endParaRPr lang="en-US" sz="1600" dirty="0"/>
          </a:p>
        </p:txBody>
      </p:sp>
      <p:sp>
        <p:nvSpPr>
          <p:cNvPr id="47" name="Shape 45"/>
          <p:cNvSpPr/>
          <p:nvPr/>
        </p:nvSpPr>
        <p:spPr>
          <a:xfrm>
            <a:off x="6310313" y="4560094"/>
            <a:ext cx="111125" cy="127000"/>
          </a:xfrm>
          <a:custGeom>
            <a:avLst/>
            <a:gdLst/>
            <a:ahLst/>
            <a:cxnLst/>
            <a:rect l="l" t="t" r="r" b="b"/>
            <a:pathLst>
              <a:path w="111125" h="127000">
                <a:moveTo>
                  <a:pt x="31750" y="0"/>
                </a:moveTo>
                <a:cubicBezTo>
                  <a:pt x="27360" y="0"/>
                  <a:pt x="23812" y="3547"/>
                  <a:pt x="23812" y="7938"/>
                </a:cubicBezTo>
                <a:lnTo>
                  <a:pt x="23812" y="15875"/>
                </a:lnTo>
                <a:lnTo>
                  <a:pt x="15875" y="15875"/>
                </a:lnTo>
                <a:cubicBezTo>
                  <a:pt x="7119" y="15875"/>
                  <a:pt x="0" y="22994"/>
                  <a:pt x="0" y="31750"/>
                </a:cubicBezTo>
                <a:lnTo>
                  <a:pt x="0" y="43656"/>
                </a:lnTo>
                <a:lnTo>
                  <a:pt x="111125" y="43656"/>
                </a:lnTo>
                <a:lnTo>
                  <a:pt x="111125" y="31750"/>
                </a:lnTo>
                <a:cubicBezTo>
                  <a:pt x="111125" y="22994"/>
                  <a:pt x="104006" y="15875"/>
                  <a:pt x="95250" y="15875"/>
                </a:cubicBezTo>
                <a:lnTo>
                  <a:pt x="87313" y="15875"/>
                </a:lnTo>
                <a:lnTo>
                  <a:pt x="87313" y="7938"/>
                </a:lnTo>
                <a:cubicBezTo>
                  <a:pt x="87313" y="3547"/>
                  <a:pt x="83765" y="0"/>
                  <a:pt x="79375" y="0"/>
                </a:cubicBezTo>
                <a:cubicBezTo>
                  <a:pt x="74985" y="0"/>
                  <a:pt x="71438" y="3547"/>
                  <a:pt x="71438" y="7938"/>
                </a:cubicBezTo>
                <a:lnTo>
                  <a:pt x="71438" y="15875"/>
                </a:lnTo>
                <a:lnTo>
                  <a:pt x="39688" y="15875"/>
                </a:lnTo>
                <a:lnTo>
                  <a:pt x="39688" y="7938"/>
                </a:lnTo>
                <a:cubicBezTo>
                  <a:pt x="39688" y="3547"/>
                  <a:pt x="36140" y="0"/>
                  <a:pt x="31750" y="0"/>
                </a:cubicBezTo>
                <a:close/>
                <a:moveTo>
                  <a:pt x="0" y="55563"/>
                </a:moveTo>
                <a:lnTo>
                  <a:pt x="0" y="103188"/>
                </a:lnTo>
                <a:cubicBezTo>
                  <a:pt x="0" y="111944"/>
                  <a:pt x="7119" y="119063"/>
                  <a:pt x="15875" y="119063"/>
                </a:cubicBezTo>
                <a:lnTo>
                  <a:pt x="95250" y="119063"/>
                </a:lnTo>
                <a:cubicBezTo>
                  <a:pt x="104006" y="119063"/>
                  <a:pt x="111125" y="111944"/>
                  <a:pt x="111125" y="103188"/>
                </a:cubicBezTo>
                <a:lnTo>
                  <a:pt x="111125" y="55563"/>
                </a:lnTo>
                <a:lnTo>
                  <a:pt x="0" y="55563"/>
                </a:lnTo>
                <a:close/>
              </a:path>
            </a:pathLst>
          </a:custGeom>
          <a:solidFill>
            <a:srgbClr val="C49A2C"/>
          </a:solidFill>
          <a:ln/>
        </p:spPr>
      </p:sp>
      <p:sp>
        <p:nvSpPr>
          <p:cNvPr id="48" name="Text 46"/>
          <p:cNvSpPr/>
          <p:nvPr/>
        </p:nvSpPr>
        <p:spPr>
          <a:xfrm>
            <a:off x="6484938" y="4524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Ongoing CPD:</a:t>
            </a:r>
            <a:pPr>
              <a:lnSpc>
                <a:spcPct val="130000"/>
              </a:lnSpc>
            </a:pPr>
            <a:r>
              <a:rPr lang="en-US" sz="1000" dirty="0">
                <a:solidFill>
                  <a:srgbClr val="2D3436"/>
                </a:solidFill>
                <a:latin typeface="MiSans" pitchFamily="34" charset="0"/>
                <a:ea typeface="MiSans" pitchFamily="34" charset="-122"/>
                <a:cs typeface="MiSans" pitchFamily="34" charset="-120"/>
              </a:rPr>
              <a:t> Termly network meetings and annual refresher</a:t>
            </a:r>
            <a:endParaRPr lang="en-US" sz="1600" dirty="0"/>
          </a:p>
        </p:txBody>
      </p:sp>
      <p:sp>
        <p:nvSpPr>
          <p:cNvPr id="49" name="Shape 47"/>
          <p:cNvSpPr/>
          <p:nvPr/>
        </p:nvSpPr>
        <p:spPr>
          <a:xfrm>
            <a:off x="6310313" y="4814094"/>
            <a:ext cx="111125" cy="127000"/>
          </a:xfrm>
          <a:custGeom>
            <a:avLst/>
            <a:gdLst/>
            <a:ahLst/>
            <a:cxnLst/>
            <a:rect l="l" t="t" r="r" b="b"/>
            <a:pathLst>
              <a:path w="111125" h="127000">
                <a:moveTo>
                  <a:pt x="31750" y="0"/>
                </a:moveTo>
                <a:cubicBezTo>
                  <a:pt x="27360" y="0"/>
                  <a:pt x="23812" y="3547"/>
                  <a:pt x="23812" y="7938"/>
                </a:cubicBezTo>
                <a:lnTo>
                  <a:pt x="23812" y="15875"/>
                </a:lnTo>
                <a:lnTo>
                  <a:pt x="15875" y="15875"/>
                </a:lnTo>
                <a:cubicBezTo>
                  <a:pt x="7119" y="15875"/>
                  <a:pt x="0" y="22994"/>
                  <a:pt x="0" y="31750"/>
                </a:cubicBezTo>
                <a:lnTo>
                  <a:pt x="0" y="43656"/>
                </a:lnTo>
                <a:lnTo>
                  <a:pt x="111125" y="43656"/>
                </a:lnTo>
                <a:lnTo>
                  <a:pt x="111125" y="31750"/>
                </a:lnTo>
                <a:cubicBezTo>
                  <a:pt x="111125" y="22994"/>
                  <a:pt x="104006" y="15875"/>
                  <a:pt x="95250" y="15875"/>
                </a:cubicBezTo>
                <a:lnTo>
                  <a:pt x="87313" y="15875"/>
                </a:lnTo>
                <a:lnTo>
                  <a:pt x="87313" y="7938"/>
                </a:lnTo>
                <a:cubicBezTo>
                  <a:pt x="87313" y="3547"/>
                  <a:pt x="83765" y="0"/>
                  <a:pt x="79375" y="0"/>
                </a:cubicBezTo>
                <a:cubicBezTo>
                  <a:pt x="74985" y="0"/>
                  <a:pt x="71438" y="3547"/>
                  <a:pt x="71438" y="7938"/>
                </a:cubicBezTo>
                <a:lnTo>
                  <a:pt x="71438" y="15875"/>
                </a:lnTo>
                <a:lnTo>
                  <a:pt x="39688" y="15875"/>
                </a:lnTo>
                <a:lnTo>
                  <a:pt x="39688" y="7938"/>
                </a:lnTo>
                <a:cubicBezTo>
                  <a:pt x="39688" y="3547"/>
                  <a:pt x="36140" y="0"/>
                  <a:pt x="31750" y="0"/>
                </a:cubicBezTo>
                <a:close/>
                <a:moveTo>
                  <a:pt x="0" y="55563"/>
                </a:moveTo>
                <a:lnTo>
                  <a:pt x="0" y="103188"/>
                </a:lnTo>
                <a:cubicBezTo>
                  <a:pt x="0" y="111944"/>
                  <a:pt x="7119" y="119063"/>
                  <a:pt x="15875" y="119063"/>
                </a:cubicBezTo>
                <a:lnTo>
                  <a:pt x="95250" y="119063"/>
                </a:lnTo>
                <a:cubicBezTo>
                  <a:pt x="104006" y="119063"/>
                  <a:pt x="111125" y="111944"/>
                  <a:pt x="111125" y="103188"/>
                </a:cubicBezTo>
                <a:lnTo>
                  <a:pt x="111125" y="55563"/>
                </a:lnTo>
                <a:lnTo>
                  <a:pt x="0" y="55563"/>
                </a:lnTo>
                <a:close/>
              </a:path>
            </a:pathLst>
          </a:custGeom>
          <a:solidFill>
            <a:srgbClr val="C49A2C"/>
          </a:solidFill>
          <a:ln/>
        </p:spPr>
      </p:sp>
      <p:sp>
        <p:nvSpPr>
          <p:cNvPr id="50" name="Text 48"/>
          <p:cNvSpPr/>
          <p:nvPr/>
        </p:nvSpPr>
        <p:spPr>
          <a:xfrm>
            <a:off x="6484938" y="4778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Advanced practitioner:</a:t>
            </a:r>
            <a:pPr>
              <a:lnSpc>
                <a:spcPct val="130000"/>
              </a:lnSpc>
            </a:pPr>
            <a:r>
              <a:rPr lang="en-US" sz="1000" dirty="0">
                <a:solidFill>
                  <a:srgbClr val="2D3436"/>
                </a:solidFill>
                <a:latin typeface="MiSans" pitchFamily="34" charset="0"/>
                <a:ea typeface="MiSans" pitchFamily="34" charset="-122"/>
                <a:cs typeface="MiSans" pitchFamily="34" charset="-120"/>
              </a:rPr>
              <a:t> Optional pathway for experienced coordinators</a:t>
            </a:r>
            <a:endParaRPr lang="en-US" sz="1600" dirty="0"/>
          </a:p>
        </p:txBody>
      </p:sp>
      <p:sp>
        <p:nvSpPr>
          <p:cNvPr id="51" name="Shape 49"/>
          <p:cNvSpPr/>
          <p:nvPr/>
        </p:nvSpPr>
        <p:spPr>
          <a:xfrm>
            <a:off x="6310313" y="5068094"/>
            <a:ext cx="111125" cy="127000"/>
          </a:xfrm>
          <a:custGeom>
            <a:avLst/>
            <a:gdLst/>
            <a:ahLst/>
            <a:cxnLst/>
            <a:rect l="l" t="t" r="r" b="b"/>
            <a:pathLst>
              <a:path w="111125" h="127000">
                <a:moveTo>
                  <a:pt x="31750" y="0"/>
                </a:moveTo>
                <a:cubicBezTo>
                  <a:pt x="27360" y="0"/>
                  <a:pt x="23812" y="3547"/>
                  <a:pt x="23812" y="7938"/>
                </a:cubicBezTo>
                <a:lnTo>
                  <a:pt x="23812" y="15875"/>
                </a:lnTo>
                <a:lnTo>
                  <a:pt x="15875" y="15875"/>
                </a:lnTo>
                <a:cubicBezTo>
                  <a:pt x="7119" y="15875"/>
                  <a:pt x="0" y="22994"/>
                  <a:pt x="0" y="31750"/>
                </a:cubicBezTo>
                <a:lnTo>
                  <a:pt x="0" y="43656"/>
                </a:lnTo>
                <a:lnTo>
                  <a:pt x="111125" y="43656"/>
                </a:lnTo>
                <a:lnTo>
                  <a:pt x="111125" y="31750"/>
                </a:lnTo>
                <a:cubicBezTo>
                  <a:pt x="111125" y="22994"/>
                  <a:pt x="104006" y="15875"/>
                  <a:pt x="95250" y="15875"/>
                </a:cubicBezTo>
                <a:lnTo>
                  <a:pt x="87313" y="15875"/>
                </a:lnTo>
                <a:lnTo>
                  <a:pt x="87313" y="7938"/>
                </a:lnTo>
                <a:cubicBezTo>
                  <a:pt x="87313" y="3547"/>
                  <a:pt x="83765" y="0"/>
                  <a:pt x="79375" y="0"/>
                </a:cubicBezTo>
                <a:cubicBezTo>
                  <a:pt x="74985" y="0"/>
                  <a:pt x="71438" y="3547"/>
                  <a:pt x="71438" y="7938"/>
                </a:cubicBezTo>
                <a:lnTo>
                  <a:pt x="71438" y="15875"/>
                </a:lnTo>
                <a:lnTo>
                  <a:pt x="39688" y="15875"/>
                </a:lnTo>
                <a:lnTo>
                  <a:pt x="39688" y="7938"/>
                </a:lnTo>
                <a:cubicBezTo>
                  <a:pt x="39688" y="3547"/>
                  <a:pt x="36140" y="0"/>
                  <a:pt x="31750" y="0"/>
                </a:cubicBezTo>
                <a:close/>
                <a:moveTo>
                  <a:pt x="0" y="55563"/>
                </a:moveTo>
                <a:lnTo>
                  <a:pt x="0" y="103188"/>
                </a:lnTo>
                <a:cubicBezTo>
                  <a:pt x="0" y="111944"/>
                  <a:pt x="7119" y="119063"/>
                  <a:pt x="15875" y="119063"/>
                </a:cubicBezTo>
                <a:lnTo>
                  <a:pt x="95250" y="119063"/>
                </a:lnTo>
                <a:cubicBezTo>
                  <a:pt x="104006" y="119063"/>
                  <a:pt x="111125" y="111944"/>
                  <a:pt x="111125" y="103188"/>
                </a:cubicBezTo>
                <a:lnTo>
                  <a:pt x="111125" y="55563"/>
                </a:lnTo>
                <a:lnTo>
                  <a:pt x="0" y="55563"/>
                </a:lnTo>
                <a:close/>
              </a:path>
            </a:pathLst>
          </a:custGeom>
          <a:solidFill>
            <a:srgbClr val="C49A2C"/>
          </a:solidFill>
          <a:ln/>
        </p:spPr>
      </p:sp>
      <p:sp>
        <p:nvSpPr>
          <p:cNvPr id="52" name="Text 50"/>
          <p:cNvSpPr/>
          <p:nvPr/>
        </p:nvSpPr>
        <p:spPr>
          <a:xfrm>
            <a:off x="6484938" y="5032375"/>
            <a:ext cx="5326063" cy="190500"/>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Peer observation:</a:t>
            </a:r>
            <a:pPr>
              <a:lnSpc>
                <a:spcPct val="130000"/>
              </a:lnSpc>
            </a:pPr>
            <a:r>
              <a:rPr lang="en-US" sz="1000" dirty="0">
                <a:solidFill>
                  <a:srgbClr val="2D3436"/>
                </a:solidFill>
                <a:latin typeface="MiSans" pitchFamily="34" charset="0"/>
                <a:ea typeface="MiSans" pitchFamily="34" charset="-122"/>
                <a:cs typeface="MiSans" pitchFamily="34" charset="-120"/>
              </a:rPr>
              <a:t> Minimum two observations per academic year</a:t>
            </a:r>
            <a:endParaRPr lang="en-US" sz="1600" dirty="0"/>
          </a:p>
        </p:txBody>
      </p:sp>
      <p:sp>
        <p:nvSpPr>
          <p:cNvPr id="53" name="Shape 51"/>
          <p:cNvSpPr/>
          <p:nvPr/>
        </p:nvSpPr>
        <p:spPr>
          <a:xfrm>
            <a:off x="6175375" y="5445125"/>
            <a:ext cx="5699125" cy="381000"/>
          </a:xfrm>
          <a:custGeom>
            <a:avLst/>
            <a:gdLst/>
            <a:ahLst/>
            <a:cxnLst/>
            <a:rect l="l" t="t" r="r" b="b"/>
            <a:pathLst>
              <a:path w="5699125" h="381000">
                <a:moveTo>
                  <a:pt x="0" y="0"/>
                </a:moveTo>
                <a:lnTo>
                  <a:pt x="5699125" y="0"/>
                </a:lnTo>
                <a:lnTo>
                  <a:pt x="5699125" y="381000"/>
                </a:lnTo>
                <a:lnTo>
                  <a:pt x="0" y="381000"/>
                </a:lnTo>
                <a:lnTo>
                  <a:pt x="0" y="0"/>
                </a:lnTo>
                <a:close/>
              </a:path>
            </a:pathLst>
          </a:custGeom>
          <a:solidFill>
            <a:srgbClr val="C49A2C">
              <a:alpha val="10196"/>
            </a:srgbClr>
          </a:solidFill>
          <a:ln/>
        </p:spPr>
      </p:sp>
      <p:sp>
        <p:nvSpPr>
          <p:cNvPr id="54" name="Shape 52"/>
          <p:cNvSpPr/>
          <p:nvPr/>
        </p:nvSpPr>
        <p:spPr>
          <a:xfrm>
            <a:off x="6175375" y="5445125"/>
            <a:ext cx="31750" cy="381000"/>
          </a:xfrm>
          <a:custGeom>
            <a:avLst/>
            <a:gdLst/>
            <a:ahLst/>
            <a:cxnLst/>
            <a:rect l="l" t="t" r="r" b="b"/>
            <a:pathLst>
              <a:path w="31750" h="381000">
                <a:moveTo>
                  <a:pt x="0" y="0"/>
                </a:moveTo>
                <a:lnTo>
                  <a:pt x="31750" y="0"/>
                </a:lnTo>
                <a:lnTo>
                  <a:pt x="31750" y="381000"/>
                </a:lnTo>
                <a:lnTo>
                  <a:pt x="0" y="381000"/>
                </a:lnTo>
                <a:lnTo>
                  <a:pt x="0" y="0"/>
                </a:lnTo>
                <a:close/>
              </a:path>
            </a:pathLst>
          </a:custGeom>
          <a:solidFill>
            <a:srgbClr val="C49A2C"/>
          </a:solidFill>
          <a:ln/>
        </p:spPr>
      </p:sp>
      <p:sp>
        <p:nvSpPr>
          <p:cNvPr id="55" name="Shape 53"/>
          <p:cNvSpPr/>
          <p:nvPr/>
        </p:nvSpPr>
        <p:spPr>
          <a:xfrm>
            <a:off x="6310313" y="5576094"/>
            <a:ext cx="111125" cy="127000"/>
          </a:xfrm>
          <a:custGeom>
            <a:avLst/>
            <a:gdLst/>
            <a:ahLst/>
            <a:cxnLst/>
            <a:rect l="l" t="t" r="r" b="b"/>
            <a:pathLst>
              <a:path w="111125" h="127000">
                <a:moveTo>
                  <a:pt x="95250" y="127000"/>
                </a:moveTo>
                <a:lnTo>
                  <a:pt x="23812" y="127000"/>
                </a:lnTo>
                <a:cubicBezTo>
                  <a:pt x="10666" y="127000"/>
                  <a:pt x="0" y="116334"/>
                  <a:pt x="0" y="103188"/>
                </a:cubicBezTo>
                <a:lnTo>
                  <a:pt x="0" y="23812"/>
                </a:lnTo>
                <a:cubicBezTo>
                  <a:pt x="0" y="10666"/>
                  <a:pt x="10666" y="0"/>
                  <a:pt x="23812" y="0"/>
                </a:cubicBezTo>
                <a:lnTo>
                  <a:pt x="99219" y="0"/>
                </a:lnTo>
                <a:cubicBezTo>
                  <a:pt x="105792" y="0"/>
                  <a:pt x="111125" y="5333"/>
                  <a:pt x="111125" y="11906"/>
                </a:cubicBezTo>
                <a:lnTo>
                  <a:pt x="111125" y="83344"/>
                </a:lnTo>
                <a:cubicBezTo>
                  <a:pt x="111125" y="88528"/>
                  <a:pt x="107801" y="92943"/>
                  <a:pt x="103188" y="94580"/>
                </a:cubicBezTo>
                <a:lnTo>
                  <a:pt x="103188" y="111125"/>
                </a:lnTo>
                <a:cubicBezTo>
                  <a:pt x="107578" y="111125"/>
                  <a:pt x="111125" y="114672"/>
                  <a:pt x="111125" y="119063"/>
                </a:cubicBezTo>
                <a:cubicBezTo>
                  <a:pt x="111125" y="123453"/>
                  <a:pt x="107578" y="127000"/>
                  <a:pt x="103188" y="127000"/>
                </a:cubicBezTo>
                <a:lnTo>
                  <a:pt x="95250" y="127000"/>
                </a:lnTo>
                <a:close/>
                <a:moveTo>
                  <a:pt x="23812" y="95250"/>
                </a:moveTo>
                <a:cubicBezTo>
                  <a:pt x="19422" y="95250"/>
                  <a:pt x="15875" y="98797"/>
                  <a:pt x="15875" y="103188"/>
                </a:cubicBezTo>
                <a:cubicBezTo>
                  <a:pt x="15875" y="107578"/>
                  <a:pt x="19422" y="111125"/>
                  <a:pt x="23812" y="111125"/>
                </a:cubicBezTo>
                <a:lnTo>
                  <a:pt x="87313" y="111125"/>
                </a:lnTo>
                <a:lnTo>
                  <a:pt x="87313" y="95250"/>
                </a:lnTo>
                <a:lnTo>
                  <a:pt x="23812" y="95250"/>
                </a:lnTo>
                <a:close/>
                <a:moveTo>
                  <a:pt x="31750" y="37703"/>
                </a:moveTo>
                <a:cubicBezTo>
                  <a:pt x="31750" y="41002"/>
                  <a:pt x="34404" y="43656"/>
                  <a:pt x="37703" y="43656"/>
                </a:cubicBezTo>
                <a:lnTo>
                  <a:pt x="81359" y="43656"/>
                </a:lnTo>
                <a:cubicBezTo>
                  <a:pt x="84658" y="43656"/>
                  <a:pt x="87313" y="41002"/>
                  <a:pt x="87313" y="37703"/>
                </a:cubicBezTo>
                <a:cubicBezTo>
                  <a:pt x="87313" y="34404"/>
                  <a:pt x="84658" y="31750"/>
                  <a:pt x="81359" y="31750"/>
                </a:cubicBezTo>
                <a:lnTo>
                  <a:pt x="37703" y="31750"/>
                </a:lnTo>
                <a:cubicBezTo>
                  <a:pt x="34404" y="31750"/>
                  <a:pt x="31750" y="34404"/>
                  <a:pt x="31750" y="37703"/>
                </a:cubicBezTo>
                <a:close/>
                <a:moveTo>
                  <a:pt x="37703" y="55563"/>
                </a:moveTo>
                <a:cubicBezTo>
                  <a:pt x="34404" y="55563"/>
                  <a:pt x="31750" y="58217"/>
                  <a:pt x="31750" y="61516"/>
                </a:cubicBezTo>
                <a:cubicBezTo>
                  <a:pt x="31750" y="64815"/>
                  <a:pt x="34404" y="67469"/>
                  <a:pt x="37703" y="67469"/>
                </a:cubicBezTo>
                <a:lnTo>
                  <a:pt x="81359" y="67469"/>
                </a:lnTo>
                <a:cubicBezTo>
                  <a:pt x="84658" y="67469"/>
                  <a:pt x="87313" y="64815"/>
                  <a:pt x="87313" y="61516"/>
                </a:cubicBezTo>
                <a:cubicBezTo>
                  <a:pt x="87313" y="58217"/>
                  <a:pt x="84658" y="55563"/>
                  <a:pt x="81359" y="55563"/>
                </a:cubicBezTo>
                <a:lnTo>
                  <a:pt x="37703" y="55563"/>
                </a:lnTo>
                <a:close/>
              </a:path>
            </a:pathLst>
          </a:custGeom>
          <a:solidFill>
            <a:srgbClr val="C49A2C"/>
          </a:solidFill>
          <a:ln/>
        </p:spPr>
      </p:sp>
      <p:sp>
        <p:nvSpPr>
          <p:cNvPr id="56" name="Text 54"/>
          <p:cNvSpPr/>
          <p:nvPr/>
        </p:nvSpPr>
        <p:spPr>
          <a:xfrm>
            <a:off x="6484938" y="5540375"/>
            <a:ext cx="5357813"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Reference:</a:t>
            </a:r>
            <a:pPr>
              <a:lnSpc>
                <a:spcPct val="130000"/>
              </a:lnSpc>
            </a:pPr>
            <a:r>
              <a:rPr lang="en-US" sz="1000" dirty="0">
                <a:solidFill>
                  <a:srgbClr val="1E3A5F"/>
                </a:solidFill>
                <a:latin typeface="MiSans" pitchFamily="34" charset="0"/>
                <a:ea typeface="MiSans" pitchFamily="34" charset="-122"/>
                <a:cs typeface="MiSans" pitchFamily="34" charset="-120"/>
              </a:rPr>
              <a:t> MPI Technical Handbook, Ch. 9 — School Partnership Requirements</a:t>
            </a:r>
            <a:endParaRPr lang="en-US" sz="16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7953375"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The Epistemological Architecture of the MPI: A Theoretical Synthesis</a:t>
            </a:r>
            <a:endParaRPr lang="en-US" sz="1600" dirty="0"/>
          </a:p>
        </p:txBody>
      </p:sp>
      <p:sp>
        <p:nvSpPr>
          <p:cNvPr id="4" name="Shape 2"/>
          <p:cNvSpPr/>
          <p:nvPr/>
        </p:nvSpPr>
        <p:spPr>
          <a:xfrm>
            <a:off x="317500" y="904875"/>
            <a:ext cx="5715000" cy="3698875"/>
          </a:xfrm>
          <a:custGeom>
            <a:avLst/>
            <a:gdLst/>
            <a:ahLst/>
            <a:cxnLst/>
            <a:rect l="l" t="t" r="r" b="b"/>
            <a:pathLst>
              <a:path w="5715000" h="3698875">
                <a:moveTo>
                  <a:pt x="0" y="0"/>
                </a:moveTo>
                <a:lnTo>
                  <a:pt x="5715000" y="0"/>
                </a:lnTo>
                <a:lnTo>
                  <a:pt x="5715000" y="3698875"/>
                </a:lnTo>
                <a:lnTo>
                  <a:pt x="0" y="3698875"/>
                </a:lnTo>
                <a:lnTo>
                  <a:pt x="0" y="0"/>
                </a:lnTo>
                <a:close/>
              </a:path>
            </a:pathLst>
          </a:custGeom>
          <a:solidFill>
            <a:srgbClr val="FFFFFF"/>
          </a:solidFill>
          <a:ln/>
        </p:spPr>
      </p:sp>
      <p:sp>
        <p:nvSpPr>
          <p:cNvPr id="5" name="Shape 3"/>
          <p:cNvSpPr/>
          <p:nvPr/>
        </p:nvSpPr>
        <p:spPr>
          <a:xfrm>
            <a:off x="317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6" name="Text 4"/>
          <p:cNvSpPr/>
          <p:nvPr/>
        </p:nvSpPr>
        <p:spPr>
          <a:xfrm>
            <a:off x="444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Three Theoretical Traditions</a:t>
            </a:r>
            <a:endParaRPr lang="en-US" sz="1600" dirty="0"/>
          </a:p>
        </p:txBody>
      </p:sp>
      <p:sp>
        <p:nvSpPr>
          <p:cNvPr id="7" name="Text 5"/>
          <p:cNvSpPr/>
          <p:nvPr/>
        </p:nvSpPr>
        <p:spPr>
          <a:xfrm>
            <a:off x="444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MPI's three-strand structure represents a </a:t>
            </a:r>
            <a:pPr>
              <a:lnSpc>
                <a:spcPct val="140000"/>
              </a:lnSpc>
            </a:pPr>
            <a:r>
              <a:rPr lang="en-US" sz="1000" b="1" dirty="0">
                <a:solidFill>
                  <a:srgbClr val="2D3436"/>
                </a:solidFill>
                <a:latin typeface="MiSans" pitchFamily="34" charset="0"/>
                <a:ea typeface="MiSans" pitchFamily="34" charset="-122"/>
                <a:cs typeface="MiSans" pitchFamily="34" charset="-120"/>
              </a:rPr>
              <a:t>synthesis of three distinct theoretical traditions</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8" name="Shape 6"/>
          <p:cNvSpPr/>
          <p:nvPr/>
        </p:nvSpPr>
        <p:spPr>
          <a:xfrm>
            <a:off x="460375" y="187325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9" name="Shape 7"/>
          <p:cNvSpPr/>
          <p:nvPr/>
        </p:nvSpPr>
        <p:spPr>
          <a:xfrm>
            <a:off x="460375" y="187325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1E3A5F"/>
          </a:solidFill>
          <a:ln/>
        </p:spPr>
      </p:sp>
      <p:sp>
        <p:nvSpPr>
          <p:cNvPr id="10" name="Text 8"/>
          <p:cNvSpPr/>
          <p:nvPr/>
        </p:nvSpPr>
        <p:spPr>
          <a:xfrm>
            <a:off x="571500" y="19685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Vygotsky's Sociocultural Theory</a:t>
            </a:r>
            <a:endParaRPr lang="en-US" sz="1600" dirty="0"/>
          </a:p>
        </p:txBody>
      </p:sp>
      <p:sp>
        <p:nvSpPr>
          <p:cNvPr id="11" name="Text 9"/>
          <p:cNvSpPr/>
          <p:nvPr/>
        </p:nvSpPr>
        <p:spPr>
          <a:xfrm>
            <a:off x="571500" y="219075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ZPD and scaffolding — the </a:t>
            </a:r>
            <a:pPr>
              <a:lnSpc>
                <a:spcPct val="140000"/>
              </a:lnSpc>
            </a:pPr>
            <a:r>
              <a:rPr lang="en-US" sz="1000" b="1" dirty="0">
                <a:solidFill>
                  <a:srgbClr val="2D3436"/>
                </a:solidFill>
                <a:latin typeface="MiSans" pitchFamily="34" charset="0"/>
                <a:ea typeface="MiSans" pitchFamily="34" charset="-122"/>
                <a:cs typeface="MiSans" pitchFamily="34" charset="-120"/>
              </a:rPr>
              <a:t>theoretical foundation</a:t>
            </a:r>
            <a:pPr>
              <a:lnSpc>
                <a:spcPct val="140000"/>
              </a:lnSpc>
            </a:pPr>
            <a:r>
              <a:rPr lang="en-US" sz="1000" dirty="0">
                <a:solidFill>
                  <a:srgbClr val="2D3436"/>
                </a:solidFill>
                <a:latin typeface="MiSans" pitchFamily="34" charset="0"/>
                <a:ea typeface="MiSans" pitchFamily="34" charset="-122"/>
                <a:cs typeface="MiSans" pitchFamily="34" charset="-120"/>
              </a:rPr>
              <a:t> for understanding how learning happens through supported challenge.</a:t>
            </a:r>
            <a:endParaRPr lang="en-US" sz="1600" dirty="0"/>
          </a:p>
        </p:txBody>
      </p:sp>
      <p:sp>
        <p:nvSpPr>
          <p:cNvPr id="12" name="Shape 10"/>
          <p:cNvSpPr/>
          <p:nvPr/>
        </p:nvSpPr>
        <p:spPr>
          <a:xfrm>
            <a:off x="460375" y="276225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13" name="Shape 11"/>
          <p:cNvSpPr/>
          <p:nvPr/>
        </p:nvSpPr>
        <p:spPr>
          <a:xfrm>
            <a:off x="460375" y="276225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C49A2C"/>
          </a:solidFill>
          <a:ln/>
        </p:spPr>
      </p:sp>
      <p:sp>
        <p:nvSpPr>
          <p:cNvPr id="14" name="Text 12"/>
          <p:cNvSpPr/>
          <p:nvPr/>
        </p:nvSpPr>
        <p:spPr>
          <a:xfrm>
            <a:off x="571500" y="28575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Bloom's Cognitive Taxonomy</a:t>
            </a:r>
            <a:endParaRPr lang="en-US" sz="1600" dirty="0"/>
          </a:p>
        </p:txBody>
      </p:sp>
      <p:sp>
        <p:nvSpPr>
          <p:cNvPr id="15" name="Text 13"/>
          <p:cNvSpPr/>
          <p:nvPr/>
        </p:nvSpPr>
        <p:spPr>
          <a:xfrm>
            <a:off x="571500" y="307975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hierarchy of cognitive demand — the </a:t>
            </a:r>
            <a:pPr>
              <a:lnSpc>
                <a:spcPct val="140000"/>
              </a:lnSpc>
            </a:pPr>
            <a:r>
              <a:rPr lang="en-US" sz="1000" b="1" dirty="0">
                <a:solidFill>
                  <a:srgbClr val="2D3436"/>
                </a:solidFill>
                <a:latin typeface="MiSans" pitchFamily="34" charset="0"/>
                <a:ea typeface="MiSans" pitchFamily="34" charset="-122"/>
                <a:cs typeface="MiSans" pitchFamily="34" charset="-120"/>
              </a:rPr>
              <a:t>structural framework</a:t>
            </a:r>
            <a:pPr>
              <a:lnSpc>
                <a:spcPct val="140000"/>
              </a:lnSpc>
            </a:pPr>
            <a:r>
              <a:rPr lang="en-US" sz="1000" dirty="0">
                <a:solidFill>
                  <a:srgbClr val="2D3436"/>
                </a:solidFill>
                <a:latin typeface="MiSans" pitchFamily="34" charset="0"/>
                <a:ea typeface="MiSans" pitchFamily="34" charset="-122"/>
                <a:cs typeface="MiSans" pitchFamily="34" charset="-120"/>
              </a:rPr>
              <a:t> for organising curriculum content by complexity.</a:t>
            </a:r>
            <a:endParaRPr lang="en-US" sz="1600" dirty="0"/>
          </a:p>
        </p:txBody>
      </p:sp>
      <p:sp>
        <p:nvSpPr>
          <p:cNvPr id="16" name="Shape 14"/>
          <p:cNvSpPr/>
          <p:nvPr/>
        </p:nvSpPr>
        <p:spPr>
          <a:xfrm>
            <a:off x="460375" y="365125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17" name="Shape 15"/>
          <p:cNvSpPr/>
          <p:nvPr/>
        </p:nvSpPr>
        <p:spPr>
          <a:xfrm>
            <a:off x="460375" y="365125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1E3A5F"/>
          </a:solidFill>
          <a:ln/>
        </p:spPr>
      </p:sp>
      <p:sp>
        <p:nvSpPr>
          <p:cNvPr id="18" name="Text 16"/>
          <p:cNvSpPr/>
          <p:nvPr/>
        </p:nvSpPr>
        <p:spPr>
          <a:xfrm>
            <a:off x="571500" y="37465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Black and Wiliam's Formative Assessment</a:t>
            </a:r>
            <a:endParaRPr lang="en-US" sz="1600" dirty="0"/>
          </a:p>
        </p:txBody>
      </p:sp>
      <p:sp>
        <p:nvSpPr>
          <p:cNvPr id="19" name="Text 17"/>
          <p:cNvSpPr/>
          <p:nvPr/>
        </p:nvSpPr>
        <p:spPr>
          <a:xfrm>
            <a:off x="571500" y="396875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feedback loop — the </a:t>
            </a:r>
            <a:pPr>
              <a:lnSpc>
                <a:spcPct val="140000"/>
              </a:lnSpc>
            </a:pPr>
            <a:r>
              <a:rPr lang="en-US" sz="1000" b="1" dirty="0">
                <a:solidFill>
                  <a:srgbClr val="2D3436"/>
                </a:solidFill>
                <a:latin typeface="MiSans" pitchFamily="34" charset="0"/>
                <a:ea typeface="MiSans" pitchFamily="34" charset="-122"/>
                <a:cs typeface="MiSans" pitchFamily="34" charset="-120"/>
              </a:rPr>
              <a:t>diagnostic engine</a:t>
            </a:r>
            <a:pPr>
              <a:lnSpc>
                <a:spcPct val="140000"/>
              </a:lnSpc>
            </a:pPr>
            <a:r>
              <a:rPr lang="en-US" sz="1000" dirty="0">
                <a:solidFill>
                  <a:srgbClr val="2D3436"/>
                </a:solidFill>
                <a:latin typeface="MiSans" pitchFamily="34" charset="0"/>
                <a:ea typeface="MiSans" pitchFamily="34" charset="-122"/>
                <a:cs typeface="MiSans" pitchFamily="34" charset="-120"/>
              </a:rPr>
              <a:t> that determines whether instruction is appropriately calibrated to the ZPD.</a:t>
            </a:r>
            <a:endParaRPr lang="en-US" sz="1600" dirty="0"/>
          </a:p>
        </p:txBody>
      </p:sp>
      <p:sp>
        <p:nvSpPr>
          <p:cNvPr id="20" name="Shape 18"/>
          <p:cNvSpPr/>
          <p:nvPr/>
        </p:nvSpPr>
        <p:spPr>
          <a:xfrm>
            <a:off x="317500" y="4699000"/>
            <a:ext cx="5715000" cy="1397000"/>
          </a:xfrm>
          <a:custGeom>
            <a:avLst/>
            <a:gdLst/>
            <a:ahLst/>
            <a:cxnLst/>
            <a:rect l="l" t="t" r="r" b="b"/>
            <a:pathLst>
              <a:path w="5715000" h="1397000">
                <a:moveTo>
                  <a:pt x="0" y="0"/>
                </a:moveTo>
                <a:lnTo>
                  <a:pt x="5715000" y="0"/>
                </a:lnTo>
                <a:lnTo>
                  <a:pt x="5715000" y="1397000"/>
                </a:lnTo>
                <a:lnTo>
                  <a:pt x="0" y="1397000"/>
                </a:lnTo>
                <a:lnTo>
                  <a:pt x="0" y="0"/>
                </a:lnTo>
                <a:close/>
              </a:path>
            </a:pathLst>
          </a:custGeom>
          <a:solidFill>
            <a:srgbClr val="1E3A5F"/>
          </a:solidFill>
          <a:ln/>
        </p:spPr>
      </p:sp>
      <p:sp>
        <p:nvSpPr>
          <p:cNvPr id="21" name="Text 19"/>
          <p:cNvSpPr/>
          <p:nvPr/>
        </p:nvSpPr>
        <p:spPr>
          <a:xfrm>
            <a:off x="444500" y="4826000"/>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Hattie's Role: Empirical Warrant</a:t>
            </a:r>
            <a:endParaRPr lang="en-US" sz="1600" dirty="0"/>
          </a:p>
        </p:txBody>
      </p:sp>
      <p:sp>
        <p:nvSpPr>
          <p:cNvPr id="22" name="Text 20"/>
          <p:cNvSpPr/>
          <p:nvPr/>
        </p:nvSpPr>
        <p:spPr>
          <a:xfrm>
            <a:off x="444500" y="5143500"/>
            <a:ext cx="5524500" cy="82550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Hattie's meta-analytic synthesis provides the </a:t>
            </a:r>
            <a:pPr>
              <a:lnSpc>
                <a:spcPct val="140000"/>
              </a:lnSpc>
            </a:pPr>
            <a:r>
              <a:rPr lang="en-US" sz="1000" b="1" dirty="0">
                <a:solidFill>
                  <a:srgbClr val="F8F9FA"/>
                </a:solidFill>
                <a:latin typeface="MiSans" pitchFamily="34" charset="0"/>
                <a:ea typeface="MiSans" pitchFamily="34" charset="-122"/>
                <a:cs typeface="MiSans" pitchFamily="34" charset="-120"/>
              </a:rPr>
              <a:t>empirical warrant</a:t>
            </a:r>
            <a:pPr>
              <a:lnSpc>
                <a:spcPct val="140000"/>
              </a:lnSpc>
            </a:pPr>
            <a:r>
              <a:rPr lang="en-US" sz="1000" dirty="0">
                <a:solidFill>
                  <a:srgbClr val="F8F9FA"/>
                </a:solidFill>
                <a:latin typeface="MiSans" pitchFamily="34" charset="0"/>
                <a:ea typeface="MiSans" pitchFamily="34" charset="-122"/>
                <a:cs typeface="MiSans" pitchFamily="34" charset="-120"/>
              </a:rPr>
              <a:t> for the specific design choices made within each strand. It tells us that the theoretical traditions we have drawn on are associated with effect sizes above the 0.4 hinge point, which gives us confidence that the synthesis is not merely theoretically coherent but also empirically supported.</a:t>
            </a:r>
            <a:endParaRPr lang="en-US" sz="1600" dirty="0"/>
          </a:p>
        </p:txBody>
      </p:sp>
      <p:sp>
        <p:nvSpPr>
          <p:cNvPr id="23" name="Shape 21"/>
          <p:cNvSpPr/>
          <p:nvPr/>
        </p:nvSpPr>
        <p:spPr>
          <a:xfrm>
            <a:off x="6159500" y="904875"/>
            <a:ext cx="5715000" cy="2936875"/>
          </a:xfrm>
          <a:custGeom>
            <a:avLst/>
            <a:gdLst/>
            <a:ahLst/>
            <a:cxnLst/>
            <a:rect l="l" t="t" r="r" b="b"/>
            <a:pathLst>
              <a:path w="5715000" h="2936875">
                <a:moveTo>
                  <a:pt x="0" y="0"/>
                </a:moveTo>
                <a:lnTo>
                  <a:pt x="5715000" y="0"/>
                </a:lnTo>
                <a:lnTo>
                  <a:pt x="5715000" y="2936875"/>
                </a:lnTo>
                <a:lnTo>
                  <a:pt x="0" y="2936875"/>
                </a:lnTo>
                <a:lnTo>
                  <a:pt x="0" y="0"/>
                </a:lnTo>
                <a:close/>
              </a:path>
            </a:pathLst>
          </a:custGeom>
          <a:solidFill>
            <a:srgbClr val="FFFFFF"/>
          </a:solidFill>
          <a:ln/>
        </p:spPr>
      </p:sp>
      <p:sp>
        <p:nvSpPr>
          <p:cNvPr id="24" name="Shape 22"/>
          <p:cNvSpPr/>
          <p:nvPr/>
        </p:nvSpPr>
        <p:spPr>
          <a:xfrm>
            <a:off x="6159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25" name="Text 23"/>
          <p:cNvSpPr/>
          <p:nvPr/>
        </p:nvSpPr>
        <p:spPr>
          <a:xfrm>
            <a:off x="6286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Interdependence Principle</a:t>
            </a:r>
            <a:endParaRPr lang="en-US" sz="1600" dirty="0"/>
          </a:p>
        </p:txBody>
      </p:sp>
      <p:sp>
        <p:nvSpPr>
          <p:cNvPr id="26" name="Text 24"/>
          <p:cNvSpPr/>
          <p:nvPr/>
        </p:nvSpPr>
        <p:spPr>
          <a:xfrm>
            <a:off x="6286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coherence of the framework depends on the </a:t>
            </a:r>
            <a:pPr>
              <a:lnSpc>
                <a:spcPct val="140000"/>
              </a:lnSpc>
            </a:pPr>
            <a:r>
              <a:rPr lang="en-US" sz="1000" b="1" dirty="0">
                <a:solidFill>
                  <a:srgbClr val="2D3436"/>
                </a:solidFill>
                <a:latin typeface="MiSans" pitchFamily="34" charset="0"/>
                <a:ea typeface="MiSans" pitchFamily="34" charset="-122"/>
                <a:cs typeface="MiSans" pitchFamily="34" charset="-120"/>
              </a:rPr>
              <a:t>interaction between these traditions</a:t>
            </a:r>
            <a:pPr>
              <a:lnSpc>
                <a:spcPct val="140000"/>
              </a:lnSpc>
            </a:pPr>
            <a:r>
              <a:rPr lang="en-US" sz="1000" dirty="0">
                <a:solidFill>
                  <a:srgbClr val="2D3436"/>
                </a:solidFill>
                <a:latin typeface="MiSans" pitchFamily="34" charset="0"/>
                <a:ea typeface="MiSans" pitchFamily="34" charset="-122"/>
                <a:cs typeface="MiSans" pitchFamily="34" charset="-120"/>
              </a:rPr>
              <a:t>, not on any single one:</a:t>
            </a:r>
            <a:endParaRPr lang="en-US" sz="1600" dirty="0"/>
          </a:p>
        </p:txBody>
      </p:sp>
      <p:sp>
        <p:nvSpPr>
          <p:cNvPr id="27" name="Shape 25"/>
          <p:cNvSpPr/>
          <p:nvPr/>
        </p:nvSpPr>
        <p:spPr>
          <a:xfrm>
            <a:off x="6302375" y="1873250"/>
            <a:ext cx="5445125" cy="571500"/>
          </a:xfrm>
          <a:custGeom>
            <a:avLst/>
            <a:gdLst/>
            <a:ahLst/>
            <a:cxnLst/>
            <a:rect l="l" t="t" r="r" b="b"/>
            <a:pathLst>
              <a:path w="5445125" h="571500">
                <a:moveTo>
                  <a:pt x="0" y="0"/>
                </a:moveTo>
                <a:lnTo>
                  <a:pt x="5445125" y="0"/>
                </a:lnTo>
                <a:lnTo>
                  <a:pt x="5445125" y="571500"/>
                </a:lnTo>
                <a:lnTo>
                  <a:pt x="0" y="571500"/>
                </a:lnTo>
                <a:lnTo>
                  <a:pt x="0" y="0"/>
                </a:lnTo>
                <a:close/>
              </a:path>
            </a:pathLst>
          </a:custGeom>
          <a:solidFill>
            <a:srgbClr val="FEF2F2"/>
          </a:solidFill>
          <a:ln/>
        </p:spPr>
      </p:sp>
      <p:sp>
        <p:nvSpPr>
          <p:cNvPr id="28" name="Shape 26"/>
          <p:cNvSpPr/>
          <p:nvPr/>
        </p:nvSpPr>
        <p:spPr>
          <a:xfrm>
            <a:off x="6302375" y="1873250"/>
            <a:ext cx="31750" cy="571500"/>
          </a:xfrm>
          <a:custGeom>
            <a:avLst/>
            <a:gdLst/>
            <a:ahLst/>
            <a:cxnLst/>
            <a:rect l="l" t="t" r="r" b="b"/>
            <a:pathLst>
              <a:path w="31750" h="571500">
                <a:moveTo>
                  <a:pt x="0" y="0"/>
                </a:moveTo>
                <a:lnTo>
                  <a:pt x="31750" y="0"/>
                </a:lnTo>
                <a:lnTo>
                  <a:pt x="31750" y="571500"/>
                </a:lnTo>
                <a:lnTo>
                  <a:pt x="0" y="571500"/>
                </a:lnTo>
                <a:lnTo>
                  <a:pt x="0" y="0"/>
                </a:lnTo>
                <a:close/>
              </a:path>
            </a:pathLst>
          </a:custGeom>
          <a:solidFill>
            <a:srgbClr val="E7000B"/>
          </a:solidFill>
          <a:ln/>
        </p:spPr>
      </p:sp>
      <p:sp>
        <p:nvSpPr>
          <p:cNvPr id="29" name="Text 27"/>
          <p:cNvSpPr/>
          <p:nvPr/>
        </p:nvSpPr>
        <p:spPr>
          <a:xfrm>
            <a:off x="6413500" y="1968500"/>
            <a:ext cx="5302250" cy="3810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A curriculum sequenced by cognitive demand </a:t>
            </a:r>
            <a:pPr>
              <a:lnSpc>
                <a:spcPct val="130000"/>
              </a:lnSpc>
            </a:pPr>
            <a:r>
              <a:rPr lang="en-US" sz="1000" b="1" dirty="0">
                <a:solidFill>
                  <a:srgbClr val="2D3436"/>
                </a:solidFill>
                <a:latin typeface="MiSans" pitchFamily="34" charset="0"/>
                <a:ea typeface="MiSans" pitchFamily="34" charset="-122"/>
                <a:cs typeface="MiSans" pitchFamily="34" charset="-120"/>
              </a:rPr>
              <a:t>but without formative assessment</a:t>
            </a:r>
            <a:pPr>
              <a:lnSpc>
                <a:spcPct val="130000"/>
              </a:lnSpc>
            </a:pPr>
            <a:r>
              <a:rPr lang="en-US" sz="1000" dirty="0">
                <a:solidFill>
                  <a:srgbClr val="2D3436"/>
                </a:solidFill>
                <a:latin typeface="MiSans" pitchFamily="34" charset="0"/>
                <a:ea typeface="MiSans" pitchFamily="34" charset="-122"/>
                <a:cs typeface="MiSans" pitchFamily="34" charset="-120"/>
              </a:rPr>
              <a:t> → cannot maintain ZPD alignment</a:t>
            </a:r>
            <a:endParaRPr lang="en-US" sz="1600" dirty="0"/>
          </a:p>
        </p:txBody>
      </p:sp>
      <p:sp>
        <p:nvSpPr>
          <p:cNvPr id="30" name="Shape 28"/>
          <p:cNvSpPr/>
          <p:nvPr/>
        </p:nvSpPr>
        <p:spPr>
          <a:xfrm>
            <a:off x="6302375" y="2508250"/>
            <a:ext cx="5445125" cy="571500"/>
          </a:xfrm>
          <a:custGeom>
            <a:avLst/>
            <a:gdLst/>
            <a:ahLst/>
            <a:cxnLst/>
            <a:rect l="l" t="t" r="r" b="b"/>
            <a:pathLst>
              <a:path w="5445125" h="571500">
                <a:moveTo>
                  <a:pt x="0" y="0"/>
                </a:moveTo>
                <a:lnTo>
                  <a:pt x="5445125" y="0"/>
                </a:lnTo>
                <a:lnTo>
                  <a:pt x="5445125" y="571500"/>
                </a:lnTo>
                <a:lnTo>
                  <a:pt x="0" y="571500"/>
                </a:lnTo>
                <a:lnTo>
                  <a:pt x="0" y="0"/>
                </a:lnTo>
                <a:close/>
              </a:path>
            </a:pathLst>
          </a:custGeom>
          <a:solidFill>
            <a:srgbClr val="FEF2F2"/>
          </a:solidFill>
          <a:ln/>
        </p:spPr>
      </p:sp>
      <p:sp>
        <p:nvSpPr>
          <p:cNvPr id="31" name="Shape 29"/>
          <p:cNvSpPr/>
          <p:nvPr/>
        </p:nvSpPr>
        <p:spPr>
          <a:xfrm>
            <a:off x="6302375" y="2508250"/>
            <a:ext cx="31750" cy="571500"/>
          </a:xfrm>
          <a:custGeom>
            <a:avLst/>
            <a:gdLst/>
            <a:ahLst/>
            <a:cxnLst/>
            <a:rect l="l" t="t" r="r" b="b"/>
            <a:pathLst>
              <a:path w="31750" h="571500">
                <a:moveTo>
                  <a:pt x="0" y="0"/>
                </a:moveTo>
                <a:lnTo>
                  <a:pt x="31750" y="0"/>
                </a:lnTo>
                <a:lnTo>
                  <a:pt x="31750" y="571500"/>
                </a:lnTo>
                <a:lnTo>
                  <a:pt x="0" y="571500"/>
                </a:lnTo>
                <a:lnTo>
                  <a:pt x="0" y="0"/>
                </a:lnTo>
                <a:close/>
              </a:path>
            </a:pathLst>
          </a:custGeom>
          <a:solidFill>
            <a:srgbClr val="E7000B"/>
          </a:solidFill>
          <a:ln/>
        </p:spPr>
      </p:sp>
      <p:sp>
        <p:nvSpPr>
          <p:cNvPr id="32" name="Text 30"/>
          <p:cNvSpPr/>
          <p:nvPr/>
        </p:nvSpPr>
        <p:spPr>
          <a:xfrm>
            <a:off x="6413500" y="2603500"/>
            <a:ext cx="5302250" cy="3810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A formative assessment system </a:t>
            </a:r>
            <a:pPr>
              <a:lnSpc>
                <a:spcPct val="130000"/>
              </a:lnSpc>
            </a:pPr>
            <a:r>
              <a:rPr lang="en-US" sz="1000" b="1" dirty="0">
                <a:solidFill>
                  <a:srgbClr val="2D3436"/>
                </a:solidFill>
                <a:latin typeface="MiSans" pitchFamily="34" charset="0"/>
                <a:ea typeface="MiSans" pitchFamily="34" charset="-122"/>
                <a:cs typeface="MiSans" pitchFamily="34" charset="-120"/>
              </a:rPr>
              <a:t>without teacher skill in scaffolding</a:t>
            </a:r>
            <a:pPr>
              <a:lnSpc>
                <a:spcPct val="130000"/>
              </a:lnSpc>
            </a:pPr>
            <a:r>
              <a:rPr lang="en-US" sz="1000" dirty="0">
                <a:solidFill>
                  <a:srgbClr val="2D3436"/>
                </a:solidFill>
                <a:latin typeface="MiSans" pitchFamily="34" charset="0"/>
                <a:ea typeface="MiSans" pitchFamily="34" charset="-122"/>
                <a:cs typeface="MiSans" pitchFamily="34" charset="-120"/>
              </a:rPr>
              <a:t> → cannot translate diagnostic data into instructional action</a:t>
            </a:r>
            <a:endParaRPr lang="en-US" sz="1600" dirty="0"/>
          </a:p>
        </p:txBody>
      </p:sp>
      <p:sp>
        <p:nvSpPr>
          <p:cNvPr id="33" name="Shape 31"/>
          <p:cNvSpPr/>
          <p:nvPr/>
        </p:nvSpPr>
        <p:spPr>
          <a:xfrm>
            <a:off x="6302375" y="3143250"/>
            <a:ext cx="5445125" cy="571500"/>
          </a:xfrm>
          <a:custGeom>
            <a:avLst/>
            <a:gdLst/>
            <a:ahLst/>
            <a:cxnLst/>
            <a:rect l="l" t="t" r="r" b="b"/>
            <a:pathLst>
              <a:path w="5445125" h="571500">
                <a:moveTo>
                  <a:pt x="0" y="0"/>
                </a:moveTo>
                <a:lnTo>
                  <a:pt x="5445125" y="0"/>
                </a:lnTo>
                <a:lnTo>
                  <a:pt x="5445125" y="571500"/>
                </a:lnTo>
                <a:lnTo>
                  <a:pt x="0" y="571500"/>
                </a:lnTo>
                <a:lnTo>
                  <a:pt x="0" y="0"/>
                </a:lnTo>
                <a:close/>
              </a:path>
            </a:pathLst>
          </a:custGeom>
          <a:solidFill>
            <a:srgbClr val="FEF2F2"/>
          </a:solidFill>
          <a:ln/>
        </p:spPr>
      </p:sp>
      <p:sp>
        <p:nvSpPr>
          <p:cNvPr id="34" name="Shape 32"/>
          <p:cNvSpPr/>
          <p:nvPr/>
        </p:nvSpPr>
        <p:spPr>
          <a:xfrm>
            <a:off x="6302375" y="3143250"/>
            <a:ext cx="31750" cy="571500"/>
          </a:xfrm>
          <a:custGeom>
            <a:avLst/>
            <a:gdLst/>
            <a:ahLst/>
            <a:cxnLst/>
            <a:rect l="l" t="t" r="r" b="b"/>
            <a:pathLst>
              <a:path w="31750" h="571500">
                <a:moveTo>
                  <a:pt x="0" y="0"/>
                </a:moveTo>
                <a:lnTo>
                  <a:pt x="31750" y="0"/>
                </a:lnTo>
                <a:lnTo>
                  <a:pt x="31750" y="571500"/>
                </a:lnTo>
                <a:lnTo>
                  <a:pt x="0" y="571500"/>
                </a:lnTo>
                <a:lnTo>
                  <a:pt x="0" y="0"/>
                </a:lnTo>
                <a:close/>
              </a:path>
            </a:pathLst>
          </a:custGeom>
          <a:solidFill>
            <a:srgbClr val="E7000B"/>
          </a:solidFill>
          <a:ln/>
        </p:spPr>
      </p:sp>
      <p:sp>
        <p:nvSpPr>
          <p:cNvPr id="35" name="Text 33"/>
          <p:cNvSpPr/>
          <p:nvPr/>
        </p:nvSpPr>
        <p:spPr>
          <a:xfrm>
            <a:off x="6413500" y="3238500"/>
            <a:ext cx="5302250" cy="3810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A professional development programme </a:t>
            </a:r>
            <a:pPr>
              <a:lnSpc>
                <a:spcPct val="130000"/>
              </a:lnSpc>
            </a:pPr>
            <a:r>
              <a:rPr lang="en-US" sz="1000" b="1" dirty="0">
                <a:solidFill>
                  <a:srgbClr val="2D3436"/>
                </a:solidFill>
                <a:latin typeface="MiSans" pitchFamily="34" charset="0"/>
                <a:ea typeface="MiSans" pitchFamily="34" charset="-122"/>
                <a:cs typeface="MiSans" pitchFamily="34" charset="-120"/>
              </a:rPr>
              <a:t>without structured curriculum and assessment</a:t>
            </a:r>
            <a:pPr>
              <a:lnSpc>
                <a:spcPct val="130000"/>
              </a:lnSpc>
            </a:pPr>
            <a:r>
              <a:rPr lang="en-US" sz="1000" dirty="0">
                <a:solidFill>
                  <a:srgbClr val="2D3436"/>
                </a:solidFill>
                <a:latin typeface="MiSans" pitchFamily="34" charset="0"/>
                <a:ea typeface="MiSans" pitchFamily="34" charset="-122"/>
                <a:cs typeface="MiSans" pitchFamily="34" charset="-120"/>
              </a:rPr>
              <a:t> → has nothing to develop teachers toward</a:t>
            </a:r>
            <a:endParaRPr lang="en-US" sz="1600" dirty="0"/>
          </a:p>
        </p:txBody>
      </p:sp>
      <p:sp>
        <p:nvSpPr>
          <p:cNvPr id="36" name="Shape 34"/>
          <p:cNvSpPr/>
          <p:nvPr/>
        </p:nvSpPr>
        <p:spPr>
          <a:xfrm>
            <a:off x="6159500" y="3937000"/>
            <a:ext cx="5715000" cy="1905000"/>
          </a:xfrm>
          <a:custGeom>
            <a:avLst/>
            <a:gdLst/>
            <a:ahLst/>
            <a:cxnLst/>
            <a:rect l="l" t="t" r="r" b="b"/>
            <a:pathLst>
              <a:path w="5715000" h="1905000">
                <a:moveTo>
                  <a:pt x="0" y="0"/>
                </a:moveTo>
                <a:lnTo>
                  <a:pt x="5715000" y="0"/>
                </a:lnTo>
                <a:lnTo>
                  <a:pt x="5715000" y="1905000"/>
                </a:lnTo>
                <a:lnTo>
                  <a:pt x="0" y="1905000"/>
                </a:lnTo>
                <a:lnTo>
                  <a:pt x="0" y="0"/>
                </a:lnTo>
                <a:close/>
              </a:path>
            </a:pathLst>
          </a:custGeom>
          <a:solidFill>
            <a:srgbClr val="C49A2C"/>
          </a:solidFill>
          <a:ln/>
        </p:spPr>
      </p:sp>
      <p:sp>
        <p:nvSpPr>
          <p:cNvPr id="37" name="Text 35"/>
          <p:cNvSpPr/>
          <p:nvPr/>
        </p:nvSpPr>
        <p:spPr>
          <a:xfrm>
            <a:off x="6286500" y="4064000"/>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Why Partial Implementation Is Not Implementation</a:t>
            </a:r>
            <a:endParaRPr lang="en-US" sz="1600" dirty="0"/>
          </a:p>
        </p:txBody>
      </p:sp>
      <p:sp>
        <p:nvSpPr>
          <p:cNvPr id="38" name="Text 36"/>
          <p:cNvSpPr/>
          <p:nvPr/>
        </p:nvSpPr>
        <p:spPr>
          <a:xfrm>
            <a:off x="6286500" y="4381500"/>
            <a:ext cx="55245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This is why </a:t>
            </a:r>
            <a:pPr>
              <a:lnSpc>
                <a:spcPct val="140000"/>
              </a:lnSpc>
            </a:pPr>
            <a:r>
              <a:rPr lang="en-US" sz="1000" b="1" dirty="0">
                <a:solidFill>
                  <a:srgbClr val="F8F9FA"/>
                </a:solidFill>
                <a:latin typeface="MiSans" pitchFamily="34" charset="0"/>
                <a:ea typeface="MiSans" pitchFamily="34" charset="-122"/>
                <a:cs typeface="MiSans" pitchFamily="34" charset="-120"/>
              </a:rPr>
              <a:t>partial implementation — one or two strands without the third — is not, in the MPI's terms, implementation at all</a:t>
            </a:r>
            <a:pPr>
              <a:lnSpc>
                <a:spcPct val="140000"/>
              </a:lnSpc>
            </a:pPr>
            <a:r>
              <a:rPr lang="en-US" sz="1000" dirty="0">
                <a:solidFill>
                  <a:srgbClr val="F8F9FA"/>
                </a:solidFill>
                <a:latin typeface="MiSans" pitchFamily="34" charset="0"/>
                <a:ea typeface="MiSans" pitchFamily="34" charset="-122"/>
                <a:cs typeface="MiSans" pitchFamily="34" charset="-120"/>
              </a:rPr>
              <a:t>.</a:t>
            </a:r>
            <a:endParaRPr lang="en-US" sz="1600" dirty="0"/>
          </a:p>
        </p:txBody>
      </p:sp>
      <p:sp>
        <p:nvSpPr>
          <p:cNvPr id="39" name="Text 37"/>
          <p:cNvSpPr/>
          <p:nvPr/>
        </p:nvSpPr>
        <p:spPr>
          <a:xfrm>
            <a:off x="6286500" y="4889500"/>
            <a:ext cx="5524500" cy="82550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The strands are interdependent in a way that reflects the interdependence of the theoretical traditions from which they are derived. A school that has adopted curriculum sequencing and professional development but not formative assessment integration is implementing a </a:t>
            </a:r>
            <a:pPr>
              <a:lnSpc>
                <a:spcPct val="140000"/>
              </a:lnSpc>
            </a:pPr>
            <a:r>
              <a:rPr lang="en-US" sz="1000" b="1" dirty="0">
                <a:solidFill>
                  <a:srgbClr val="F8F9FA"/>
                </a:solidFill>
                <a:latin typeface="MiSans" pitchFamily="34" charset="0"/>
                <a:ea typeface="MiSans" pitchFamily="34" charset="-122"/>
                <a:cs typeface="MiSans" pitchFamily="34" charset="-120"/>
              </a:rPr>
              <a:t>partial programme</a:t>
            </a:r>
            <a:pPr>
              <a:lnSpc>
                <a:spcPct val="140000"/>
              </a:lnSpc>
            </a:pPr>
            <a:r>
              <a:rPr lang="en-US" sz="1000" dirty="0">
                <a:solidFill>
                  <a:srgbClr val="F8F9FA"/>
                </a:solidFill>
                <a:latin typeface="MiSans" pitchFamily="34" charset="0"/>
                <a:ea typeface="MiSans" pitchFamily="34" charset="-122"/>
                <a:cs typeface="MiSans" pitchFamily="34" charset="-120"/>
              </a:rPr>
              <a:t> and will be treated as such in all data analysis.</a:t>
            </a:r>
            <a:endParaRPr lang="en-US" sz="1600" dirty="0"/>
          </a:p>
        </p:txBody>
      </p:sp>
      <p:sp>
        <p:nvSpPr>
          <p:cNvPr id="40" name="Shape 38"/>
          <p:cNvSpPr/>
          <p:nvPr/>
        </p:nvSpPr>
        <p:spPr>
          <a:xfrm>
            <a:off x="6175375" y="5937250"/>
            <a:ext cx="5699125" cy="1016000"/>
          </a:xfrm>
          <a:custGeom>
            <a:avLst/>
            <a:gdLst/>
            <a:ahLst/>
            <a:cxnLst/>
            <a:rect l="l" t="t" r="r" b="b"/>
            <a:pathLst>
              <a:path w="5699125" h="1016000">
                <a:moveTo>
                  <a:pt x="0" y="0"/>
                </a:moveTo>
                <a:lnTo>
                  <a:pt x="5699125" y="0"/>
                </a:lnTo>
                <a:lnTo>
                  <a:pt x="5699125" y="1016000"/>
                </a:lnTo>
                <a:lnTo>
                  <a:pt x="0" y="1016000"/>
                </a:lnTo>
                <a:lnTo>
                  <a:pt x="0" y="0"/>
                </a:lnTo>
                <a:close/>
              </a:path>
            </a:pathLst>
          </a:custGeom>
          <a:solidFill>
            <a:srgbClr val="C49A2C">
              <a:alpha val="10196"/>
            </a:srgbClr>
          </a:solidFill>
          <a:ln/>
        </p:spPr>
      </p:sp>
      <p:sp>
        <p:nvSpPr>
          <p:cNvPr id="41" name="Shape 39"/>
          <p:cNvSpPr/>
          <p:nvPr/>
        </p:nvSpPr>
        <p:spPr>
          <a:xfrm>
            <a:off x="6175375" y="5937250"/>
            <a:ext cx="31750" cy="1016000"/>
          </a:xfrm>
          <a:custGeom>
            <a:avLst/>
            <a:gdLst/>
            <a:ahLst/>
            <a:cxnLst/>
            <a:rect l="l" t="t" r="r" b="b"/>
            <a:pathLst>
              <a:path w="31750" h="1016000">
                <a:moveTo>
                  <a:pt x="0" y="0"/>
                </a:moveTo>
                <a:lnTo>
                  <a:pt x="31750" y="0"/>
                </a:lnTo>
                <a:lnTo>
                  <a:pt x="31750" y="1016000"/>
                </a:lnTo>
                <a:lnTo>
                  <a:pt x="0" y="1016000"/>
                </a:lnTo>
                <a:lnTo>
                  <a:pt x="0" y="0"/>
                </a:lnTo>
                <a:close/>
              </a:path>
            </a:pathLst>
          </a:custGeom>
          <a:solidFill>
            <a:srgbClr val="C49A2C"/>
          </a:solidFill>
          <a:ln/>
        </p:spPr>
      </p:sp>
      <p:sp>
        <p:nvSpPr>
          <p:cNvPr id="42" name="Shape 40"/>
          <p:cNvSpPr/>
          <p:nvPr/>
        </p:nvSpPr>
        <p:spPr>
          <a:xfrm>
            <a:off x="6318250" y="6076156"/>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C49A2C"/>
          </a:solidFill>
          <a:ln/>
        </p:spPr>
      </p:sp>
      <p:sp>
        <p:nvSpPr>
          <p:cNvPr id="43" name="Text 41"/>
          <p:cNvSpPr/>
          <p:nvPr/>
        </p:nvSpPr>
        <p:spPr>
          <a:xfrm>
            <a:off x="6484938" y="6032500"/>
            <a:ext cx="5357813" cy="825500"/>
          </a:xfrm>
          <a:prstGeom prst="rect">
            <a:avLst/>
          </a:prstGeom>
          <a:noFill/>
          <a:ln/>
        </p:spPr>
        <p:txBody>
          <a:bodyPr wrap="square" lIns="0" tIns="0" rIns="0" bIns="0" rtlCol="0" anchor="ctr"/>
          <a:lstStyle/>
          <a:p>
            <a:pPr>
              <a:lnSpc>
                <a:spcPct val="140000"/>
              </a:lnSpc>
            </a:pPr>
            <a:r>
              <a:rPr lang="en-US" sz="1000" b="1" dirty="0">
                <a:solidFill>
                  <a:srgbClr val="1E3A5F"/>
                </a:solidFill>
                <a:latin typeface="MiSans" pitchFamily="34" charset="0"/>
                <a:ea typeface="MiSans" pitchFamily="34" charset="-122"/>
                <a:cs typeface="MiSans" pitchFamily="34" charset="-120"/>
              </a:rPr>
              <a:t>Epistemological Note:</a:t>
            </a:r>
            <a:pPr>
              <a:lnSpc>
                <a:spcPct val="140000"/>
              </a:lnSpc>
            </a:pPr>
            <a:r>
              <a:rPr lang="en-US" sz="1000" dirty="0">
                <a:solidFill>
                  <a:srgbClr val="1E3A5F"/>
                </a:solidFill>
                <a:latin typeface="MiSans" pitchFamily="34" charset="0"/>
                <a:ea typeface="MiSans" pitchFamily="34" charset="-122"/>
                <a:cs typeface="MiSans" pitchFamily="34" charset="-120"/>
              </a:rPr>
              <a:t> The MPI's claims to effectiveness are not grounded in any single theoretical tradition. They are grounded in the </a:t>
            </a:r>
            <a:pPr>
              <a:lnSpc>
                <a:spcPct val="140000"/>
              </a:lnSpc>
            </a:pPr>
            <a:r>
              <a:rPr lang="en-US" sz="1000" b="1" dirty="0">
                <a:solidFill>
                  <a:srgbClr val="1E3A5F"/>
                </a:solidFill>
                <a:latin typeface="MiSans" pitchFamily="34" charset="0"/>
                <a:ea typeface="MiSans" pitchFamily="34" charset="-122"/>
                <a:cs typeface="MiSans" pitchFamily="34" charset="-120"/>
              </a:rPr>
              <a:t>coherence of the synthesis</a:t>
            </a:r>
            <a:pPr>
              <a:lnSpc>
                <a:spcPct val="140000"/>
              </a:lnSpc>
            </a:pPr>
            <a:r>
              <a:rPr lang="en-US" sz="1000" dirty="0">
                <a:solidFill>
                  <a:srgbClr val="1E3A5F"/>
                </a:solidFill>
                <a:latin typeface="MiSans" pitchFamily="34" charset="0"/>
                <a:ea typeface="MiSans" pitchFamily="34" charset="-122"/>
                <a:cs typeface="MiSans" pitchFamily="34" charset="-120"/>
              </a:rPr>
              <a:t> — the argument that these three traditions, when operationalised together, produce effects that none can produce alone.</a:t>
            </a:r>
            <a:endParaRPr lang="en-US" sz="16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38150"/>
            <a:ext cx="7353300" cy="342900"/>
          </a:xfrm>
          <a:prstGeom prst="rect">
            <a:avLst/>
          </a:prstGeom>
          <a:noFill/>
          <a:ln/>
        </p:spPr>
        <p:txBody>
          <a:bodyPr wrap="square" lIns="0" tIns="0" rIns="0" bIns="0" rtlCol="0" anchor="ctr"/>
          <a:lstStyle/>
          <a:p>
            <a:pPr>
              <a:lnSpc>
                <a:spcPct val="100000"/>
              </a:lnSpc>
            </a:pPr>
            <a:r>
              <a:rPr lang="en-US" sz="2250" b="1" dirty="0">
                <a:solidFill>
                  <a:srgbClr val="1E3A5F"/>
                </a:solidFill>
                <a:latin typeface="MiSans" pitchFamily="34" charset="0"/>
                <a:ea typeface="MiSans" pitchFamily="34" charset="-122"/>
                <a:cs typeface="MiSans" pitchFamily="34" charset="-120"/>
              </a:rPr>
              <a:t>The MPI's Three-Strand Model: A Structural Diagram</a:t>
            </a:r>
            <a:endParaRPr lang="en-US" sz="1600" dirty="0"/>
          </a:p>
        </p:txBody>
      </p:sp>
      <p:sp>
        <p:nvSpPr>
          <p:cNvPr id="4" name="Shape 2"/>
          <p:cNvSpPr/>
          <p:nvPr/>
        </p:nvSpPr>
        <p:spPr>
          <a:xfrm>
            <a:off x="1838325" y="1314450"/>
            <a:ext cx="8515350" cy="4229100"/>
          </a:xfrm>
          <a:custGeom>
            <a:avLst/>
            <a:gdLst/>
            <a:ahLst/>
            <a:cxnLst/>
            <a:rect l="l" t="t" r="r" b="b"/>
            <a:pathLst>
              <a:path w="8515350" h="4229100">
                <a:moveTo>
                  <a:pt x="0" y="0"/>
                </a:moveTo>
                <a:lnTo>
                  <a:pt x="8515350" y="0"/>
                </a:lnTo>
                <a:lnTo>
                  <a:pt x="8515350" y="4229100"/>
                </a:lnTo>
                <a:lnTo>
                  <a:pt x="0" y="4229100"/>
                </a:lnTo>
                <a:lnTo>
                  <a:pt x="0" y="0"/>
                </a:lnTo>
                <a:close/>
              </a:path>
            </a:pathLst>
          </a:custGeom>
          <a:solidFill>
            <a:srgbClr val="FFFFFF"/>
          </a:solidFill>
          <a:ln w="25400">
            <a:solidFill>
              <a:srgbClr val="1E3A5F"/>
            </a:solidFill>
            <a:prstDash val="solid"/>
          </a:ln>
        </p:spPr>
      </p:sp>
      <p:sp>
        <p:nvSpPr>
          <p:cNvPr id="5" name="Text 3"/>
          <p:cNvSpPr/>
          <p:nvPr/>
        </p:nvSpPr>
        <p:spPr>
          <a:xfrm>
            <a:off x="2019300" y="1552575"/>
            <a:ext cx="8153400" cy="304800"/>
          </a:xfrm>
          <a:prstGeom prst="rect">
            <a:avLst/>
          </a:prstGeom>
          <a:noFill/>
          <a:ln/>
        </p:spPr>
        <p:txBody>
          <a:bodyPr wrap="square" lIns="0" tIns="0" rIns="0" bIns="0" rtlCol="0" anchor="ctr"/>
          <a:lstStyle/>
          <a:p>
            <a:pPr algn="ctr">
              <a:lnSpc>
                <a:spcPct val="110000"/>
              </a:lnSpc>
            </a:pPr>
            <a:r>
              <a:rPr lang="en-US" sz="1800" b="1" dirty="0">
                <a:solidFill>
                  <a:srgbClr val="1E3A5F"/>
                </a:solidFill>
                <a:latin typeface="MiSans" pitchFamily="34" charset="0"/>
                <a:ea typeface="MiSans" pitchFamily="34" charset="-122"/>
                <a:cs typeface="MiSans" pitchFamily="34" charset="-120"/>
              </a:rPr>
              <a:t>The Zone of Proximal Development</a:t>
            </a:r>
            <a:endParaRPr lang="en-US" sz="1600" dirty="0"/>
          </a:p>
        </p:txBody>
      </p:sp>
      <p:sp>
        <p:nvSpPr>
          <p:cNvPr id="6" name="Text 4"/>
          <p:cNvSpPr/>
          <p:nvPr/>
        </p:nvSpPr>
        <p:spPr>
          <a:xfrm>
            <a:off x="2038350" y="1857375"/>
            <a:ext cx="8115300" cy="228600"/>
          </a:xfrm>
          <a:prstGeom prst="rect">
            <a:avLst/>
          </a:prstGeom>
          <a:noFill/>
          <a:ln/>
        </p:spPr>
        <p:txBody>
          <a:bodyPr wrap="square" lIns="0" tIns="0" rIns="0" bIns="0" rtlCol="0" anchor="ctr"/>
          <a:lstStyle/>
          <a:p>
            <a:pPr algn="ctr">
              <a:lnSpc>
                <a:spcPct val="130000"/>
              </a:lnSpc>
            </a:pPr>
            <a:r>
              <a:rPr lang="en-US" sz="1200" dirty="0">
                <a:solidFill>
                  <a:srgbClr val="6C757D"/>
                </a:solidFill>
                <a:latin typeface="MiSans" pitchFamily="34" charset="0"/>
                <a:ea typeface="MiSans" pitchFamily="34" charset="-122"/>
                <a:cs typeface="MiSans" pitchFamily="34" charset="-120"/>
              </a:rPr>
              <a:t>Vygotsky's theoretical cornerstone</a:t>
            </a:r>
            <a:endParaRPr lang="en-US" sz="1600" dirty="0"/>
          </a:p>
        </p:txBody>
      </p:sp>
      <p:sp>
        <p:nvSpPr>
          <p:cNvPr id="7" name="Shape 5"/>
          <p:cNvSpPr/>
          <p:nvPr/>
        </p:nvSpPr>
        <p:spPr>
          <a:xfrm>
            <a:off x="2076450" y="2238375"/>
            <a:ext cx="2581275" cy="1981200"/>
          </a:xfrm>
          <a:custGeom>
            <a:avLst/>
            <a:gdLst/>
            <a:ahLst/>
            <a:cxnLst/>
            <a:rect l="l" t="t" r="r" b="b"/>
            <a:pathLst>
              <a:path w="2581275" h="1981200">
                <a:moveTo>
                  <a:pt x="0" y="0"/>
                </a:moveTo>
                <a:lnTo>
                  <a:pt x="2581275" y="0"/>
                </a:lnTo>
                <a:lnTo>
                  <a:pt x="2581275" y="1981200"/>
                </a:lnTo>
                <a:lnTo>
                  <a:pt x="0" y="1981200"/>
                </a:lnTo>
                <a:lnTo>
                  <a:pt x="0" y="0"/>
                </a:lnTo>
                <a:close/>
              </a:path>
            </a:pathLst>
          </a:custGeom>
          <a:solidFill>
            <a:srgbClr val="1E3A5F"/>
          </a:solidFill>
          <a:ln/>
        </p:spPr>
      </p:sp>
      <p:sp>
        <p:nvSpPr>
          <p:cNvPr id="8" name="Shape 6"/>
          <p:cNvSpPr/>
          <p:nvPr/>
        </p:nvSpPr>
        <p:spPr>
          <a:xfrm>
            <a:off x="3225006" y="2433638"/>
            <a:ext cx="285750" cy="285750"/>
          </a:xfrm>
          <a:custGeom>
            <a:avLst/>
            <a:gdLst/>
            <a:ahLst/>
            <a:cxnLst/>
            <a:rect l="l" t="t" r="r" b="b"/>
            <a:pathLst>
              <a:path w="285750" h="285750">
                <a:moveTo>
                  <a:pt x="107156" y="35719"/>
                </a:moveTo>
                <a:cubicBezTo>
                  <a:pt x="107156" y="25840"/>
                  <a:pt x="115137" y="17859"/>
                  <a:pt x="125016" y="17859"/>
                </a:cubicBezTo>
                <a:lnTo>
                  <a:pt x="160734" y="17859"/>
                </a:lnTo>
                <a:cubicBezTo>
                  <a:pt x="170613" y="17859"/>
                  <a:pt x="178594" y="25840"/>
                  <a:pt x="178594" y="35719"/>
                </a:cubicBezTo>
                <a:lnTo>
                  <a:pt x="178594" y="71438"/>
                </a:lnTo>
                <a:cubicBezTo>
                  <a:pt x="178594" y="81316"/>
                  <a:pt x="170613" y="89297"/>
                  <a:pt x="160734" y="89297"/>
                </a:cubicBezTo>
                <a:lnTo>
                  <a:pt x="156270" y="89297"/>
                </a:lnTo>
                <a:lnTo>
                  <a:pt x="156270" y="125016"/>
                </a:lnTo>
                <a:lnTo>
                  <a:pt x="223242" y="125016"/>
                </a:lnTo>
                <a:cubicBezTo>
                  <a:pt x="245455" y="125016"/>
                  <a:pt x="263426" y="142987"/>
                  <a:pt x="263426" y="165199"/>
                </a:cubicBezTo>
                <a:lnTo>
                  <a:pt x="263426" y="196453"/>
                </a:lnTo>
                <a:lnTo>
                  <a:pt x="267891" y="196453"/>
                </a:lnTo>
                <a:cubicBezTo>
                  <a:pt x="277769" y="196453"/>
                  <a:pt x="285750" y="204434"/>
                  <a:pt x="285750" y="214313"/>
                </a:cubicBezTo>
                <a:lnTo>
                  <a:pt x="285750" y="250031"/>
                </a:lnTo>
                <a:cubicBezTo>
                  <a:pt x="285750" y="259910"/>
                  <a:pt x="277769" y="267891"/>
                  <a:pt x="267891" y="267891"/>
                </a:cubicBezTo>
                <a:lnTo>
                  <a:pt x="232172" y="267891"/>
                </a:lnTo>
                <a:cubicBezTo>
                  <a:pt x="222293" y="267891"/>
                  <a:pt x="214313" y="259910"/>
                  <a:pt x="214313" y="250031"/>
                </a:cubicBezTo>
                <a:lnTo>
                  <a:pt x="214313" y="214313"/>
                </a:lnTo>
                <a:cubicBezTo>
                  <a:pt x="214313" y="204434"/>
                  <a:pt x="222293" y="196453"/>
                  <a:pt x="232172" y="196453"/>
                </a:cubicBezTo>
                <a:lnTo>
                  <a:pt x="236637" y="196453"/>
                </a:lnTo>
                <a:lnTo>
                  <a:pt x="236637" y="165199"/>
                </a:lnTo>
                <a:cubicBezTo>
                  <a:pt x="236637" y="157776"/>
                  <a:pt x="230665" y="151805"/>
                  <a:pt x="223242" y="151805"/>
                </a:cubicBezTo>
                <a:lnTo>
                  <a:pt x="156270" y="151805"/>
                </a:lnTo>
                <a:lnTo>
                  <a:pt x="156270" y="196453"/>
                </a:lnTo>
                <a:lnTo>
                  <a:pt x="160734" y="196453"/>
                </a:lnTo>
                <a:cubicBezTo>
                  <a:pt x="170613" y="196453"/>
                  <a:pt x="178594" y="204434"/>
                  <a:pt x="178594" y="214313"/>
                </a:cubicBezTo>
                <a:lnTo>
                  <a:pt x="178594" y="250031"/>
                </a:lnTo>
                <a:cubicBezTo>
                  <a:pt x="178594" y="259910"/>
                  <a:pt x="170613" y="267891"/>
                  <a:pt x="160734" y="267891"/>
                </a:cubicBezTo>
                <a:lnTo>
                  <a:pt x="125016" y="267891"/>
                </a:lnTo>
                <a:cubicBezTo>
                  <a:pt x="115137" y="267891"/>
                  <a:pt x="107156" y="259910"/>
                  <a:pt x="107156" y="250031"/>
                </a:cubicBezTo>
                <a:lnTo>
                  <a:pt x="107156" y="214313"/>
                </a:lnTo>
                <a:cubicBezTo>
                  <a:pt x="107156" y="204434"/>
                  <a:pt x="115137" y="196453"/>
                  <a:pt x="125016" y="196453"/>
                </a:cubicBezTo>
                <a:lnTo>
                  <a:pt x="129480" y="196453"/>
                </a:lnTo>
                <a:lnTo>
                  <a:pt x="129480" y="151805"/>
                </a:lnTo>
                <a:lnTo>
                  <a:pt x="62508" y="151805"/>
                </a:lnTo>
                <a:cubicBezTo>
                  <a:pt x="55085" y="151805"/>
                  <a:pt x="49113" y="157776"/>
                  <a:pt x="49113" y="165199"/>
                </a:cubicBezTo>
                <a:lnTo>
                  <a:pt x="49113" y="196453"/>
                </a:lnTo>
                <a:lnTo>
                  <a:pt x="53578" y="196453"/>
                </a:lnTo>
                <a:cubicBezTo>
                  <a:pt x="63457" y="196453"/>
                  <a:pt x="71438" y="204434"/>
                  <a:pt x="71438" y="214313"/>
                </a:cubicBezTo>
                <a:lnTo>
                  <a:pt x="71438" y="250031"/>
                </a:lnTo>
                <a:cubicBezTo>
                  <a:pt x="71438" y="259910"/>
                  <a:pt x="63457" y="267891"/>
                  <a:pt x="53578" y="267891"/>
                </a:cubicBezTo>
                <a:lnTo>
                  <a:pt x="17859" y="267891"/>
                </a:lnTo>
                <a:cubicBezTo>
                  <a:pt x="7981" y="267891"/>
                  <a:pt x="0" y="259910"/>
                  <a:pt x="0" y="250031"/>
                </a:cubicBezTo>
                <a:lnTo>
                  <a:pt x="0" y="214313"/>
                </a:lnTo>
                <a:cubicBezTo>
                  <a:pt x="0" y="204434"/>
                  <a:pt x="7981" y="196453"/>
                  <a:pt x="17859" y="196453"/>
                </a:cubicBezTo>
                <a:lnTo>
                  <a:pt x="22324" y="196453"/>
                </a:lnTo>
                <a:lnTo>
                  <a:pt x="22324" y="165199"/>
                </a:lnTo>
                <a:cubicBezTo>
                  <a:pt x="22324" y="142987"/>
                  <a:pt x="40295" y="125016"/>
                  <a:pt x="62508" y="125016"/>
                </a:cubicBezTo>
                <a:lnTo>
                  <a:pt x="129480" y="125016"/>
                </a:lnTo>
                <a:lnTo>
                  <a:pt x="129480" y="89297"/>
                </a:lnTo>
                <a:lnTo>
                  <a:pt x="125016" y="89297"/>
                </a:lnTo>
                <a:cubicBezTo>
                  <a:pt x="115137" y="89297"/>
                  <a:pt x="107156" y="81316"/>
                  <a:pt x="107156" y="71438"/>
                </a:cubicBezTo>
                <a:lnTo>
                  <a:pt x="107156" y="35719"/>
                </a:lnTo>
                <a:close/>
              </a:path>
            </a:pathLst>
          </a:custGeom>
          <a:solidFill>
            <a:srgbClr val="F8F9FA"/>
          </a:solidFill>
          <a:ln/>
        </p:spPr>
      </p:sp>
      <p:sp>
        <p:nvSpPr>
          <p:cNvPr id="9" name="Text 7"/>
          <p:cNvSpPr/>
          <p:nvPr/>
        </p:nvSpPr>
        <p:spPr>
          <a:xfrm>
            <a:off x="2185988" y="2809875"/>
            <a:ext cx="2362200" cy="266700"/>
          </a:xfrm>
          <a:prstGeom prst="rect">
            <a:avLst/>
          </a:prstGeom>
          <a:noFill/>
          <a:ln/>
        </p:spPr>
        <p:txBody>
          <a:bodyPr wrap="square" lIns="0" tIns="0" rIns="0" bIns="0" rtlCol="0" anchor="ctr"/>
          <a:lstStyle/>
          <a:p>
            <a:pPr algn="ctr">
              <a:lnSpc>
                <a:spcPct val="130000"/>
              </a:lnSpc>
            </a:pPr>
            <a:r>
              <a:rPr lang="en-US" sz="1350" b="1" dirty="0">
                <a:solidFill>
                  <a:srgbClr val="F8F9FA"/>
                </a:solidFill>
                <a:latin typeface="MiSans" pitchFamily="34" charset="0"/>
                <a:ea typeface="MiSans" pitchFamily="34" charset="-122"/>
                <a:cs typeface="MiSans" pitchFamily="34" charset="-120"/>
              </a:rPr>
              <a:t>Strand 1</a:t>
            </a:r>
            <a:endParaRPr lang="en-US" sz="1600" dirty="0"/>
          </a:p>
        </p:txBody>
      </p:sp>
      <p:sp>
        <p:nvSpPr>
          <p:cNvPr id="10" name="Text 8"/>
          <p:cNvSpPr/>
          <p:nvPr/>
        </p:nvSpPr>
        <p:spPr>
          <a:xfrm>
            <a:off x="2190750" y="3152775"/>
            <a:ext cx="2352675" cy="457200"/>
          </a:xfrm>
          <a:prstGeom prst="rect">
            <a:avLst/>
          </a:prstGeom>
          <a:noFill/>
          <a:ln/>
        </p:spPr>
        <p:txBody>
          <a:bodyPr wrap="square" lIns="0" tIns="0" rIns="0" bIns="0" rtlCol="0" anchor="ctr"/>
          <a:lstStyle/>
          <a:p>
            <a:pPr algn="ctr">
              <a:lnSpc>
                <a:spcPct val="130000"/>
              </a:lnSpc>
            </a:pPr>
            <a:r>
              <a:rPr lang="en-US" sz="1200" b="1" dirty="0">
                <a:solidFill>
                  <a:srgbClr val="F8F9FA"/>
                </a:solidFill>
                <a:latin typeface="MiSans" pitchFamily="34" charset="0"/>
                <a:ea typeface="MiSans" pitchFamily="34" charset="-122"/>
                <a:cs typeface="MiSans" pitchFamily="34" charset="-120"/>
              </a:rPr>
              <a:t>Structured Curriculum Sequencing</a:t>
            </a:r>
            <a:endParaRPr lang="en-US" sz="1600" dirty="0"/>
          </a:p>
        </p:txBody>
      </p:sp>
      <p:sp>
        <p:nvSpPr>
          <p:cNvPr id="11" name="Text 9"/>
          <p:cNvSpPr/>
          <p:nvPr/>
        </p:nvSpPr>
        <p:spPr>
          <a:xfrm>
            <a:off x="2195513" y="3686175"/>
            <a:ext cx="2343150" cy="381000"/>
          </a:xfrm>
          <a:prstGeom prst="rect">
            <a:avLst/>
          </a:prstGeom>
          <a:noFill/>
          <a:ln/>
        </p:spPr>
        <p:txBody>
          <a:bodyPr wrap="square" lIns="0" tIns="0" rIns="0" bIns="0" rtlCol="0" anchor="ctr"/>
          <a:lstStyle/>
          <a:p>
            <a:pPr algn="ctr">
              <a:lnSpc>
                <a:spcPct val="120000"/>
              </a:lnSpc>
            </a:pPr>
            <a:r>
              <a:rPr lang="en-US" sz="1050" dirty="0">
                <a:solidFill>
                  <a:srgbClr val="F8F9FA"/>
                </a:solidFill>
                <a:latin typeface="MiSans" pitchFamily="34" charset="0"/>
                <a:ea typeface="MiSans" pitchFamily="34" charset="-122"/>
                <a:cs typeface="MiSans" pitchFamily="34" charset="-120"/>
              </a:rPr>
              <a:t>Calibrated cognitive demand via Bloom's taxonomy</a:t>
            </a:r>
            <a:endParaRPr lang="en-US" sz="1600" dirty="0"/>
          </a:p>
        </p:txBody>
      </p:sp>
      <p:sp>
        <p:nvSpPr>
          <p:cNvPr id="12" name="Shape 10"/>
          <p:cNvSpPr/>
          <p:nvPr/>
        </p:nvSpPr>
        <p:spPr>
          <a:xfrm>
            <a:off x="4806950" y="2238375"/>
            <a:ext cx="2581275" cy="1981200"/>
          </a:xfrm>
          <a:custGeom>
            <a:avLst/>
            <a:gdLst/>
            <a:ahLst/>
            <a:cxnLst/>
            <a:rect l="l" t="t" r="r" b="b"/>
            <a:pathLst>
              <a:path w="2581275" h="1981200">
                <a:moveTo>
                  <a:pt x="0" y="0"/>
                </a:moveTo>
                <a:lnTo>
                  <a:pt x="2581275" y="0"/>
                </a:lnTo>
                <a:lnTo>
                  <a:pt x="2581275" y="1981200"/>
                </a:lnTo>
                <a:lnTo>
                  <a:pt x="0" y="1981200"/>
                </a:lnTo>
                <a:lnTo>
                  <a:pt x="0" y="0"/>
                </a:lnTo>
                <a:close/>
              </a:path>
            </a:pathLst>
          </a:custGeom>
          <a:solidFill>
            <a:srgbClr val="C49A2C"/>
          </a:solidFill>
          <a:ln/>
        </p:spPr>
      </p:sp>
      <p:sp>
        <p:nvSpPr>
          <p:cNvPr id="13" name="Shape 11"/>
          <p:cNvSpPr/>
          <p:nvPr/>
        </p:nvSpPr>
        <p:spPr>
          <a:xfrm>
            <a:off x="5991225" y="2433638"/>
            <a:ext cx="214313" cy="285750"/>
          </a:xfrm>
          <a:custGeom>
            <a:avLst/>
            <a:gdLst/>
            <a:ahLst/>
            <a:cxnLst/>
            <a:rect l="l" t="t" r="r" b="b"/>
            <a:pathLst>
              <a:path w="214313" h="285750">
                <a:moveTo>
                  <a:pt x="173794" y="17859"/>
                </a:moveTo>
                <a:lnTo>
                  <a:pt x="178594" y="17859"/>
                </a:lnTo>
                <a:cubicBezTo>
                  <a:pt x="198295" y="17859"/>
                  <a:pt x="214313" y="33877"/>
                  <a:pt x="214313" y="53578"/>
                </a:cubicBezTo>
                <a:lnTo>
                  <a:pt x="214313" y="250031"/>
                </a:lnTo>
                <a:cubicBezTo>
                  <a:pt x="214313" y="269732"/>
                  <a:pt x="198295" y="285750"/>
                  <a:pt x="178594" y="285750"/>
                </a:cubicBezTo>
                <a:lnTo>
                  <a:pt x="35719" y="285750"/>
                </a:lnTo>
                <a:cubicBezTo>
                  <a:pt x="16018" y="285750"/>
                  <a:pt x="0" y="269732"/>
                  <a:pt x="0" y="250031"/>
                </a:cubicBezTo>
                <a:lnTo>
                  <a:pt x="0" y="53578"/>
                </a:lnTo>
                <a:cubicBezTo>
                  <a:pt x="0" y="33877"/>
                  <a:pt x="16018" y="17859"/>
                  <a:pt x="35719" y="17859"/>
                </a:cubicBezTo>
                <a:lnTo>
                  <a:pt x="40518" y="17859"/>
                </a:lnTo>
                <a:cubicBezTo>
                  <a:pt x="46658" y="7200"/>
                  <a:pt x="58210" y="0"/>
                  <a:pt x="71438" y="0"/>
                </a:cubicBezTo>
                <a:lnTo>
                  <a:pt x="142875" y="0"/>
                </a:lnTo>
                <a:cubicBezTo>
                  <a:pt x="156102" y="0"/>
                  <a:pt x="167655" y="7200"/>
                  <a:pt x="173794" y="17859"/>
                </a:cubicBezTo>
                <a:close/>
                <a:moveTo>
                  <a:pt x="138410" y="62508"/>
                </a:moveTo>
                <a:cubicBezTo>
                  <a:pt x="145833" y="62508"/>
                  <a:pt x="151805" y="56536"/>
                  <a:pt x="151805" y="49113"/>
                </a:cubicBezTo>
                <a:cubicBezTo>
                  <a:pt x="151805" y="41690"/>
                  <a:pt x="145833" y="35719"/>
                  <a:pt x="138410" y="35719"/>
                </a:cubicBezTo>
                <a:lnTo>
                  <a:pt x="75902" y="35719"/>
                </a:lnTo>
                <a:cubicBezTo>
                  <a:pt x="68480" y="35719"/>
                  <a:pt x="62508" y="41690"/>
                  <a:pt x="62508" y="49113"/>
                </a:cubicBezTo>
                <a:cubicBezTo>
                  <a:pt x="62508" y="56536"/>
                  <a:pt x="68480" y="62508"/>
                  <a:pt x="75902" y="62508"/>
                </a:cubicBezTo>
                <a:lnTo>
                  <a:pt x="138410" y="62508"/>
                </a:lnTo>
                <a:close/>
                <a:moveTo>
                  <a:pt x="154260" y="145498"/>
                </a:moveTo>
                <a:cubicBezTo>
                  <a:pt x="158167" y="139247"/>
                  <a:pt x="156270" y="130987"/>
                  <a:pt x="150019" y="127025"/>
                </a:cubicBezTo>
                <a:cubicBezTo>
                  <a:pt x="143768" y="123062"/>
                  <a:pt x="135508" y="125016"/>
                  <a:pt x="131545" y="131266"/>
                </a:cubicBezTo>
                <a:lnTo>
                  <a:pt x="97278" y="186128"/>
                </a:lnTo>
                <a:lnTo>
                  <a:pt x="82209" y="166036"/>
                </a:lnTo>
                <a:cubicBezTo>
                  <a:pt x="77744" y="160120"/>
                  <a:pt x="69373" y="158893"/>
                  <a:pt x="63457" y="163357"/>
                </a:cubicBezTo>
                <a:cubicBezTo>
                  <a:pt x="57541" y="167822"/>
                  <a:pt x="56313" y="176194"/>
                  <a:pt x="60778" y="182110"/>
                </a:cubicBezTo>
                <a:lnTo>
                  <a:pt x="87567" y="217829"/>
                </a:lnTo>
                <a:cubicBezTo>
                  <a:pt x="90190" y="221345"/>
                  <a:pt x="94431" y="223354"/>
                  <a:pt x="98840" y="223186"/>
                </a:cubicBezTo>
                <a:cubicBezTo>
                  <a:pt x="103250" y="223019"/>
                  <a:pt x="107268" y="220675"/>
                  <a:pt x="109612" y="216880"/>
                </a:cubicBezTo>
                <a:lnTo>
                  <a:pt x="154260" y="145442"/>
                </a:lnTo>
                <a:close/>
              </a:path>
            </a:pathLst>
          </a:custGeom>
          <a:solidFill>
            <a:srgbClr val="F8F9FA"/>
          </a:solidFill>
          <a:ln/>
        </p:spPr>
      </p:sp>
      <p:sp>
        <p:nvSpPr>
          <p:cNvPr id="14" name="Text 12"/>
          <p:cNvSpPr/>
          <p:nvPr/>
        </p:nvSpPr>
        <p:spPr>
          <a:xfrm>
            <a:off x="4916488" y="2809875"/>
            <a:ext cx="2362200" cy="266700"/>
          </a:xfrm>
          <a:prstGeom prst="rect">
            <a:avLst/>
          </a:prstGeom>
          <a:noFill/>
          <a:ln/>
        </p:spPr>
        <p:txBody>
          <a:bodyPr wrap="square" lIns="0" tIns="0" rIns="0" bIns="0" rtlCol="0" anchor="ctr"/>
          <a:lstStyle/>
          <a:p>
            <a:pPr algn="ctr">
              <a:lnSpc>
                <a:spcPct val="130000"/>
              </a:lnSpc>
            </a:pPr>
            <a:r>
              <a:rPr lang="en-US" sz="1350" b="1" dirty="0">
                <a:solidFill>
                  <a:srgbClr val="F8F9FA"/>
                </a:solidFill>
                <a:latin typeface="MiSans" pitchFamily="34" charset="0"/>
                <a:ea typeface="MiSans" pitchFamily="34" charset="-122"/>
                <a:cs typeface="MiSans" pitchFamily="34" charset="-120"/>
              </a:rPr>
              <a:t>Strand 2</a:t>
            </a:r>
            <a:endParaRPr lang="en-US" sz="1600" dirty="0"/>
          </a:p>
        </p:txBody>
      </p:sp>
      <p:sp>
        <p:nvSpPr>
          <p:cNvPr id="15" name="Text 13"/>
          <p:cNvSpPr/>
          <p:nvPr/>
        </p:nvSpPr>
        <p:spPr>
          <a:xfrm>
            <a:off x="4921250" y="3152775"/>
            <a:ext cx="2352675" cy="457200"/>
          </a:xfrm>
          <a:prstGeom prst="rect">
            <a:avLst/>
          </a:prstGeom>
          <a:noFill/>
          <a:ln/>
        </p:spPr>
        <p:txBody>
          <a:bodyPr wrap="square" lIns="0" tIns="0" rIns="0" bIns="0" rtlCol="0" anchor="ctr"/>
          <a:lstStyle/>
          <a:p>
            <a:pPr algn="ctr">
              <a:lnSpc>
                <a:spcPct val="130000"/>
              </a:lnSpc>
            </a:pPr>
            <a:r>
              <a:rPr lang="en-US" sz="1200" b="1" dirty="0">
                <a:solidFill>
                  <a:srgbClr val="F8F9FA"/>
                </a:solidFill>
                <a:latin typeface="MiSans" pitchFamily="34" charset="0"/>
                <a:ea typeface="MiSans" pitchFamily="34" charset="-122"/>
                <a:cs typeface="MiSans" pitchFamily="34" charset="-120"/>
              </a:rPr>
              <a:t>Formative Assessment Integration</a:t>
            </a:r>
            <a:endParaRPr lang="en-US" sz="1600" dirty="0"/>
          </a:p>
        </p:txBody>
      </p:sp>
      <p:sp>
        <p:nvSpPr>
          <p:cNvPr id="16" name="Text 14"/>
          <p:cNvSpPr/>
          <p:nvPr/>
        </p:nvSpPr>
        <p:spPr>
          <a:xfrm>
            <a:off x="4926013" y="3686175"/>
            <a:ext cx="2343150" cy="381000"/>
          </a:xfrm>
          <a:prstGeom prst="rect">
            <a:avLst/>
          </a:prstGeom>
          <a:noFill/>
          <a:ln/>
        </p:spPr>
        <p:txBody>
          <a:bodyPr wrap="square" lIns="0" tIns="0" rIns="0" bIns="0" rtlCol="0" anchor="ctr"/>
          <a:lstStyle/>
          <a:p>
            <a:pPr algn="ctr">
              <a:lnSpc>
                <a:spcPct val="120000"/>
              </a:lnSpc>
            </a:pPr>
            <a:r>
              <a:rPr lang="en-US" sz="1050" dirty="0">
                <a:solidFill>
                  <a:srgbClr val="F8F9FA"/>
                </a:solidFill>
                <a:latin typeface="MiSans" pitchFamily="34" charset="0"/>
                <a:ea typeface="MiSans" pitchFamily="34" charset="-122"/>
                <a:cs typeface="MiSans" pitchFamily="34" charset="-120"/>
              </a:rPr>
              <a:t>Diagnostic feedback via Black and Wiliam's five strategies</a:t>
            </a:r>
            <a:endParaRPr lang="en-US" sz="1600" dirty="0"/>
          </a:p>
        </p:txBody>
      </p:sp>
      <p:sp>
        <p:nvSpPr>
          <p:cNvPr id="17" name="Shape 15"/>
          <p:cNvSpPr/>
          <p:nvPr/>
        </p:nvSpPr>
        <p:spPr>
          <a:xfrm>
            <a:off x="7537450" y="2238375"/>
            <a:ext cx="2581275" cy="1981200"/>
          </a:xfrm>
          <a:custGeom>
            <a:avLst/>
            <a:gdLst/>
            <a:ahLst/>
            <a:cxnLst/>
            <a:rect l="l" t="t" r="r" b="b"/>
            <a:pathLst>
              <a:path w="2581275" h="1981200">
                <a:moveTo>
                  <a:pt x="0" y="0"/>
                </a:moveTo>
                <a:lnTo>
                  <a:pt x="2581275" y="0"/>
                </a:lnTo>
                <a:lnTo>
                  <a:pt x="2581275" y="1981200"/>
                </a:lnTo>
                <a:lnTo>
                  <a:pt x="0" y="1981200"/>
                </a:lnTo>
                <a:lnTo>
                  <a:pt x="0" y="0"/>
                </a:lnTo>
                <a:close/>
              </a:path>
            </a:pathLst>
          </a:custGeom>
          <a:solidFill>
            <a:srgbClr val="1E3A5F"/>
          </a:solidFill>
          <a:ln/>
        </p:spPr>
      </p:sp>
      <p:sp>
        <p:nvSpPr>
          <p:cNvPr id="18" name="Shape 16"/>
          <p:cNvSpPr/>
          <p:nvPr/>
        </p:nvSpPr>
        <p:spPr>
          <a:xfrm>
            <a:off x="8650288" y="2433638"/>
            <a:ext cx="357188" cy="285750"/>
          </a:xfrm>
          <a:custGeom>
            <a:avLst/>
            <a:gdLst/>
            <a:ahLst/>
            <a:cxnLst/>
            <a:rect l="l" t="t" r="r" b="b"/>
            <a:pathLst>
              <a:path w="357188" h="285750">
                <a:moveTo>
                  <a:pt x="71438" y="53578"/>
                </a:moveTo>
                <a:cubicBezTo>
                  <a:pt x="71438" y="33877"/>
                  <a:pt x="87455" y="17859"/>
                  <a:pt x="107156" y="17859"/>
                </a:cubicBezTo>
                <a:lnTo>
                  <a:pt x="303609" y="17859"/>
                </a:lnTo>
                <a:cubicBezTo>
                  <a:pt x="323310" y="17859"/>
                  <a:pt x="339328" y="33877"/>
                  <a:pt x="339328" y="53578"/>
                </a:cubicBezTo>
                <a:lnTo>
                  <a:pt x="339328" y="187523"/>
                </a:lnTo>
                <a:lnTo>
                  <a:pt x="285750" y="187523"/>
                </a:lnTo>
                <a:lnTo>
                  <a:pt x="285750" y="178594"/>
                </a:lnTo>
                <a:cubicBezTo>
                  <a:pt x="285750" y="168715"/>
                  <a:pt x="277769" y="160734"/>
                  <a:pt x="267891" y="160734"/>
                </a:cubicBezTo>
                <a:lnTo>
                  <a:pt x="232172" y="160734"/>
                </a:lnTo>
                <a:cubicBezTo>
                  <a:pt x="222293" y="160734"/>
                  <a:pt x="214313" y="168715"/>
                  <a:pt x="214313" y="178594"/>
                </a:cubicBezTo>
                <a:lnTo>
                  <a:pt x="214313" y="187523"/>
                </a:lnTo>
                <a:lnTo>
                  <a:pt x="142261" y="187523"/>
                </a:lnTo>
                <a:cubicBezTo>
                  <a:pt x="148344" y="177031"/>
                  <a:pt x="151805" y="164809"/>
                  <a:pt x="151805" y="151805"/>
                </a:cubicBezTo>
                <a:cubicBezTo>
                  <a:pt x="151805" y="112347"/>
                  <a:pt x="119825" y="80367"/>
                  <a:pt x="80367" y="80367"/>
                </a:cubicBezTo>
                <a:cubicBezTo>
                  <a:pt x="77353" y="80367"/>
                  <a:pt x="74340" y="80535"/>
                  <a:pt x="71438" y="80925"/>
                </a:cubicBezTo>
                <a:lnTo>
                  <a:pt x="71438" y="53578"/>
                </a:lnTo>
                <a:close/>
                <a:moveTo>
                  <a:pt x="185849" y="250031"/>
                </a:moveTo>
                <a:cubicBezTo>
                  <a:pt x="183003" y="236525"/>
                  <a:pt x="176752" y="224303"/>
                  <a:pt x="167934" y="214313"/>
                </a:cubicBezTo>
                <a:lnTo>
                  <a:pt x="339328" y="214313"/>
                </a:lnTo>
                <a:cubicBezTo>
                  <a:pt x="339328" y="234014"/>
                  <a:pt x="323310" y="250031"/>
                  <a:pt x="303609" y="250031"/>
                </a:cubicBezTo>
                <a:lnTo>
                  <a:pt x="185849" y="250031"/>
                </a:lnTo>
                <a:close/>
                <a:moveTo>
                  <a:pt x="35719" y="151805"/>
                </a:moveTo>
                <a:cubicBezTo>
                  <a:pt x="35719" y="127163"/>
                  <a:pt x="55725" y="107156"/>
                  <a:pt x="80367" y="107156"/>
                </a:cubicBezTo>
                <a:cubicBezTo>
                  <a:pt x="105009" y="107156"/>
                  <a:pt x="125016" y="127163"/>
                  <a:pt x="125016" y="151805"/>
                </a:cubicBezTo>
                <a:cubicBezTo>
                  <a:pt x="125016" y="176447"/>
                  <a:pt x="105009" y="196453"/>
                  <a:pt x="80367" y="196453"/>
                </a:cubicBezTo>
                <a:cubicBezTo>
                  <a:pt x="55725" y="196453"/>
                  <a:pt x="35719" y="176447"/>
                  <a:pt x="35719" y="151805"/>
                </a:cubicBezTo>
                <a:close/>
                <a:moveTo>
                  <a:pt x="0" y="267891"/>
                </a:moveTo>
                <a:cubicBezTo>
                  <a:pt x="0" y="238311"/>
                  <a:pt x="23999" y="214313"/>
                  <a:pt x="53578" y="214313"/>
                </a:cubicBezTo>
                <a:lnTo>
                  <a:pt x="107156" y="214313"/>
                </a:lnTo>
                <a:cubicBezTo>
                  <a:pt x="136736" y="214313"/>
                  <a:pt x="160734" y="238311"/>
                  <a:pt x="160734" y="267891"/>
                </a:cubicBezTo>
                <a:cubicBezTo>
                  <a:pt x="160734" y="277769"/>
                  <a:pt x="152753" y="285750"/>
                  <a:pt x="142875" y="285750"/>
                </a:cubicBezTo>
                <a:lnTo>
                  <a:pt x="17859" y="285750"/>
                </a:lnTo>
                <a:cubicBezTo>
                  <a:pt x="7981" y="285750"/>
                  <a:pt x="0" y="277769"/>
                  <a:pt x="0" y="267891"/>
                </a:cubicBezTo>
                <a:close/>
              </a:path>
            </a:pathLst>
          </a:custGeom>
          <a:solidFill>
            <a:srgbClr val="F8F9FA"/>
          </a:solidFill>
          <a:ln/>
        </p:spPr>
      </p:sp>
      <p:sp>
        <p:nvSpPr>
          <p:cNvPr id="19" name="Text 17"/>
          <p:cNvSpPr/>
          <p:nvPr/>
        </p:nvSpPr>
        <p:spPr>
          <a:xfrm>
            <a:off x="7646987" y="2809875"/>
            <a:ext cx="2362200" cy="266700"/>
          </a:xfrm>
          <a:prstGeom prst="rect">
            <a:avLst/>
          </a:prstGeom>
          <a:noFill/>
          <a:ln/>
        </p:spPr>
        <p:txBody>
          <a:bodyPr wrap="square" lIns="0" tIns="0" rIns="0" bIns="0" rtlCol="0" anchor="ctr"/>
          <a:lstStyle/>
          <a:p>
            <a:pPr algn="ctr">
              <a:lnSpc>
                <a:spcPct val="130000"/>
              </a:lnSpc>
            </a:pPr>
            <a:r>
              <a:rPr lang="en-US" sz="1350" b="1" dirty="0">
                <a:solidFill>
                  <a:srgbClr val="F8F9FA"/>
                </a:solidFill>
                <a:latin typeface="MiSans" pitchFamily="34" charset="0"/>
                <a:ea typeface="MiSans" pitchFamily="34" charset="-122"/>
                <a:cs typeface="MiSans" pitchFamily="34" charset="-120"/>
              </a:rPr>
              <a:t>Strand 3</a:t>
            </a:r>
            <a:endParaRPr lang="en-US" sz="1600" dirty="0"/>
          </a:p>
        </p:txBody>
      </p:sp>
      <p:sp>
        <p:nvSpPr>
          <p:cNvPr id="20" name="Text 18"/>
          <p:cNvSpPr/>
          <p:nvPr/>
        </p:nvSpPr>
        <p:spPr>
          <a:xfrm>
            <a:off x="7651750" y="3152775"/>
            <a:ext cx="2352675" cy="228600"/>
          </a:xfrm>
          <a:prstGeom prst="rect">
            <a:avLst/>
          </a:prstGeom>
          <a:noFill/>
          <a:ln/>
        </p:spPr>
        <p:txBody>
          <a:bodyPr wrap="square" lIns="0" tIns="0" rIns="0" bIns="0" rtlCol="0" anchor="ctr"/>
          <a:lstStyle/>
          <a:p>
            <a:pPr algn="ctr">
              <a:lnSpc>
                <a:spcPct val="130000"/>
              </a:lnSpc>
            </a:pPr>
            <a:r>
              <a:rPr lang="en-US" sz="1200" b="1" dirty="0">
                <a:solidFill>
                  <a:srgbClr val="F8F9FA"/>
                </a:solidFill>
                <a:latin typeface="MiSans" pitchFamily="34" charset="0"/>
                <a:ea typeface="MiSans" pitchFamily="34" charset="-122"/>
                <a:cs typeface="MiSans" pitchFamily="34" charset="-120"/>
              </a:rPr>
              <a:t>Professional Development</a:t>
            </a:r>
            <a:endParaRPr lang="en-US" sz="1600" dirty="0"/>
          </a:p>
        </p:txBody>
      </p:sp>
      <p:sp>
        <p:nvSpPr>
          <p:cNvPr id="21" name="Text 19"/>
          <p:cNvSpPr/>
          <p:nvPr/>
        </p:nvSpPr>
        <p:spPr>
          <a:xfrm>
            <a:off x="7656512" y="3457575"/>
            <a:ext cx="2343150" cy="381000"/>
          </a:xfrm>
          <a:prstGeom prst="rect">
            <a:avLst/>
          </a:prstGeom>
          <a:noFill/>
          <a:ln/>
        </p:spPr>
        <p:txBody>
          <a:bodyPr wrap="square" lIns="0" tIns="0" rIns="0" bIns="0" rtlCol="0" anchor="ctr"/>
          <a:lstStyle/>
          <a:p>
            <a:pPr algn="ctr">
              <a:lnSpc>
                <a:spcPct val="120000"/>
              </a:lnSpc>
            </a:pPr>
            <a:r>
              <a:rPr lang="en-US" sz="1050" dirty="0">
                <a:solidFill>
                  <a:srgbClr val="F8F9FA"/>
                </a:solidFill>
                <a:latin typeface="MiSans" pitchFamily="34" charset="0"/>
                <a:ea typeface="MiSans" pitchFamily="34" charset="-122"/>
                <a:cs typeface="MiSans" pitchFamily="34" charset="-120"/>
              </a:rPr>
              <a:t>Pedagogical skill for ZPD maintenance and scaffolding</a:t>
            </a:r>
            <a:endParaRPr lang="en-US" sz="1600" dirty="0"/>
          </a:p>
        </p:txBody>
      </p:sp>
      <p:sp>
        <p:nvSpPr>
          <p:cNvPr id="22" name="Shape 20"/>
          <p:cNvSpPr/>
          <p:nvPr/>
        </p:nvSpPr>
        <p:spPr>
          <a:xfrm>
            <a:off x="5267325" y="4467225"/>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1E3A5F"/>
          </a:solidFill>
          <a:ln/>
        </p:spPr>
      </p:sp>
      <p:sp>
        <p:nvSpPr>
          <p:cNvPr id="23" name="Shape 21"/>
          <p:cNvSpPr/>
          <p:nvPr/>
        </p:nvSpPr>
        <p:spPr>
          <a:xfrm>
            <a:off x="5981700" y="4371975"/>
            <a:ext cx="228600" cy="228600"/>
          </a:xfrm>
          <a:custGeom>
            <a:avLst/>
            <a:gdLst/>
            <a:ahLst/>
            <a:cxnLst/>
            <a:rect l="l" t="t" r="r" b="b"/>
            <a:pathLst>
              <a:path w="228600" h="228600">
                <a:moveTo>
                  <a:pt x="224403" y="181541"/>
                </a:moveTo>
                <a:lnTo>
                  <a:pt x="181541" y="224403"/>
                </a:lnTo>
                <a:cubicBezTo>
                  <a:pt x="177433" y="228511"/>
                  <a:pt x="171316" y="229716"/>
                  <a:pt x="165958" y="227484"/>
                </a:cubicBezTo>
                <a:cubicBezTo>
                  <a:pt x="160600" y="225251"/>
                  <a:pt x="157163" y="220072"/>
                  <a:pt x="157163" y="214313"/>
                </a:cubicBezTo>
                <a:lnTo>
                  <a:pt x="157163" y="185738"/>
                </a:lnTo>
                <a:lnTo>
                  <a:pt x="14288" y="185738"/>
                </a:lnTo>
                <a:cubicBezTo>
                  <a:pt x="6385" y="185738"/>
                  <a:pt x="0" y="179353"/>
                  <a:pt x="0" y="171450"/>
                </a:cubicBezTo>
                <a:cubicBezTo>
                  <a:pt x="0" y="163547"/>
                  <a:pt x="6385" y="157163"/>
                  <a:pt x="14288" y="157163"/>
                </a:cubicBezTo>
                <a:lnTo>
                  <a:pt x="157163" y="157163"/>
                </a:lnTo>
                <a:lnTo>
                  <a:pt x="157163" y="128588"/>
                </a:lnTo>
                <a:cubicBezTo>
                  <a:pt x="157163" y="122828"/>
                  <a:pt x="160645" y="117604"/>
                  <a:pt x="166003" y="115372"/>
                </a:cubicBezTo>
                <a:cubicBezTo>
                  <a:pt x="171361" y="113139"/>
                  <a:pt x="177478" y="114389"/>
                  <a:pt x="181585" y="118452"/>
                </a:cubicBezTo>
                <a:lnTo>
                  <a:pt x="224448" y="161315"/>
                </a:lnTo>
                <a:cubicBezTo>
                  <a:pt x="230029" y="166896"/>
                  <a:pt x="230029" y="175959"/>
                  <a:pt x="224448" y="181541"/>
                </a:cubicBezTo>
                <a:close/>
                <a:moveTo>
                  <a:pt x="4197" y="67241"/>
                </a:moveTo>
                <a:cubicBezTo>
                  <a:pt x="-1384" y="61659"/>
                  <a:pt x="-1384" y="52596"/>
                  <a:pt x="4197" y="47015"/>
                </a:cubicBezTo>
                <a:lnTo>
                  <a:pt x="47059" y="4152"/>
                </a:lnTo>
                <a:cubicBezTo>
                  <a:pt x="51167" y="45"/>
                  <a:pt x="57284" y="-1161"/>
                  <a:pt x="62642" y="1072"/>
                </a:cubicBezTo>
                <a:cubicBezTo>
                  <a:pt x="68000" y="3304"/>
                  <a:pt x="71438" y="8528"/>
                  <a:pt x="71438" y="14288"/>
                </a:cubicBezTo>
                <a:lnTo>
                  <a:pt x="71438" y="42863"/>
                </a:lnTo>
                <a:lnTo>
                  <a:pt x="214313" y="42863"/>
                </a:lnTo>
                <a:cubicBezTo>
                  <a:pt x="222215" y="42863"/>
                  <a:pt x="228600" y="49247"/>
                  <a:pt x="228600" y="57150"/>
                </a:cubicBezTo>
                <a:cubicBezTo>
                  <a:pt x="228600" y="65053"/>
                  <a:pt x="222215" y="71438"/>
                  <a:pt x="214313" y="71438"/>
                </a:cubicBezTo>
                <a:lnTo>
                  <a:pt x="71438" y="71438"/>
                </a:lnTo>
                <a:lnTo>
                  <a:pt x="71438" y="100013"/>
                </a:lnTo>
                <a:cubicBezTo>
                  <a:pt x="71438" y="105772"/>
                  <a:pt x="67955" y="110996"/>
                  <a:pt x="62597" y="113228"/>
                </a:cubicBezTo>
                <a:cubicBezTo>
                  <a:pt x="57239" y="115461"/>
                  <a:pt x="51122" y="114211"/>
                  <a:pt x="47015" y="110148"/>
                </a:cubicBezTo>
                <a:lnTo>
                  <a:pt x="4152" y="67285"/>
                </a:lnTo>
                <a:close/>
              </a:path>
            </a:pathLst>
          </a:custGeom>
          <a:solidFill>
            <a:srgbClr val="C49A2C"/>
          </a:solidFill>
          <a:ln/>
        </p:spPr>
      </p:sp>
      <p:sp>
        <p:nvSpPr>
          <p:cNvPr id="24" name="Shape 22"/>
          <p:cNvSpPr/>
          <p:nvPr/>
        </p:nvSpPr>
        <p:spPr>
          <a:xfrm>
            <a:off x="6315075" y="4467225"/>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1E3A5F"/>
          </a:solidFill>
          <a:ln/>
        </p:spPr>
      </p:sp>
      <p:sp>
        <p:nvSpPr>
          <p:cNvPr id="25" name="Shape 23"/>
          <p:cNvSpPr/>
          <p:nvPr/>
        </p:nvSpPr>
        <p:spPr>
          <a:xfrm>
            <a:off x="2081212" y="4757738"/>
            <a:ext cx="8029575" cy="542925"/>
          </a:xfrm>
          <a:custGeom>
            <a:avLst/>
            <a:gdLst/>
            <a:ahLst/>
            <a:cxnLst/>
            <a:rect l="l" t="t" r="r" b="b"/>
            <a:pathLst>
              <a:path w="8029575" h="542925">
                <a:moveTo>
                  <a:pt x="0" y="0"/>
                </a:moveTo>
                <a:lnTo>
                  <a:pt x="8029575" y="0"/>
                </a:lnTo>
                <a:lnTo>
                  <a:pt x="8029575" y="542925"/>
                </a:lnTo>
                <a:lnTo>
                  <a:pt x="0" y="542925"/>
                </a:lnTo>
                <a:lnTo>
                  <a:pt x="0" y="0"/>
                </a:lnTo>
                <a:close/>
              </a:path>
            </a:pathLst>
          </a:custGeom>
          <a:solidFill>
            <a:srgbClr val="F8F9FA"/>
          </a:solidFill>
          <a:ln w="12700">
            <a:solidFill>
              <a:srgbClr val="1E3A5F"/>
            </a:solidFill>
            <a:prstDash val="solid"/>
          </a:ln>
        </p:spPr>
      </p:sp>
      <p:sp>
        <p:nvSpPr>
          <p:cNvPr id="26" name="Text 24"/>
          <p:cNvSpPr/>
          <p:nvPr/>
        </p:nvSpPr>
        <p:spPr>
          <a:xfrm>
            <a:off x="2200275" y="4914900"/>
            <a:ext cx="7791450" cy="228600"/>
          </a:xfrm>
          <a:prstGeom prst="rect">
            <a:avLst/>
          </a:prstGeom>
          <a:noFill/>
          <a:ln/>
        </p:spPr>
        <p:txBody>
          <a:bodyPr wrap="square" lIns="0" tIns="0" rIns="0" bIns="0" rtlCol="0" anchor="ctr"/>
          <a:lstStyle/>
          <a:p>
            <a:pPr algn="ctr">
              <a:lnSpc>
                <a:spcPct val="130000"/>
              </a:lnSpc>
            </a:pPr>
            <a:r>
              <a:rPr lang="en-US" sz="1200" b="1" dirty="0">
                <a:solidFill>
                  <a:srgbClr val="1E3A5F"/>
                </a:solidFill>
                <a:latin typeface="MiSans" pitchFamily="34" charset="0"/>
                <a:ea typeface="MiSans" pitchFamily="34" charset="-122"/>
                <a:cs typeface="MiSans" pitchFamily="34" charset="-120"/>
              </a:rPr>
              <a:t>Hattie's visible learning synthesis</a:t>
            </a:r>
            <a:pPr algn="ctr">
              <a:lnSpc>
                <a:spcPct val="130000"/>
              </a:lnSpc>
            </a:pPr>
            <a:r>
              <a:rPr lang="en-US" sz="1200" dirty="0">
                <a:solidFill>
                  <a:srgbClr val="1E3A5F"/>
                </a:solidFill>
                <a:latin typeface="MiSans" pitchFamily="34" charset="0"/>
                <a:ea typeface="MiSans" pitchFamily="34" charset="-122"/>
                <a:cs typeface="MiSans" pitchFamily="34" charset="-120"/>
              </a:rPr>
              <a:t> provides empirical warrant for design choices within each strand</a:t>
            </a:r>
            <a:endParaRPr lang="en-US" sz="1600" dirty="0"/>
          </a:p>
        </p:txBody>
      </p:sp>
      <p:sp>
        <p:nvSpPr>
          <p:cNvPr id="27" name="Shape 25"/>
          <p:cNvSpPr/>
          <p:nvPr/>
        </p:nvSpPr>
        <p:spPr>
          <a:xfrm>
            <a:off x="1847850" y="5705475"/>
            <a:ext cx="8515350" cy="533400"/>
          </a:xfrm>
          <a:custGeom>
            <a:avLst/>
            <a:gdLst/>
            <a:ahLst/>
            <a:cxnLst/>
            <a:rect l="l" t="t" r="r" b="b"/>
            <a:pathLst>
              <a:path w="8515350" h="533400">
                <a:moveTo>
                  <a:pt x="0" y="0"/>
                </a:moveTo>
                <a:lnTo>
                  <a:pt x="8515350" y="0"/>
                </a:lnTo>
                <a:lnTo>
                  <a:pt x="8515350" y="533400"/>
                </a:lnTo>
                <a:lnTo>
                  <a:pt x="0" y="533400"/>
                </a:lnTo>
                <a:lnTo>
                  <a:pt x="0" y="0"/>
                </a:lnTo>
                <a:close/>
              </a:path>
            </a:pathLst>
          </a:custGeom>
          <a:solidFill>
            <a:srgbClr val="FEF2F2"/>
          </a:solidFill>
          <a:ln/>
        </p:spPr>
      </p:sp>
      <p:sp>
        <p:nvSpPr>
          <p:cNvPr id="28" name="Shape 26"/>
          <p:cNvSpPr/>
          <p:nvPr/>
        </p:nvSpPr>
        <p:spPr>
          <a:xfrm>
            <a:off x="1847850" y="5705475"/>
            <a:ext cx="38100" cy="533400"/>
          </a:xfrm>
          <a:custGeom>
            <a:avLst/>
            <a:gdLst/>
            <a:ahLst/>
            <a:cxnLst/>
            <a:rect l="l" t="t" r="r" b="b"/>
            <a:pathLst>
              <a:path w="38100" h="533400">
                <a:moveTo>
                  <a:pt x="0" y="0"/>
                </a:moveTo>
                <a:lnTo>
                  <a:pt x="38100" y="0"/>
                </a:lnTo>
                <a:lnTo>
                  <a:pt x="38100" y="533400"/>
                </a:lnTo>
                <a:lnTo>
                  <a:pt x="0" y="533400"/>
                </a:lnTo>
                <a:lnTo>
                  <a:pt x="0" y="0"/>
                </a:lnTo>
                <a:close/>
              </a:path>
            </a:pathLst>
          </a:custGeom>
          <a:solidFill>
            <a:srgbClr val="E7000B"/>
          </a:solidFill>
          <a:ln/>
        </p:spPr>
      </p:sp>
      <p:sp>
        <p:nvSpPr>
          <p:cNvPr id="29" name="Shape 27"/>
          <p:cNvSpPr/>
          <p:nvPr/>
        </p:nvSpPr>
        <p:spPr>
          <a:xfrm>
            <a:off x="2520156" y="5900738"/>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C10007"/>
          </a:solidFill>
          <a:ln/>
        </p:spPr>
      </p:sp>
      <p:sp>
        <p:nvSpPr>
          <p:cNvPr id="30" name="Text 28"/>
          <p:cNvSpPr/>
          <p:nvPr/>
        </p:nvSpPr>
        <p:spPr>
          <a:xfrm>
            <a:off x="2228850" y="5857875"/>
            <a:ext cx="8020050" cy="228600"/>
          </a:xfrm>
          <a:prstGeom prst="rect">
            <a:avLst/>
          </a:prstGeom>
          <a:noFill/>
          <a:ln/>
        </p:spPr>
        <p:txBody>
          <a:bodyPr wrap="square" lIns="0" tIns="0" rIns="0" bIns="0" rtlCol="0" anchor="ctr"/>
          <a:lstStyle/>
          <a:p>
            <a:pPr algn="ctr">
              <a:lnSpc>
                <a:spcPct val="130000"/>
              </a:lnSpc>
            </a:pPr>
            <a:r>
              <a:rPr lang="en-US" sz="1200" b="1" dirty="0">
                <a:solidFill>
                  <a:srgbClr val="C10007"/>
                </a:solidFill>
                <a:latin typeface="MiSans" pitchFamily="34" charset="0"/>
                <a:ea typeface="MiSans" pitchFamily="34" charset="-122"/>
                <a:cs typeface="MiSans" pitchFamily="34" charset="-120"/>
              </a:rPr>
              <a:t>Partial implementation (one or two strands only) is not recognised as valid programme delivery</a:t>
            </a:r>
            <a:endParaRPr lang="en-US" sz="16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6437313"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Why 'Impact' in Education Is Epistemologically Complex</a:t>
            </a:r>
            <a:endParaRPr lang="en-US" sz="1600" dirty="0"/>
          </a:p>
        </p:txBody>
      </p:sp>
      <p:sp>
        <p:nvSpPr>
          <p:cNvPr id="4" name="Shape 2"/>
          <p:cNvSpPr/>
          <p:nvPr/>
        </p:nvSpPr>
        <p:spPr>
          <a:xfrm>
            <a:off x="317500" y="904875"/>
            <a:ext cx="5715000" cy="4365625"/>
          </a:xfrm>
          <a:custGeom>
            <a:avLst/>
            <a:gdLst/>
            <a:ahLst/>
            <a:cxnLst/>
            <a:rect l="l" t="t" r="r" b="b"/>
            <a:pathLst>
              <a:path w="5715000" h="4365625">
                <a:moveTo>
                  <a:pt x="0" y="0"/>
                </a:moveTo>
                <a:lnTo>
                  <a:pt x="5715000" y="0"/>
                </a:lnTo>
                <a:lnTo>
                  <a:pt x="5715000" y="4365625"/>
                </a:lnTo>
                <a:lnTo>
                  <a:pt x="0" y="4365625"/>
                </a:lnTo>
                <a:lnTo>
                  <a:pt x="0" y="0"/>
                </a:lnTo>
                <a:close/>
              </a:path>
            </a:pathLst>
          </a:custGeom>
          <a:solidFill>
            <a:srgbClr val="FFFFFF"/>
          </a:solidFill>
          <a:ln/>
        </p:spPr>
      </p:sp>
      <p:sp>
        <p:nvSpPr>
          <p:cNvPr id="5" name="Shape 3"/>
          <p:cNvSpPr/>
          <p:nvPr/>
        </p:nvSpPr>
        <p:spPr>
          <a:xfrm>
            <a:off x="317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6" name="Text 4"/>
          <p:cNvSpPr/>
          <p:nvPr/>
        </p:nvSpPr>
        <p:spPr>
          <a:xfrm>
            <a:off x="444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Term Is Not Self-Evident</a:t>
            </a:r>
            <a:endParaRPr lang="en-US" sz="1600" dirty="0"/>
          </a:p>
        </p:txBody>
      </p:sp>
      <p:sp>
        <p:nvSpPr>
          <p:cNvPr id="7" name="Text 5"/>
          <p:cNvSpPr/>
          <p:nvPr/>
        </p:nvSpPr>
        <p:spPr>
          <a:xfrm>
            <a:off x="444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term </a:t>
            </a:r>
            <a:pPr>
              <a:lnSpc>
                <a:spcPct val="140000"/>
              </a:lnSpc>
            </a:pPr>
            <a:r>
              <a:rPr lang="en-US" sz="1000" b="1" dirty="0">
                <a:solidFill>
                  <a:srgbClr val="2D3436"/>
                </a:solidFill>
                <a:latin typeface="MiSans" pitchFamily="34" charset="0"/>
                <a:ea typeface="MiSans" pitchFamily="34" charset="-122"/>
                <a:cs typeface="MiSans" pitchFamily="34" charset="-120"/>
              </a:rPr>
              <a:t>'impact'</a:t>
            </a:r>
            <a:pPr>
              <a:lnSpc>
                <a:spcPct val="140000"/>
              </a:lnSpc>
            </a:pPr>
            <a:r>
              <a:rPr lang="en-US" sz="1000" dirty="0">
                <a:solidFill>
                  <a:srgbClr val="2D3436"/>
                </a:solidFill>
                <a:latin typeface="MiSans" pitchFamily="34" charset="0"/>
                <a:ea typeface="MiSans" pitchFamily="34" charset="-122"/>
                <a:cs typeface="MiSans" pitchFamily="34" charset="-120"/>
              </a:rPr>
              <a:t> is frequently used in educational discourse as if its meaning were self-evident. </a:t>
            </a:r>
            <a:pPr>
              <a:lnSpc>
                <a:spcPct val="140000"/>
              </a:lnSpc>
            </a:pPr>
            <a:r>
              <a:rPr lang="en-US" sz="1000" dirty="0">
                <a:solidFill>
                  <a:srgbClr val="2D3436"/>
                </a:solidFill>
                <a:highlight>
                  <a:srgbClr val="C49A2C">
                    <a:alpha val="20000"/>
                  </a:srgbClr>
                </a:highlight>
                <a:latin typeface="MiSans" pitchFamily="34" charset="0"/>
                <a:ea typeface="MiSans" pitchFamily="34" charset="-122"/>
                <a:cs typeface="MiSans" pitchFamily="34" charset="-120"/>
              </a:rPr>
              <a:t>It is not.</a:t>
            </a:r>
            <a:endParaRPr lang="en-US" sz="1600" dirty="0"/>
          </a:p>
        </p:txBody>
      </p:sp>
      <p:sp>
        <p:nvSpPr>
          <p:cNvPr id="8" name="Text 6"/>
          <p:cNvSpPr/>
          <p:nvPr/>
        </p:nvSpPr>
        <p:spPr>
          <a:xfrm>
            <a:off x="444500" y="187325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epistemological complexity of educational impact arises from </a:t>
            </a:r>
            <a:pPr>
              <a:lnSpc>
                <a:spcPct val="140000"/>
              </a:lnSpc>
            </a:pPr>
            <a:r>
              <a:rPr lang="en-US" sz="1000" b="1" dirty="0">
                <a:solidFill>
                  <a:srgbClr val="2D3436"/>
                </a:solidFill>
                <a:latin typeface="MiSans" pitchFamily="34" charset="0"/>
                <a:ea typeface="MiSans" pitchFamily="34" charset="-122"/>
                <a:cs typeface="MiSans" pitchFamily="34" charset="-120"/>
              </a:rPr>
              <a:t>three sources</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460375" y="2174875"/>
            <a:ext cx="5445125" cy="1063625"/>
          </a:xfrm>
          <a:custGeom>
            <a:avLst/>
            <a:gdLst/>
            <a:ahLst/>
            <a:cxnLst/>
            <a:rect l="l" t="t" r="r" b="b"/>
            <a:pathLst>
              <a:path w="5445125" h="1063625">
                <a:moveTo>
                  <a:pt x="0" y="0"/>
                </a:moveTo>
                <a:lnTo>
                  <a:pt x="5445125" y="0"/>
                </a:lnTo>
                <a:lnTo>
                  <a:pt x="5445125" y="1063625"/>
                </a:lnTo>
                <a:lnTo>
                  <a:pt x="0" y="1063625"/>
                </a:lnTo>
                <a:lnTo>
                  <a:pt x="0" y="0"/>
                </a:lnTo>
                <a:close/>
              </a:path>
            </a:pathLst>
          </a:custGeom>
          <a:solidFill>
            <a:srgbClr val="F8F9FA"/>
          </a:solidFill>
          <a:ln/>
        </p:spPr>
      </p:sp>
      <p:sp>
        <p:nvSpPr>
          <p:cNvPr id="10" name="Shape 8"/>
          <p:cNvSpPr/>
          <p:nvPr/>
        </p:nvSpPr>
        <p:spPr>
          <a:xfrm>
            <a:off x="460375" y="2174875"/>
            <a:ext cx="31750" cy="1063625"/>
          </a:xfrm>
          <a:custGeom>
            <a:avLst/>
            <a:gdLst/>
            <a:ahLst/>
            <a:cxnLst/>
            <a:rect l="l" t="t" r="r" b="b"/>
            <a:pathLst>
              <a:path w="31750" h="1063625">
                <a:moveTo>
                  <a:pt x="0" y="0"/>
                </a:moveTo>
                <a:lnTo>
                  <a:pt x="31750" y="0"/>
                </a:lnTo>
                <a:lnTo>
                  <a:pt x="31750" y="1063625"/>
                </a:lnTo>
                <a:lnTo>
                  <a:pt x="0" y="1063625"/>
                </a:lnTo>
                <a:lnTo>
                  <a:pt x="0" y="0"/>
                </a:lnTo>
                <a:close/>
              </a:path>
            </a:pathLst>
          </a:custGeom>
          <a:solidFill>
            <a:srgbClr val="1E3A5F"/>
          </a:solidFill>
          <a:ln/>
        </p:spPr>
      </p:sp>
      <p:sp>
        <p:nvSpPr>
          <p:cNvPr id="11" name="Text 9"/>
          <p:cNvSpPr/>
          <p:nvPr/>
        </p:nvSpPr>
        <p:spPr>
          <a:xfrm>
            <a:off x="571500" y="2270125"/>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1. The Attribution Problem</a:t>
            </a:r>
            <a:endParaRPr lang="en-US" sz="1600" dirty="0"/>
          </a:p>
        </p:txBody>
      </p:sp>
      <p:sp>
        <p:nvSpPr>
          <p:cNvPr id="12" name="Text 10"/>
          <p:cNvSpPr/>
          <p:nvPr/>
        </p:nvSpPr>
        <p:spPr>
          <a:xfrm>
            <a:off x="571500" y="2524125"/>
            <a:ext cx="5302250" cy="61912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Educational outcomes are </a:t>
            </a:r>
            <a:pPr>
              <a:lnSpc>
                <a:spcPct val="140000"/>
              </a:lnSpc>
            </a:pPr>
            <a:r>
              <a:rPr lang="en-US" sz="1000" b="1" dirty="0">
                <a:solidFill>
                  <a:srgbClr val="2D3436"/>
                </a:solidFill>
                <a:latin typeface="MiSans" pitchFamily="34" charset="0"/>
                <a:ea typeface="MiSans" pitchFamily="34" charset="-122"/>
                <a:cs typeface="MiSans" pitchFamily="34" charset="-120"/>
              </a:rPr>
              <a:t>multiply determined</a:t>
            </a:r>
            <a:pPr>
              <a:lnSpc>
                <a:spcPct val="140000"/>
              </a:lnSpc>
            </a:pPr>
            <a:r>
              <a:rPr lang="en-US" sz="1000" dirty="0">
                <a:solidFill>
                  <a:srgbClr val="2D3436"/>
                </a:solidFill>
                <a:latin typeface="MiSans" pitchFamily="34" charset="0"/>
                <a:ea typeface="MiSans" pitchFamily="34" charset="-122"/>
                <a:cs typeface="MiSans" pitchFamily="34" charset="-120"/>
              </a:rPr>
              <a:t>, and isolating the specific contribution of any single intervention requires methodological designs that are rarely feasible in real-world settings.</a:t>
            </a:r>
            <a:endParaRPr lang="en-US" sz="1600" dirty="0"/>
          </a:p>
        </p:txBody>
      </p:sp>
      <p:sp>
        <p:nvSpPr>
          <p:cNvPr id="13" name="Shape 11"/>
          <p:cNvSpPr/>
          <p:nvPr/>
        </p:nvSpPr>
        <p:spPr>
          <a:xfrm>
            <a:off x="460375" y="3333750"/>
            <a:ext cx="5445125" cy="857250"/>
          </a:xfrm>
          <a:custGeom>
            <a:avLst/>
            <a:gdLst/>
            <a:ahLst/>
            <a:cxnLst/>
            <a:rect l="l" t="t" r="r" b="b"/>
            <a:pathLst>
              <a:path w="5445125" h="857250">
                <a:moveTo>
                  <a:pt x="0" y="0"/>
                </a:moveTo>
                <a:lnTo>
                  <a:pt x="5445125" y="0"/>
                </a:lnTo>
                <a:lnTo>
                  <a:pt x="5445125" y="857250"/>
                </a:lnTo>
                <a:lnTo>
                  <a:pt x="0" y="857250"/>
                </a:lnTo>
                <a:lnTo>
                  <a:pt x="0" y="0"/>
                </a:lnTo>
                <a:close/>
              </a:path>
            </a:pathLst>
          </a:custGeom>
          <a:solidFill>
            <a:srgbClr val="F8F9FA"/>
          </a:solidFill>
          <a:ln/>
        </p:spPr>
      </p:sp>
      <p:sp>
        <p:nvSpPr>
          <p:cNvPr id="14" name="Shape 12"/>
          <p:cNvSpPr/>
          <p:nvPr/>
        </p:nvSpPr>
        <p:spPr>
          <a:xfrm>
            <a:off x="460375" y="3333750"/>
            <a:ext cx="31750" cy="857250"/>
          </a:xfrm>
          <a:custGeom>
            <a:avLst/>
            <a:gdLst/>
            <a:ahLst/>
            <a:cxnLst/>
            <a:rect l="l" t="t" r="r" b="b"/>
            <a:pathLst>
              <a:path w="31750" h="857250">
                <a:moveTo>
                  <a:pt x="0" y="0"/>
                </a:moveTo>
                <a:lnTo>
                  <a:pt x="31750" y="0"/>
                </a:lnTo>
                <a:lnTo>
                  <a:pt x="31750" y="857250"/>
                </a:lnTo>
                <a:lnTo>
                  <a:pt x="0" y="857250"/>
                </a:lnTo>
                <a:lnTo>
                  <a:pt x="0" y="0"/>
                </a:lnTo>
                <a:close/>
              </a:path>
            </a:pathLst>
          </a:custGeom>
          <a:solidFill>
            <a:srgbClr val="C49A2C"/>
          </a:solidFill>
          <a:ln/>
        </p:spPr>
      </p:sp>
      <p:sp>
        <p:nvSpPr>
          <p:cNvPr id="15" name="Text 13"/>
          <p:cNvSpPr/>
          <p:nvPr/>
        </p:nvSpPr>
        <p:spPr>
          <a:xfrm>
            <a:off x="571500" y="34290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2. The Baseline Problem</a:t>
            </a:r>
            <a:endParaRPr lang="en-US" sz="1600" dirty="0"/>
          </a:p>
        </p:txBody>
      </p:sp>
      <p:sp>
        <p:nvSpPr>
          <p:cNvPr id="16" name="Text 14"/>
          <p:cNvSpPr/>
          <p:nvPr/>
        </p:nvSpPr>
        <p:spPr>
          <a:xfrm>
            <a:off x="571500" y="368300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choice of </a:t>
            </a:r>
            <a:pPr>
              <a:lnSpc>
                <a:spcPct val="140000"/>
              </a:lnSpc>
            </a:pPr>
            <a:r>
              <a:rPr lang="en-US" sz="1000" b="1" dirty="0">
                <a:solidFill>
                  <a:srgbClr val="2D3436"/>
                </a:solidFill>
                <a:latin typeface="MiSans" pitchFamily="34" charset="0"/>
                <a:ea typeface="MiSans" pitchFamily="34" charset="-122"/>
                <a:cs typeface="MiSans" pitchFamily="34" charset="-120"/>
              </a:rPr>
              <a:t>comparison group</a:t>
            </a:r>
            <a:pPr>
              <a:lnSpc>
                <a:spcPct val="140000"/>
              </a:lnSpc>
            </a:pPr>
            <a:r>
              <a:rPr lang="en-US" sz="1000" dirty="0">
                <a:solidFill>
                  <a:srgbClr val="2D3436"/>
                </a:solidFill>
                <a:latin typeface="MiSans" pitchFamily="34" charset="0"/>
                <a:ea typeface="MiSans" pitchFamily="34" charset="-122"/>
                <a:cs typeface="MiSans" pitchFamily="34" charset="-120"/>
              </a:rPr>
              <a:t> determines whether an intervention appears effective, and different comparison groups produce different effect sizes.</a:t>
            </a:r>
            <a:endParaRPr lang="en-US" sz="1600" dirty="0"/>
          </a:p>
        </p:txBody>
      </p:sp>
      <p:sp>
        <p:nvSpPr>
          <p:cNvPr id="17" name="Shape 15"/>
          <p:cNvSpPr/>
          <p:nvPr/>
        </p:nvSpPr>
        <p:spPr>
          <a:xfrm>
            <a:off x="460375" y="4286250"/>
            <a:ext cx="5445125" cy="857250"/>
          </a:xfrm>
          <a:custGeom>
            <a:avLst/>
            <a:gdLst/>
            <a:ahLst/>
            <a:cxnLst/>
            <a:rect l="l" t="t" r="r" b="b"/>
            <a:pathLst>
              <a:path w="5445125" h="857250">
                <a:moveTo>
                  <a:pt x="0" y="0"/>
                </a:moveTo>
                <a:lnTo>
                  <a:pt x="5445125" y="0"/>
                </a:lnTo>
                <a:lnTo>
                  <a:pt x="5445125" y="857250"/>
                </a:lnTo>
                <a:lnTo>
                  <a:pt x="0" y="857250"/>
                </a:lnTo>
                <a:lnTo>
                  <a:pt x="0" y="0"/>
                </a:lnTo>
                <a:close/>
              </a:path>
            </a:pathLst>
          </a:custGeom>
          <a:solidFill>
            <a:srgbClr val="F8F9FA"/>
          </a:solidFill>
          <a:ln/>
        </p:spPr>
      </p:sp>
      <p:sp>
        <p:nvSpPr>
          <p:cNvPr id="18" name="Shape 16"/>
          <p:cNvSpPr/>
          <p:nvPr/>
        </p:nvSpPr>
        <p:spPr>
          <a:xfrm>
            <a:off x="460375" y="4286250"/>
            <a:ext cx="31750" cy="857250"/>
          </a:xfrm>
          <a:custGeom>
            <a:avLst/>
            <a:gdLst/>
            <a:ahLst/>
            <a:cxnLst/>
            <a:rect l="l" t="t" r="r" b="b"/>
            <a:pathLst>
              <a:path w="31750" h="857250">
                <a:moveTo>
                  <a:pt x="0" y="0"/>
                </a:moveTo>
                <a:lnTo>
                  <a:pt x="31750" y="0"/>
                </a:lnTo>
                <a:lnTo>
                  <a:pt x="31750" y="857250"/>
                </a:lnTo>
                <a:lnTo>
                  <a:pt x="0" y="857250"/>
                </a:lnTo>
                <a:lnTo>
                  <a:pt x="0" y="0"/>
                </a:lnTo>
                <a:close/>
              </a:path>
            </a:pathLst>
          </a:custGeom>
          <a:solidFill>
            <a:srgbClr val="1E3A5F"/>
          </a:solidFill>
          <a:ln/>
        </p:spPr>
      </p:sp>
      <p:sp>
        <p:nvSpPr>
          <p:cNvPr id="19" name="Text 17"/>
          <p:cNvSpPr/>
          <p:nvPr/>
        </p:nvSpPr>
        <p:spPr>
          <a:xfrm>
            <a:off x="571500" y="43815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3. The Implementation Problem</a:t>
            </a:r>
            <a:endParaRPr lang="en-US" sz="1600" dirty="0"/>
          </a:p>
        </p:txBody>
      </p:sp>
      <p:sp>
        <p:nvSpPr>
          <p:cNvPr id="20" name="Text 18"/>
          <p:cNvSpPr/>
          <p:nvPr/>
        </p:nvSpPr>
        <p:spPr>
          <a:xfrm>
            <a:off x="571500" y="463550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An intervention's measured impact is always </a:t>
            </a:r>
            <a:pPr>
              <a:lnSpc>
                <a:spcPct val="140000"/>
              </a:lnSpc>
            </a:pPr>
            <a:r>
              <a:rPr lang="en-US" sz="1000" b="1" dirty="0">
                <a:solidFill>
                  <a:srgbClr val="2D3436"/>
                </a:solidFill>
                <a:latin typeface="MiSans" pitchFamily="34" charset="0"/>
                <a:ea typeface="MiSans" pitchFamily="34" charset="-122"/>
                <a:cs typeface="MiSans" pitchFamily="34" charset="-120"/>
              </a:rPr>
              <a:t>confounded with implementation quality</a:t>
            </a:r>
            <a:pPr>
              <a:lnSpc>
                <a:spcPct val="140000"/>
              </a:lnSpc>
            </a:pPr>
            <a:r>
              <a:rPr lang="en-US" sz="1000" dirty="0">
                <a:solidFill>
                  <a:srgbClr val="2D3436"/>
                </a:solidFill>
                <a:latin typeface="MiSans" pitchFamily="34" charset="0"/>
                <a:ea typeface="MiSans" pitchFamily="34" charset="-122"/>
                <a:cs typeface="MiSans" pitchFamily="34" charset="-120"/>
              </a:rPr>
              <a:t>, making it difficult to distinguish between ineffective interventions and poor delivery.</a:t>
            </a:r>
            <a:endParaRPr lang="en-US" sz="1600" dirty="0"/>
          </a:p>
        </p:txBody>
      </p:sp>
      <p:sp>
        <p:nvSpPr>
          <p:cNvPr id="21" name="Shape 19"/>
          <p:cNvSpPr/>
          <p:nvPr/>
        </p:nvSpPr>
        <p:spPr>
          <a:xfrm>
            <a:off x="6159500" y="889000"/>
            <a:ext cx="5715000" cy="3333750"/>
          </a:xfrm>
          <a:custGeom>
            <a:avLst/>
            <a:gdLst/>
            <a:ahLst/>
            <a:cxnLst/>
            <a:rect l="l" t="t" r="r" b="b"/>
            <a:pathLst>
              <a:path w="5715000" h="3333750">
                <a:moveTo>
                  <a:pt x="0" y="0"/>
                </a:moveTo>
                <a:lnTo>
                  <a:pt x="5715000" y="0"/>
                </a:lnTo>
                <a:lnTo>
                  <a:pt x="5715000" y="3333750"/>
                </a:lnTo>
                <a:lnTo>
                  <a:pt x="0" y="3333750"/>
                </a:lnTo>
                <a:lnTo>
                  <a:pt x="0" y="0"/>
                </a:lnTo>
                <a:close/>
              </a:path>
            </a:pathLst>
          </a:custGeom>
          <a:solidFill>
            <a:srgbClr val="1E3A5F"/>
          </a:solidFill>
          <a:ln/>
        </p:spPr>
      </p:sp>
      <p:sp>
        <p:nvSpPr>
          <p:cNvPr id="22" name="Text 20"/>
          <p:cNvSpPr/>
          <p:nvPr/>
        </p:nvSpPr>
        <p:spPr>
          <a:xfrm>
            <a:off x="6286500" y="1016000"/>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How the MPI Addresses These Complexities</a:t>
            </a:r>
            <a:endParaRPr lang="en-US" sz="1600" dirty="0"/>
          </a:p>
        </p:txBody>
      </p:sp>
      <p:sp>
        <p:nvSpPr>
          <p:cNvPr id="23" name="Shape 21"/>
          <p:cNvSpPr/>
          <p:nvPr/>
        </p:nvSpPr>
        <p:spPr>
          <a:xfrm>
            <a:off x="6286500" y="1333500"/>
            <a:ext cx="5461000" cy="857250"/>
          </a:xfrm>
          <a:custGeom>
            <a:avLst/>
            <a:gdLst/>
            <a:ahLst/>
            <a:cxnLst/>
            <a:rect l="l" t="t" r="r" b="b"/>
            <a:pathLst>
              <a:path w="5461000" h="857250">
                <a:moveTo>
                  <a:pt x="0" y="0"/>
                </a:moveTo>
                <a:lnTo>
                  <a:pt x="5461000" y="0"/>
                </a:lnTo>
                <a:lnTo>
                  <a:pt x="5461000" y="857250"/>
                </a:lnTo>
                <a:lnTo>
                  <a:pt x="0" y="857250"/>
                </a:lnTo>
                <a:lnTo>
                  <a:pt x="0" y="0"/>
                </a:lnTo>
                <a:close/>
              </a:path>
            </a:pathLst>
          </a:custGeom>
          <a:solidFill>
            <a:srgbClr val="F8F9FA">
              <a:alpha val="10196"/>
            </a:srgbClr>
          </a:solidFill>
          <a:ln/>
        </p:spPr>
      </p:sp>
      <p:sp>
        <p:nvSpPr>
          <p:cNvPr id="24" name="Text 22"/>
          <p:cNvSpPr/>
          <p:nvPr/>
        </p:nvSpPr>
        <p:spPr>
          <a:xfrm>
            <a:off x="6381750" y="1428750"/>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Fidelity Standards (Ch. 11)</a:t>
            </a:r>
            <a:endParaRPr lang="en-US" sz="1600" dirty="0"/>
          </a:p>
        </p:txBody>
      </p:sp>
      <p:sp>
        <p:nvSpPr>
          <p:cNvPr id="25" name="Text 23"/>
          <p:cNvSpPr/>
          <p:nvPr/>
        </p:nvSpPr>
        <p:spPr>
          <a:xfrm>
            <a:off x="6381750" y="1682750"/>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Address the implementation problem by defining what counts as valid programme delivery and excluding schools where implementation was insufficient.</a:t>
            </a:r>
            <a:endParaRPr lang="en-US" sz="1600" dirty="0"/>
          </a:p>
        </p:txBody>
      </p:sp>
      <p:sp>
        <p:nvSpPr>
          <p:cNvPr id="26" name="Shape 24"/>
          <p:cNvSpPr/>
          <p:nvPr/>
        </p:nvSpPr>
        <p:spPr>
          <a:xfrm>
            <a:off x="6286500" y="2286000"/>
            <a:ext cx="5461000" cy="857250"/>
          </a:xfrm>
          <a:custGeom>
            <a:avLst/>
            <a:gdLst/>
            <a:ahLst/>
            <a:cxnLst/>
            <a:rect l="l" t="t" r="r" b="b"/>
            <a:pathLst>
              <a:path w="5461000" h="857250">
                <a:moveTo>
                  <a:pt x="0" y="0"/>
                </a:moveTo>
                <a:lnTo>
                  <a:pt x="5461000" y="0"/>
                </a:lnTo>
                <a:lnTo>
                  <a:pt x="5461000" y="857250"/>
                </a:lnTo>
                <a:lnTo>
                  <a:pt x="0" y="857250"/>
                </a:lnTo>
                <a:lnTo>
                  <a:pt x="0" y="0"/>
                </a:lnTo>
                <a:close/>
              </a:path>
            </a:pathLst>
          </a:custGeom>
          <a:solidFill>
            <a:srgbClr val="F8F9FA">
              <a:alpha val="10196"/>
            </a:srgbClr>
          </a:solidFill>
          <a:ln/>
        </p:spPr>
      </p:sp>
      <p:sp>
        <p:nvSpPr>
          <p:cNvPr id="27" name="Text 25"/>
          <p:cNvSpPr/>
          <p:nvPr/>
        </p:nvSpPr>
        <p:spPr>
          <a:xfrm>
            <a:off x="6381750" y="2381250"/>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Propensity Score Matching</a:t>
            </a:r>
            <a:endParaRPr lang="en-US" sz="1600" dirty="0"/>
          </a:p>
        </p:txBody>
      </p:sp>
      <p:sp>
        <p:nvSpPr>
          <p:cNvPr id="28" name="Text 26"/>
          <p:cNvSpPr/>
          <p:nvPr/>
        </p:nvSpPr>
        <p:spPr>
          <a:xfrm>
            <a:off x="6381750" y="2635250"/>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Addresses the baseline problem by constructing comparison groups that are statistically similar to MPI schools on key characteristics.</a:t>
            </a:r>
            <a:endParaRPr lang="en-US" sz="1600" dirty="0"/>
          </a:p>
        </p:txBody>
      </p:sp>
      <p:sp>
        <p:nvSpPr>
          <p:cNvPr id="29" name="Shape 27"/>
          <p:cNvSpPr/>
          <p:nvPr/>
        </p:nvSpPr>
        <p:spPr>
          <a:xfrm>
            <a:off x="6286500" y="3238500"/>
            <a:ext cx="5461000" cy="857250"/>
          </a:xfrm>
          <a:custGeom>
            <a:avLst/>
            <a:gdLst/>
            <a:ahLst/>
            <a:cxnLst/>
            <a:rect l="l" t="t" r="r" b="b"/>
            <a:pathLst>
              <a:path w="5461000" h="857250">
                <a:moveTo>
                  <a:pt x="0" y="0"/>
                </a:moveTo>
                <a:lnTo>
                  <a:pt x="5461000" y="0"/>
                </a:lnTo>
                <a:lnTo>
                  <a:pt x="5461000" y="857250"/>
                </a:lnTo>
                <a:lnTo>
                  <a:pt x="0" y="857250"/>
                </a:lnTo>
                <a:lnTo>
                  <a:pt x="0" y="0"/>
                </a:lnTo>
                <a:close/>
              </a:path>
            </a:pathLst>
          </a:custGeom>
          <a:solidFill>
            <a:srgbClr val="F8F9FA">
              <a:alpha val="10196"/>
            </a:srgbClr>
          </a:solidFill>
          <a:ln/>
        </p:spPr>
      </p:sp>
      <p:sp>
        <p:nvSpPr>
          <p:cNvPr id="30" name="Text 28"/>
          <p:cNvSpPr/>
          <p:nvPr/>
        </p:nvSpPr>
        <p:spPr>
          <a:xfrm>
            <a:off x="6381750" y="3333750"/>
            <a:ext cx="5334000" cy="190500"/>
          </a:xfrm>
          <a:prstGeom prst="rect">
            <a:avLst/>
          </a:prstGeom>
          <a:noFill/>
          <a:ln/>
        </p:spPr>
        <p:txBody>
          <a:bodyPr wrap="square" lIns="0" tIns="0" rIns="0" bIns="0" rtlCol="0" anchor="ctr"/>
          <a:lstStyle/>
          <a:p>
            <a:pPr>
              <a:lnSpc>
                <a:spcPct val="130000"/>
              </a:lnSpc>
            </a:pPr>
            <a:r>
              <a:rPr lang="en-US" sz="1000" b="1" dirty="0">
                <a:solidFill>
                  <a:srgbClr val="C49A2C"/>
                </a:solidFill>
                <a:latin typeface="MiSans" pitchFamily="34" charset="0"/>
                <a:ea typeface="MiSans" pitchFamily="34" charset="-122"/>
                <a:cs typeface="MiSans" pitchFamily="34" charset="-120"/>
              </a:rPr>
              <a:t>Explicit Documentation</a:t>
            </a:r>
            <a:endParaRPr lang="en-US" sz="1600" dirty="0"/>
          </a:p>
        </p:txBody>
      </p:sp>
      <p:sp>
        <p:nvSpPr>
          <p:cNvPr id="31" name="Text 29"/>
          <p:cNvSpPr/>
          <p:nvPr/>
        </p:nvSpPr>
        <p:spPr>
          <a:xfrm>
            <a:off x="6381750" y="3587750"/>
            <a:ext cx="5334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Addresses the attribution problem by documenting implementation quality and acknowledging the limits of what can be claimed.</a:t>
            </a:r>
            <a:endParaRPr lang="en-US" sz="1600" dirty="0"/>
          </a:p>
        </p:txBody>
      </p:sp>
      <p:sp>
        <p:nvSpPr>
          <p:cNvPr id="32" name="Shape 30"/>
          <p:cNvSpPr/>
          <p:nvPr/>
        </p:nvSpPr>
        <p:spPr>
          <a:xfrm>
            <a:off x="6175375" y="4318000"/>
            <a:ext cx="5699125" cy="873125"/>
          </a:xfrm>
          <a:custGeom>
            <a:avLst/>
            <a:gdLst/>
            <a:ahLst/>
            <a:cxnLst/>
            <a:rect l="l" t="t" r="r" b="b"/>
            <a:pathLst>
              <a:path w="5699125" h="873125">
                <a:moveTo>
                  <a:pt x="0" y="0"/>
                </a:moveTo>
                <a:lnTo>
                  <a:pt x="5699125" y="0"/>
                </a:lnTo>
                <a:lnTo>
                  <a:pt x="5699125" y="873125"/>
                </a:lnTo>
                <a:lnTo>
                  <a:pt x="0" y="873125"/>
                </a:lnTo>
                <a:lnTo>
                  <a:pt x="0" y="0"/>
                </a:lnTo>
                <a:close/>
              </a:path>
            </a:pathLst>
          </a:custGeom>
          <a:solidFill>
            <a:srgbClr val="C49A2C">
              <a:alpha val="10196"/>
            </a:srgbClr>
          </a:solidFill>
          <a:ln/>
        </p:spPr>
      </p:sp>
      <p:sp>
        <p:nvSpPr>
          <p:cNvPr id="33" name="Shape 31"/>
          <p:cNvSpPr/>
          <p:nvPr/>
        </p:nvSpPr>
        <p:spPr>
          <a:xfrm>
            <a:off x="6175375" y="4318000"/>
            <a:ext cx="31750" cy="873125"/>
          </a:xfrm>
          <a:custGeom>
            <a:avLst/>
            <a:gdLst/>
            <a:ahLst/>
            <a:cxnLst/>
            <a:rect l="l" t="t" r="r" b="b"/>
            <a:pathLst>
              <a:path w="31750" h="873125">
                <a:moveTo>
                  <a:pt x="0" y="0"/>
                </a:moveTo>
                <a:lnTo>
                  <a:pt x="31750" y="0"/>
                </a:lnTo>
                <a:lnTo>
                  <a:pt x="31750" y="873125"/>
                </a:lnTo>
                <a:lnTo>
                  <a:pt x="0" y="873125"/>
                </a:lnTo>
                <a:lnTo>
                  <a:pt x="0" y="0"/>
                </a:lnTo>
                <a:close/>
              </a:path>
            </a:pathLst>
          </a:custGeom>
          <a:solidFill>
            <a:srgbClr val="C49A2C"/>
          </a:solidFill>
          <a:ln/>
        </p:spPr>
      </p:sp>
      <p:sp>
        <p:nvSpPr>
          <p:cNvPr id="34" name="Shape 32"/>
          <p:cNvSpPr/>
          <p:nvPr/>
        </p:nvSpPr>
        <p:spPr>
          <a:xfrm>
            <a:off x="6334125" y="4488656"/>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63500" y="33734"/>
                </a:moveTo>
                <a:cubicBezTo>
                  <a:pt x="66799" y="33734"/>
                  <a:pt x="69453" y="36388"/>
                  <a:pt x="69453" y="39688"/>
                </a:cubicBezTo>
                <a:lnTo>
                  <a:pt x="69453" y="67469"/>
                </a:lnTo>
                <a:cubicBezTo>
                  <a:pt x="69453" y="70768"/>
                  <a:pt x="66799" y="73422"/>
                  <a:pt x="63500" y="73422"/>
                </a:cubicBezTo>
                <a:cubicBezTo>
                  <a:pt x="60201" y="73422"/>
                  <a:pt x="57547" y="70768"/>
                  <a:pt x="57547" y="67469"/>
                </a:cubicBezTo>
                <a:lnTo>
                  <a:pt x="57547" y="39688"/>
                </a:lnTo>
                <a:cubicBezTo>
                  <a:pt x="57547" y="36388"/>
                  <a:pt x="60201" y="33734"/>
                  <a:pt x="63500" y="33734"/>
                </a:cubicBezTo>
                <a:close/>
                <a:moveTo>
                  <a:pt x="56877" y="87313"/>
                </a:moveTo>
                <a:cubicBezTo>
                  <a:pt x="56726" y="84854"/>
                  <a:pt x="57952" y="82515"/>
                  <a:pt x="60060" y="81241"/>
                </a:cubicBezTo>
                <a:cubicBezTo>
                  <a:pt x="62167" y="79966"/>
                  <a:pt x="64808" y="79966"/>
                  <a:pt x="66915" y="81241"/>
                </a:cubicBezTo>
                <a:cubicBezTo>
                  <a:pt x="69023" y="82515"/>
                  <a:pt x="70249" y="84854"/>
                  <a:pt x="70098" y="87313"/>
                </a:cubicBezTo>
                <a:cubicBezTo>
                  <a:pt x="70249" y="89771"/>
                  <a:pt x="69023" y="92110"/>
                  <a:pt x="66915" y="93384"/>
                </a:cubicBezTo>
                <a:cubicBezTo>
                  <a:pt x="64808" y="94659"/>
                  <a:pt x="62167" y="94659"/>
                  <a:pt x="60060" y="93384"/>
                </a:cubicBezTo>
                <a:cubicBezTo>
                  <a:pt x="57952" y="92110"/>
                  <a:pt x="56726" y="89771"/>
                  <a:pt x="56877" y="87313"/>
                </a:cubicBezTo>
                <a:close/>
              </a:path>
            </a:pathLst>
          </a:custGeom>
          <a:solidFill>
            <a:srgbClr val="C49A2C"/>
          </a:solidFill>
          <a:ln/>
        </p:spPr>
      </p:sp>
      <p:sp>
        <p:nvSpPr>
          <p:cNvPr id="35" name="Text 33"/>
          <p:cNvSpPr/>
          <p:nvPr/>
        </p:nvSpPr>
        <p:spPr>
          <a:xfrm>
            <a:off x="6516688" y="4445000"/>
            <a:ext cx="5294313" cy="619125"/>
          </a:xfrm>
          <a:prstGeom prst="rect">
            <a:avLst/>
          </a:prstGeom>
          <a:noFill/>
          <a:ln/>
        </p:spPr>
        <p:txBody>
          <a:bodyPr wrap="square" lIns="0" tIns="0" rIns="0" bIns="0" rtlCol="0" anchor="ctr"/>
          <a:lstStyle/>
          <a:p>
            <a:pPr>
              <a:lnSpc>
                <a:spcPct val="140000"/>
              </a:lnSpc>
            </a:pPr>
            <a:r>
              <a:rPr lang="en-US" sz="1000" b="1" dirty="0">
                <a:solidFill>
                  <a:srgbClr val="1E3A5F"/>
                </a:solidFill>
                <a:latin typeface="MiSans" pitchFamily="34" charset="0"/>
                <a:ea typeface="MiSans" pitchFamily="34" charset="-122"/>
                <a:cs typeface="MiSans" pitchFamily="34" charset="-120"/>
              </a:rPr>
              <a:t>Professional Standard:</a:t>
            </a:r>
            <a:pPr>
              <a:lnSpc>
                <a:spcPct val="140000"/>
              </a:lnSpc>
            </a:pPr>
            <a:r>
              <a:rPr lang="en-US" sz="1000" dirty="0">
                <a:solidFill>
                  <a:srgbClr val="1E3A5F"/>
                </a:solidFill>
                <a:latin typeface="MiSans" pitchFamily="34" charset="0"/>
                <a:ea typeface="MiSans" pitchFamily="34" charset="-122"/>
                <a:cs typeface="MiSans" pitchFamily="34" charset="-120"/>
              </a:rPr>
              <a:t> These are not perfect solutions. They are the best available solutions, and they should be communicated to clients with </a:t>
            </a:r>
            <a:pPr>
              <a:lnSpc>
                <a:spcPct val="140000"/>
              </a:lnSpc>
            </a:pPr>
            <a:r>
              <a:rPr lang="en-US" sz="1000" b="1" dirty="0">
                <a:solidFill>
                  <a:srgbClr val="1E3A5F"/>
                </a:solidFill>
                <a:latin typeface="MiSans" pitchFamily="34" charset="0"/>
                <a:ea typeface="MiSans" pitchFamily="34" charset="-122"/>
                <a:cs typeface="MiSans" pitchFamily="34" charset="-120"/>
              </a:rPr>
              <a:t>appropriate humility about the limits of educational measurement</a:t>
            </a:r>
            <a:pPr>
              <a:lnSpc>
                <a:spcPct val="140000"/>
              </a:lnSpc>
            </a:pPr>
            <a:r>
              <a:rPr lang="en-US" sz="1000" dirty="0">
                <a:solidFill>
                  <a:srgbClr val="1E3A5F"/>
                </a:solidFill>
                <a:latin typeface="MiSans" pitchFamily="34" charset="0"/>
                <a:ea typeface="MiSans" pitchFamily="34" charset="-122"/>
                <a:cs typeface="MiSans" pitchFamily="34" charset="-120"/>
              </a:rPr>
              <a:t>.</a:t>
            </a:r>
            <a:endParaRPr lang="en-US" sz="1600" dirty="0"/>
          </a:p>
        </p:txBody>
      </p:sp>
      <p:sp>
        <p:nvSpPr>
          <p:cNvPr id="36" name="Shape 34"/>
          <p:cNvSpPr/>
          <p:nvPr/>
        </p:nvSpPr>
        <p:spPr>
          <a:xfrm>
            <a:off x="6159500" y="5302250"/>
            <a:ext cx="5715000" cy="1793875"/>
          </a:xfrm>
          <a:custGeom>
            <a:avLst/>
            <a:gdLst/>
            <a:ahLst/>
            <a:cxnLst/>
            <a:rect l="l" t="t" r="r" b="b"/>
            <a:pathLst>
              <a:path w="5715000" h="1793875">
                <a:moveTo>
                  <a:pt x="0" y="0"/>
                </a:moveTo>
                <a:lnTo>
                  <a:pt x="5715000" y="0"/>
                </a:lnTo>
                <a:lnTo>
                  <a:pt x="5715000" y="1793875"/>
                </a:lnTo>
                <a:lnTo>
                  <a:pt x="0" y="1793875"/>
                </a:lnTo>
                <a:lnTo>
                  <a:pt x="0" y="0"/>
                </a:lnTo>
                <a:close/>
              </a:path>
            </a:pathLst>
          </a:custGeom>
          <a:solidFill>
            <a:srgbClr val="FFFFFF"/>
          </a:solidFill>
          <a:ln/>
        </p:spPr>
      </p:sp>
      <p:sp>
        <p:nvSpPr>
          <p:cNvPr id="37" name="Shape 35"/>
          <p:cNvSpPr/>
          <p:nvPr/>
        </p:nvSpPr>
        <p:spPr>
          <a:xfrm>
            <a:off x="6159500" y="5302250"/>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38" name="Text 36"/>
          <p:cNvSpPr/>
          <p:nvPr/>
        </p:nvSpPr>
        <p:spPr>
          <a:xfrm>
            <a:off x="6286500" y="5445125"/>
            <a:ext cx="5532438" cy="222250"/>
          </a:xfrm>
          <a:prstGeom prst="rect">
            <a:avLst/>
          </a:prstGeom>
          <a:noFill/>
          <a:ln/>
        </p:spPr>
        <p:txBody>
          <a:bodyPr wrap="square" lIns="0" tIns="0" rIns="0" bIns="0" rtlCol="0" anchor="ctr"/>
          <a:lstStyle/>
          <a:p>
            <a:pPr>
              <a:lnSpc>
                <a:spcPct val="130000"/>
              </a:lnSpc>
            </a:pPr>
            <a:r>
              <a:rPr lang="en-US" sz="1125" b="1" dirty="0">
                <a:solidFill>
                  <a:srgbClr val="1E3A5F"/>
                </a:solidFill>
                <a:latin typeface="MiSans" pitchFamily="34" charset="0"/>
                <a:ea typeface="MiSans" pitchFamily="34" charset="-122"/>
                <a:cs typeface="MiSans" pitchFamily="34" charset="-120"/>
              </a:rPr>
              <a:t>A Sentence That Is Technically Correct</a:t>
            </a:r>
            <a:endParaRPr lang="en-US" sz="1600" dirty="0"/>
          </a:p>
        </p:txBody>
      </p:sp>
      <p:sp>
        <p:nvSpPr>
          <p:cNvPr id="39" name="Shape 37"/>
          <p:cNvSpPr/>
          <p:nvPr/>
        </p:nvSpPr>
        <p:spPr>
          <a:xfrm>
            <a:off x="6302375" y="5730875"/>
            <a:ext cx="5445125" cy="1016000"/>
          </a:xfrm>
          <a:custGeom>
            <a:avLst/>
            <a:gdLst/>
            <a:ahLst/>
            <a:cxnLst/>
            <a:rect l="l" t="t" r="r" b="b"/>
            <a:pathLst>
              <a:path w="5445125" h="1016000">
                <a:moveTo>
                  <a:pt x="0" y="0"/>
                </a:moveTo>
                <a:lnTo>
                  <a:pt x="5445125" y="0"/>
                </a:lnTo>
                <a:lnTo>
                  <a:pt x="5445125" y="1016000"/>
                </a:lnTo>
                <a:lnTo>
                  <a:pt x="0" y="1016000"/>
                </a:lnTo>
                <a:lnTo>
                  <a:pt x="0" y="0"/>
                </a:lnTo>
                <a:close/>
              </a:path>
            </a:pathLst>
          </a:custGeom>
          <a:solidFill>
            <a:srgbClr val="F8F9FA"/>
          </a:solidFill>
          <a:ln/>
        </p:spPr>
      </p:sp>
      <p:sp>
        <p:nvSpPr>
          <p:cNvPr id="40" name="Shape 38"/>
          <p:cNvSpPr/>
          <p:nvPr/>
        </p:nvSpPr>
        <p:spPr>
          <a:xfrm>
            <a:off x="6302375" y="5730875"/>
            <a:ext cx="31750" cy="1016000"/>
          </a:xfrm>
          <a:custGeom>
            <a:avLst/>
            <a:gdLst/>
            <a:ahLst/>
            <a:cxnLst/>
            <a:rect l="l" t="t" r="r" b="b"/>
            <a:pathLst>
              <a:path w="31750" h="1016000">
                <a:moveTo>
                  <a:pt x="0" y="0"/>
                </a:moveTo>
                <a:lnTo>
                  <a:pt x="31750" y="0"/>
                </a:lnTo>
                <a:lnTo>
                  <a:pt x="31750" y="1016000"/>
                </a:lnTo>
                <a:lnTo>
                  <a:pt x="0" y="1016000"/>
                </a:lnTo>
                <a:lnTo>
                  <a:pt x="0" y="0"/>
                </a:lnTo>
                <a:close/>
              </a:path>
            </a:pathLst>
          </a:custGeom>
          <a:solidFill>
            <a:srgbClr val="C49A2C"/>
          </a:solidFill>
          <a:ln/>
        </p:spPr>
      </p:sp>
      <p:sp>
        <p:nvSpPr>
          <p:cNvPr id="41" name="Text 39"/>
          <p:cNvSpPr/>
          <p:nvPr/>
        </p:nvSpPr>
        <p:spPr>
          <a:xfrm>
            <a:off x="6413500" y="5826125"/>
            <a:ext cx="5302250" cy="825500"/>
          </a:xfrm>
          <a:prstGeom prst="rect">
            <a:avLst/>
          </a:prstGeom>
          <a:noFill/>
          <a:ln/>
        </p:spPr>
        <p:txBody>
          <a:bodyPr wrap="square" lIns="0" tIns="0" rIns="0" bIns="0" rtlCol="0" anchor="ctr"/>
          <a:lstStyle/>
          <a:p>
            <a:pPr>
              <a:lnSpc>
                <a:spcPct val="140000"/>
              </a:lnSpc>
            </a:pPr>
            <a:r>
              <a:rPr lang="en-US" sz="1000" dirty="0">
                <a:solidFill>
                  <a:srgbClr val="1E3A5F"/>
                </a:solidFill>
                <a:latin typeface="MiSans" pitchFamily="34" charset="0"/>
                <a:ea typeface="MiSans" pitchFamily="34" charset="-122"/>
                <a:cs typeface="MiSans" pitchFamily="34" charset="-120"/>
              </a:rPr>
              <a:t>"The epistemological status of programme impact claims is necessarily provisional, contingent upon the fidelity of implementation, the validity of the comparison group construction, and the assumption that the effect size metric captures the relevant dimensions of educational improvement."</a:t>
            </a:r>
            <a:endParaRPr lang="en-US" sz="1600" dirty="0"/>
          </a:p>
        </p:txBody>
      </p:sp>
      <p:sp>
        <p:nvSpPr>
          <p:cNvPr id="42" name="Text 40"/>
          <p:cNvSpPr/>
          <p:nvPr/>
        </p:nvSpPr>
        <p:spPr>
          <a:xfrm>
            <a:off x="6286500" y="6810375"/>
            <a:ext cx="5516563" cy="158750"/>
          </a:xfrm>
          <a:prstGeom prst="rect">
            <a:avLst/>
          </a:prstGeom>
          <a:noFill/>
          <a:ln/>
        </p:spPr>
        <p:txBody>
          <a:bodyPr wrap="square" lIns="0" tIns="0" rIns="0" bIns="0" rtlCol="0" anchor="ctr"/>
          <a:lstStyle/>
          <a:p>
            <a:pPr>
              <a:lnSpc>
                <a:spcPct val="120000"/>
              </a:lnSpc>
            </a:pPr>
            <a:r>
              <a:rPr lang="en-US" sz="875" dirty="0">
                <a:solidFill>
                  <a:srgbClr val="6C757D"/>
                </a:solidFill>
                <a:latin typeface="MiSans" pitchFamily="34" charset="0"/>
                <a:ea typeface="MiSans" pitchFamily="34" charset="-122"/>
                <a:cs typeface="MiSans" pitchFamily="34" charset="-120"/>
              </a:rPr>
              <a:t>This sentence is technically correct and completely incomprehensible without a postgraduate education.</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4627563"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The Problem of Implementation Fidelity</a:t>
            </a:r>
            <a:endParaRPr lang="en-US" sz="1600" dirty="0"/>
          </a:p>
        </p:txBody>
      </p:sp>
      <p:sp>
        <p:nvSpPr>
          <p:cNvPr id="4" name="Shape 2"/>
          <p:cNvSpPr/>
          <p:nvPr/>
        </p:nvSpPr>
        <p:spPr>
          <a:xfrm>
            <a:off x="317500" y="841375"/>
            <a:ext cx="5715000" cy="1857375"/>
          </a:xfrm>
          <a:custGeom>
            <a:avLst/>
            <a:gdLst/>
            <a:ahLst/>
            <a:cxnLst/>
            <a:rect l="l" t="t" r="r" b="b"/>
            <a:pathLst>
              <a:path w="5715000" h="1857375">
                <a:moveTo>
                  <a:pt x="0" y="0"/>
                </a:moveTo>
                <a:lnTo>
                  <a:pt x="5715000" y="0"/>
                </a:lnTo>
                <a:lnTo>
                  <a:pt x="5715000" y="1857375"/>
                </a:lnTo>
                <a:lnTo>
                  <a:pt x="0" y="1857375"/>
                </a:lnTo>
                <a:lnTo>
                  <a:pt x="0" y="0"/>
                </a:lnTo>
                <a:close/>
              </a:path>
            </a:pathLst>
          </a:custGeom>
          <a:solidFill>
            <a:srgbClr val="FFFFFF"/>
          </a:solidFill>
          <a:ln/>
        </p:spPr>
      </p:sp>
      <p:sp>
        <p:nvSpPr>
          <p:cNvPr id="5" name="Shape 3"/>
          <p:cNvSpPr/>
          <p:nvPr/>
        </p:nvSpPr>
        <p:spPr>
          <a:xfrm>
            <a:off x="317500" y="8413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6" name="Text 4"/>
          <p:cNvSpPr/>
          <p:nvPr/>
        </p:nvSpPr>
        <p:spPr>
          <a:xfrm>
            <a:off x="412750" y="952500"/>
            <a:ext cx="56038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A Logical Necessity</a:t>
            </a:r>
            <a:endParaRPr lang="en-US" sz="1600" dirty="0"/>
          </a:p>
        </p:txBody>
      </p:sp>
      <p:sp>
        <p:nvSpPr>
          <p:cNvPr id="7" name="Text 5"/>
          <p:cNvSpPr/>
          <p:nvPr/>
        </p:nvSpPr>
        <p:spPr>
          <a:xfrm>
            <a:off x="412750" y="1238250"/>
            <a:ext cx="55880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programme's impact cannot be measured in settings where the programme was </a:t>
            </a:r>
            <a:pPr>
              <a:lnSpc>
                <a:spcPct val="140000"/>
              </a:lnSpc>
            </a:pPr>
            <a:r>
              <a:rPr lang="en-US" sz="1000" b="1" dirty="0">
                <a:solidFill>
                  <a:srgbClr val="2D3436"/>
                </a:solidFill>
                <a:latin typeface="MiSans" pitchFamily="34" charset="0"/>
                <a:ea typeface="MiSans" pitchFamily="34" charset="-122"/>
                <a:cs typeface="MiSans" pitchFamily="34" charset="-120"/>
              </a:rPr>
              <a:t>not properly implemented</a:t>
            </a:r>
            <a:pPr>
              <a:lnSpc>
                <a:spcPct val="140000"/>
              </a:lnSpc>
            </a:pPr>
            <a:r>
              <a:rPr lang="en-US" sz="1000" dirty="0">
                <a:solidFill>
                  <a:srgbClr val="2D3436"/>
                </a:solidFill>
                <a:latin typeface="MiSans" pitchFamily="34" charset="0"/>
                <a:ea typeface="MiSans" pitchFamily="34" charset="-122"/>
                <a:cs typeface="MiSans" pitchFamily="34" charset="-120"/>
              </a:rPr>
              <a:t> . This is not a methodological preference; </a:t>
            </a:r>
            <a:pPr>
              <a:lnSpc>
                <a:spcPct val="140000"/>
              </a:lnSpc>
            </a:pPr>
            <a:r>
              <a:rPr lang="en-US" sz="1000" dirty="0">
                <a:solidFill>
                  <a:srgbClr val="2D3436"/>
                </a:solidFill>
                <a:highlight>
                  <a:srgbClr val="C49A2C">
                    <a:alpha val="20000"/>
                  </a:srgbClr>
                </a:highlight>
                <a:latin typeface="MiSans" pitchFamily="34" charset="0"/>
                <a:ea typeface="MiSans" pitchFamily="34" charset="-122"/>
                <a:cs typeface="MiSans" pitchFamily="34" charset="-120"/>
              </a:rPr>
              <a:t>it is a logical necessity </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8" name="Text 6"/>
          <p:cNvSpPr/>
          <p:nvPr/>
        </p:nvSpPr>
        <p:spPr>
          <a:xfrm>
            <a:off x="412750" y="1714500"/>
            <a:ext cx="5588000" cy="82550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If a school adopted the MPI name but not the MPI practice — if it used some materials but not the formative assessment strand, or if coordinator capacity collapsed and implementation effectively ceased — then that school's outcomes </a:t>
            </a:r>
            <a:pPr>
              <a:lnSpc>
                <a:spcPct val="140000"/>
              </a:lnSpc>
            </a:pPr>
            <a:r>
              <a:rPr lang="en-US" sz="1000" b="1" dirty="0">
                <a:solidFill>
                  <a:srgbClr val="2D3436"/>
                </a:solidFill>
                <a:latin typeface="MiSans" pitchFamily="34" charset="0"/>
                <a:ea typeface="MiSans" pitchFamily="34" charset="-122"/>
                <a:cs typeface="MiSans" pitchFamily="34" charset="-120"/>
              </a:rPr>
              <a:t>cannot tell us anything reliable</a:t>
            </a:r>
            <a:pPr>
              <a:lnSpc>
                <a:spcPct val="140000"/>
              </a:lnSpc>
            </a:pPr>
            <a:r>
              <a:rPr lang="en-US" sz="1000" dirty="0">
                <a:solidFill>
                  <a:srgbClr val="2D3436"/>
                </a:solidFill>
                <a:latin typeface="MiSans" pitchFamily="34" charset="0"/>
                <a:ea typeface="MiSans" pitchFamily="34" charset="-122"/>
                <a:cs typeface="MiSans" pitchFamily="34" charset="-120"/>
              </a:rPr>
              <a:t> about what the MPI achieves when delivered well.</a:t>
            </a:r>
            <a:endParaRPr lang="en-US" sz="1600" dirty="0"/>
          </a:p>
        </p:txBody>
      </p:sp>
      <p:sp>
        <p:nvSpPr>
          <p:cNvPr id="9" name="Shape 7"/>
          <p:cNvSpPr/>
          <p:nvPr/>
        </p:nvSpPr>
        <p:spPr>
          <a:xfrm>
            <a:off x="317500" y="2794000"/>
            <a:ext cx="5715000" cy="2032000"/>
          </a:xfrm>
          <a:custGeom>
            <a:avLst/>
            <a:gdLst/>
            <a:ahLst/>
            <a:cxnLst/>
            <a:rect l="l" t="t" r="r" b="b"/>
            <a:pathLst>
              <a:path w="5715000" h="2032000">
                <a:moveTo>
                  <a:pt x="0" y="0"/>
                </a:moveTo>
                <a:lnTo>
                  <a:pt x="5715000" y="0"/>
                </a:lnTo>
                <a:lnTo>
                  <a:pt x="5715000" y="2032000"/>
                </a:lnTo>
                <a:lnTo>
                  <a:pt x="0" y="2032000"/>
                </a:lnTo>
                <a:lnTo>
                  <a:pt x="0" y="0"/>
                </a:lnTo>
                <a:close/>
              </a:path>
            </a:pathLst>
          </a:custGeom>
          <a:solidFill>
            <a:srgbClr val="1E3A5F"/>
          </a:solidFill>
          <a:ln/>
        </p:spPr>
      </p:sp>
      <p:sp>
        <p:nvSpPr>
          <p:cNvPr id="10" name="Text 8"/>
          <p:cNvSpPr/>
          <p:nvPr/>
        </p:nvSpPr>
        <p:spPr>
          <a:xfrm>
            <a:off x="412750" y="2889250"/>
            <a:ext cx="56038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The Fidelity Standards Solution</a:t>
            </a:r>
            <a:endParaRPr lang="en-US" sz="1600" dirty="0"/>
          </a:p>
        </p:txBody>
      </p:sp>
      <p:sp>
        <p:nvSpPr>
          <p:cNvPr id="11" name="Text 9"/>
          <p:cNvSpPr/>
          <p:nvPr/>
        </p:nvSpPr>
        <p:spPr>
          <a:xfrm>
            <a:off x="412750" y="3175000"/>
            <a:ext cx="55880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The MPI's </a:t>
            </a:r>
            <a:pPr>
              <a:lnSpc>
                <a:spcPct val="140000"/>
              </a:lnSpc>
            </a:pPr>
            <a:r>
              <a:rPr lang="en-US" sz="1000" b="1" dirty="0">
                <a:solidFill>
                  <a:srgbClr val="F8F9FA"/>
                </a:solidFill>
                <a:latin typeface="MiSans" pitchFamily="34" charset="0"/>
                <a:ea typeface="MiSans" pitchFamily="34" charset="-122"/>
                <a:cs typeface="MiSans" pitchFamily="34" charset="-120"/>
              </a:rPr>
              <a:t>fidelity standards</a:t>
            </a:r>
            <a:pPr>
              <a:lnSpc>
                <a:spcPct val="140000"/>
              </a:lnSpc>
            </a:pPr>
            <a:r>
              <a:rPr lang="en-US" sz="1000" dirty="0">
                <a:solidFill>
                  <a:srgbClr val="F8F9FA"/>
                </a:solidFill>
                <a:latin typeface="MiSans" pitchFamily="34" charset="0"/>
                <a:ea typeface="MiSans" pitchFamily="34" charset="-122"/>
                <a:cs typeface="MiSans" pitchFamily="34" charset="-120"/>
              </a:rPr>
              <a:t> , described in Chapter 11 of the Technical Handbook, are designed to:</a:t>
            </a:r>
            <a:endParaRPr lang="en-US" sz="1600" dirty="0"/>
          </a:p>
        </p:txBody>
      </p:sp>
      <p:sp>
        <p:nvSpPr>
          <p:cNvPr id="12" name="Shape 10"/>
          <p:cNvSpPr/>
          <p:nvPr/>
        </p:nvSpPr>
        <p:spPr>
          <a:xfrm>
            <a:off x="436563" y="3686969"/>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13" name="Text 11"/>
          <p:cNvSpPr/>
          <p:nvPr/>
        </p:nvSpPr>
        <p:spPr>
          <a:xfrm>
            <a:off x="611188" y="3651250"/>
            <a:ext cx="5389563" cy="190500"/>
          </a:xfrm>
          <a:prstGeom prst="rect">
            <a:avLst/>
          </a:prstGeom>
          <a:noFill/>
          <a:ln/>
        </p:spPr>
        <p:txBody>
          <a:bodyPr wrap="square" lIns="0" tIns="0" rIns="0" bIns="0" rtlCol="0" anchor="ctr"/>
          <a:lstStyle/>
          <a:p>
            <a:pPr>
              <a:lnSpc>
                <a:spcPct val="130000"/>
              </a:lnSpc>
            </a:pPr>
            <a:r>
              <a:rPr lang="en-US" sz="1000" dirty="0">
                <a:solidFill>
                  <a:srgbClr val="F8F9FA"/>
                </a:solidFill>
                <a:latin typeface="MiSans" pitchFamily="34" charset="0"/>
                <a:ea typeface="MiSans" pitchFamily="34" charset="-122"/>
                <a:cs typeface="MiSans" pitchFamily="34" charset="-120"/>
              </a:rPr>
              <a:t>Identify schools where implementation was </a:t>
            </a:r>
            <a:pPr>
              <a:lnSpc>
                <a:spcPct val="130000"/>
              </a:lnSpc>
            </a:pPr>
            <a:r>
              <a:rPr lang="en-US" sz="1000" b="1" dirty="0">
                <a:solidFill>
                  <a:srgbClr val="F8F9FA"/>
                </a:solidFill>
                <a:latin typeface="MiSans" pitchFamily="34" charset="0"/>
                <a:ea typeface="MiSans" pitchFamily="34" charset="-122"/>
                <a:cs typeface="MiSans" pitchFamily="34" charset="-120"/>
              </a:rPr>
              <a:t>sufficient to generate valid outcome data</a:t>
            </a:r>
            <a:endParaRPr lang="en-US" sz="1600" dirty="0"/>
          </a:p>
        </p:txBody>
      </p:sp>
      <p:sp>
        <p:nvSpPr>
          <p:cNvPr id="14" name="Shape 12"/>
          <p:cNvSpPr/>
          <p:nvPr/>
        </p:nvSpPr>
        <p:spPr>
          <a:xfrm>
            <a:off x="436563" y="3940969"/>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15" name="Text 13"/>
          <p:cNvSpPr/>
          <p:nvPr/>
        </p:nvSpPr>
        <p:spPr>
          <a:xfrm>
            <a:off x="611188" y="3905250"/>
            <a:ext cx="5389563" cy="381000"/>
          </a:xfrm>
          <a:prstGeom prst="rect">
            <a:avLst/>
          </a:prstGeom>
          <a:noFill/>
          <a:ln/>
        </p:spPr>
        <p:txBody>
          <a:bodyPr wrap="square" lIns="0" tIns="0" rIns="0" bIns="0" rtlCol="0" anchor="ctr"/>
          <a:lstStyle/>
          <a:p>
            <a:pPr>
              <a:lnSpc>
                <a:spcPct val="130000"/>
              </a:lnSpc>
            </a:pPr>
            <a:r>
              <a:rPr lang="en-US" sz="1000" dirty="0">
                <a:solidFill>
                  <a:srgbClr val="F8F9FA"/>
                </a:solidFill>
                <a:latin typeface="MiSans" pitchFamily="34" charset="0"/>
                <a:ea typeface="MiSans" pitchFamily="34" charset="-122"/>
                <a:cs typeface="MiSans" pitchFamily="34" charset="-120"/>
              </a:rPr>
              <a:t>Identify schools where implementation was </a:t>
            </a:r>
            <a:pPr>
              <a:lnSpc>
                <a:spcPct val="130000"/>
              </a:lnSpc>
            </a:pPr>
            <a:r>
              <a:rPr lang="en-US" sz="1000" b="1" dirty="0">
                <a:solidFill>
                  <a:srgbClr val="F8F9FA"/>
                </a:solidFill>
                <a:latin typeface="MiSans" pitchFamily="34" charset="0"/>
                <a:ea typeface="MiSans" pitchFamily="34" charset="-122"/>
                <a:cs typeface="MiSans" pitchFamily="34" charset="-120"/>
              </a:rPr>
              <a:t>not sufficient</a:t>
            </a:r>
            <a:pPr>
              <a:lnSpc>
                <a:spcPct val="130000"/>
              </a:lnSpc>
            </a:pPr>
            <a:r>
              <a:rPr lang="en-US" sz="1000" dirty="0">
                <a:solidFill>
                  <a:srgbClr val="F8F9FA"/>
                </a:solidFill>
                <a:latin typeface="MiSans" pitchFamily="34" charset="0"/>
                <a:ea typeface="MiSans" pitchFamily="34" charset="-122"/>
                <a:cs typeface="MiSans" pitchFamily="34" charset="-120"/>
              </a:rPr>
              <a:t> and exclude their data from impact calculations</a:t>
            </a:r>
            <a:endParaRPr lang="en-US" sz="1600" dirty="0"/>
          </a:p>
        </p:txBody>
      </p:sp>
      <p:sp>
        <p:nvSpPr>
          <p:cNvPr id="16" name="Shape 14"/>
          <p:cNvSpPr/>
          <p:nvPr/>
        </p:nvSpPr>
        <p:spPr>
          <a:xfrm>
            <a:off x="436563" y="4385469"/>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C49A2C"/>
          </a:solidFill>
          <a:ln/>
        </p:spPr>
      </p:sp>
      <p:sp>
        <p:nvSpPr>
          <p:cNvPr id="17" name="Text 15"/>
          <p:cNvSpPr/>
          <p:nvPr/>
        </p:nvSpPr>
        <p:spPr>
          <a:xfrm>
            <a:off x="611188" y="4349750"/>
            <a:ext cx="5389563" cy="381000"/>
          </a:xfrm>
          <a:prstGeom prst="rect">
            <a:avLst/>
          </a:prstGeom>
          <a:noFill/>
          <a:ln/>
        </p:spPr>
        <p:txBody>
          <a:bodyPr wrap="square" lIns="0" tIns="0" rIns="0" bIns="0" rtlCol="0" anchor="ctr"/>
          <a:lstStyle/>
          <a:p>
            <a:pPr>
              <a:lnSpc>
                <a:spcPct val="130000"/>
              </a:lnSpc>
            </a:pPr>
            <a:r>
              <a:rPr lang="en-US" sz="1000" dirty="0">
                <a:solidFill>
                  <a:srgbClr val="F8F9FA"/>
                </a:solidFill>
                <a:latin typeface="MiSans" pitchFamily="34" charset="0"/>
                <a:ea typeface="MiSans" pitchFamily="34" charset="-122"/>
                <a:cs typeface="MiSans" pitchFamily="34" charset="-120"/>
              </a:rPr>
              <a:t>Archive excluded data (not delete it) for </a:t>
            </a:r>
            <a:pPr>
              <a:lnSpc>
                <a:spcPct val="130000"/>
              </a:lnSpc>
            </a:pPr>
            <a:r>
              <a:rPr lang="en-US" sz="1000" b="1" dirty="0">
                <a:solidFill>
                  <a:srgbClr val="F8F9FA"/>
                </a:solidFill>
                <a:latin typeface="MiSans" pitchFamily="34" charset="0"/>
                <a:ea typeface="MiSans" pitchFamily="34" charset="-122"/>
                <a:cs typeface="MiSans" pitchFamily="34" charset="-120"/>
              </a:rPr>
              <a:t>potential future inclusion</a:t>
            </a:r>
            <a:pPr>
              <a:lnSpc>
                <a:spcPct val="130000"/>
              </a:lnSpc>
            </a:pPr>
            <a:r>
              <a:rPr lang="en-US" sz="1000" dirty="0">
                <a:solidFill>
                  <a:srgbClr val="F8F9FA"/>
                </a:solidFill>
                <a:latin typeface="MiSans" pitchFamily="34" charset="0"/>
                <a:ea typeface="MiSans" pitchFamily="34" charset="-122"/>
                <a:cs typeface="MiSans" pitchFamily="34" charset="-120"/>
              </a:rPr>
              <a:t> if implementation is remediated</a:t>
            </a:r>
            <a:endParaRPr lang="en-US" sz="1600" dirty="0"/>
          </a:p>
        </p:txBody>
      </p:sp>
      <p:sp>
        <p:nvSpPr>
          <p:cNvPr id="18" name="Shape 16"/>
          <p:cNvSpPr/>
          <p:nvPr/>
        </p:nvSpPr>
        <p:spPr>
          <a:xfrm>
            <a:off x="317500" y="4937125"/>
            <a:ext cx="5715000" cy="1317625"/>
          </a:xfrm>
          <a:custGeom>
            <a:avLst/>
            <a:gdLst/>
            <a:ahLst/>
            <a:cxnLst/>
            <a:rect l="l" t="t" r="r" b="b"/>
            <a:pathLst>
              <a:path w="5715000" h="1317625">
                <a:moveTo>
                  <a:pt x="0" y="0"/>
                </a:moveTo>
                <a:lnTo>
                  <a:pt x="5715000" y="0"/>
                </a:lnTo>
                <a:lnTo>
                  <a:pt x="5715000" y="1317625"/>
                </a:lnTo>
                <a:lnTo>
                  <a:pt x="0" y="1317625"/>
                </a:lnTo>
                <a:lnTo>
                  <a:pt x="0" y="0"/>
                </a:lnTo>
                <a:close/>
              </a:path>
            </a:pathLst>
          </a:custGeom>
          <a:solidFill>
            <a:srgbClr val="FFFFFF"/>
          </a:solidFill>
          <a:ln/>
        </p:spPr>
      </p:sp>
      <p:sp>
        <p:nvSpPr>
          <p:cNvPr id="19" name="Shape 17"/>
          <p:cNvSpPr/>
          <p:nvPr/>
        </p:nvSpPr>
        <p:spPr>
          <a:xfrm>
            <a:off x="317500" y="493712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20" name="Text 18"/>
          <p:cNvSpPr/>
          <p:nvPr/>
        </p:nvSpPr>
        <p:spPr>
          <a:xfrm>
            <a:off x="412750" y="5048250"/>
            <a:ext cx="5595938" cy="222250"/>
          </a:xfrm>
          <a:prstGeom prst="rect">
            <a:avLst/>
          </a:prstGeom>
          <a:noFill/>
          <a:ln/>
        </p:spPr>
        <p:txBody>
          <a:bodyPr wrap="square" lIns="0" tIns="0" rIns="0" bIns="0" rtlCol="0" anchor="ctr"/>
          <a:lstStyle/>
          <a:p>
            <a:pPr>
              <a:lnSpc>
                <a:spcPct val="130000"/>
              </a:lnSpc>
            </a:pPr>
            <a:r>
              <a:rPr lang="en-US" sz="1125" b="1" dirty="0">
                <a:solidFill>
                  <a:srgbClr val="1E3A5F"/>
                </a:solidFill>
                <a:latin typeface="MiSans" pitchFamily="34" charset="0"/>
                <a:ea typeface="MiSans" pitchFamily="34" charset="-122"/>
                <a:cs typeface="MiSans" pitchFamily="34" charset="-120"/>
              </a:rPr>
              <a:t>This Is a Legitimate Practice</a:t>
            </a:r>
            <a:endParaRPr lang="en-US" sz="1600" dirty="0"/>
          </a:p>
        </p:txBody>
      </p:sp>
      <p:sp>
        <p:nvSpPr>
          <p:cNvPr id="21" name="Text 19"/>
          <p:cNvSpPr/>
          <p:nvPr/>
        </p:nvSpPr>
        <p:spPr>
          <a:xfrm>
            <a:off x="412750" y="5334000"/>
            <a:ext cx="5588000" cy="82550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is a </a:t>
            </a:r>
            <a:pPr>
              <a:lnSpc>
                <a:spcPct val="140000"/>
              </a:lnSpc>
            </a:pPr>
            <a:r>
              <a:rPr lang="en-US" sz="1000" b="1" dirty="0">
                <a:solidFill>
                  <a:srgbClr val="2D3436"/>
                </a:solidFill>
                <a:latin typeface="MiSans" pitchFamily="34" charset="0"/>
                <a:ea typeface="MiSans" pitchFamily="34" charset="-122"/>
                <a:cs typeface="MiSans" pitchFamily="34" charset="-120"/>
              </a:rPr>
              <a:t>legitimate methodological practice</a:t>
            </a:r>
            <a:pPr>
              <a:lnSpc>
                <a:spcPct val="140000"/>
              </a:lnSpc>
            </a:pPr>
            <a:r>
              <a:rPr lang="en-US" sz="1000" dirty="0">
                <a:solidFill>
                  <a:srgbClr val="2D3436"/>
                </a:solidFill>
                <a:latin typeface="MiSans" pitchFamily="34" charset="0"/>
                <a:ea typeface="MiSans" pitchFamily="34" charset="-122"/>
                <a:cs typeface="MiSans" pitchFamily="34" charset="-120"/>
              </a:rPr>
              <a:t> . It is also one that requires careful application, because the line between 'insufficient fidelity' and 'the programme didn't work here' is not always clear, and the temptation to apply fidelity criteria selectively is a real risk that responsible analysts must guard against.</a:t>
            </a:r>
            <a:endParaRPr lang="en-US" sz="1600" dirty="0"/>
          </a:p>
        </p:txBody>
      </p:sp>
      <p:sp>
        <p:nvSpPr>
          <p:cNvPr id="22" name="Shape 20"/>
          <p:cNvSpPr/>
          <p:nvPr/>
        </p:nvSpPr>
        <p:spPr>
          <a:xfrm>
            <a:off x="6159500" y="841375"/>
            <a:ext cx="5715000" cy="3635375"/>
          </a:xfrm>
          <a:custGeom>
            <a:avLst/>
            <a:gdLst/>
            <a:ahLst/>
            <a:cxnLst/>
            <a:rect l="l" t="t" r="r" b="b"/>
            <a:pathLst>
              <a:path w="5715000" h="3635375">
                <a:moveTo>
                  <a:pt x="0" y="0"/>
                </a:moveTo>
                <a:lnTo>
                  <a:pt x="5715000" y="0"/>
                </a:lnTo>
                <a:lnTo>
                  <a:pt x="5715000" y="3635375"/>
                </a:lnTo>
                <a:lnTo>
                  <a:pt x="0" y="3635375"/>
                </a:lnTo>
                <a:lnTo>
                  <a:pt x="0" y="0"/>
                </a:lnTo>
                <a:close/>
              </a:path>
            </a:pathLst>
          </a:custGeom>
          <a:solidFill>
            <a:srgbClr val="FFFFFF"/>
          </a:solidFill>
          <a:ln/>
        </p:spPr>
      </p:sp>
      <p:sp>
        <p:nvSpPr>
          <p:cNvPr id="23" name="Shape 21"/>
          <p:cNvSpPr/>
          <p:nvPr/>
        </p:nvSpPr>
        <p:spPr>
          <a:xfrm>
            <a:off x="6159500" y="8413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24" name="Text 22"/>
          <p:cNvSpPr/>
          <p:nvPr/>
        </p:nvSpPr>
        <p:spPr>
          <a:xfrm>
            <a:off x="6254750" y="952500"/>
            <a:ext cx="56038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Five Criteria for Compliant Implementation</a:t>
            </a:r>
            <a:endParaRPr lang="en-US" sz="1600" dirty="0"/>
          </a:p>
        </p:txBody>
      </p:sp>
      <p:sp>
        <p:nvSpPr>
          <p:cNvPr id="25" name="Text 23"/>
          <p:cNvSpPr/>
          <p:nvPr/>
        </p:nvSpPr>
        <p:spPr>
          <a:xfrm>
            <a:off x="6254750" y="1238250"/>
            <a:ext cx="55880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school is considered to have achieved compliant implementation if it meets all of the following criteria:</a:t>
            </a:r>
            <a:endParaRPr lang="en-US" sz="1600" dirty="0"/>
          </a:p>
        </p:txBody>
      </p:sp>
      <p:sp>
        <p:nvSpPr>
          <p:cNvPr id="26" name="Shape 24"/>
          <p:cNvSpPr/>
          <p:nvPr/>
        </p:nvSpPr>
        <p:spPr>
          <a:xfrm>
            <a:off x="6254750" y="1714500"/>
            <a:ext cx="5524500" cy="539750"/>
          </a:xfrm>
          <a:custGeom>
            <a:avLst/>
            <a:gdLst/>
            <a:ahLst/>
            <a:cxnLst/>
            <a:rect l="l" t="t" r="r" b="b"/>
            <a:pathLst>
              <a:path w="5524500" h="539750">
                <a:moveTo>
                  <a:pt x="0" y="0"/>
                </a:moveTo>
                <a:lnTo>
                  <a:pt x="5524500" y="0"/>
                </a:lnTo>
                <a:lnTo>
                  <a:pt x="5524500" y="539750"/>
                </a:lnTo>
                <a:lnTo>
                  <a:pt x="0" y="539750"/>
                </a:lnTo>
                <a:lnTo>
                  <a:pt x="0" y="0"/>
                </a:lnTo>
                <a:close/>
              </a:path>
            </a:pathLst>
          </a:custGeom>
          <a:solidFill>
            <a:srgbClr val="F8F9FA"/>
          </a:solidFill>
          <a:ln/>
        </p:spPr>
      </p:sp>
      <p:sp>
        <p:nvSpPr>
          <p:cNvPr id="27" name="Shape 25"/>
          <p:cNvSpPr/>
          <p:nvPr/>
        </p:nvSpPr>
        <p:spPr>
          <a:xfrm>
            <a:off x="6318250" y="1778000"/>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1E3A5F"/>
          </a:solidFill>
          <a:ln/>
        </p:spPr>
      </p:sp>
      <p:sp>
        <p:nvSpPr>
          <p:cNvPr id="28" name="Text 26"/>
          <p:cNvSpPr/>
          <p:nvPr/>
        </p:nvSpPr>
        <p:spPr>
          <a:xfrm>
            <a:off x="6290469" y="1778000"/>
            <a:ext cx="309563" cy="254000"/>
          </a:xfrm>
          <a:prstGeom prst="rect">
            <a:avLst/>
          </a:prstGeom>
          <a:noFill/>
          <a:ln/>
        </p:spPr>
        <p:txBody>
          <a:bodyPr wrap="square" lIns="0" tIns="0" rIns="0" bIns="0" rtlCol="0" anchor="ctr"/>
          <a:lstStyle/>
          <a:p>
            <a:pPr algn="ctr">
              <a:lnSpc>
                <a:spcPct val="120000"/>
              </a:lnSpc>
            </a:pPr>
            <a:r>
              <a:rPr lang="en-US" sz="875" b="1" dirty="0">
                <a:solidFill>
                  <a:srgbClr val="F8F9FA"/>
                </a:solidFill>
                <a:latin typeface="MiSans" pitchFamily="34" charset="0"/>
                <a:ea typeface="MiSans" pitchFamily="34" charset="-122"/>
                <a:cs typeface="MiSans" pitchFamily="34" charset="-120"/>
              </a:rPr>
              <a:t>1</a:t>
            </a:r>
            <a:endParaRPr lang="en-US" sz="1600" dirty="0"/>
          </a:p>
        </p:txBody>
      </p:sp>
      <p:sp>
        <p:nvSpPr>
          <p:cNvPr id="29" name="Text 27"/>
          <p:cNvSpPr/>
          <p:nvPr/>
        </p:nvSpPr>
        <p:spPr>
          <a:xfrm>
            <a:off x="6667500" y="1778000"/>
            <a:ext cx="51117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MPI coordinator has </a:t>
            </a:r>
            <a:pPr>
              <a:lnSpc>
                <a:spcPct val="140000"/>
              </a:lnSpc>
            </a:pPr>
            <a:r>
              <a:rPr lang="en-US" sz="1000" b="1" dirty="0">
                <a:solidFill>
                  <a:srgbClr val="2D3436"/>
                </a:solidFill>
                <a:latin typeface="MiSans" pitchFamily="34" charset="0"/>
                <a:ea typeface="MiSans" pitchFamily="34" charset="-122"/>
                <a:cs typeface="MiSans" pitchFamily="34" charset="-120"/>
              </a:rPr>
              <a:t>completed certification training</a:t>
            </a:r>
            <a:pPr>
              <a:lnSpc>
                <a:spcPct val="140000"/>
              </a:lnSpc>
            </a:pPr>
            <a:r>
              <a:rPr lang="en-US" sz="1000" dirty="0">
                <a:solidFill>
                  <a:srgbClr val="2D3436"/>
                </a:solidFill>
                <a:latin typeface="MiSans" pitchFamily="34" charset="0"/>
                <a:ea typeface="MiSans" pitchFamily="34" charset="-122"/>
                <a:cs typeface="MiSans" pitchFamily="34" charset="-120"/>
              </a:rPr>
              <a:t> and been in post for at least one full term</a:t>
            </a:r>
            <a:endParaRPr lang="en-US" sz="1600" dirty="0"/>
          </a:p>
        </p:txBody>
      </p:sp>
      <p:sp>
        <p:nvSpPr>
          <p:cNvPr id="30" name="Shape 28"/>
          <p:cNvSpPr/>
          <p:nvPr/>
        </p:nvSpPr>
        <p:spPr>
          <a:xfrm>
            <a:off x="6254750" y="2286000"/>
            <a:ext cx="5524500" cy="539750"/>
          </a:xfrm>
          <a:custGeom>
            <a:avLst/>
            <a:gdLst/>
            <a:ahLst/>
            <a:cxnLst/>
            <a:rect l="l" t="t" r="r" b="b"/>
            <a:pathLst>
              <a:path w="5524500" h="539750">
                <a:moveTo>
                  <a:pt x="0" y="0"/>
                </a:moveTo>
                <a:lnTo>
                  <a:pt x="5524500" y="0"/>
                </a:lnTo>
                <a:lnTo>
                  <a:pt x="5524500" y="539750"/>
                </a:lnTo>
                <a:lnTo>
                  <a:pt x="0" y="539750"/>
                </a:lnTo>
                <a:lnTo>
                  <a:pt x="0" y="0"/>
                </a:lnTo>
                <a:close/>
              </a:path>
            </a:pathLst>
          </a:custGeom>
          <a:solidFill>
            <a:srgbClr val="F8F9FA"/>
          </a:solidFill>
          <a:ln/>
        </p:spPr>
      </p:sp>
      <p:sp>
        <p:nvSpPr>
          <p:cNvPr id="31" name="Shape 29"/>
          <p:cNvSpPr/>
          <p:nvPr/>
        </p:nvSpPr>
        <p:spPr>
          <a:xfrm>
            <a:off x="6318250" y="2349500"/>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1E3A5F"/>
          </a:solidFill>
          <a:ln/>
        </p:spPr>
      </p:sp>
      <p:sp>
        <p:nvSpPr>
          <p:cNvPr id="32" name="Text 30"/>
          <p:cNvSpPr/>
          <p:nvPr/>
        </p:nvSpPr>
        <p:spPr>
          <a:xfrm>
            <a:off x="6290469" y="2349500"/>
            <a:ext cx="309563" cy="254000"/>
          </a:xfrm>
          <a:prstGeom prst="rect">
            <a:avLst/>
          </a:prstGeom>
          <a:noFill/>
          <a:ln/>
        </p:spPr>
        <p:txBody>
          <a:bodyPr wrap="square" lIns="0" tIns="0" rIns="0" bIns="0" rtlCol="0" anchor="ctr"/>
          <a:lstStyle/>
          <a:p>
            <a:pPr algn="ctr">
              <a:lnSpc>
                <a:spcPct val="120000"/>
              </a:lnSpc>
            </a:pPr>
            <a:r>
              <a:rPr lang="en-US" sz="875" b="1" dirty="0">
                <a:solidFill>
                  <a:srgbClr val="F8F9FA"/>
                </a:solidFill>
                <a:latin typeface="MiSans" pitchFamily="34" charset="0"/>
                <a:ea typeface="MiSans" pitchFamily="34" charset="-122"/>
                <a:cs typeface="MiSans" pitchFamily="34" charset="-120"/>
              </a:rPr>
              <a:t>2</a:t>
            </a:r>
            <a:endParaRPr lang="en-US" sz="1600" dirty="0"/>
          </a:p>
        </p:txBody>
      </p:sp>
      <p:sp>
        <p:nvSpPr>
          <p:cNvPr id="33" name="Text 31"/>
          <p:cNvSpPr/>
          <p:nvPr/>
        </p:nvSpPr>
        <p:spPr>
          <a:xfrm>
            <a:off x="6667500" y="2349500"/>
            <a:ext cx="5111750" cy="412750"/>
          </a:xfrm>
          <a:prstGeom prst="rect">
            <a:avLst/>
          </a:prstGeom>
          <a:noFill/>
          <a:ln/>
        </p:spPr>
        <p:txBody>
          <a:bodyPr wrap="square" lIns="0" tIns="0" rIns="0" bIns="0" rtlCol="0" anchor="ctr"/>
          <a:lstStyle/>
          <a:p>
            <a:pPr>
              <a:lnSpc>
                <a:spcPct val="140000"/>
              </a:lnSpc>
            </a:pPr>
            <a:r>
              <a:rPr lang="en-US" sz="1000" b="1" dirty="0">
                <a:solidFill>
                  <a:srgbClr val="2D3436"/>
                </a:solidFill>
                <a:latin typeface="MiSans" pitchFamily="34" charset="0"/>
                <a:ea typeface="MiSans" pitchFamily="34" charset="-122"/>
                <a:cs typeface="MiSans" pitchFamily="34" charset="-120"/>
              </a:rPr>
              <a:t>All three MPI strands</a:t>
            </a:r>
            <a:pPr>
              <a:lnSpc>
                <a:spcPct val="140000"/>
              </a:lnSpc>
            </a:pPr>
            <a:r>
              <a:rPr lang="en-US" sz="1000" dirty="0">
                <a:solidFill>
                  <a:srgbClr val="2D3436"/>
                </a:solidFill>
                <a:latin typeface="MiSans" pitchFamily="34" charset="0"/>
                <a:ea typeface="MiSans" pitchFamily="34" charset="-122"/>
                <a:cs typeface="MiSans" pitchFamily="34" charset="-120"/>
              </a:rPr>
              <a:t> have been actively deployed, as evidenced by documentation and audit</a:t>
            </a:r>
            <a:endParaRPr lang="en-US" sz="1600" dirty="0"/>
          </a:p>
        </p:txBody>
      </p:sp>
      <p:sp>
        <p:nvSpPr>
          <p:cNvPr id="34" name="Shape 32"/>
          <p:cNvSpPr/>
          <p:nvPr/>
        </p:nvSpPr>
        <p:spPr>
          <a:xfrm>
            <a:off x="6254750" y="2857500"/>
            <a:ext cx="5524500" cy="381000"/>
          </a:xfrm>
          <a:custGeom>
            <a:avLst/>
            <a:gdLst/>
            <a:ahLst/>
            <a:cxnLst/>
            <a:rect l="l" t="t" r="r" b="b"/>
            <a:pathLst>
              <a:path w="5524500" h="381000">
                <a:moveTo>
                  <a:pt x="0" y="0"/>
                </a:moveTo>
                <a:lnTo>
                  <a:pt x="5524500" y="0"/>
                </a:lnTo>
                <a:lnTo>
                  <a:pt x="5524500" y="381000"/>
                </a:lnTo>
                <a:lnTo>
                  <a:pt x="0" y="381000"/>
                </a:lnTo>
                <a:lnTo>
                  <a:pt x="0" y="0"/>
                </a:lnTo>
                <a:close/>
              </a:path>
            </a:pathLst>
          </a:custGeom>
          <a:solidFill>
            <a:srgbClr val="F8F9FA"/>
          </a:solidFill>
          <a:ln/>
        </p:spPr>
      </p:sp>
      <p:sp>
        <p:nvSpPr>
          <p:cNvPr id="35" name="Shape 33"/>
          <p:cNvSpPr/>
          <p:nvPr/>
        </p:nvSpPr>
        <p:spPr>
          <a:xfrm>
            <a:off x="6318250" y="2921000"/>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1E3A5F"/>
          </a:solidFill>
          <a:ln/>
        </p:spPr>
      </p:sp>
      <p:sp>
        <p:nvSpPr>
          <p:cNvPr id="36" name="Text 34"/>
          <p:cNvSpPr/>
          <p:nvPr/>
        </p:nvSpPr>
        <p:spPr>
          <a:xfrm>
            <a:off x="6290469" y="2921000"/>
            <a:ext cx="309563" cy="254000"/>
          </a:xfrm>
          <a:prstGeom prst="rect">
            <a:avLst/>
          </a:prstGeom>
          <a:noFill/>
          <a:ln/>
        </p:spPr>
        <p:txBody>
          <a:bodyPr wrap="square" lIns="0" tIns="0" rIns="0" bIns="0" rtlCol="0" anchor="ctr"/>
          <a:lstStyle/>
          <a:p>
            <a:pPr algn="ctr">
              <a:lnSpc>
                <a:spcPct val="120000"/>
              </a:lnSpc>
            </a:pPr>
            <a:r>
              <a:rPr lang="en-US" sz="875" b="1" dirty="0">
                <a:solidFill>
                  <a:srgbClr val="F8F9FA"/>
                </a:solidFill>
                <a:latin typeface="MiSans" pitchFamily="34" charset="0"/>
                <a:ea typeface="MiSans" pitchFamily="34" charset="-122"/>
                <a:cs typeface="MiSans" pitchFamily="34" charset="-120"/>
              </a:rPr>
              <a:t>3</a:t>
            </a:r>
            <a:endParaRPr lang="en-US" sz="1600" dirty="0"/>
          </a:p>
        </p:txBody>
      </p:sp>
      <p:sp>
        <p:nvSpPr>
          <p:cNvPr id="37" name="Text 35"/>
          <p:cNvSpPr/>
          <p:nvPr/>
        </p:nvSpPr>
        <p:spPr>
          <a:xfrm>
            <a:off x="6667500" y="2921000"/>
            <a:ext cx="3540125"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school's </a:t>
            </a:r>
            <a:pPr>
              <a:lnSpc>
                <a:spcPct val="140000"/>
              </a:lnSpc>
            </a:pPr>
            <a:r>
              <a:rPr lang="en-US" sz="1000" b="1" dirty="0">
                <a:solidFill>
                  <a:srgbClr val="2D3436"/>
                </a:solidFill>
                <a:latin typeface="MiSans" pitchFamily="34" charset="0"/>
                <a:ea typeface="MiSans" pitchFamily="34" charset="-122"/>
                <a:cs typeface="MiSans" pitchFamily="34" charset="-120"/>
              </a:rPr>
              <a:t>Implementation Quality Score is 50 or above</a:t>
            </a:r>
            <a:endParaRPr lang="en-US" sz="1600" dirty="0"/>
          </a:p>
        </p:txBody>
      </p:sp>
      <p:sp>
        <p:nvSpPr>
          <p:cNvPr id="38" name="Shape 36"/>
          <p:cNvSpPr/>
          <p:nvPr/>
        </p:nvSpPr>
        <p:spPr>
          <a:xfrm>
            <a:off x="6254750" y="3270250"/>
            <a:ext cx="5524500" cy="539750"/>
          </a:xfrm>
          <a:custGeom>
            <a:avLst/>
            <a:gdLst/>
            <a:ahLst/>
            <a:cxnLst/>
            <a:rect l="l" t="t" r="r" b="b"/>
            <a:pathLst>
              <a:path w="5524500" h="539750">
                <a:moveTo>
                  <a:pt x="0" y="0"/>
                </a:moveTo>
                <a:lnTo>
                  <a:pt x="5524500" y="0"/>
                </a:lnTo>
                <a:lnTo>
                  <a:pt x="5524500" y="539750"/>
                </a:lnTo>
                <a:lnTo>
                  <a:pt x="0" y="539750"/>
                </a:lnTo>
                <a:lnTo>
                  <a:pt x="0" y="0"/>
                </a:lnTo>
                <a:close/>
              </a:path>
            </a:pathLst>
          </a:custGeom>
          <a:solidFill>
            <a:srgbClr val="F8F9FA"/>
          </a:solidFill>
          <a:ln/>
        </p:spPr>
      </p:sp>
      <p:sp>
        <p:nvSpPr>
          <p:cNvPr id="39" name="Shape 37"/>
          <p:cNvSpPr/>
          <p:nvPr/>
        </p:nvSpPr>
        <p:spPr>
          <a:xfrm>
            <a:off x="6318250" y="3333750"/>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1E3A5F"/>
          </a:solidFill>
          <a:ln/>
        </p:spPr>
      </p:sp>
      <p:sp>
        <p:nvSpPr>
          <p:cNvPr id="40" name="Text 38"/>
          <p:cNvSpPr/>
          <p:nvPr/>
        </p:nvSpPr>
        <p:spPr>
          <a:xfrm>
            <a:off x="6290469" y="3333750"/>
            <a:ext cx="309563" cy="254000"/>
          </a:xfrm>
          <a:prstGeom prst="rect">
            <a:avLst/>
          </a:prstGeom>
          <a:noFill/>
          <a:ln/>
        </p:spPr>
        <p:txBody>
          <a:bodyPr wrap="square" lIns="0" tIns="0" rIns="0" bIns="0" rtlCol="0" anchor="ctr"/>
          <a:lstStyle/>
          <a:p>
            <a:pPr algn="ctr">
              <a:lnSpc>
                <a:spcPct val="120000"/>
              </a:lnSpc>
            </a:pPr>
            <a:r>
              <a:rPr lang="en-US" sz="875" b="1" dirty="0">
                <a:solidFill>
                  <a:srgbClr val="F8F9FA"/>
                </a:solidFill>
                <a:latin typeface="MiSans" pitchFamily="34" charset="0"/>
                <a:ea typeface="MiSans" pitchFamily="34" charset="-122"/>
                <a:cs typeface="MiSans" pitchFamily="34" charset="-120"/>
              </a:rPr>
              <a:t>4</a:t>
            </a:r>
            <a:endParaRPr lang="en-US" sz="1600" dirty="0"/>
          </a:p>
        </p:txBody>
      </p:sp>
      <p:sp>
        <p:nvSpPr>
          <p:cNvPr id="41" name="Text 39"/>
          <p:cNvSpPr/>
          <p:nvPr/>
        </p:nvSpPr>
        <p:spPr>
          <a:xfrm>
            <a:off x="6667500" y="3333750"/>
            <a:ext cx="51117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a:t>
            </a:r>
            <a:pPr>
              <a:lnSpc>
                <a:spcPct val="140000"/>
              </a:lnSpc>
            </a:pPr>
            <a:r>
              <a:rPr lang="en-US" sz="1000" b="1" dirty="0">
                <a:solidFill>
                  <a:srgbClr val="2D3436"/>
                </a:solidFill>
                <a:latin typeface="MiSans" pitchFamily="34" charset="0"/>
                <a:ea typeface="MiSans" pitchFamily="34" charset="-122"/>
                <a:cs typeface="MiSans" pitchFamily="34" charset="-120"/>
              </a:rPr>
              <a:t>annual data submission</a:t>
            </a:r>
            <a:pPr>
              <a:lnSpc>
                <a:spcPct val="140000"/>
              </a:lnSpc>
            </a:pPr>
            <a:r>
              <a:rPr lang="en-US" sz="1000" dirty="0">
                <a:solidFill>
                  <a:srgbClr val="2D3436"/>
                </a:solidFill>
                <a:latin typeface="MiSans" pitchFamily="34" charset="0"/>
                <a:ea typeface="MiSans" pitchFamily="34" charset="-122"/>
                <a:cs typeface="MiSans" pitchFamily="34" charset="-120"/>
              </a:rPr>
              <a:t> has been completed within the specified window and passed validation</a:t>
            </a:r>
            <a:endParaRPr lang="en-US" sz="1600" dirty="0"/>
          </a:p>
        </p:txBody>
      </p:sp>
      <p:sp>
        <p:nvSpPr>
          <p:cNvPr id="42" name="Shape 40"/>
          <p:cNvSpPr/>
          <p:nvPr/>
        </p:nvSpPr>
        <p:spPr>
          <a:xfrm>
            <a:off x="6254750" y="3841750"/>
            <a:ext cx="5524500" cy="539750"/>
          </a:xfrm>
          <a:custGeom>
            <a:avLst/>
            <a:gdLst/>
            <a:ahLst/>
            <a:cxnLst/>
            <a:rect l="l" t="t" r="r" b="b"/>
            <a:pathLst>
              <a:path w="5524500" h="539750">
                <a:moveTo>
                  <a:pt x="0" y="0"/>
                </a:moveTo>
                <a:lnTo>
                  <a:pt x="5524500" y="0"/>
                </a:lnTo>
                <a:lnTo>
                  <a:pt x="5524500" y="539750"/>
                </a:lnTo>
                <a:lnTo>
                  <a:pt x="0" y="539750"/>
                </a:lnTo>
                <a:lnTo>
                  <a:pt x="0" y="0"/>
                </a:lnTo>
                <a:close/>
              </a:path>
            </a:pathLst>
          </a:custGeom>
          <a:solidFill>
            <a:srgbClr val="F8F9FA"/>
          </a:solidFill>
          <a:ln/>
        </p:spPr>
      </p:sp>
      <p:sp>
        <p:nvSpPr>
          <p:cNvPr id="43" name="Shape 41"/>
          <p:cNvSpPr/>
          <p:nvPr/>
        </p:nvSpPr>
        <p:spPr>
          <a:xfrm>
            <a:off x="6318250" y="3905250"/>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1E3A5F"/>
          </a:solidFill>
          <a:ln/>
        </p:spPr>
      </p:sp>
      <p:sp>
        <p:nvSpPr>
          <p:cNvPr id="44" name="Text 42"/>
          <p:cNvSpPr/>
          <p:nvPr/>
        </p:nvSpPr>
        <p:spPr>
          <a:xfrm>
            <a:off x="6290469" y="3905250"/>
            <a:ext cx="309563" cy="254000"/>
          </a:xfrm>
          <a:prstGeom prst="rect">
            <a:avLst/>
          </a:prstGeom>
          <a:noFill/>
          <a:ln/>
        </p:spPr>
        <p:txBody>
          <a:bodyPr wrap="square" lIns="0" tIns="0" rIns="0" bIns="0" rtlCol="0" anchor="ctr"/>
          <a:lstStyle/>
          <a:p>
            <a:pPr algn="ctr">
              <a:lnSpc>
                <a:spcPct val="120000"/>
              </a:lnSpc>
            </a:pPr>
            <a:r>
              <a:rPr lang="en-US" sz="875" b="1" dirty="0">
                <a:solidFill>
                  <a:srgbClr val="F8F9FA"/>
                </a:solidFill>
                <a:latin typeface="MiSans" pitchFamily="34" charset="0"/>
                <a:ea typeface="MiSans" pitchFamily="34" charset="-122"/>
                <a:cs typeface="MiSans" pitchFamily="34" charset="-120"/>
              </a:rPr>
              <a:t>5</a:t>
            </a:r>
            <a:endParaRPr lang="en-US" sz="1600" dirty="0"/>
          </a:p>
        </p:txBody>
      </p:sp>
      <p:sp>
        <p:nvSpPr>
          <p:cNvPr id="45" name="Text 43"/>
          <p:cNvSpPr/>
          <p:nvPr/>
        </p:nvSpPr>
        <p:spPr>
          <a:xfrm>
            <a:off x="6667500" y="3905250"/>
            <a:ext cx="5111750" cy="412750"/>
          </a:xfrm>
          <a:prstGeom prst="rect">
            <a:avLst/>
          </a:prstGeom>
          <a:noFill/>
          <a:ln/>
        </p:spPr>
        <p:txBody>
          <a:bodyPr wrap="square" lIns="0" tIns="0" rIns="0" bIns="0" rtlCol="0" anchor="ctr"/>
          <a:lstStyle/>
          <a:p>
            <a:pPr>
              <a:lnSpc>
                <a:spcPct val="140000"/>
              </a:lnSpc>
            </a:pPr>
            <a:r>
              <a:rPr lang="en-US" sz="1000" b="1" dirty="0">
                <a:solidFill>
                  <a:srgbClr val="2D3436"/>
                </a:solidFill>
                <a:latin typeface="MiSans" pitchFamily="34" charset="0"/>
                <a:ea typeface="MiSans" pitchFamily="34" charset="-122"/>
                <a:cs typeface="MiSans" pitchFamily="34" charset="-120"/>
              </a:rPr>
              <a:t>No audit finding</a:t>
            </a:r>
            <a:pPr>
              <a:lnSpc>
                <a:spcPct val="140000"/>
              </a:lnSpc>
            </a:pPr>
            <a:r>
              <a:rPr lang="en-US" sz="1000" dirty="0">
                <a:solidFill>
                  <a:srgbClr val="2D3436"/>
                </a:solidFill>
                <a:latin typeface="MiSans" pitchFamily="34" charset="0"/>
                <a:ea typeface="MiSans" pitchFamily="34" charset="-122"/>
                <a:cs typeface="MiSans" pitchFamily="34" charset="-120"/>
              </a:rPr>
              <a:t> has been issued that explicitly identifies implementation as insufficient</a:t>
            </a:r>
            <a:endParaRPr lang="en-US" sz="1600" dirty="0"/>
          </a:p>
        </p:txBody>
      </p:sp>
      <p:sp>
        <p:nvSpPr>
          <p:cNvPr id="46" name="Shape 44"/>
          <p:cNvSpPr/>
          <p:nvPr/>
        </p:nvSpPr>
        <p:spPr>
          <a:xfrm>
            <a:off x="6175375" y="4572000"/>
            <a:ext cx="5699125" cy="1016000"/>
          </a:xfrm>
          <a:custGeom>
            <a:avLst/>
            <a:gdLst/>
            <a:ahLst/>
            <a:cxnLst/>
            <a:rect l="l" t="t" r="r" b="b"/>
            <a:pathLst>
              <a:path w="5699125" h="1016000">
                <a:moveTo>
                  <a:pt x="0" y="0"/>
                </a:moveTo>
                <a:lnTo>
                  <a:pt x="5699125" y="0"/>
                </a:lnTo>
                <a:lnTo>
                  <a:pt x="5699125" y="1016000"/>
                </a:lnTo>
                <a:lnTo>
                  <a:pt x="0" y="1016000"/>
                </a:lnTo>
                <a:lnTo>
                  <a:pt x="0" y="0"/>
                </a:lnTo>
                <a:close/>
              </a:path>
            </a:pathLst>
          </a:custGeom>
          <a:solidFill>
            <a:srgbClr val="C49A2C">
              <a:alpha val="10196"/>
            </a:srgbClr>
          </a:solidFill>
          <a:ln/>
        </p:spPr>
      </p:sp>
      <p:sp>
        <p:nvSpPr>
          <p:cNvPr id="47" name="Shape 45"/>
          <p:cNvSpPr/>
          <p:nvPr/>
        </p:nvSpPr>
        <p:spPr>
          <a:xfrm>
            <a:off x="6175375" y="4572000"/>
            <a:ext cx="31750" cy="1016000"/>
          </a:xfrm>
          <a:custGeom>
            <a:avLst/>
            <a:gdLst/>
            <a:ahLst/>
            <a:cxnLst/>
            <a:rect l="l" t="t" r="r" b="b"/>
            <a:pathLst>
              <a:path w="31750" h="1016000">
                <a:moveTo>
                  <a:pt x="0" y="0"/>
                </a:moveTo>
                <a:lnTo>
                  <a:pt x="31750" y="0"/>
                </a:lnTo>
                <a:lnTo>
                  <a:pt x="31750" y="1016000"/>
                </a:lnTo>
                <a:lnTo>
                  <a:pt x="0" y="1016000"/>
                </a:lnTo>
                <a:lnTo>
                  <a:pt x="0" y="0"/>
                </a:lnTo>
                <a:close/>
              </a:path>
            </a:pathLst>
          </a:custGeom>
          <a:solidFill>
            <a:srgbClr val="C49A2C"/>
          </a:solidFill>
          <a:ln/>
        </p:spPr>
      </p:sp>
      <p:sp>
        <p:nvSpPr>
          <p:cNvPr id="48" name="Shape 46"/>
          <p:cNvSpPr/>
          <p:nvPr/>
        </p:nvSpPr>
        <p:spPr>
          <a:xfrm>
            <a:off x="6302375" y="4710906"/>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C49A2C"/>
          </a:solidFill>
          <a:ln/>
        </p:spPr>
      </p:sp>
      <p:sp>
        <p:nvSpPr>
          <p:cNvPr id="49" name="Text 47"/>
          <p:cNvSpPr/>
          <p:nvPr/>
        </p:nvSpPr>
        <p:spPr>
          <a:xfrm>
            <a:off x="6484938" y="4667250"/>
            <a:ext cx="5357813" cy="825500"/>
          </a:xfrm>
          <a:prstGeom prst="rect">
            <a:avLst/>
          </a:prstGeom>
          <a:noFill/>
          <a:ln/>
        </p:spPr>
        <p:txBody>
          <a:bodyPr wrap="square" lIns="0" tIns="0" rIns="0" bIns="0" rtlCol="0" anchor="ctr"/>
          <a:lstStyle/>
          <a:p>
            <a:pPr>
              <a:lnSpc>
                <a:spcPct val="140000"/>
              </a:lnSpc>
            </a:pPr>
            <a:r>
              <a:rPr lang="en-US" sz="1000" b="1" dirty="0">
                <a:solidFill>
                  <a:srgbClr val="1E3A5F"/>
                </a:solidFill>
                <a:latin typeface="MiSans" pitchFamily="34" charset="0"/>
                <a:ea typeface="MiSans" pitchFamily="34" charset="-122"/>
                <a:cs typeface="MiSans" pitchFamily="34" charset="-120"/>
              </a:rPr>
              <a:t>The Integrity Principle:</a:t>
            </a:r>
            <a:pPr>
              <a:lnSpc>
                <a:spcPct val="140000"/>
              </a:lnSpc>
            </a:pPr>
            <a:r>
              <a:rPr lang="en-US" sz="1000" dirty="0">
                <a:solidFill>
                  <a:srgbClr val="1E3A5F"/>
                </a:solidFill>
                <a:latin typeface="MiSans" pitchFamily="34" charset="0"/>
                <a:ea typeface="MiSans" pitchFamily="34" charset="-122"/>
                <a:cs typeface="MiSans" pitchFamily="34" charset="-120"/>
              </a:rPr>
              <a:t> Including poorly-implemented schools would not make the analysis more conservative or more honest. It would make it </a:t>
            </a:r>
            <a:pPr>
              <a:lnSpc>
                <a:spcPct val="140000"/>
              </a:lnSpc>
            </a:pPr>
            <a:r>
              <a:rPr lang="en-US" sz="1000" b="1" dirty="0">
                <a:solidFill>
                  <a:srgbClr val="1E3A5F"/>
                </a:solidFill>
                <a:latin typeface="MiSans" pitchFamily="34" charset="0"/>
                <a:ea typeface="MiSans" pitchFamily="34" charset="-122"/>
                <a:cs typeface="MiSans" pitchFamily="34" charset="-120"/>
              </a:rPr>
              <a:t>less interpretable</a:t>
            </a:r>
            <a:pPr>
              <a:lnSpc>
                <a:spcPct val="140000"/>
              </a:lnSpc>
            </a:pPr>
            <a:r>
              <a:rPr lang="en-US" sz="1000" dirty="0">
                <a:solidFill>
                  <a:srgbClr val="1E3A5F"/>
                </a:solidFill>
                <a:latin typeface="MiSans" pitchFamily="34" charset="0"/>
                <a:ea typeface="MiSans" pitchFamily="34" charset="-122"/>
                <a:cs typeface="MiSans" pitchFamily="34" charset="-120"/>
              </a:rPr>
              <a:t> . The question "what does this programme achieve?" cannot be answered by including data from settings where the programme was not being delivered.</a:t>
            </a:r>
            <a:endParaRPr lang="en-US" sz="16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32207" y="332207"/>
            <a:ext cx="66441" cy="398649"/>
          </a:xfrm>
          <a:custGeom>
            <a:avLst/>
            <a:gdLst/>
            <a:ahLst/>
            <a:cxnLst/>
            <a:rect l="l" t="t" r="r" b="b"/>
            <a:pathLst>
              <a:path w="66441" h="398649">
                <a:moveTo>
                  <a:pt x="0" y="0"/>
                </a:moveTo>
                <a:lnTo>
                  <a:pt x="66441" y="0"/>
                </a:lnTo>
                <a:lnTo>
                  <a:pt x="66441" y="398649"/>
                </a:lnTo>
                <a:lnTo>
                  <a:pt x="0" y="398649"/>
                </a:lnTo>
                <a:lnTo>
                  <a:pt x="0" y="0"/>
                </a:lnTo>
                <a:close/>
              </a:path>
            </a:pathLst>
          </a:custGeom>
          <a:solidFill>
            <a:srgbClr val="1E3A5F"/>
          </a:solidFill>
          <a:ln/>
        </p:spPr>
      </p:sp>
      <p:sp>
        <p:nvSpPr>
          <p:cNvPr id="3" name="Text 1"/>
          <p:cNvSpPr/>
          <p:nvPr/>
        </p:nvSpPr>
        <p:spPr>
          <a:xfrm>
            <a:off x="498311" y="382038"/>
            <a:ext cx="6519564" cy="298986"/>
          </a:xfrm>
          <a:prstGeom prst="rect">
            <a:avLst/>
          </a:prstGeom>
          <a:noFill/>
          <a:ln/>
        </p:spPr>
        <p:txBody>
          <a:bodyPr wrap="square" lIns="0" tIns="0" rIns="0" bIns="0" rtlCol="0" anchor="ctr"/>
          <a:lstStyle/>
          <a:p>
            <a:pPr>
              <a:lnSpc>
                <a:spcPct val="100000"/>
              </a:lnSpc>
            </a:pPr>
            <a:r>
              <a:rPr lang="en-US" sz="1962" b="1" dirty="0">
                <a:solidFill>
                  <a:srgbClr val="1E3A5F"/>
                </a:solidFill>
                <a:latin typeface="MiSans" pitchFamily="34" charset="0"/>
                <a:ea typeface="MiSans" pitchFamily="34" charset="-122"/>
                <a:cs typeface="MiSans" pitchFamily="34" charset="-120"/>
              </a:rPr>
              <a:t>The Role of Aggregate Data in Programme Evaluation</a:t>
            </a:r>
            <a:endParaRPr lang="en-US" sz="1600" dirty="0"/>
          </a:p>
        </p:txBody>
      </p:sp>
      <p:sp>
        <p:nvSpPr>
          <p:cNvPr id="4" name="Shape 2"/>
          <p:cNvSpPr/>
          <p:nvPr/>
        </p:nvSpPr>
        <p:spPr>
          <a:xfrm>
            <a:off x="332207" y="946790"/>
            <a:ext cx="5697351" cy="2092905"/>
          </a:xfrm>
          <a:custGeom>
            <a:avLst/>
            <a:gdLst/>
            <a:ahLst/>
            <a:cxnLst/>
            <a:rect l="l" t="t" r="r" b="b"/>
            <a:pathLst>
              <a:path w="5697351" h="2092905">
                <a:moveTo>
                  <a:pt x="0" y="0"/>
                </a:moveTo>
                <a:lnTo>
                  <a:pt x="5697351" y="0"/>
                </a:lnTo>
                <a:lnTo>
                  <a:pt x="5697351" y="2092905"/>
                </a:lnTo>
                <a:lnTo>
                  <a:pt x="0" y="2092905"/>
                </a:lnTo>
                <a:lnTo>
                  <a:pt x="0" y="0"/>
                </a:lnTo>
                <a:close/>
              </a:path>
            </a:pathLst>
          </a:custGeom>
          <a:solidFill>
            <a:srgbClr val="FFFFFF"/>
          </a:solidFill>
          <a:ln/>
        </p:spPr>
      </p:sp>
      <p:sp>
        <p:nvSpPr>
          <p:cNvPr id="5" name="Shape 3"/>
          <p:cNvSpPr/>
          <p:nvPr/>
        </p:nvSpPr>
        <p:spPr>
          <a:xfrm>
            <a:off x="332207" y="946790"/>
            <a:ext cx="5697351" cy="33221"/>
          </a:xfrm>
          <a:custGeom>
            <a:avLst/>
            <a:gdLst/>
            <a:ahLst/>
            <a:cxnLst/>
            <a:rect l="l" t="t" r="r" b="b"/>
            <a:pathLst>
              <a:path w="5697351" h="33221">
                <a:moveTo>
                  <a:pt x="0" y="0"/>
                </a:moveTo>
                <a:lnTo>
                  <a:pt x="5697351" y="0"/>
                </a:lnTo>
                <a:lnTo>
                  <a:pt x="5697351" y="33221"/>
                </a:lnTo>
                <a:lnTo>
                  <a:pt x="0" y="33221"/>
                </a:lnTo>
                <a:lnTo>
                  <a:pt x="0" y="0"/>
                </a:lnTo>
                <a:close/>
              </a:path>
            </a:pathLst>
          </a:custGeom>
          <a:solidFill>
            <a:srgbClr val="1E3A5F"/>
          </a:solidFill>
          <a:ln/>
        </p:spPr>
      </p:sp>
      <p:sp>
        <p:nvSpPr>
          <p:cNvPr id="6" name="Text 4"/>
          <p:cNvSpPr/>
          <p:nvPr/>
        </p:nvSpPr>
        <p:spPr>
          <a:xfrm>
            <a:off x="465090" y="1096283"/>
            <a:ext cx="5514638" cy="232545"/>
          </a:xfrm>
          <a:prstGeom prst="rect">
            <a:avLst/>
          </a:prstGeom>
          <a:noFill/>
          <a:ln/>
        </p:spPr>
        <p:txBody>
          <a:bodyPr wrap="square" lIns="0" tIns="0" rIns="0" bIns="0" rtlCol="0" anchor="ctr"/>
          <a:lstStyle/>
          <a:p>
            <a:pPr>
              <a:lnSpc>
                <a:spcPct val="120000"/>
              </a:lnSpc>
            </a:pPr>
            <a:r>
              <a:rPr lang="en-US" sz="1308" b="1" dirty="0">
                <a:solidFill>
                  <a:srgbClr val="1E3A5F"/>
                </a:solidFill>
                <a:latin typeface="MiSans" pitchFamily="34" charset="0"/>
                <a:ea typeface="MiSans" pitchFamily="34" charset="-122"/>
                <a:cs typeface="MiSans" pitchFamily="34" charset="-120"/>
              </a:rPr>
              <a:t>Aggregate Data Conceals Variance</a:t>
            </a:r>
            <a:endParaRPr lang="en-US" sz="1600" dirty="0"/>
          </a:p>
        </p:txBody>
      </p:sp>
      <p:sp>
        <p:nvSpPr>
          <p:cNvPr id="7" name="Text 5"/>
          <p:cNvSpPr/>
          <p:nvPr/>
        </p:nvSpPr>
        <p:spPr>
          <a:xfrm>
            <a:off x="465090" y="1428490"/>
            <a:ext cx="5498027" cy="647804"/>
          </a:xfrm>
          <a:prstGeom prst="rect">
            <a:avLst/>
          </a:prstGeom>
          <a:noFill/>
          <a:ln/>
        </p:spPr>
        <p:txBody>
          <a:bodyPr wrap="square" lIns="0" tIns="0" rIns="0" bIns="0" rtlCol="0" anchor="ctr"/>
          <a:lstStyle/>
          <a:p>
            <a:pPr>
              <a:lnSpc>
                <a:spcPct val="140000"/>
              </a:lnSpc>
            </a:pPr>
            <a:r>
              <a:rPr lang="en-US" sz="1046" dirty="0">
                <a:solidFill>
                  <a:srgbClr val="2D3436"/>
                </a:solidFill>
                <a:latin typeface="MiSans" pitchFamily="34" charset="0"/>
                <a:ea typeface="MiSans" pitchFamily="34" charset="-122"/>
                <a:cs typeface="MiSans" pitchFamily="34" charset="-120"/>
              </a:rPr>
              <a:t>The MPI's impact statistics are, </a:t>
            </a:r>
            <a:pPr>
              <a:lnSpc>
                <a:spcPct val="140000"/>
              </a:lnSpc>
            </a:pPr>
            <a:r>
              <a:rPr lang="en-US" sz="1046" b="1" dirty="0">
                <a:solidFill>
                  <a:srgbClr val="2D3436"/>
                </a:solidFill>
                <a:latin typeface="MiSans" pitchFamily="34" charset="0"/>
                <a:ea typeface="MiSans" pitchFamily="34" charset="-122"/>
                <a:cs typeface="MiSans" pitchFamily="34" charset="-120"/>
              </a:rPr>
              <a:t>necessarily, aggregate</a:t>
            </a:r>
            <a:pPr>
              <a:lnSpc>
                <a:spcPct val="140000"/>
              </a:lnSpc>
            </a:pPr>
            <a:r>
              <a:rPr lang="en-US" sz="1046" dirty="0">
                <a:solidFill>
                  <a:srgbClr val="2D3436"/>
                </a:solidFill>
                <a:latin typeface="MiSans" pitchFamily="34" charset="0"/>
                <a:ea typeface="MiSans" pitchFamily="34" charset="-122"/>
                <a:cs typeface="MiSans" pitchFamily="34" charset="-120"/>
              </a:rPr>
              <a:t>. They describe average outcomes across the programme's partner schools. They do not describe outcomes for every school, or every pupil, or every context.</a:t>
            </a:r>
            <a:endParaRPr lang="en-US" sz="1600" dirty="0"/>
          </a:p>
        </p:txBody>
      </p:sp>
      <p:sp>
        <p:nvSpPr>
          <p:cNvPr id="8" name="Shape 6"/>
          <p:cNvSpPr/>
          <p:nvPr/>
        </p:nvSpPr>
        <p:spPr>
          <a:xfrm>
            <a:off x="481700" y="2213330"/>
            <a:ext cx="132883" cy="132883"/>
          </a:xfrm>
          <a:custGeom>
            <a:avLst/>
            <a:gdLst/>
            <a:ahLst/>
            <a:cxnLst/>
            <a:rect l="l" t="t" r="r" b="b"/>
            <a:pathLst>
              <a:path w="132883" h="132883">
                <a:moveTo>
                  <a:pt x="60342" y="1350"/>
                </a:moveTo>
                <a:cubicBezTo>
                  <a:pt x="64209" y="-441"/>
                  <a:pt x="68673" y="-441"/>
                  <a:pt x="72541" y="1350"/>
                </a:cubicBezTo>
                <a:lnTo>
                  <a:pt x="129275" y="27563"/>
                </a:lnTo>
                <a:cubicBezTo>
                  <a:pt x="131481" y="28575"/>
                  <a:pt x="132883" y="30781"/>
                  <a:pt x="132883" y="33221"/>
                </a:cubicBezTo>
                <a:cubicBezTo>
                  <a:pt x="132883" y="35660"/>
                  <a:pt x="131481" y="37866"/>
                  <a:pt x="129275" y="38879"/>
                </a:cubicBezTo>
                <a:lnTo>
                  <a:pt x="72541" y="65092"/>
                </a:lnTo>
                <a:cubicBezTo>
                  <a:pt x="68673" y="66883"/>
                  <a:pt x="64209" y="66883"/>
                  <a:pt x="60342" y="65092"/>
                </a:cubicBezTo>
                <a:lnTo>
                  <a:pt x="3608" y="38879"/>
                </a:lnTo>
                <a:cubicBezTo>
                  <a:pt x="1401" y="37840"/>
                  <a:pt x="0" y="35634"/>
                  <a:pt x="0" y="33221"/>
                </a:cubicBezTo>
                <a:cubicBezTo>
                  <a:pt x="0" y="30807"/>
                  <a:pt x="1401" y="28575"/>
                  <a:pt x="3608" y="27563"/>
                </a:cubicBezTo>
                <a:lnTo>
                  <a:pt x="60342" y="1350"/>
                </a:lnTo>
                <a:close/>
                <a:moveTo>
                  <a:pt x="12484" y="56683"/>
                </a:moveTo>
                <a:lnTo>
                  <a:pt x="55126" y="76382"/>
                </a:lnTo>
                <a:cubicBezTo>
                  <a:pt x="62315" y="79704"/>
                  <a:pt x="70594" y="79704"/>
                  <a:pt x="77783" y="76382"/>
                </a:cubicBezTo>
                <a:lnTo>
                  <a:pt x="120425" y="56683"/>
                </a:lnTo>
                <a:lnTo>
                  <a:pt x="129275" y="60784"/>
                </a:lnTo>
                <a:cubicBezTo>
                  <a:pt x="131481" y="61796"/>
                  <a:pt x="132883" y="64002"/>
                  <a:pt x="132883" y="66441"/>
                </a:cubicBezTo>
                <a:cubicBezTo>
                  <a:pt x="132883" y="68881"/>
                  <a:pt x="131481" y="71087"/>
                  <a:pt x="129275" y="72099"/>
                </a:cubicBezTo>
                <a:lnTo>
                  <a:pt x="72541" y="98313"/>
                </a:lnTo>
                <a:cubicBezTo>
                  <a:pt x="68673" y="100103"/>
                  <a:pt x="64209" y="100103"/>
                  <a:pt x="60342" y="98313"/>
                </a:cubicBezTo>
                <a:lnTo>
                  <a:pt x="3608" y="72099"/>
                </a:lnTo>
                <a:cubicBezTo>
                  <a:pt x="1401" y="71061"/>
                  <a:pt x="0" y="68855"/>
                  <a:pt x="0" y="66441"/>
                </a:cubicBezTo>
                <a:cubicBezTo>
                  <a:pt x="0" y="64028"/>
                  <a:pt x="1401" y="61796"/>
                  <a:pt x="3608" y="60784"/>
                </a:cubicBezTo>
                <a:lnTo>
                  <a:pt x="12458" y="56683"/>
                </a:lnTo>
                <a:close/>
                <a:moveTo>
                  <a:pt x="3608" y="94004"/>
                </a:moveTo>
                <a:lnTo>
                  <a:pt x="12458" y="89904"/>
                </a:lnTo>
                <a:lnTo>
                  <a:pt x="55100" y="109602"/>
                </a:lnTo>
                <a:cubicBezTo>
                  <a:pt x="62289" y="112924"/>
                  <a:pt x="70568" y="112924"/>
                  <a:pt x="77757" y="109602"/>
                </a:cubicBezTo>
                <a:lnTo>
                  <a:pt x="120399" y="89904"/>
                </a:lnTo>
                <a:lnTo>
                  <a:pt x="129249" y="94004"/>
                </a:lnTo>
                <a:cubicBezTo>
                  <a:pt x="131455" y="95016"/>
                  <a:pt x="132857" y="97222"/>
                  <a:pt x="132857" y="99662"/>
                </a:cubicBezTo>
                <a:cubicBezTo>
                  <a:pt x="132857" y="102102"/>
                  <a:pt x="131455" y="104308"/>
                  <a:pt x="129249" y="105320"/>
                </a:cubicBezTo>
                <a:lnTo>
                  <a:pt x="72515" y="131533"/>
                </a:lnTo>
                <a:cubicBezTo>
                  <a:pt x="68647" y="133324"/>
                  <a:pt x="64183" y="133324"/>
                  <a:pt x="60316" y="131533"/>
                </a:cubicBezTo>
                <a:lnTo>
                  <a:pt x="3608" y="105320"/>
                </a:lnTo>
                <a:cubicBezTo>
                  <a:pt x="1401" y="104282"/>
                  <a:pt x="0" y="102076"/>
                  <a:pt x="0" y="99662"/>
                </a:cubicBezTo>
                <a:cubicBezTo>
                  <a:pt x="0" y="97248"/>
                  <a:pt x="1401" y="95016"/>
                  <a:pt x="3608" y="94004"/>
                </a:cubicBezTo>
                <a:close/>
              </a:path>
            </a:pathLst>
          </a:custGeom>
          <a:solidFill>
            <a:srgbClr val="C49A2C"/>
          </a:solidFill>
          <a:ln/>
        </p:spPr>
      </p:sp>
      <p:sp>
        <p:nvSpPr>
          <p:cNvPr id="9" name="Text 7"/>
          <p:cNvSpPr/>
          <p:nvPr/>
        </p:nvSpPr>
        <p:spPr>
          <a:xfrm>
            <a:off x="674643" y="2175956"/>
            <a:ext cx="5288474" cy="199324"/>
          </a:xfrm>
          <a:prstGeom prst="rect">
            <a:avLst/>
          </a:prstGeom>
          <a:noFill/>
          <a:ln/>
        </p:spPr>
        <p:txBody>
          <a:bodyPr wrap="square" lIns="0" tIns="0" rIns="0" bIns="0" rtlCol="0" anchor="ctr"/>
          <a:lstStyle/>
          <a:p>
            <a:pPr>
              <a:lnSpc>
                <a:spcPct val="130000"/>
              </a:lnSpc>
            </a:pPr>
            <a:r>
              <a:rPr lang="en-US" sz="1046" dirty="0">
                <a:solidFill>
                  <a:srgbClr val="2D3436"/>
                </a:solidFill>
                <a:latin typeface="MiSans" pitchFamily="34" charset="0"/>
                <a:ea typeface="MiSans" pitchFamily="34" charset="-122"/>
                <a:cs typeface="MiSans" pitchFamily="34" charset="-120"/>
              </a:rPr>
              <a:t>A </a:t>
            </a:r>
            <a:pPr>
              <a:lnSpc>
                <a:spcPct val="130000"/>
              </a:lnSpc>
            </a:pPr>
            <a:r>
              <a:rPr lang="en-US" sz="1046" b="1" dirty="0">
                <a:solidFill>
                  <a:srgbClr val="2D3436"/>
                </a:solidFill>
                <a:latin typeface="MiSans" pitchFamily="34" charset="0"/>
                <a:ea typeface="MiSans" pitchFamily="34" charset="-122"/>
                <a:cs typeface="MiSans" pitchFamily="34" charset="-120"/>
              </a:rPr>
              <a:t>school-level average</a:t>
            </a:r>
            <a:pPr>
              <a:lnSpc>
                <a:spcPct val="130000"/>
              </a:lnSpc>
            </a:pPr>
            <a:r>
              <a:rPr lang="en-US" sz="1046" dirty="0">
                <a:solidFill>
                  <a:srgbClr val="2D3436"/>
                </a:solidFill>
                <a:latin typeface="MiSans" pitchFamily="34" charset="0"/>
                <a:ea typeface="MiSans" pitchFamily="34" charset="-122"/>
                <a:cs typeface="MiSans" pitchFamily="34" charset="-120"/>
              </a:rPr>
              <a:t> masks the distribution of outcomes within that school</a:t>
            </a:r>
            <a:endParaRPr lang="en-US" sz="1600" dirty="0"/>
          </a:p>
        </p:txBody>
      </p:sp>
      <p:sp>
        <p:nvSpPr>
          <p:cNvPr id="10" name="Shape 8"/>
          <p:cNvSpPr/>
          <p:nvPr/>
        </p:nvSpPr>
        <p:spPr>
          <a:xfrm>
            <a:off x="481700" y="2479095"/>
            <a:ext cx="132883" cy="132883"/>
          </a:xfrm>
          <a:custGeom>
            <a:avLst/>
            <a:gdLst/>
            <a:ahLst/>
            <a:cxnLst/>
            <a:rect l="l" t="t" r="r" b="b"/>
            <a:pathLst>
              <a:path w="132883" h="132883">
                <a:moveTo>
                  <a:pt x="60342" y="1350"/>
                </a:moveTo>
                <a:cubicBezTo>
                  <a:pt x="64209" y="-441"/>
                  <a:pt x="68673" y="-441"/>
                  <a:pt x="72541" y="1350"/>
                </a:cubicBezTo>
                <a:lnTo>
                  <a:pt x="129275" y="27563"/>
                </a:lnTo>
                <a:cubicBezTo>
                  <a:pt x="131481" y="28575"/>
                  <a:pt x="132883" y="30781"/>
                  <a:pt x="132883" y="33221"/>
                </a:cubicBezTo>
                <a:cubicBezTo>
                  <a:pt x="132883" y="35660"/>
                  <a:pt x="131481" y="37866"/>
                  <a:pt x="129275" y="38879"/>
                </a:cubicBezTo>
                <a:lnTo>
                  <a:pt x="72541" y="65092"/>
                </a:lnTo>
                <a:cubicBezTo>
                  <a:pt x="68673" y="66883"/>
                  <a:pt x="64209" y="66883"/>
                  <a:pt x="60342" y="65092"/>
                </a:cubicBezTo>
                <a:lnTo>
                  <a:pt x="3608" y="38879"/>
                </a:lnTo>
                <a:cubicBezTo>
                  <a:pt x="1401" y="37840"/>
                  <a:pt x="0" y="35634"/>
                  <a:pt x="0" y="33221"/>
                </a:cubicBezTo>
                <a:cubicBezTo>
                  <a:pt x="0" y="30807"/>
                  <a:pt x="1401" y="28575"/>
                  <a:pt x="3608" y="27563"/>
                </a:cubicBezTo>
                <a:lnTo>
                  <a:pt x="60342" y="1350"/>
                </a:lnTo>
                <a:close/>
                <a:moveTo>
                  <a:pt x="12484" y="56683"/>
                </a:moveTo>
                <a:lnTo>
                  <a:pt x="55126" y="76382"/>
                </a:lnTo>
                <a:cubicBezTo>
                  <a:pt x="62315" y="79704"/>
                  <a:pt x="70594" y="79704"/>
                  <a:pt x="77783" y="76382"/>
                </a:cubicBezTo>
                <a:lnTo>
                  <a:pt x="120425" y="56683"/>
                </a:lnTo>
                <a:lnTo>
                  <a:pt x="129275" y="60784"/>
                </a:lnTo>
                <a:cubicBezTo>
                  <a:pt x="131481" y="61796"/>
                  <a:pt x="132883" y="64002"/>
                  <a:pt x="132883" y="66441"/>
                </a:cubicBezTo>
                <a:cubicBezTo>
                  <a:pt x="132883" y="68881"/>
                  <a:pt x="131481" y="71087"/>
                  <a:pt x="129275" y="72099"/>
                </a:cubicBezTo>
                <a:lnTo>
                  <a:pt x="72541" y="98313"/>
                </a:lnTo>
                <a:cubicBezTo>
                  <a:pt x="68673" y="100103"/>
                  <a:pt x="64209" y="100103"/>
                  <a:pt x="60342" y="98313"/>
                </a:cubicBezTo>
                <a:lnTo>
                  <a:pt x="3608" y="72099"/>
                </a:lnTo>
                <a:cubicBezTo>
                  <a:pt x="1401" y="71061"/>
                  <a:pt x="0" y="68855"/>
                  <a:pt x="0" y="66441"/>
                </a:cubicBezTo>
                <a:cubicBezTo>
                  <a:pt x="0" y="64028"/>
                  <a:pt x="1401" y="61796"/>
                  <a:pt x="3608" y="60784"/>
                </a:cubicBezTo>
                <a:lnTo>
                  <a:pt x="12458" y="56683"/>
                </a:lnTo>
                <a:close/>
                <a:moveTo>
                  <a:pt x="3608" y="94004"/>
                </a:moveTo>
                <a:lnTo>
                  <a:pt x="12458" y="89904"/>
                </a:lnTo>
                <a:lnTo>
                  <a:pt x="55100" y="109602"/>
                </a:lnTo>
                <a:cubicBezTo>
                  <a:pt x="62289" y="112924"/>
                  <a:pt x="70568" y="112924"/>
                  <a:pt x="77757" y="109602"/>
                </a:cubicBezTo>
                <a:lnTo>
                  <a:pt x="120399" y="89904"/>
                </a:lnTo>
                <a:lnTo>
                  <a:pt x="129249" y="94004"/>
                </a:lnTo>
                <a:cubicBezTo>
                  <a:pt x="131455" y="95016"/>
                  <a:pt x="132857" y="97222"/>
                  <a:pt x="132857" y="99662"/>
                </a:cubicBezTo>
                <a:cubicBezTo>
                  <a:pt x="132857" y="102102"/>
                  <a:pt x="131455" y="104308"/>
                  <a:pt x="129249" y="105320"/>
                </a:cubicBezTo>
                <a:lnTo>
                  <a:pt x="72515" y="131533"/>
                </a:lnTo>
                <a:cubicBezTo>
                  <a:pt x="68647" y="133324"/>
                  <a:pt x="64183" y="133324"/>
                  <a:pt x="60316" y="131533"/>
                </a:cubicBezTo>
                <a:lnTo>
                  <a:pt x="3608" y="105320"/>
                </a:lnTo>
                <a:cubicBezTo>
                  <a:pt x="1401" y="104282"/>
                  <a:pt x="0" y="102076"/>
                  <a:pt x="0" y="99662"/>
                </a:cubicBezTo>
                <a:cubicBezTo>
                  <a:pt x="0" y="97248"/>
                  <a:pt x="1401" y="95016"/>
                  <a:pt x="3608" y="94004"/>
                </a:cubicBezTo>
                <a:close/>
              </a:path>
            </a:pathLst>
          </a:custGeom>
          <a:solidFill>
            <a:srgbClr val="C49A2C"/>
          </a:solidFill>
          <a:ln/>
        </p:spPr>
      </p:sp>
      <p:sp>
        <p:nvSpPr>
          <p:cNvPr id="11" name="Text 9"/>
          <p:cNvSpPr/>
          <p:nvPr/>
        </p:nvSpPr>
        <p:spPr>
          <a:xfrm>
            <a:off x="674643" y="2441722"/>
            <a:ext cx="5288474" cy="199324"/>
          </a:xfrm>
          <a:prstGeom prst="rect">
            <a:avLst/>
          </a:prstGeom>
          <a:noFill/>
          <a:ln/>
        </p:spPr>
        <p:txBody>
          <a:bodyPr wrap="square" lIns="0" tIns="0" rIns="0" bIns="0" rtlCol="0" anchor="ctr"/>
          <a:lstStyle/>
          <a:p>
            <a:pPr>
              <a:lnSpc>
                <a:spcPct val="130000"/>
              </a:lnSpc>
            </a:pPr>
            <a:r>
              <a:rPr lang="en-US" sz="1046" dirty="0">
                <a:solidFill>
                  <a:srgbClr val="2D3436"/>
                </a:solidFill>
                <a:latin typeface="MiSans" pitchFamily="34" charset="0"/>
                <a:ea typeface="MiSans" pitchFamily="34" charset="-122"/>
                <a:cs typeface="MiSans" pitchFamily="34" charset="-120"/>
              </a:rPr>
              <a:t>A </a:t>
            </a:r>
            <a:pPr>
              <a:lnSpc>
                <a:spcPct val="130000"/>
              </a:lnSpc>
            </a:pPr>
            <a:r>
              <a:rPr lang="en-US" sz="1046" b="1" dirty="0">
                <a:solidFill>
                  <a:srgbClr val="2D3436"/>
                </a:solidFill>
                <a:latin typeface="MiSans" pitchFamily="34" charset="0"/>
                <a:ea typeface="MiSans" pitchFamily="34" charset="-122"/>
                <a:cs typeface="MiSans" pitchFamily="34" charset="-120"/>
              </a:rPr>
              <a:t>district-level average</a:t>
            </a:r>
            <a:pPr>
              <a:lnSpc>
                <a:spcPct val="130000"/>
              </a:lnSpc>
            </a:pPr>
            <a:r>
              <a:rPr lang="en-US" sz="1046" dirty="0">
                <a:solidFill>
                  <a:srgbClr val="2D3436"/>
                </a:solidFill>
                <a:latin typeface="MiSans" pitchFamily="34" charset="0"/>
                <a:ea typeface="MiSans" pitchFamily="34" charset="-122"/>
                <a:cs typeface="MiSans" pitchFamily="34" charset="-120"/>
              </a:rPr>
              <a:t> masks the distribution across schools</a:t>
            </a:r>
            <a:endParaRPr lang="en-US" sz="1600" dirty="0"/>
          </a:p>
        </p:txBody>
      </p:sp>
      <p:sp>
        <p:nvSpPr>
          <p:cNvPr id="12" name="Shape 10"/>
          <p:cNvSpPr/>
          <p:nvPr/>
        </p:nvSpPr>
        <p:spPr>
          <a:xfrm>
            <a:off x="481700" y="2744861"/>
            <a:ext cx="132883" cy="132883"/>
          </a:xfrm>
          <a:custGeom>
            <a:avLst/>
            <a:gdLst/>
            <a:ahLst/>
            <a:cxnLst/>
            <a:rect l="l" t="t" r="r" b="b"/>
            <a:pathLst>
              <a:path w="132883" h="132883">
                <a:moveTo>
                  <a:pt x="60342" y="1350"/>
                </a:moveTo>
                <a:cubicBezTo>
                  <a:pt x="64209" y="-441"/>
                  <a:pt x="68673" y="-441"/>
                  <a:pt x="72541" y="1350"/>
                </a:cubicBezTo>
                <a:lnTo>
                  <a:pt x="129275" y="27563"/>
                </a:lnTo>
                <a:cubicBezTo>
                  <a:pt x="131481" y="28575"/>
                  <a:pt x="132883" y="30781"/>
                  <a:pt x="132883" y="33221"/>
                </a:cubicBezTo>
                <a:cubicBezTo>
                  <a:pt x="132883" y="35660"/>
                  <a:pt x="131481" y="37866"/>
                  <a:pt x="129275" y="38879"/>
                </a:cubicBezTo>
                <a:lnTo>
                  <a:pt x="72541" y="65092"/>
                </a:lnTo>
                <a:cubicBezTo>
                  <a:pt x="68673" y="66883"/>
                  <a:pt x="64209" y="66883"/>
                  <a:pt x="60342" y="65092"/>
                </a:cubicBezTo>
                <a:lnTo>
                  <a:pt x="3608" y="38879"/>
                </a:lnTo>
                <a:cubicBezTo>
                  <a:pt x="1401" y="37840"/>
                  <a:pt x="0" y="35634"/>
                  <a:pt x="0" y="33221"/>
                </a:cubicBezTo>
                <a:cubicBezTo>
                  <a:pt x="0" y="30807"/>
                  <a:pt x="1401" y="28575"/>
                  <a:pt x="3608" y="27563"/>
                </a:cubicBezTo>
                <a:lnTo>
                  <a:pt x="60342" y="1350"/>
                </a:lnTo>
                <a:close/>
                <a:moveTo>
                  <a:pt x="12484" y="56683"/>
                </a:moveTo>
                <a:lnTo>
                  <a:pt x="55126" y="76382"/>
                </a:lnTo>
                <a:cubicBezTo>
                  <a:pt x="62315" y="79704"/>
                  <a:pt x="70594" y="79704"/>
                  <a:pt x="77783" y="76382"/>
                </a:cubicBezTo>
                <a:lnTo>
                  <a:pt x="120425" y="56683"/>
                </a:lnTo>
                <a:lnTo>
                  <a:pt x="129275" y="60784"/>
                </a:lnTo>
                <a:cubicBezTo>
                  <a:pt x="131481" y="61796"/>
                  <a:pt x="132883" y="64002"/>
                  <a:pt x="132883" y="66441"/>
                </a:cubicBezTo>
                <a:cubicBezTo>
                  <a:pt x="132883" y="68881"/>
                  <a:pt x="131481" y="71087"/>
                  <a:pt x="129275" y="72099"/>
                </a:cubicBezTo>
                <a:lnTo>
                  <a:pt x="72541" y="98313"/>
                </a:lnTo>
                <a:cubicBezTo>
                  <a:pt x="68673" y="100103"/>
                  <a:pt x="64209" y="100103"/>
                  <a:pt x="60342" y="98313"/>
                </a:cubicBezTo>
                <a:lnTo>
                  <a:pt x="3608" y="72099"/>
                </a:lnTo>
                <a:cubicBezTo>
                  <a:pt x="1401" y="71061"/>
                  <a:pt x="0" y="68855"/>
                  <a:pt x="0" y="66441"/>
                </a:cubicBezTo>
                <a:cubicBezTo>
                  <a:pt x="0" y="64028"/>
                  <a:pt x="1401" y="61796"/>
                  <a:pt x="3608" y="60784"/>
                </a:cubicBezTo>
                <a:lnTo>
                  <a:pt x="12458" y="56683"/>
                </a:lnTo>
                <a:close/>
                <a:moveTo>
                  <a:pt x="3608" y="94004"/>
                </a:moveTo>
                <a:lnTo>
                  <a:pt x="12458" y="89904"/>
                </a:lnTo>
                <a:lnTo>
                  <a:pt x="55100" y="109602"/>
                </a:lnTo>
                <a:cubicBezTo>
                  <a:pt x="62289" y="112924"/>
                  <a:pt x="70568" y="112924"/>
                  <a:pt x="77757" y="109602"/>
                </a:cubicBezTo>
                <a:lnTo>
                  <a:pt x="120399" y="89904"/>
                </a:lnTo>
                <a:lnTo>
                  <a:pt x="129249" y="94004"/>
                </a:lnTo>
                <a:cubicBezTo>
                  <a:pt x="131455" y="95016"/>
                  <a:pt x="132857" y="97222"/>
                  <a:pt x="132857" y="99662"/>
                </a:cubicBezTo>
                <a:cubicBezTo>
                  <a:pt x="132857" y="102102"/>
                  <a:pt x="131455" y="104308"/>
                  <a:pt x="129249" y="105320"/>
                </a:cubicBezTo>
                <a:lnTo>
                  <a:pt x="72515" y="131533"/>
                </a:lnTo>
                <a:cubicBezTo>
                  <a:pt x="68647" y="133324"/>
                  <a:pt x="64183" y="133324"/>
                  <a:pt x="60316" y="131533"/>
                </a:cubicBezTo>
                <a:lnTo>
                  <a:pt x="3608" y="105320"/>
                </a:lnTo>
                <a:cubicBezTo>
                  <a:pt x="1401" y="104282"/>
                  <a:pt x="0" y="102076"/>
                  <a:pt x="0" y="99662"/>
                </a:cubicBezTo>
                <a:cubicBezTo>
                  <a:pt x="0" y="97248"/>
                  <a:pt x="1401" y="95016"/>
                  <a:pt x="3608" y="94004"/>
                </a:cubicBezTo>
                <a:close/>
              </a:path>
            </a:pathLst>
          </a:custGeom>
          <a:solidFill>
            <a:srgbClr val="C49A2C"/>
          </a:solidFill>
          <a:ln/>
        </p:spPr>
      </p:sp>
      <p:sp>
        <p:nvSpPr>
          <p:cNvPr id="13" name="Text 11"/>
          <p:cNvSpPr/>
          <p:nvPr/>
        </p:nvSpPr>
        <p:spPr>
          <a:xfrm>
            <a:off x="674643" y="2707488"/>
            <a:ext cx="5288474" cy="199324"/>
          </a:xfrm>
          <a:prstGeom prst="rect">
            <a:avLst/>
          </a:prstGeom>
          <a:noFill/>
          <a:ln/>
        </p:spPr>
        <p:txBody>
          <a:bodyPr wrap="square" lIns="0" tIns="0" rIns="0" bIns="0" rtlCol="0" anchor="ctr"/>
          <a:lstStyle/>
          <a:p>
            <a:pPr>
              <a:lnSpc>
                <a:spcPct val="130000"/>
              </a:lnSpc>
            </a:pPr>
            <a:r>
              <a:rPr lang="en-US" sz="1046" dirty="0">
                <a:solidFill>
                  <a:srgbClr val="2D3436"/>
                </a:solidFill>
                <a:latin typeface="MiSans" pitchFamily="34" charset="0"/>
                <a:ea typeface="MiSans" pitchFamily="34" charset="-122"/>
                <a:cs typeface="MiSans" pitchFamily="34" charset="-120"/>
              </a:rPr>
              <a:t>A </a:t>
            </a:r>
            <a:pPr>
              <a:lnSpc>
                <a:spcPct val="130000"/>
              </a:lnSpc>
            </a:pPr>
            <a:r>
              <a:rPr lang="en-US" sz="1046" b="1" dirty="0">
                <a:solidFill>
                  <a:srgbClr val="2D3436"/>
                </a:solidFill>
                <a:latin typeface="MiSans" pitchFamily="34" charset="0"/>
                <a:ea typeface="MiSans" pitchFamily="34" charset="-122"/>
                <a:cs typeface="MiSans" pitchFamily="34" charset="-120"/>
              </a:rPr>
              <a:t>programme-level average</a:t>
            </a:r>
            <a:pPr>
              <a:lnSpc>
                <a:spcPct val="130000"/>
              </a:lnSpc>
            </a:pPr>
            <a:r>
              <a:rPr lang="en-US" sz="1046" dirty="0">
                <a:solidFill>
                  <a:srgbClr val="2D3436"/>
                </a:solidFill>
                <a:latin typeface="MiSans" pitchFamily="34" charset="0"/>
                <a:ea typeface="MiSans" pitchFamily="34" charset="-122"/>
                <a:cs typeface="MiSans" pitchFamily="34" charset="-120"/>
              </a:rPr>
              <a:t> masks the distribution across districts</a:t>
            </a:r>
            <a:endParaRPr lang="en-US" sz="1600" dirty="0"/>
          </a:p>
        </p:txBody>
      </p:sp>
      <p:sp>
        <p:nvSpPr>
          <p:cNvPr id="14" name="Shape 12"/>
          <p:cNvSpPr/>
          <p:nvPr/>
        </p:nvSpPr>
        <p:spPr>
          <a:xfrm>
            <a:off x="332207" y="3139357"/>
            <a:ext cx="5697351" cy="1528153"/>
          </a:xfrm>
          <a:custGeom>
            <a:avLst/>
            <a:gdLst/>
            <a:ahLst/>
            <a:cxnLst/>
            <a:rect l="l" t="t" r="r" b="b"/>
            <a:pathLst>
              <a:path w="5697351" h="1528153">
                <a:moveTo>
                  <a:pt x="0" y="0"/>
                </a:moveTo>
                <a:lnTo>
                  <a:pt x="5697351" y="0"/>
                </a:lnTo>
                <a:lnTo>
                  <a:pt x="5697351" y="1528153"/>
                </a:lnTo>
                <a:lnTo>
                  <a:pt x="0" y="1528153"/>
                </a:lnTo>
                <a:lnTo>
                  <a:pt x="0" y="0"/>
                </a:lnTo>
                <a:close/>
              </a:path>
            </a:pathLst>
          </a:custGeom>
          <a:solidFill>
            <a:srgbClr val="1E3A5F"/>
          </a:solidFill>
          <a:ln/>
        </p:spPr>
      </p:sp>
      <p:sp>
        <p:nvSpPr>
          <p:cNvPr id="15" name="Text 13"/>
          <p:cNvSpPr/>
          <p:nvPr/>
        </p:nvSpPr>
        <p:spPr>
          <a:xfrm>
            <a:off x="465090" y="3272240"/>
            <a:ext cx="5514638" cy="232545"/>
          </a:xfrm>
          <a:prstGeom prst="rect">
            <a:avLst/>
          </a:prstGeom>
          <a:noFill/>
          <a:ln/>
        </p:spPr>
        <p:txBody>
          <a:bodyPr wrap="square" lIns="0" tIns="0" rIns="0" bIns="0" rtlCol="0" anchor="ctr"/>
          <a:lstStyle/>
          <a:p>
            <a:pPr>
              <a:lnSpc>
                <a:spcPct val="120000"/>
              </a:lnSpc>
            </a:pPr>
            <a:r>
              <a:rPr lang="en-US" sz="1308" b="1" dirty="0">
                <a:solidFill>
                  <a:srgbClr val="F8F9FA"/>
                </a:solidFill>
                <a:latin typeface="MiSans" pitchFamily="34" charset="0"/>
                <a:ea typeface="MiSans" pitchFamily="34" charset="-122"/>
                <a:cs typeface="MiSans" pitchFamily="34" charset="-120"/>
              </a:rPr>
              <a:t>The Question Aggregate Data Cannot Answer</a:t>
            </a:r>
            <a:endParaRPr lang="en-US" sz="1600" dirty="0"/>
          </a:p>
        </p:txBody>
      </p:sp>
      <p:sp>
        <p:nvSpPr>
          <p:cNvPr id="16" name="Shape 14"/>
          <p:cNvSpPr/>
          <p:nvPr/>
        </p:nvSpPr>
        <p:spPr>
          <a:xfrm>
            <a:off x="465090" y="3604447"/>
            <a:ext cx="5431586" cy="398649"/>
          </a:xfrm>
          <a:custGeom>
            <a:avLst/>
            <a:gdLst/>
            <a:ahLst/>
            <a:cxnLst/>
            <a:rect l="l" t="t" r="r" b="b"/>
            <a:pathLst>
              <a:path w="5431586" h="398649">
                <a:moveTo>
                  <a:pt x="0" y="0"/>
                </a:moveTo>
                <a:lnTo>
                  <a:pt x="5431586" y="0"/>
                </a:lnTo>
                <a:lnTo>
                  <a:pt x="5431586" y="398649"/>
                </a:lnTo>
                <a:lnTo>
                  <a:pt x="0" y="398649"/>
                </a:lnTo>
                <a:lnTo>
                  <a:pt x="0" y="0"/>
                </a:lnTo>
                <a:close/>
              </a:path>
            </a:pathLst>
          </a:custGeom>
          <a:solidFill>
            <a:srgbClr val="C49A2C">
              <a:alpha val="30196"/>
            </a:srgbClr>
          </a:solidFill>
          <a:ln/>
        </p:spPr>
      </p:sp>
      <p:sp>
        <p:nvSpPr>
          <p:cNvPr id="17" name="Text 15"/>
          <p:cNvSpPr/>
          <p:nvPr/>
        </p:nvSpPr>
        <p:spPr>
          <a:xfrm>
            <a:off x="564752" y="3704109"/>
            <a:ext cx="5298703" cy="199324"/>
          </a:xfrm>
          <a:prstGeom prst="rect">
            <a:avLst/>
          </a:prstGeom>
          <a:noFill/>
          <a:ln/>
        </p:spPr>
        <p:txBody>
          <a:bodyPr wrap="square" lIns="0" tIns="0" rIns="0" bIns="0" rtlCol="0" anchor="ctr"/>
          <a:lstStyle/>
          <a:p>
            <a:pPr>
              <a:lnSpc>
                <a:spcPct val="130000"/>
              </a:lnSpc>
            </a:pPr>
            <a:r>
              <a:rPr lang="en-US" sz="1046" b="1" dirty="0">
                <a:solidFill>
                  <a:srgbClr val="F8F9FA"/>
                </a:solidFill>
                <a:latin typeface="MiSans" pitchFamily="34" charset="0"/>
                <a:ea typeface="MiSans" pitchFamily="34" charset="-122"/>
                <a:cs typeface="MiSans" pitchFamily="34" charset="-120"/>
              </a:rPr>
              <a:t>"For which schools does this work, and under what conditions?"</a:t>
            </a:r>
            <a:endParaRPr lang="en-US" sz="1600" dirty="0"/>
          </a:p>
        </p:txBody>
      </p:sp>
      <p:sp>
        <p:nvSpPr>
          <p:cNvPr id="18" name="Text 16"/>
          <p:cNvSpPr/>
          <p:nvPr/>
        </p:nvSpPr>
        <p:spPr>
          <a:xfrm>
            <a:off x="465090" y="4102757"/>
            <a:ext cx="5498027" cy="431869"/>
          </a:xfrm>
          <a:prstGeom prst="rect">
            <a:avLst/>
          </a:prstGeom>
          <a:noFill/>
          <a:ln/>
        </p:spPr>
        <p:txBody>
          <a:bodyPr wrap="square" lIns="0" tIns="0" rIns="0" bIns="0" rtlCol="0" anchor="ctr"/>
          <a:lstStyle/>
          <a:p>
            <a:pPr>
              <a:lnSpc>
                <a:spcPct val="140000"/>
              </a:lnSpc>
            </a:pPr>
            <a:r>
              <a:rPr lang="en-US" sz="1046" dirty="0">
                <a:solidFill>
                  <a:srgbClr val="F8F9FA"/>
                </a:solidFill>
                <a:latin typeface="MiSans" pitchFamily="34" charset="0"/>
                <a:ea typeface="MiSans" pitchFamily="34" charset="-122"/>
                <a:cs typeface="MiSans" pitchFamily="34" charset="-120"/>
              </a:rPr>
              <a:t>This is the question that </a:t>
            </a:r>
            <a:pPr>
              <a:lnSpc>
                <a:spcPct val="140000"/>
              </a:lnSpc>
            </a:pPr>
            <a:r>
              <a:rPr lang="en-US" sz="1046" b="1" dirty="0">
                <a:solidFill>
                  <a:srgbClr val="F8F9FA"/>
                </a:solidFill>
                <a:latin typeface="MiSans" pitchFamily="34" charset="0"/>
                <a:ea typeface="MiSans" pitchFamily="34" charset="-122"/>
                <a:cs typeface="MiSans" pitchFamily="34" charset="-120"/>
              </a:rPr>
              <a:t>local and national commissioners increasingly ask</a:t>
            </a:r>
            <a:pPr>
              <a:lnSpc>
                <a:spcPct val="140000"/>
              </a:lnSpc>
            </a:pPr>
            <a:r>
              <a:rPr lang="en-US" sz="1046" dirty="0">
                <a:solidFill>
                  <a:srgbClr val="F8F9FA"/>
                </a:solidFill>
                <a:latin typeface="MiSans" pitchFamily="34" charset="0"/>
                <a:ea typeface="MiSans" pitchFamily="34" charset="-122"/>
                <a:cs typeface="MiSans" pitchFamily="34" charset="-120"/>
              </a:rPr>
              <a:t>, and it is a question that aggregate data alone cannot answer.</a:t>
            </a:r>
            <a:endParaRPr lang="en-US" sz="1600" dirty="0"/>
          </a:p>
        </p:txBody>
      </p:sp>
      <p:sp>
        <p:nvSpPr>
          <p:cNvPr id="19" name="Shape 17"/>
          <p:cNvSpPr/>
          <p:nvPr/>
        </p:nvSpPr>
        <p:spPr>
          <a:xfrm>
            <a:off x="332207" y="4783782"/>
            <a:ext cx="5697351" cy="1876970"/>
          </a:xfrm>
          <a:custGeom>
            <a:avLst/>
            <a:gdLst/>
            <a:ahLst/>
            <a:cxnLst/>
            <a:rect l="l" t="t" r="r" b="b"/>
            <a:pathLst>
              <a:path w="5697351" h="1876970">
                <a:moveTo>
                  <a:pt x="0" y="0"/>
                </a:moveTo>
                <a:lnTo>
                  <a:pt x="5697351" y="0"/>
                </a:lnTo>
                <a:lnTo>
                  <a:pt x="5697351" y="1876970"/>
                </a:lnTo>
                <a:lnTo>
                  <a:pt x="0" y="1876970"/>
                </a:lnTo>
                <a:lnTo>
                  <a:pt x="0" y="0"/>
                </a:lnTo>
                <a:close/>
              </a:path>
            </a:pathLst>
          </a:custGeom>
          <a:solidFill>
            <a:srgbClr val="FFFFFF"/>
          </a:solidFill>
          <a:ln/>
        </p:spPr>
      </p:sp>
      <p:sp>
        <p:nvSpPr>
          <p:cNvPr id="20" name="Shape 18"/>
          <p:cNvSpPr/>
          <p:nvPr/>
        </p:nvSpPr>
        <p:spPr>
          <a:xfrm>
            <a:off x="332207" y="4783782"/>
            <a:ext cx="5697351" cy="33221"/>
          </a:xfrm>
          <a:custGeom>
            <a:avLst/>
            <a:gdLst/>
            <a:ahLst/>
            <a:cxnLst/>
            <a:rect l="l" t="t" r="r" b="b"/>
            <a:pathLst>
              <a:path w="5697351" h="33221">
                <a:moveTo>
                  <a:pt x="0" y="0"/>
                </a:moveTo>
                <a:lnTo>
                  <a:pt x="5697351" y="0"/>
                </a:lnTo>
                <a:lnTo>
                  <a:pt x="5697351" y="33221"/>
                </a:lnTo>
                <a:lnTo>
                  <a:pt x="0" y="33221"/>
                </a:lnTo>
                <a:lnTo>
                  <a:pt x="0" y="0"/>
                </a:lnTo>
                <a:close/>
              </a:path>
            </a:pathLst>
          </a:custGeom>
          <a:solidFill>
            <a:srgbClr val="C49A2C"/>
          </a:solidFill>
          <a:ln/>
        </p:spPr>
      </p:sp>
      <p:sp>
        <p:nvSpPr>
          <p:cNvPr id="21" name="Text 19"/>
          <p:cNvSpPr/>
          <p:nvPr/>
        </p:nvSpPr>
        <p:spPr>
          <a:xfrm>
            <a:off x="465090" y="4933275"/>
            <a:ext cx="5514638" cy="232545"/>
          </a:xfrm>
          <a:prstGeom prst="rect">
            <a:avLst/>
          </a:prstGeom>
          <a:noFill/>
          <a:ln/>
        </p:spPr>
        <p:txBody>
          <a:bodyPr wrap="square" lIns="0" tIns="0" rIns="0" bIns="0" rtlCol="0" anchor="ctr"/>
          <a:lstStyle/>
          <a:p>
            <a:pPr>
              <a:lnSpc>
                <a:spcPct val="120000"/>
              </a:lnSpc>
            </a:pPr>
            <a:r>
              <a:rPr lang="en-US" sz="1308" b="1" dirty="0">
                <a:solidFill>
                  <a:srgbClr val="1E3A5F"/>
                </a:solidFill>
                <a:latin typeface="MiSans" pitchFamily="34" charset="0"/>
                <a:ea typeface="MiSans" pitchFamily="34" charset="-122"/>
                <a:cs typeface="MiSans" pitchFamily="34" charset="-120"/>
              </a:rPr>
              <a:t>School-Level Variation Data</a:t>
            </a:r>
            <a:endParaRPr lang="en-US" sz="1600" dirty="0"/>
          </a:p>
        </p:txBody>
      </p:sp>
      <p:sp>
        <p:nvSpPr>
          <p:cNvPr id="22" name="Text 20"/>
          <p:cNvSpPr/>
          <p:nvPr/>
        </p:nvSpPr>
        <p:spPr>
          <a:xfrm>
            <a:off x="465090" y="5265482"/>
            <a:ext cx="5498027" cy="431869"/>
          </a:xfrm>
          <a:prstGeom prst="rect">
            <a:avLst/>
          </a:prstGeom>
          <a:noFill/>
          <a:ln/>
        </p:spPr>
        <p:txBody>
          <a:bodyPr wrap="square" lIns="0" tIns="0" rIns="0" bIns="0" rtlCol="0" anchor="ctr"/>
          <a:lstStyle/>
          <a:p>
            <a:pPr>
              <a:lnSpc>
                <a:spcPct val="140000"/>
              </a:lnSpc>
            </a:pPr>
            <a:r>
              <a:rPr lang="en-US" sz="1046" dirty="0">
                <a:solidFill>
                  <a:srgbClr val="2D3436"/>
                </a:solidFill>
                <a:latin typeface="MiSans" pitchFamily="34" charset="0"/>
                <a:ea typeface="MiSans" pitchFamily="34" charset="-122"/>
                <a:cs typeface="MiSans" pitchFamily="34" charset="-120"/>
              </a:rPr>
              <a:t>The MPI's school-level variation data (Chapter 6 of the Technical Handbook) provides </a:t>
            </a:r>
            <a:pPr>
              <a:lnSpc>
                <a:spcPct val="140000"/>
              </a:lnSpc>
            </a:pPr>
            <a:r>
              <a:rPr lang="en-US" sz="1046" b="1" dirty="0">
                <a:solidFill>
                  <a:srgbClr val="2D3436"/>
                </a:solidFill>
                <a:latin typeface="MiSans" pitchFamily="34" charset="0"/>
                <a:ea typeface="MiSans" pitchFamily="34" charset="-122"/>
                <a:cs typeface="MiSans" pitchFamily="34" charset="-120"/>
              </a:rPr>
              <a:t>some answers</a:t>
            </a:r>
            <a:pPr>
              <a:lnSpc>
                <a:spcPct val="140000"/>
              </a:lnSpc>
            </a:pPr>
            <a:r>
              <a:rPr lang="en-US" sz="1046" dirty="0">
                <a:solidFill>
                  <a:srgbClr val="2D3436"/>
                </a:solidFill>
                <a:latin typeface="MiSans" pitchFamily="34" charset="0"/>
                <a:ea typeface="MiSans" pitchFamily="34" charset="-122"/>
                <a:cs typeface="MiSans" pitchFamily="34" charset="-120"/>
              </a:rPr>
              <a:t>:</a:t>
            </a:r>
            <a:endParaRPr lang="en-US" sz="1600" dirty="0"/>
          </a:p>
        </p:txBody>
      </p:sp>
      <p:sp>
        <p:nvSpPr>
          <p:cNvPr id="23" name="Shape 21"/>
          <p:cNvSpPr/>
          <p:nvPr/>
        </p:nvSpPr>
        <p:spPr>
          <a:xfrm>
            <a:off x="481700" y="5834387"/>
            <a:ext cx="132883" cy="132883"/>
          </a:xfrm>
          <a:custGeom>
            <a:avLst/>
            <a:gdLst/>
            <a:ahLst/>
            <a:cxnLst/>
            <a:rect l="l" t="t" r="r" b="b"/>
            <a:pathLst>
              <a:path w="132883" h="132883">
                <a:moveTo>
                  <a:pt x="16610" y="16610"/>
                </a:moveTo>
                <a:cubicBezTo>
                  <a:pt x="16610" y="12017"/>
                  <a:pt x="12899" y="8305"/>
                  <a:pt x="8305" y="8305"/>
                </a:cubicBezTo>
                <a:cubicBezTo>
                  <a:pt x="3711" y="8305"/>
                  <a:pt x="0" y="12017"/>
                  <a:pt x="0" y="16610"/>
                </a:cubicBezTo>
                <a:lnTo>
                  <a:pt x="0" y="103815"/>
                </a:lnTo>
                <a:cubicBezTo>
                  <a:pt x="0" y="115286"/>
                  <a:pt x="9291" y="124578"/>
                  <a:pt x="20763" y="124578"/>
                </a:cubicBezTo>
                <a:lnTo>
                  <a:pt x="124578" y="124578"/>
                </a:lnTo>
                <a:cubicBezTo>
                  <a:pt x="129171" y="124578"/>
                  <a:pt x="132883" y="120866"/>
                  <a:pt x="132883" y="116272"/>
                </a:cubicBezTo>
                <a:cubicBezTo>
                  <a:pt x="132883" y="111679"/>
                  <a:pt x="129171" y="107967"/>
                  <a:pt x="124578" y="107967"/>
                </a:cubicBezTo>
                <a:lnTo>
                  <a:pt x="20763" y="107967"/>
                </a:lnTo>
                <a:cubicBezTo>
                  <a:pt x="18479" y="107967"/>
                  <a:pt x="16610" y="106099"/>
                  <a:pt x="16610" y="103815"/>
                </a:cubicBezTo>
                <a:lnTo>
                  <a:pt x="16610" y="16610"/>
                </a:lnTo>
                <a:close/>
                <a:moveTo>
                  <a:pt x="122138" y="39086"/>
                </a:moveTo>
                <a:cubicBezTo>
                  <a:pt x="125382" y="35842"/>
                  <a:pt x="125382" y="30573"/>
                  <a:pt x="122138" y="27329"/>
                </a:cubicBezTo>
                <a:cubicBezTo>
                  <a:pt x="118894" y="24085"/>
                  <a:pt x="113625" y="24085"/>
                  <a:pt x="110381" y="27329"/>
                </a:cubicBezTo>
                <a:lnTo>
                  <a:pt x="83052" y="54684"/>
                </a:lnTo>
                <a:lnTo>
                  <a:pt x="68154" y="39813"/>
                </a:lnTo>
                <a:cubicBezTo>
                  <a:pt x="64910" y="36569"/>
                  <a:pt x="59642" y="36569"/>
                  <a:pt x="56397" y="39813"/>
                </a:cubicBezTo>
                <a:lnTo>
                  <a:pt x="31482" y="64728"/>
                </a:lnTo>
                <a:cubicBezTo>
                  <a:pt x="28238" y="67973"/>
                  <a:pt x="28238" y="73241"/>
                  <a:pt x="31482" y="76485"/>
                </a:cubicBezTo>
                <a:cubicBezTo>
                  <a:pt x="34726" y="79730"/>
                  <a:pt x="39995" y="79730"/>
                  <a:pt x="43239" y="76485"/>
                </a:cubicBezTo>
                <a:lnTo>
                  <a:pt x="62289" y="57435"/>
                </a:lnTo>
                <a:lnTo>
                  <a:pt x="77186" y="72333"/>
                </a:lnTo>
                <a:cubicBezTo>
                  <a:pt x="80430" y="75577"/>
                  <a:pt x="85699" y="75577"/>
                  <a:pt x="88943" y="72333"/>
                </a:cubicBezTo>
                <a:lnTo>
                  <a:pt x="122164" y="39112"/>
                </a:lnTo>
                <a:close/>
              </a:path>
            </a:pathLst>
          </a:custGeom>
          <a:solidFill>
            <a:srgbClr val="C49A2C"/>
          </a:solidFill>
          <a:ln/>
        </p:spPr>
      </p:sp>
      <p:sp>
        <p:nvSpPr>
          <p:cNvPr id="24" name="Text 22"/>
          <p:cNvSpPr/>
          <p:nvPr/>
        </p:nvSpPr>
        <p:spPr>
          <a:xfrm>
            <a:off x="674643" y="5797014"/>
            <a:ext cx="5288474" cy="199324"/>
          </a:xfrm>
          <a:prstGeom prst="rect">
            <a:avLst/>
          </a:prstGeom>
          <a:noFill/>
          <a:ln/>
        </p:spPr>
        <p:txBody>
          <a:bodyPr wrap="square" lIns="0" tIns="0" rIns="0" bIns="0" rtlCol="0" anchor="ctr"/>
          <a:lstStyle/>
          <a:p>
            <a:pPr>
              <a:lnSpc>
                <a:spcPct val="130000"/>
              </a:lnSpc>
            </a:pPr>
            <a:r>
              <a:rPr lang="en-US" sz="1046" dirty="0">
                <a:solidFill>
                  <a:srgbClr val="2D3436"/>
                </a:solidFill>
                <a:latin typeface="MiSans" pitchFamily="34" charset="0"/>
                <a:ea typeface="MiSans" pitchFamily="34" charset="-122"/>
                <a:cs typeface="MiSans" pitchFamily="34" charset="-120"/>
              </a:rPr>
              <a:t>Effect sizes range from </a:t>
            </a:r>
            <a:pPr>
              <a:lnSpc>
                <a:spcPct val="130000"/>
              </a:lnSpc>
            </a:pPr>
            <a:r>
              <a:rPr lang="en-US" sz="1046" b="1" dirty="0">
                <a:solidFill>
                  <a:srgbClr val="2D3436"/>
                </a:solidFill>
                <a:latin typeface="MiSans" pitchFamily="34" charset="0"/>
                <a:ea typeface="MiSans" pitchFamily="34" charset="-122"/>
                <a:cs typeface="MiSans" pitchFamily="34" charset="-120"/>
              </a:rPr>
              <a:t>approximately 0.3 to 1.1</a:t>
            </a:r>
            <a:endParaRPr lang="en-US" sz="1600" dirty="0"/>
          </a:p>
        </p:txBody>
      </p:sp>
      <p:sp>
        <p:nvSpPr>
          <p:cNvPr id="25" name="Shape 23"/>
          <p:cNvSpPr/>
          <p:nvPr/>
        </p:nvSpPr>
        <p:spPr>
          <a:xfrm>
            <a:off x="481700" y="6100153"/>
            <a:ext cx="132883" cy="132883"/>
          </a:xfrm>
          <a:custGeom>
            <a:avLst/>
            <a:gdLst/>
            <a:ahLst/>
            <a:cxnLst/>
            <a:rect l="l" t="t" r="r" b="b"/>
            <a:pathLst>
              <a:path w="132883" h="132883">
                <a:moveTo>
                  <a:pt x="16610" y="16610"/>
                </a:moveTo>
                <a:cubicBezTo>
                  <a:pt x="16610" y="12017"/>
                  <a:pt x="12899" y="8305"/>
                  <a:pt x="8305" y="8305"/>
                </a:cubicBezTo>
                <a:cubicBezTo>
                  <a:pt x="3711" y="8305"/>
                  <a:pt x="0" y="12017"/>
                  <a:pt x="0" y="16610"/>
                </a:cubicBezTo>
                <a:lnTo>
                  <a:pt x="0" y="103815"/>
                </a:lnTo>
                <a:cubicBezTo>
                  <a:pt x="0" y="115286"/>
                  <a:pt x="9291" y="124578"/>
                  <a:pt x="20763" y="124578"/>
                </a:cubicBezTo>
                <a:lnTo>
                  <a:pt x="124578" y="124578"/>
                </a:lnTo>
                <a:cubicBezTo>
                  <a:pt x="129171" y="124578"/>
                  <a:pt x="132883" y="120866"/>
                  <a:pt x="132883" y="116272"/>
                </a:cubicBezTo>
                <a:cubicBezTo>
                  <a:pt x="132883" y="111679"/>
                  <a:pt x="129171" y="107967"/>
                  <a:pt x="124578" y="107967"/>
                </a:cubicBezTo>
                <a:lnTo>
                  <a:pt x="20763" y="107967"/>
                </a:lnTo>
                <a:cubicBezTo>
                  <a:pt x="18479" y="107967"/>
                  <a:pt x="16610" y="106099"/>
                  <a:pt x="16610" y="103815"/>
                </a:cubicBezTo>
                <a:lnTo>
                  <a:pt x="16610" y="16610"/>
                </a:lnTo>
                <a:close/>
                <a:moveTo>
                  <a:pt x="122138" y="39086"/>
                </a:moveTo>
                <a:cubicBezTo>
                  <a:pt x="125382" y="35842"/>
                  <a:pt x="125382" y="30573"/>
                  <a:pt x="122138" y="27329"/>
                </a:cubicBezTo>
                <a:cubicBezTo>
                  <a:pt x="118894" y="24085"/>
                  <a:pt x="113625" y="24085"/>
                  <a:pt x="110381" y="27329"/>
                </a:cubicBezTo>
                <a:lnTo>
                  <a:pt x="83052" y="54684"/>
                </a:lnTo>
                <a:lnTo>
                  <a:pt x="68154" y="39813"/>
                </a:lnTo>
                <a:cubicBezTo>
                  <a:pt x="64910" y="36569"/>
                  <a:pt x="59642" y="36569"/>
                  <a:pt x="56397" y="39813"/>
                </a:cubicBezTo>
                <a:lnTo>
                  <a:pt x="31482" y="64728"/>
                </a:lnTo>
                <a:cubicBezTo>
                  <a:pt x="28238" y="67973"/>
                  <a:pt x="28238" y="73241"/>
                  <a:pt x="31482" y="76485"/>
                </a:cubicBezTo>
                <a:cubicBezTo>
                  <a:pt x="34726" y="79730"/>
                  <a:pt x="39995" y="79730"/>
                  <a:pt x="43239" y="76485"/>
                </a:cubicBezTo>
                <a:lnTo>
                  <a:pt x="62289" y="57435"/>
                </a:lnTo>
                <a:lnTo>
                  <a:pt x="77186" y="72333"/>
                </a:lnTo>
                <a:cubicBezTo>
                  <a:pt x="80430" y="75577"/>
                  <a:pt x="85699" y="75577"/>
                  <a:pt x="88943" y="72333"/>
                </a:cubicBezTo>
                <a:lnTo>
                  <a:pt x="122164" y="39112"/>
                </a:lnTo>
                <a:close/>
              </a:path>
            </a:pathLst>
          </a:custGeom>
          <a:solidFill>
            <a:srgbClr val="C49A2C"/>
          </a:solidFill>
          <a:ln/>
        </p:spPr>
      </p:sp>
      <p:sp>
        <p:nvSpPr>
          <p:cNvPr id="26" name="Text 24"/>
          <p:cNvSpPr/>
          <p:nvPr/>
        </p:nvSpPr>
        <p:spPr>
          <a:xfrm>
            <a:off x="674643" y="6062779"/>
            <a:ext cx="5288474" cy="199324"/>
          </a:xfrm>
          <a:prstGeom prst="rect">
            <a:avLst/>
          </a:prstGeom>
          <a:noFill/>
          <a:ln/>
        </p:spPr>
        <p:txBody>
          <a:bodyPr wrap="square" lIns="0" tIns="0" rIns="0" bIns="0" rtlCol="0" anchor="ctr"/>
          <a:lstStyle/>
          <a:p>
            <a:pPr>
              <a:lnSpc>
                <a:spcPct val="130000"/>
              </a:lnSpc>
            </a:pPr>
            <a:r>
              <a:rPr lang="en-US" sz="1046" dirty="0">
                <a:solidFill>
                  <a:srgbClr val="2D3436"/>
                </a:solidFill>
                <a:latin typeface="MiSans" pitchFamily="34" charset="0"/>
                <a:ea typeface="MiSans" pitchFamily="34" charset="-122"/>
                <a:cs typeface="MiSans" pitchFamily="34" charset="-120"/>
              </a:rPr>
              <a:t>The distribution is broadly </a:t>
            </a:r>
            <a:pPr>
              <a:lnSpc>
                <a:spcPct val="130000"/>
              </a:lnSpc>
            </a:pPr>
            <a:r>
              <a:rPr lang="en-US" sz="1046" b="1" dirty="0">
                <a:solidFill>
                  <a:srgbClr val="2D3436"/>
                </a:solidFill>
                <a:latin typeface="MiSans" pitchFamily="34" charset="0"/>
                <a:ea typeface="MiSans" pitchFamily="34" charset="-122"/>
                <a:cs typeface="MiSans" pitchFamily="34" charset="-120"/>
              </a:rPr>
              <a:t>normal</a:t>
            </a:r>
            <a:endParaRPr lang="en-US" sz="1600" dirty="0"/>
          </a:p>
        </p:txBody>
      </p:sp>
      <p:sp>
        <p:nvSpPr>
          <p:cNvPr id="27" name="Shape 25"/>
          <p:cNvSpPr/>
          <p:nvPr/>
        </p:nvSpPr>
        <p:spPr>
          <a:xfrm>
            <a:off x="481700" y="6365918"/>
            <a:ext cx="132883" cy="132883"/>
          </a:xfrm>
          <a:custGeom>
            <a:avLst/>
            <a:gdLst/>
            <a:ahLst/>
            <a:cxnLst/>
            <a:rect l="l" t="t" r="r" b="b"/>
            <a:pathLst>
              <a:path w="132883" h="132883">
                <a:moveTo>
                  <a:pt x="16610" y="16610"/>
                </a:moveTo>
                <a:cubicBezTo>
                  <a:pt x="16610" y="12017"/>
                  <a:pt x="12899" y="8305"/>
                  <a:pt x="8305" y="8305"/>
                </a:cubicBezTo>
                <a:cubicBezTo>
                  <a:pt x="3711" y="8305"/>
                  <a:pt x="0" y="12017"/>
                  <a:pt x="0" y="16610"/>
                </a:cubicBezTo>
                <a:lnTo>
                  <a:pt x="0" y="103815"/>
                </a:lnTo>
                <a:cubicBezTo>
                  <a:pt x="0" y="115286"/>
                  <a:pt x="9291" y="124578"/>
                  <a:pt x="20763" y="124578"/>
                </a:cubicBezTo>
                <a:lnTo>
                  <a:pt x="124578" y="124578"/>
                </a:lnTo>
                <a:cubicBezTo>
                  <a:pt x="129171" y="124578"/>
                  <a:pt x="132883" y="120866"/>
                  <a:pt x="132883" y="116272"/>
                </a:cubicBezTo>
                <a:cubicBezTo>
                  <a:pt x="132883" y="111679"/>
                  <a:pt x="129171" y="107967"/>
                  <a:pt x="124578" y="107967"/>
                </a:cubicBezTo>
                <a:lnTo>
                  <a:pt x="20763" y="107967"/>
                </a:lnTo>
                <a:cubicBezTo>
                  <a:pt x="18479" y="107967"/>
                  <a:pt x="16610" y="106099"/>
                  <a:pt x="16610" y="103815"/>
                </a:cubicBezTo>
                <a:lnTo>
                  <a:pt x="16610" y="16610"/>
                </a:lnTo>
                <a:close/>
                <a:moveTo>
                  <a:pt x="122138" y="39086"/>
                </a:moveTo>
                <a:cubicBezTo>
                  <a:pt x="125382" y="35842"/>
                  <a:pt x="125382" y="30573"/>
                  <a:pt x="122138" y="27329"/>
                </a:cubicBezTo>
                <a:cubicBezTo>
                  <a:pt x="118894" y="24085"/>
                  <a:pt x="113625" y="24085"/>
                  <a:pt x="110381" y="27329"/>
                </a:cubicBezTo>
                <a:lnTo>
                  <a:pt x="83052" y="54684"/>
                </a:lnTo>
                <a:lnTo>
                  <a:pt x="68154" y="39813"/>
                </a:lnTo>
                <a:cubicBezTo>
                  <a:pt x="64910" y="36569"/>
                  <a:pt x="59642" y="36569"/>
                  <a:pt x="56397" y="39813"/>
                </a:cubicBezTo>
                <a:lnTo>
                  <a:pt x="31482" y="64728"/>
                </a:lnTo>
                <a:cubicBezTo>
                  <a:pt x="28238" y="67973"/>
                  <a:pt x="28238" y="73241"/>
                  <a:pt x="31482" y="76485"/>
                </a:cubicBezTo>
                <a:cubicBezTo>
                  <a:pt x="34726" y="79730"/>
                  <a:pt x="39995" y="79730"/>
                  <a:pt x="43239" y="76485"/>
                </a:cubicBezTo>
                <a:lnTo>
                  <a:pt x="62289" y="57435"/>
                </a:lnTo>
                <a:lnTo>
                  <a:pt x="77186" y="72333"/>
                </a:lnTo>
                <a:cubicBezTo>
                  <a:pt x="80430" y="75577"/>
                  <a:pt x="85699" y="75577"/>
                  <a:pt x="88943" y="72333"/>
                </a:cubicBezTo>
                <a:lnTo>
                  <a:pt x="122164" y="39112"/>
                </a:lnTo>
                <a:close/>
              </a:path>
            </a:pathLst>
          </a:custGeom>
          <a:solidFill>
            <a:srgbClr val="C49A2C"/>
          </a:solidFill>
          <a:ln/>
        </p:spPr>
      </p:sp>
      <p:sp>
        <p:nvSpPr>
          <p:cNvPr id="28" name="Text 26"/>
          <p:cNvSpPr/>
          <p:nvPr/>
        </p:nvSpPr>
        <p:spPr>
          <a:xfrm>
            <a:off x="674643" y="6328545"/>
            <a:ext cx="5288474" cy="199324"/>
          </a:xfrm>
          <a:prstGeom prst="rect">
            <a:avLst/>
          </a:prstGeom>
          <a:noFill/>
          <a:ln/>
        </p:spPr>
        <p:txBody>
          <a:bodyPr wrap="square" lIns="0" tIns="0" rIns="0" bIns="0" rtlCol="0" anchor="ctr"/>
          <a:lstStyle/>
          <a:p>
            <a:pPr>
              <a:lnSpc>
                <a:spcPct val="130000"/>
              </a:lnSpc>
            </a:pPr>
            <a:r>
              <a:rPr lang="en-US" sz="1046" dirty="0">
                <a:solidFill>
                  <a:srgbClr val="2D3436"/>
                </a:solidFill>
                <a:latin typeface="MiSans" pitchFamily="34" charset="0"/>
                <a:ea typeface="MiSans" pitchFamily="34" charset="-122"/>
                <a:cs typeface="MiSans" pitchFamily="34" charset="-120"/>
              </a:rPr>
              <a:t>Most schools are </a:t>
            </a:r>
            <a:pPr>
              <a:lnSpc>
                <a:spcPct val="130000"/>
              </a:lnSpc>
            </a:pPr>
            <a:r>
              <a:rPr lang="en-US" sz="1046" b="1" dirty="0">
                <a:solidFill>
                  <a:srgbClr val="2D3436"/>
                </a:solidFill>
                <a:latin typeface="MiSans" pitchFamily="34" charset="0"/>
                <a:ea typeface="MiSans" pitchFamily="34" charset="-122"/>
                <a:cs typeface="MiSans" pitchFamily="34" charset="-120"/>
              </a:rPr>
              <a:t>clustered between 0.45 and 0.75</a:t>
            </a:r>
            <a:endParaRPr lang="en-US" sz="1600" dirty="0"/>
          </a:p>
        </p:txBody>
      </p:sp>
      <p:sp>
        <p:nvSpPr>
          <p:cNvPr id="29" name="Shape 27"/>
          <p:cNvSpPr/>
          <p:nvPr/>
        </p:nvSpPr>
        <p:spPr>
          <a:xfrm>
            <a:off x="6164379" y="946790"/>
            <a:ext cx="5697351" cy="3936654"/>
          </a:xfrm>
          <a:custGeom>
            <a:avLst/>
            <a:gdLst/>
            <a:ahLst/>
            <a:cxnLst/>
            <a:rect l="l" t="t" r="r" b="b"/>
            <a:pathLst>
              <a:path w="5697351" h="3936654">
                <a:moveTo>
                  <a:pt x="0" y="0"/>
                </a:moveTo>
                <a:lnTo>
                  <a:pt x="5697351" y="0"/>
                </a:lnTo>
                <a:lnTo>
                  <a:pt x="5697351" y="3936654"/>
                </a:lnTo>
                <a:lnTo>
                  <a:pt x="0" y="3936654"/>
                </a:lnTo>
                <a:lnTo>
                  <a:pt x="0" y="0"/>
                </a:lnTo>
                <a:close/>
              </a:path>
            </a:pathLst>
          </a:custGeom>
          <a:solidFill>
            <a:srgbClr val="FFFFFF"/>
          </a:solidFill>
          <a:ln/>
        </p:spPr>
      </p:sp>
      <p:sp>
        <p:nvSpPr>
          <p:cNvPr id="30" name="Shape 28"/>
          <p:cNvSpPr/>
          <p:nvPr/>
        </p:nvSpPr>
        <p:spPr>
          <a:xfrm>
            <a:off x="6164379" y="946790"/>
            <a:ext cx="5697351" cy="33221"/>
          </a:xfrm>
          <a:custGeom>
            <a:avLst/>
            <a:gdLst/>
            <a:ahLst/>
            <a:cxnLst/>
            <a:rect l="l" t="t" r="r" b="b"/>
            <a:pathLst>
              <a:path w="5697351" h="33221">
                <a:moveTo>
                  <a:pt x="0" y="0"/>
                </a:moveTo>
                <a:lnTo>
                  <a:pt x="5697351" y="0"/>
                </a:lnTo>
                <a:lnTo>
                  <a:pt x="5697351" y="33221"/>
                </a:lnTo>
                <a:lnTo>
                  <a:pt x="0" y="33221"/>
                </a:lnTo>
                <a:lnTo>
                  <a:pt x="0" y="0"/>
                </a:lnTo>
                <a:close/>
              </a:path>
            </a:pathLst>
          </a:custGeom>
          <a:solidFill>
            <a:srgbClr val="1E3A5F"/>
          </a:solidFill>
          <a:ln/>
        </p:spPr>
      </p:sp>
      <p:sp>
        <p:nvSpPr>
          <p:cNvPr id="31" name="Text 29"/>
          <p:cNvSpPr/>
          <p:nvPr/>
        </p:nvSpPr>
        <p:spPr>
          <a:xfrm>
            <a:off x="6297262" y="1096283"/>
            <a:ext cx="5514638" cy="232545"/>
          </a:xfrm>
          <a:prstGeom prst="rect">
            <a:avLst/>
          </a:prstGeom>
          <a:noFill/>
          <a:ln/>
        </p:spPr>
        <p:txBody>
          <a:bodyPr wrap="square" lIns="0" tIns="0" rIns="0" bIns="0" rtlCol="0" anchor="ctr"/>
          <a:lstStyle/>
          <a:p>
            <a:pPr>
              <a:lnSpc>
                <a:spcPct val="120000"/>
              </a:lnSpc>
            </a:pPr>
            <a:r>
              <a:rPr lang="en-US" sz="1308" b="1" dirty="0">
                <a:solidFill>
                  <a:srgbClr val="1E3A5F"/>
                </a:solidFill>
                <a:latin typeface="MiSans" pitchFamily="34" charset="0"/>
                <a:ea typeface="MiSans" pitchFamily="34" charset="-122"/>
                <a:cs typeface="MiSans" pitchFamily="34" charset="-120"/>
              </a:rPr>
              <a:t>Three Factors Correlated with Variation</a:t>
            </a:r>
            <a:endParaRPr lang="en-US" sz="1600" dirty="0"/>
          </a:p>
        </p:txBody>
      </p:sp>
      <p:sp>
        <p:nvSpPr>
          <p:cNvPr id="32" name="Text 30"/>
          <p:cNvSpPr/>
          <p:nvPr/>
        </p:nvSpPr>
        <p:spPr>
          <a:xfrm>
            <a:off x="6297262" y="1428490"/>
            <a:ext cx="5498027" cy="431869"/>
          </a:xfrm>
          <a:prstGeom prst="rect">
            <a:avLst/>
          </a:prstGeom>
          <a:noFill/>
          <a:ln/>
        </p:spPr>
        <p:txBody>
          <a:bodyPr wrap="square" lIns="0" tIns="0" rIns="0" bIns="0" rtlCol="0" anchor="ctr"/>
          <a:lstStyle/>
          <a:p>
            <a:pPr>
              <a:lnSpc>
                <a:spcPct val="140000"/>
              </a:lnSpc>
            </a:pPr>
            <a:r>
              <a:rPr lang="en-US" sz="1046" dirty="0">
                <a:solidFill>
                  <a:srgbClr val="2D3436"/>
                </a:solidFill>
                <a:latin typeface="MiSans" pitchFamily="34" charset="0"/>
                <a:ea typeface="MiSans" pitchFamily="34" charset="-122"/>
                <a:cs typeface="MiSans" pitchFamily="34" charset="-120"/>
              </a:rPr>
              <a:t>This variation is </a:t>
            </a:r>
            <a:pPr>
              <a:lnSpc>
                <a:spcPct val="140000"/>
              </a:lnSpc>
            </a:pPr>
            <a:r>
              <a:rPr lang="en-US" sz="1046" b="1" dirty="0">
                <a:solidFill>
                  <a:srgbClr val="2D3436"/>
                </a:solidFill>
                <a:latin typeface="MiSans" pitchFamily="34" charset="0"/>
                <a:ea typeface="MiSans" pitchFamily="34" charset="-122"/>
                <a:cs typeface="MiSans" pitchFamily="34" charset="-120"/>
              </a:rPr>
              <a:t>not random</a:t>
            </a:r>
            <a:pPr>
              <a:lnSpc>
                <a:spcPct val="140000"/>
              </a:lnSpc>
            </a:pPr>
            <a:r>
              <a:rPr lang="en-US" sz="1046" dirty="0">
                <a:solidFill>
                  <a:srgbClr val="2D3436"/>
                </a:solidFill>
                <a:latin typeface="MiSans" pitchFamily="34" charset="0"/>
                <a:ea typeface="MiSans" pitchFamily="34" charset="-122"/>
                <a:cs typeface="MiSans" pitchFamily="34" charset="-120"/>
              </a:rPr>
              <a:t>. It is correlated, moderately but consistently, with three factors:</a:t>
            </a:r>
            <a:endParaRPr lang="en-US" sz="1600" dirty="0"/>
          </a:p>
        </p:txBody>
      </p:sp>
      <p:sp>
        <p:nvSpPr>
          <p:cNvPr id="33" name="Shape 31"/>
          <p:cNvSpPr/>
          <p:nvPr/>
        </p:nvSpPr>
        <p:spPr>
          <a:xfrm>
            <a:off x="6313873" y="1960022"/>
            <a:ext cx="5414975" cy="863738"/>
          </a:xfrm>
          <a:custGeom>
            <a:avLst/>
            <a:gdLst/>
            <a:ahLst/>
            <a:cxnLst/>
            <a:rect l="l" t="t" r="r" b="b"/>
            <a:pathLst>
              <a:path w="5414975" h="863738">
                <a:moveTo>
                  <a:pt x="0" y="0"/>
                </a:moveTo>
                <a:lnTo>
                  <a:pt x="5414975" y="0"/>
                </a:lnTo>
                <a:lnTo>
                  <a:pt x="5414975" y="863738"/>
                </a:lnTo>
                <a:lnTo>
                  <a:pt x="0" y="863738"/>
                </a:lnTo>
                <a:lnTo>
                  <a:pt x="0" y="0"/>
                </a:lnTo>
                <a:close/>
              </a:path>
            </a:pathLst>
          </a:custGeom>
          <a:solidFill>
            <a:srgbClr val="F8F9FA"/>
          </a:solidFill>
          <a:ln/>
        </p:spPr>
      </p:sp>
      <p:sp>
        <p:nvSpPr>
          <p:cNvPr id="34" name="Shape 32"/>
          <p:cNvSpPr/>
          <p:nvPr/>
        </p:nvSpPr>
        <p:spPr>
          <a:xfrm>
            <a:off x="6313873" y="1960022"/>
            <a:ext cx="33221" cy="863738"/>
          </a:xfrm>
          <a:custGeom>
            <a:avLst/>
            <a:gdLst/>
            <a:ahLst/>
            <a:cxnLst/>
            <a:rect l="l" t="t" r="r" b="b"/>
            <a:pathLst>
              <a:path w="33221" h="863738">
                <a:moveTo>
                  <a:pt x="0" y="0"/>
                </a:moveTo>
                <a:lnTo>
                  <a:pt x="33221" y="0"/>
                </a:lnTo>
                <a:lnTo>
                  <a:pt x="33221" y="863738"/>
                </a:lnTo>
                <a:lnTo>
                  <a:pt x="0" y="863738"/>
                </a:lnTo>
                <a:lnTo>
                  <a:pt x="0" y="0"/>
                </a:lnTo>
                <a:close/>
              </a:path>
            </a:pathLst>
          </a:custGeom>
          <a:solidFill>
            <a:srgbClr val="1E3A5F"/>
          </a:solidFill>
          <a:ln/>
        </p:spPr>
      </p:sp>
      <p:sp>
        <p:nvSpPr>
          <p:cNvPr id="35" name="Text 33"/>
          <p:cNvSpPr/>
          <p:nvPr/>
        </p:nvSpPr>
        <p:spPr>
          <a:xfrm>
            <a:off x="6430145" y="2059684"/>
            <a:ext cx="5265482" cy="199324"/>
          </a:xfrm>
          <a:prstGeom prst="rect">
            <a:avLst/>
          </a:prstGeom>
          <a:noFill/>
          <a:ln/>
        </p:spPr>
        <p:txBody>
          <a:bodyPr wrap="square" lIns="0" tIns="0" rIns="0" bIns="0" rtlCol="0" anchor="ctr"/>
          <a:lstStyle/>
          <a:p>
            <a:pPr>
              <a:lnSpc>
                <a:spcPct val="130000"/>
              </a:lnSpc>
            </a:pPr>
            <a:r>
              <a:rPr lang="en-US" sz="1046" b="1" dirty="0">
                <a:solidFill>
                  <a:srgbClr val="1E3A5F"/>
                </a:solidFill>
                <a:latin typeface="MiSans" pitchFamily="34" charset="0"/>
                <a:ea typeface="MiSans" pitchFamily="34" charset="-122"/>
                <a:cs typeface="MiSans" pitchFamily="34" charset="-120"/>
              </a:rPr>
              <a:t>1. Programme Tenure</a:t>
            </a:r>
            <a:endParaRPr lang="en-US" sz="1600" dirty="0"/>
          </a:p>
        </p:txBody>
      </p:sp>
      <p:sp>
        <p:nvSpPr>
          <p:cNvPr id="36" name="Text 34"/>
          <p:cNvSpPr/>
          <p:nvPr/>
        </p:nvSpPr>
        <p:spPr>
          <a:xfrm>
            <a:off x="6430145" y="2292229"/>
            <a:ext cx="5265482" cy="431869"/>
          </a:xfrm>
          <a:prstGeom prst="rect">
            <a:avLst/>
          </a:prstGeom>
          <a:noFill/>
          <a:ln/>
        </p:spPr>
        <p:txBody>
          <a:bodyPr wrap="square" lIns="0" tIns="0" rIns="0" bIns="0" rtlCol="0" anchor="ctr"/>
          <a:lstStyle/>
          <a:p>
            <a:pPr>
              <a:lnSpc>
                <a:spcPct val="140000"/>
              </a:lnSpc>
            </a:pPr>
            <a:r>
              <a:rPr lang="en-US" sz="1046" dirty="0">
                <a:solidFill>
                  <a:srgbClr val="2D3436"/>
                </a:solidFill>
                <a:latin typeface="MiSans" pitchFamily="34" charset="0"/>
                <a:ea typeface="MiSans" pitchFamily="34" charset="-122"/>
                <a:cs typeface="MiSans" pitchFamily="34" charset="-120"/>
              </a:rPr>
              <a:t>Longer-tenured schools tend to show </a:t>
            </a:r>
            <a:pPr>
              <a:lnSpc>
                <a:spcPct val="140000"/>
              </a:lnSpc>
            </a:pPr>
            <a:r>
              <a:rPr lang="en-US" sz="1046" b="1" dirty="0">
                <a:solidFill>
                  <a:srgbClr val="2D3436"/>
                </a:solidFill>
                <a:latin typeface="MiSans" pitchFamily="34" charset="0"/>
                <a:ea typeface="MiSans" pitchFamily="34" charset="-122"/>
                <a:cs typeface="MiSans" pitchFamily="34" charset="-120"/>
              </a:rPr>
              <a:t>stronger effects</a:t>
            </a:r>
            <a:pPr>
              <a:lnSpc>
                <a:spcPct val="140000"/>
              </a:lnSpc>
            </a:pPr>
            <a:r>
              <a:rPr lang="en-US" sz="1046" dirty="0">
                <a:solidFill>
                  <a:srgbClr val="2D3436"/>
                </a:solidFill>
                <a:latin typeface="MiSans" pitchFamily="34" charset="0"/>
                <a:ea typeface="MiSans" pitchFamily="34" charset="-122"/>
                <a:cs typeface="MiSans" pitchFamily="34" charset="-120"/>
              </a:rPr>
              <a:t>. Schools in their first year of implementation are down-weighted by a factor of 0.7.</a:t>
            </a:r>
            <a:endParaRPr lang="en-US" sz="1600" dirty="0"/>
          </a:p>
        </p:txBody>
      </p:sp>
      <p:sp>
        <p:nvSpPr>
          <p:cNvPr id="37" name="Shape 35"/>
          <p:cNvSpPr/>
          <p:nvPr/>
        </p:nvSpPr>
        <p:spPr>
          <a:xfrm>
            <a:off x="6313873" y="2923422"/>
            <a:ext cx="5414975" cy="863738"/>
          </a:xfrm>
          <a:custGeom>
            <a:avLst/>
            <a:gdLst/>
            <a:ahLst/>
            <a:cxnLst/>
            <a:rect l="l" t="t" r="r" b="b"/>
            <a:pathLst>
              <a:path w="5414975" h="863738">
                <a:moveTo>
                  <a:pt x="0" y="0"/>
                </a:moveTo>
                <a:lnTo>
                  <a:pt x="5414975" y="0"/>
                </a:lnTo>
                <a:lnTo>
                  <a:pt x="5414975" y="863738"/>
                </a:lnTo>
                <a:lnTo>
                  <a:pt x="0" y="863738"/>
                </a:lnTo>
                <a:lnTo>
                  <a:pt x="0" y="0"/>
                </a:lnTo>
                <a:close/>
              </a:path>
            </a:pathLst>
          </a:custGeom>
          <a:solidFill>
            <a:srgbClr val="F8F9FA"/>
          </a:solidFill>
          <a:ln/>
        </p:spPr>
      </p:sp>
      <p:sp>
        <p:nvSpPr>
          <p:cNvPr id="38" name="Shape 36"/>
          <p:cNvSpPr/>
          <p:nvPr/>
        </p:nvSpPr>
        <p:spPr>
          <a:xfrm>
            <a:off x="6313873" y="2923422"/>
            <a:ext cx="33221" cy="863738"/>
          </a:xfrm>
          <a:custGeom>
            <a:avLst/>
            <a:gdLst/>
            <a:ahLst/>
            <a:cxnLst/>
            <a:rect l="l" t="t" r="r" b="b"/>
            <a:pathLst>
              <a:path w="33221" h="863738">
                <a:moveTo>
                  <a:pt x="0" y="0"/>
                </a:moveTo>
                <a:lnTo>
                  <a:pt x="33221" y="0"/>
                </a:lnTo>
                <a:lnTo>
                  <a:pt x="33221" y="863738"/>
                </a:lnTo>
                <a:lnTo>
                  <a:pt x="0" y="863738"/>
                </a:lnTo>
                <a:lnTo>
                  <a:pt x="0" y="0"/>
                </a:lnTo>
                <a:close/>
              </a:path>
            </a:pathLst>
          </a:custGeom>
          <a:solidFill>
            <a:srgbClr val="C49A2C"/>
          </a:solidFill>
          <a:ln/>
        </p:spPr>
      </p:sp>
      <p:sp>
        <p:nvSpPr>
          <p:cNvPr id="39" name="Text 37"/>
          <p:cNvSpPr/>
          <p:nvPr/>
        </p:nvSpPr>
        <p:spPr>
          <a:xfrm>
            <a:off x="6430145" y="3023084"/>
            <a:ext cx="5265482" cy="199324"/>
          </a:xfrm>
          <a:prstGeom prst="rect">
            <a:avLst/>
          </a:prstGeom>
          <a:noFill/>
          <a:ln/>
        </p:spPr>
        <p:txBody>
          <a:bodyPr wrap="square" lIns="0" tIns="0" rIns="0" bIns="0" rtlCol="0" anchor="ctr"/>
          <a:lstStyle/>
          <a:p>
            <a:pPr>
              <a:lnSpc>
                <a:spcPct val="130000"/>
              </a:lnSpc>
            </a:pPr>
            <a:r>
              <a:rPr lang="en-US" sz="1046" b="1" dirty="0">
                <a:solidFill>
                  <a:srgbClr val="1E3A5F"/>
                </a:solidFill>
                <a:latin typeface="MiSans" pitchFamily="34" charset="0"/>
                <a:ea typeface="MiSans" pitchFamily="34" charset="-122"/>
                <a:cs typeface="MiSans" pitchFamily="34" charset="-120"/>
              </a:rPr>
              <a:t>2. Implementation Quality Score</a:t>
            </a:r>
            <a:endParaRPr lang="en-US" sz="1600" dirty="0"/>
          </a:p>
        </p:txBody>
      </p:sp>
      <p:sp>
        <p:nvSpPr>
          <p:cNvPr id="40" name="Text 38"/>
          <p:cNvSpPr/>
          <p:nvPr/>
        </p:nvSpPr>
        <p:spPr>
          <a:xfrm>
            <a:off x="6430145" y="3255629"/>
            <a:ext cx="5265482" cy="431869"/>
          </a:xfrm>
          <a:prstGeom prst="rect">
            <a:avLst/>
          </a:prstGeom>
          <a:noFill/>
          <a:ln/>
        </p:spPr>
        <p:txBody>
          <a:bodyPr wrap="square" lIns="0" tIns="0" rIns="0" bIns="0" rtlCol="0" anchor="ctr"/>
          <a:lstStyle/>
          <a:p>
            <a:pPr>
              <a:lnSpc>
                <a:spcPct val="140000"/>
              </a:lnSpc>
            </a:pPr>
            <a:r>
              <a:rPr lang="en-US" sz="1046" dirty="0">
                <a:solidFill>
                  <a:srgbClr val="2D3436"/>
                </a:solidFill>
                <a:latin typeface="MiSans" pitchFamily="34" charset="0"/>
                <a:ea typeface="MiSans" pitchFamily="34" charset="-122"/>
                <a:cs typeface="MiSans" pitchFamily="34" charset="-120"/>
              </a:rPr>
              <a:t>Higher IQS correlates with </a:t>
            </a:r>
            <a:pPr>
              <a:lnSpc>
                <a:spcPct val="140000"/>
              </a:lnSpc>
            </a:pPr>
            <a:r>
              <a:rPr lang="en-US" sz="1046" b="1" dirty="0">
                <a:solidFill>
                  <a:srgbClr val="2D3436"/>
                </a:solidFill>
                <a:latin typeface="MiSans" pitchFamily="34" charset="0"/>
                <a:ea typeface="MiSans" pitchFamily="34" charset="-122"/>
                <a:cs typeface="MiSans" pitchFamily="34" charset="-120"/>
              </a:rPr>
              <a:t>stronger outcomes</a:t>
            </a:r>
            <a:pPr>
              <a:lnSpc>
                <a:spcPct val="140000"/>
              </a:lnSpc>
            </a:pPr>
            <a:r>
              <a:rPr lang="en-US" sz="1046" dirty="0">
                <a:solidFill>
                  <a:srgbClr val="2D3436"/>
                </a:solidFill>
                <a:latin typeface="MiSans" pitchFamily="34" charset="0"/>
                <a:ea typeface="MiSans" pitchFamily="34" charset="-122"/>
                <a:cs typeface="MiSans" pitchFamily="34" charset="-120"/>
              </a:rPr>
              <a:t>. Schools with IQS below 50 may be classified as non-compliant.</a:t>
            </a:r>
            <a:endParaRPr lang="en-US" sz="1600" dirty="0"/>
          </a:p>
        </p:txBody>
      </p:sp>
      <p:sp>
        <p:nvSpPr>
          <p:cNvPr id="41" name="Shape 39"/>
          <p:cNvSpPr/>
          <p:nvPr/>
        </p:nvSpPr>
        <p:spPr>
          <a:xfrm>
            <a:off x="6313873" y="3886823"/>
            <a:ext cx="5414975" cy="863738"/>
          </a:xfrm>
          <a:custGeom>
            <a:avLst/>
            <a:gdLst/>
            <a:ahLst/>
            <a:cxnLst/>
            <a:rect l="l" t="t" r="r" b="b"/>
            <a:pathLst>
              <a:path w="5414975" h="863738">
                <a:moveTo>
                  <a:pt x="0" y="0"/>
                </a:moveTo>
                <a:lnTo>
                  <a:pt x="5414975" y="0"/>
                </a:lnTo>
                <a:lnTo>
                  <a:pt x="5414975" y="863738"/>
                </a:lnTo>
                <a:lnTo>
                  <a:pt x="0" y="863738"/>
                </a:lnTo>
                <a:lnTo>
                  <a:pt x="0" y="0"/>
                </a:lnTo>
                <a:close/>
              </a:path>
            </a:pathLst>
          </a:custGeom>
          <a:solidFill>
            <a:srgbClr val="F8F9FA"/>
          </a:solidFill>
          <a:ln/>
        </p:spPr>
      </p:sp>
      <p:sp>
        <p:nvSpPr>
          <p:cNvPr id="42" name="Shape 40"/>
          <p:cNvSpPr/>
          <p:nvPr/>
        </p:nvSpPr>
        <p:spPr>
          <a:xfrm>
            <a:off x="6313873" y="3886823"/>
            <a:ext cx="33221" cy="863738"/>
          </a:xfrm>
          <a:custGeom>
            <a:avLst/>
            <a:gdLst/>
            <a:ahLst/>
            <a:cxnLst/>
            <a:rect l="l" t="t" r="r" b="b"/>
            <a:pathLst>
              <a:path w="33221" h="863738">
                <a:moveTo>
                  <a:pt x="0" y="0"/>
                </a:moveTo>
                <a:lnTo>
                  <a:pt x="33221" y="0"/>
                </a:lnTo>
                <a:lnTo>
                  <a:pt x="33221" y="863738"/>
                </a:lnTo>
                <a:lnTo>
                  <a:pt x="0" y="863738"/>
                </a:lnTo>
                <a:lnTo>
                  <a:pt x="0" y="0"/>
                </a:lnTo>
                <a:close/>
              </a:path>
            </a:pathLst>
          </a:custGeom>
          <a:solidFill>
            <a:srgbClr val="1E3A5F"/>
          </a:solidFill>
          <a:ln/>
        </p:spPr>
      </p:sp>
      <p:sp>
        <p:nvSpPr>
          <p:cNvPr id="43" name="Text 41"/>
          <p:cNvSpPr/>
          <p:nvPr/>
        </p:nvSpPr>
        <p:spPr>
          <a:xfrm>
            <a:off x="6430145" y="3986485"/>
            <a:ext cx="5265482" cy="199324"/>
          </a:xfrm>
          <a:prstGeom prst="rect">
            <a:avLst/>
          </a:prstGeom>
          <a:noFill/>
          <a:ln/>
        </p:spPr>
        <p:txBody>
          <a:bodyPr wrap="square" lIns="0" tIns="0" rIns="0" bIns="0" rtlCol="0" anchor="ctr"/>
          <a:lstStyle/>
          <a:p>
            <a:pPr>
              <a:lnSpc>
                <a:spcPct val="130000"/>
              </a:lnSpc>
            </a:pPr>
            <a:r>
              <a:rPr lang="en-US" sz="1046" b="1" dirty="0">
                <a:solidFill>
                  <a:srgbClr val="1E3A5F"/>
                </a:solidFill>
                <a:latin typeface="MiSans" pitchFamily="34" charset="0"/>
                <a:ea typeface="MiSans" pitchFamily="34" charset="-122"/>
                <a:cs typeface="MiSans" pitchFamily="34" charset="-120"/>
              </a:rPr>
              <a:t>3. School Size</a:t>
            </a:r>
            <a:endParaRPr lang="en-US" sz="1600" dirty="0"/>
          </a:p>
        </p:txBody>
      </p:sp>
      <p:sp>
        <p:nvSpPr>
          <p:cNvPr id="44" name="Text 42"/>
          <p:cNvSpPr/>
          <p:nvPr/>
        </p:nvSpPr>
        <p:spPr>
          <a:xfrm>
            <a:off x="6430145" y="4219030"/>
            <a:ext cx="5265482" cy="431869"/>
          </a:xfrm>
          <a:prstGeom prst="rect">
            <a:avLst/>
          </a:prstGeom>
          <a:noFill/>
          <a:ln/>
        </p:spPr>
        <p:txBody>
          <a:bodyPr wrap="square" lIns="0" tIns="0" rIns="0" bIns="0" rtlCol="0" anchor="ctr"/>
          <a:lstStyle/>
          <a:p>
            <a:pPr>
              <a:lnSpc>
                <a:spcPct val="140000"/>
              </a:lnSpc>
            </a:pPr>
            <a:r>
              <a:rPr lang="en-US" sz="1046" dirty="0">
                <a:solidFill>
                  <a:srgbClr val="2D3436"/>
                </a:solidFill>
                <a:latin typeface="MiSans" pitchFamily="34" charset="0"/>
                <a:ea typeface="MiSans" pitchFamily="34" charset="-122"/>
                <a:cs typeface="MiSans" pitchFamily="34" charset="-120"/>
              </a:rPr>
              <a:t>Mid-size schools of </a:t>
            </a:r>
            <a:pPr>
              <a:lnSpc>
                <a:spcPct val="140000"/>
              </a:lnSpc>
            </a:pPr>
            <a:r>
              <a:rPr lang="en-US" sz="1046" b="1" dirty="0">
                <a:solidFill>
                  <a:srgbClr val="2D3436"/>
                </a:solidFill>
                <a:latin typeface="MiSans" pitchFamily="34" charset="0"/>
                <a:ea typeface="MiSans" pitchFamily="34" charset="-122"/>
                <a:cs typeface="MiSans" pitchFamily="34" charset="-120"/>
              </a:rPr>
              <a:t>800–1200 pupils</a:t>
            </a:r>
            <a:pPr>
              <a:lnSpc>
                <a:spcPct val="140000"/>
              </a:lnSpc>
            </a:pPr>
            <a:r>
              <a:rPr lang="en-US" sz="1046" dirty="0">
                <a:solidFill>
                  <a:srgbClr val="2D3436"/>
                </a:solidFill>
                <a:latin typeface="MiSans" pitchFamily="34" charset="0"/>
                <a:ea typeface="MiSans" pitchFamily="34" charset="-122"/>
                <a:cs typeface="MiSans" pitchFamily="34" charset="-120"/>
              </a:rPr>
              <a:t> tend to outperform both very small and very large schools.</a:t>
            </a:r>
            <a:endParaRPr lang="en-US" sz="1600" dirty="0"/>
          </a:p>
        </p:txBody>
      </p:sp>
      <p:sp>
        <p:nvSpPr>
          <p:cNvPr id="45" name="Shape 43"/>
          <p:cNvSpPr/>
          <p:nvPr/>
        </p:nvSpPr>
        <p:spPr>
          <a:xfrm>
            <a:off x="6180990" y="4983106"/>
            <a:ext cx="5680741" cy="1345439"/>
          </a:xfrm>
          <a:custGeom>
            <a:avLst/>
            <a:gdLst/>
            <a:ahLst/>
            <a:cxnLst/>
            <a:rect l="l" t="t" r="r" b="b"/>
            <a:pathLst>
              <a:path w="5680741" h="1345439">
                <a:moveTo>
                  <a:pt x="0" y="0"/>
                </a:moveTo>
                <a:lnTo>
                  <a:pt x="5680741" y="0"/>
                </a:lnTo>
                <a:lnTo>
                  <a:pt x="5680741" y="1345439"/>
                </a:lnTo>
                <a:lnTo>
                  <a:pt x="0" y="1345439"/>
                </a:lnTo>
                <a:lnTo>
                  <a:pt x="0" y="0"/>
                </a:lnTo>
                <a:close/>
              </a:path>
            </a:pathLst>
          </a:custGeom>
          <a:solidFill>
            <a:srgbClr val="C49A2C">
              <a:alpha val="10196"/>
            </a:srgbClr>
          </a:solidFill>
          <a:ln/>
        </p:spPr>
      </p:sp>
      <p:sp>
        <p:nvSpPr>
          <p:cNvPr id="46" name="Shape 44"/>
          <p:cNvSpPr/>
          <p:nvPr/>
        </p:nvSpPr>
        <p:spPr>
          <a:xfrm>
            <a:off x="6180990" y="4983106"/>
            <a:ext cx="33221" cy="1345439"/>
          </a:xfrm>
          <a:custGeom>
            <a:avLst/>
            <a:gdLst/>
            <a:ahLst/>
            <a:cxnLst/>
            <a:rect l="l" t="t" r="r" b="b"/>
            <a:pathLst>
              <a:path w="33221" h="1345439">
                <a:moveTo>
                  <a:pt x="0" y="0"/>
                </a:moveTo>
                <a:lnTo>
                  <a:pt x="33221" y="0"/>
                </a:lnTo>
                <a:lnTo>
                  <a:pt x="33221" y="1345439"/>
                </a:lnTo>
                <a:lnTo>
                  <a:pt x="0" y="1345439"/>
                </a:lnTo>
                <a:lnTo>
                  <a:pt x="0" y="0"/>
                </a:lnTo>
                <a:close/>
              </a:path>
            </a:pathLst>
          </a:custGeom>
          <a:solidFill>
            <a:srgbClr val="C49A2C"/>
          </a:solidFill>
          <a:ln/>
        </p:spPr>
      </p:sp>
      <p:sp>
        <p:nvSpPr>
          <p:cNvPr id="47" name="Shape 45"/>
          <p:cNvSpPr/>
          <p:nvPr/>
        </p:nvSpPr>
        <p:spPr>
          <a:xfrm>
            <a:off x="6347093" y="5161668"/>
            <a:ext cx="132883" cy="132883"/>
          </a:xfrm>
          <a:custGeom>
            <a:avLst/>
            <a:gdLst/>
            <a:ahLst/>
            <a:cxnLst/>
            <a:rect l="l" t="t" r="r" b="b"/>
            <a:pathLst>
              <a:path w="132883" h="132883">
                <a:moveTo>
                  <a:pt x="66441" y="0"/>
                </a:moveTo>
                <a:cubicBezTo>
                  <a:pt x="70257" y="0"/>
                  <a:pt x="73760" y="2102"/>
                  <a:pt x="75577" y="5450"/>
                </a:cubicBezTo>
                <a:lnTo>
                  <a:pt x="131637" y="109265"/>
                </a:lnTo>
                <a:cubicBezTo>
                  <a:pt x="133376" y="112483"/>
                  <a:pt x="133298" y="116376"/>
                  <a:pt x="131429" y="119517"/>
                </a:cubicBezTo>
                <a:cubicBezTo>
                  <a:pt x="129561" y="122657"/>
                  <a:pt x="126161" y="124578"/>
                  <a:pt x="122501" y="124578"/>
                </a:cubicBezTo>
                <a:lnTo>
                  <a:pt x="10381" y="124578"/>
                </a:lnTo>
                <a:cubicBezTo>
                  <a:pt x="6722" y="124578"/>
                  <a:pt x="3348" y="122657"/>
                  <a:pt x="1453" y="119517"/>
                </a:cubicBezTo>
                <a:cubicBezTo>
                  <a:pt x="-441" y="116376"/>
                  <a:pt x="-493" y="112483"/>
                  <a:pt x="1246" y="109265"/>
                </a:cubicBezTo>
                <a:lnTo>
                  <a:pt x="57306" y="5450"/>
                </a:lnTo>
                <a:cubicBezTo>
                  <a:pt x="59122" y="2102"/>
                  <a:pt x="62626" y="0"/>
                  <a:pt x="66441" y="0"/>
                </a:cubicBezTo>
                <a:close/>
                <a:moveTo>
                  <a:pt x="66441" y="43602"/>
                </a:moveTo>
                <a:cubicBezTo>
                  <a:pt x="62990" y="43602"/>
                  <a:pt x="60213" y="46379"/>
                  <a:pt x="60213" y="49831"/>
                </a:cubicBezTo>
                <a:lnTo>
                  <a:pt x="60213" y="78899"/>
                </a:lnTo>
                <a:cubicBezTo>
                  <a:pt x="60213" y="82351"/>
                  <a:pt x="62990" y="85128"/>
                  <a:pt x="66441" y="85128"/>
                </a:cubicBezTo>
                <a:cubicBezTo>
                  <a:pt x="69893" y="85128"/>
                  <a:pt x="72670" y="82351"/>
                  <a:pt x="72670" y="78899"/>
                </a:cubicBezTo>
                <a:lnTo>
                  <a:pt x="72670" y="49831"/>
                </a:lnTo>
                <a:cubicBezTo>
                  <a:pt x="72670" y="46379"/>
                  <a:pt x="69893" y="43602"/>
                  <a:pt x="66441" y="43602"/>
                </a:cubicBezTo>
                <a:close/>
                <a:moveTo>
                  <a:pt x="73371" y="99662"/>
                </a:moveTo>
                <a:cubicBezTo>
                  <a:pt x="73529" y="97090"/>
                  <a:pt x="72246" y="94643"/>
                  <a:pt x="70041" y="93309"/>
                </a:cubicBezTo>
                <a:cubicBezTo>
                  <a:pt x="67836" y="91975"/>
                  <a:pt x="65073" y="91975"/>
                  <a:pt x="62868" y="93309"/>
                </a:cubicBezTo>
                <a:cubicBezTo>
                  <a:pt x="60663" y="94643"/>
                  <a:pt x="59380" y="97090"/>
                  <a:pt x="59538" y="99662"/>
                </a:cubicBezTo>
                <a:cubicBezTo>
                  <a:pt x="59380" y="102234"/>
                  <a:pt x="60663" y="104682"/>
                  <a:pt x="62868" y="106015"/>
                </a:cubicBezTo>
                <a:cubicBezTo>
                  <a:pt x="65073" y="107349"/>
                  <a:pt x="67836" y="107349"/>
                  <a:pt x="70041" y="106015"/>
                </a:cubicBezTo>
                <a:cubicBezTo>
                  <a:pt x="72246" y="104682"/>
                  <a:pt x="73529" y="102234"/>
                  <a:pt x="73371" y="99662"/>
                </a:cubicBezTo>
                <a:close/>
              </a:path>
            </a:pathLst>
          </a:custGeom>
          <a:solidFill>
            <a:srgbClr val="C49A2C"/>
          </a:solidFill>
          <a:ln/>
        </p:spPr>
      </p:sp>
      <p:sp>
        <p:nvSpPr>
          <p:cNvPr id="48" name="Text 46"/>
          <p:cNvSpPr/>
          <p:nvPr/>
        </p:nvSpPr>
        <p:spPr>
          <a:xfrm>
            <a:off x="6540036" y="5115989"/>
            <a:ext cx="5255254" cy="1079673"/>
          </a:xfrm>
          <a:prstGeom prst="rect">
            <a:avLst/>
          </a:prstGeom>
          <a:noFill/>
          <a:ln/>
        </p:spPr>
        <p:txBody>
          <a:bodyPr wrap="square" lIns="0" tIns="0" rIns="0" bIns="0" rtlCol="0" anchor="ctr"/>
          <a:lstStyle/>
          <a:p>
            <a:pPr>
              <a:lnSpc>
                <a:spcPct val="140000"/>
              </a:lnSpc>
            </a:pPr>
            <a:r>
              <a:rPr lang="en-US" sz="1046" b="1" dirty="0">
                <a:solidFill>
                  <a:srgbClr val="1E3A5F"/>
                </a:solidFill>
                <a:latin typeface="MiSans" pitchFamily="34" charset="0"/>
                <a:ea typeface="MiSans" pitchFamily="34" charset="-122"/>
                <a:cs typeface="MiSans" pitchFamily="34" charset="-120"/>
              </a:rPr>
              <a:t>Communication Caution:</a:t>
            </a:r>
            <a:pPr>
              <a:lnSpc>
                <a:spcPct val="140000"/>
              </a:lnSpc>
            </a:pPr>
            <a:r>
              <a:rPr lang="en-US" sz="1046" dirty="0">
                <a:solidFill>
                  <a:srgbClr val="1E3A5F"/>
                </a:solidFill>
                <a:latin typeface="MiSans" pitchFamily="34" charset="0"/>
                <a:ea typeface="MiSans" pitchFamily="34" charset="-122"/>
                <a:cs typeface="MiSans" pitchFamily="34" charset="-120"/>
              </a:rPr>
              <a:t> These correlations are informative for programme development. They are </a:t>
            </a:r>
            <a:pPr>
              <a:lnSpc>
                <a:spcPct val="140000"/>
              </a:lnSpc>
            </a:pPr>
            <a:r>
              <a:rPr lang="en-US" sz="1046" b="1" dirty="0">
                <a:solidFill>
                  <a:srgbClr val="1E3A5F"/>
                </a:solidFill>
                <a:latin typeface="MiSans" pitchFamily="34" charset="0"/>
                <a:ea typeface="MiSans" pitchFamily="34" charset="-122"/>
                <a:cs typeface="MiSans" pitchFamily="34" charset="-120"/>
              </a:rPr>
              <a:t>less useful for client communications</a:t>
            </a:r>
            <a:pPr>
              <a:lnSpc>
                <a:spcPct val="140000"/>
              </a:lnSpc>
            </a:pPr>
            <a:r>
              <a:rPr lang="en-US" sz="1046" dirty="0">
                <a:solidFill>
                  <a:srgbClr val="1E3A5F"/>
                </a:solidFill>
                <a:latin typeface="MiSans" pitchFamily="34" charset="0"/>
                <a:ea typeface="MiSans" pitchFamily="34" charset="-122"/>
                <a:cs typeface="MiSans" pitchFamily="34" charset="-120"/>
              </a:rPr>
              <a:t>, which should generally cite programme-level rather than school-level figures. Staff should not use school-level variation to make claims about individual schools that the aggregate data cannot support.</a:t>
            </a:r>
            <a:endParaRPr lang="en-US" sz="16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31304" y="331304"/>
            <a:ext cx="66261" cy="397565"/>
          </a:xfrm>
          <a:custGeom>
            <a:avLst/>
            <a:gdLst/>
            <a:ahLst/>
            <a:cxnLst/>
            <a:rect l="l" t="t" r="r" b="b"/>
            <a:pathLst>
              <a:path w="66261" h="397565">
                <a:moveTo>
                  <a:pt x="0" y="0"/>
                </a:moveTo>
                <a:lnTo>
                  <a:pt x="66261" y="0"/>
                </a:lnTo>
                <a:lnTo>
                  <a:pt x="66261" y="397565"/>
                </a:lnTo>
                <a:lnTo>
                  <a:pt x="0" y="397565"/>
                </a:lnTo>
                <a:lnTo>
                  <a:pt x="0" y="0"/>
                </a:lnTo>
                <a:close/>
              </a:path>
            </a:pathLst>
          </a:custGeom>
          <a:solidFill>
            <a:srgbClr val="C49A2C"/>
          </a:solidFill>
          <a:ln/>
        </p:spPr>
      </p:sp>
      <p:sp>
        <p:nvSpPr>
          <p:cNvPr id="3" name="Text 1"/>
          <p:cNvSpPr/>
          <p:nvPr/>
        </p:nvSpPr>
        <p:spPr>
          <a:xfrm>
            <a:off x="496957" y="381000"/>
            <a:ext cx="6559826" cy="298174"/>
          </a:xfrm>
          <a:prstGeom prst="rect">
            <a:avLst/>
          </a:prstGeom>
          <a:noFill/>
          <a:ln/>
        </p:spPr>
        <p:txBody>
          <a:bodyPr wrap="square" lIns="0" tIns="0" rIns="0" bIns="0" rtlCol="0" anchor="ctr"/>
          <a:lstStyle/>
          <a:p>
            <a:pPr>
              <a:lnSpc>
                <a:spcPct val="100000"/>
              </a:lnSpc>
            </a:pPr>
            <a:r>
              <a:rPr lang="en-US" sz="1957" b="1" dirty="0">
                <a:solidFill>
                  <a:srgbClr val="1E3A5F"/>
                </a:solidFill>
                <a:latin typeface="MiSans" pitchFamily="34" charset="0"/>
                <a:ea typeface="MiSans" pitchFamily="34" charset="-122"/>
                <a:cs typeface="MiSans" pitchFamily="34" charset="-120"/>
              </a:rPr>
              <a:t>The MPI's Published Effect Size: Context and Cautions</a:t>
            </a:r>
            <a:endParaRPr lang="en-US" sz="1600" dirty="0"/>
          </a:p>
        </p:txBody>
      </p:sp>
      <p:sp>
        <p:nvSpPr>
          <p:cNvPr id="4" name="Shape 2"/>
          <p:cNvSpPr/>
          <p:nvPr/>
        </p:nvSpPr>
        <p:spPr>
          <a:xfrm>
            <a:off x="331304" y="927652"/>
            <a:ext cx="5698435" cy="2517913"/>
          </a:xfrm>
          <a:custGeom>
            <a:avLst/>
            <a:gdLst/>
            <a:ahLst/>
            <a:cxnLst/>
            <a:rect l="l" t="t" r="r" b="b"/>
            <a:pathLst>
              <a:path w="5698435" h="2517913">
                <a:moveTo>
                  <a:pt x="0" y="0"/>
                </a:moveTo>
                <a:lnTo>
                  <a:pt x="5698435" y="0"/>
                </a:lnTo>
                <a:lnTo>
                  <a:pt x="5698435" y="2517913"/>
                </a:lnTo>
                <a:lnTo>
                  <a:pt x="0" y="2517913"/>
                </a:lnTo>
                <a:lnTo>
                  <a:pt x="0" y="0"/>
                </a:lnTo>
                <a:close/>
              </a:path>
            </a:pathLst>
          </a:custGeom>
          <a:solidFill>
            <a:srgbClr val="1E3A5F"/>
          </a:solidFill>
          <a:ln/>
        </p:spPr>
      </p:sp>
      <p:sp>
        <p:nvSpPr>
          <p:cNvPr id="5" name="Text 3"/>
          <p:cNvSpPr/>
          <p:nvPr/>
        </p:nvSpPr>
        <p:spPr>
          <a:xfrm>
            <a:off x="463826" y="1060174"/>
            <a:ext cx="5516217" cy="231913"/>
          </a:xfrm>
          <a:prstGeom prst="rect">
            <a:avLst/>
          </a:prstGeom>
          <a:noFill/>
          <a:ln/>
        </p:spPr>
        <p:txBody>
          <a:bodyPr wrap="square" lIns="0" tIns="0" rIns="0" bIns="0" rtlCol="0" anchor="ctr"/>
          <a:lstStyle/>
          <a:p>
            <a:pPr>
              <a:lnSpc>
                <a:spcPct val="120000"/>
              </a:lnSpc>
            </a:pPr>
            <a:r>
              <a:rPr lang="en-US" sz="1304" b="1" dirty="0">
                <a:solidFill>
                  <a:srgbClr val="F8F9FA"/>
                </a:solidFill>
                <a:latin typeface="MiSans" pitchFamily="34" charset="0"/>
                <a:ea typeface="MiSans" pitchFamily="34" charset="-122"/>
                <a:cs typeface="MiSans" pitchFamily="34" charset="-120"/>
              </a:rPr>
              <a:t>A Real Finding, Produced by a Legitimate Methodology</a:t>
            </a:r>
            <a:endParaRPr lang="en-US" sz="1600" dirty="0"/>
          </a:p>
        </p:txBody>
      </p:sp>
      <p:sp>
        <p:nvSpPr>
          <p:cNvPr id="6" name="Text 4"/>
          <p:cNvSpPr/>
          <p:nvPr/>
        </p:nvSpPr>
        <p:spPr>
          <a:xfrm>
            <a:off x="463826" y="1391478"/>
            <a:ext cx="5499652" cy="430696"/>
          </a:xfrm>
          <a:prstGeom prst="rect">
            <a:avLst/>
          </a:prstGeom>
          <a:noFill/>
          <a:ln/>
        </p:spPr>
        <p:txBody>
          <a:bodyPr wrap="square" lIns="0" tIns="0" rIns="0" bIns="0" rtlCol="0" anchor="ctr"/>
          <a:lstStyle/>
          <a:p>
            <a:pPr>
              <a:lnSpc>
                <a:spcPct val="140000"/>
              </a:lnSpc>
            </a:pPr>
            <a:r>
              <a:rPr lang="en-US" sz="1043" dirty="0">
                <a:solidFill>
                  <a:srgbClr val="F8F9FA"/>
                </a:solidFill>
                <a:latin typeface="MiSans" pitchFamily="34" charset="0"/>
                <a:ea typeface="MiSans" pitchFamily="34" charset="-122"/>
                <a:cs typeface="MiSans" pitchFamily="34" charset="-120"/>
              </a:rPr>
              <a:t>The MPI's published effect size of </a:t>
            </a:r>
            <a:pPr>
              <a:lnSpc>
                <a:spcPct val="140000"/>
              </a:lnSpc>
            </a:pPr>
            <a:r>
              <a:rPr lang="en-US" sz="1043" b="1" dirty="0">
                <a:solidFill>
                  <a:srgbClr val="F8F9FA"/>
                </a:solidFill>
                <a:latin typeface="MiSans" pitchFamily="34" charset="0"/>
                <a:ea typeface="MiSans" pitchFamily="34" charset="-122"/>
                <a:cs typeface="MiSans" pitchFamily="34" charset="-120"/>
              </a:rPr>
              <a:t>0.61 is a real finding</a:t>
            </a:r>
            <a:pPr>
              <a:lnSpc>
                <a:spcPct val="140000"/>
              </a:lnSpc>
            </a:pPr>
            <a:r>
              <a:rPr lang="en-US" sz="1043" dirty="0">
                <a:solidFill>
                  <a:srgbClr val="F8F9FA"/>
                </a:solidFill>
                <a:latin typeface="MiSans" pitchFamily="34" charset="0"/>
                <a:ea typeface="MiSans" pitchFamily="34" charset="-122"/>
                <a:cs typeface="MiSans" pitchFamily="34" charset="-120"/>
              </a:rPr>
              <a:t>, produced by a legitimate methodology. </a:t>
            </a:r>
            <a:pPr>
              <a:lnSpc>
                <a:spcPct val="140000"/>
              </a:lnSpc>
            </a:pPr>
            <a:r>
              <a:rPr lang="en-US" sz="1043" dirty="0">
                <a:solidFill>
                  <a:srgbClr val="F8F9FA"/>
                </a:solidFill>
                <a:highlight>
                  <a:srgbClr val="C49A2C">
                    <a:alpha val="30000"/>
                  </a:srgbClr>
                </a:highlight>
                <a:latin typeface="MiSans" pitchFamily="34" charset="0"/>
                <a:ea typeface="MiSans" pitchFamily="34" charset="-122"/>
                <a:cs typeface="MiSans" pitchFamily="34" charset="-120"/>
              </a:rPr>
              <a:t>It is not fabricated.</a:t>
            </a:r>
            <a:endParaRPr lang="en-US" sz="1600" dirty="0"/>
          </a:p>
        </p:txBody>
      </p:sp>
      <p:sp>
        <p:nvSpPr>
          <p:cNvPr id="7" name="Text 5"/>
          <p:cNvSpPr/>
          <p:nvPr/>
        </p:nvSpPr>
        <p:spPr>
          <a:xfrm>
            <a:off x="463826" y="1921565"/>
            <a:ext cx="5499652" cy="861391"/>
          </a:xfrm>
          <a:prstGeom prst="rect">
            <a:avLst/>
          </a:prstGeom>
          <a:noFill/>
          <a:ln/>
        </p:spPr>
        <p:txBody>
          <a:bodyPr wrap="square" lIns="0" tIns="0" rIns="0" bIns="0" rtlCol="0" anchor="ctr"/>
          <a:lstStyle/>
          <a:p>
            <a:pPr>
              <a:lnSpc>
                <a:spcPct val="140000"/>
              </a:lnSpc>
            </a:pPr>
            <a:r>
              <a:rPr lang="en-US" sz="1043" dirty="0">
                <a:solidFill>
                  <a:srgbClr val="F8F9FA"/>
                </a:solidFill>
                <a:latin typeface="MiSans" pitchFamily="34" charset="0"/>
                <a:ea typeface="MiSans" pitchFamily="34" charset="-122"/>
                <a:cs typeface="MiSans" pitchFamily="34" charset="-120"/>
              </a:rPr>
              <a:t>What analytical staff should understand is that it is an </a:t>
            </a:r>
            <a:pPr>
              <a:lnSpc>
                <a:spcPct val="140000"/>
              </a:lnSpc>
            </a:pPr>
            <a:r>
              <a:rPr lang="en-US" sz="1043" b="1" dirty="0">
                <a:solidFill>
                  <a:srgbClr val="F8F9FA"/>
                </a:solidFill>
                <a:latin typeface="MiSans" pitchFamily="34" charset="0"/>
                <a:ea typeface="MiSans" pitchFamily="34" charset="-122"/>
                <a:cs typeface="MiSans" pitchFamily="34" charset="-120"/>
              </a:rPr>
              <a:t>average across a specific set of schools</a:t>
            </a:r>
            <a:pPr>
              <a:lnSpc>
                <a:spcPct val="140000"/>
              </a:lnSpc>
            </a:pPr>
            <a:r>
              <a:rPr lang="en-US" sz="1043" dirty="0">
                <a:solidFill>
                  <a:srgbClr val="F8F9FA"/>
                </a:solidFill>
                <a:latin typeface="MiSans" pitchFamily="34" charset="0"/>
                <a:ea typeface="MiSans" pitchFamily="34" charset="-122"/>
                <a:cs typeface="MiSans" pitchFamily="34" charset="-120"/>
              </a:rPr>
              <a:t> — the schools currently included in the MPI_Current dataset. The composition of that dataset, and the criteria by which schools are included or excluded from it, are described in Chapter 11 of the Technical Handbook.</a:t>
            </a:r>
            <a:endParaRPr lang="en-US" sz="1600" dirty="0"/>
          </a:p>
        </p:txBody>
      </p:sp>
      <p:sp>
        <p:nvSpPr>
          <p:cNvPr id="8" name="Text 6"/>
          <p:cNvSpPr/>
          <p:nvPr/>
        </p:nvSpPr>
        <p:spPr>
          <a:xfrm>
            <a:off x="463826" y="2882348"/>
            <a:ext cx="5499652" cy="430696"/>
          </a:xfrm>
          <a:prstGeom prst="rect">
            <a:avLst/>
          </a:prstGeom>
          <a:noFill/>
          <a:ln/>
        </p:spPr>
        <p:txBody>
          <a:bodyPr wrap="square" lIns="0" tIns="0" rIns="0" bIns="0" rtlCol="0" anchor="ctr"/>
          <a:lstStyle/>
          <a:p>
            <a:pPr>
              <a:lnSpc>
                <a:spcPct val="140000"/>
              </a:lnSpc>
            </a:pPr>
            <a:r>
              <a:rPr lang="en-US" sz="1043" dirty="0">
                <a:solidFill>
                  <a:srgbClr val="F8F9FA"/>
                </a:solidFill>
                <a:latin typeface="MiSans" pitchFamily="34" charset="0"/>
                <a:ea typeface="MiSans" pitchFamily="34" charset="-122"/>
                <a:cs typeface="MiSans" pitchFamily="34" charset="-120"/>
              </a:rPr>
              <a:t>Staff preparing renewal evidence packs should </a:t>
            </a:r>
            <a:pPr>
              <a:lnSpc>
                <a:spcPct val="140000"/>
              </a:lnSpc>
            </a:pPr>
            <a:r>
              <a:rPr lang="en-US" sz="1043" b="1" dirty="0">
                <a:solidFill>
                  <a:srgbClr val="F8F9FA"/>
                </a:solidFill>
                <a:latin typeface="MiSans" pitchFamily="34" charset="0"/>
                <a:ea typeface="MiSans" pitchFamily="34" charset="-122"/>
                <a:cs typeface="MiSans" pitchFamily="34" charset="-120"/>
              </a:rPr>
              <a:t>cite the 0.61 figure accurately</a:t>
            </a:r>
            <a:pPr>
              <a:lnSpc>
                <a:spcPct val="140000"/>
              </a:lnSpc>
            </a:pPr>
            <a:r>
              <a:rPr lang="en-US" sz="1043" dirty="0">
                <a:solidFill>
                  <a:srgbClr val="F8F9FA"/>
                </a:solidFill>
                <a:latin typeface="MiSans" pitchFamily="34" charset="0"/>
                <a:ea typeface="MiSans" pitchFamily="34" charset="-122"/>
                <a:cs typeface="MiSans" pitchFamily="34" charset="-120"/>
              </a:rPr>
              <a:t>. They should also be precise about what it covers.</a:t>
            </a:r>
            <a:endParaRPr lang="en-US" sz="1600" dirty="0"/>
          </a:p>
        </p:txBody>
      </p:sp>
      <p:sp>
        <p:nvSpPr>
          <p:cNvPr id="9" name="Shape 7"/>
          <p:cNvSpPr/>
          <p:nvPr/>
        </p:nvSpPr>
        <p:spPr>
          <a:xfrm>
            <a:off x="331304" y="3561522"/>
            <a:ext cx="5698435" cy="1739348"/>
          </a:xfrm>
          <a:custGeom>
            <a:avLst/>
            <a:gdLst/>
            <a:ahLst/>
            <a:cxnLst/>
            <a:rect l="l" t="t" r="r" b="b"/>
            <a:pathLst>
              <a:path w="5698435" h="1739348">
                <a:moveTo>
                  <a:pt x="0" y="0"/>
                </a:moveTo>
                <a:lnTo>
                  <a:pt x="5698435" y="0"/>
                </a:lnTo>
                <a:lnTo>
                  <a:pt x="5698435" y="1739348"/>
                </a:lnTo>
                <a:lnTo>
                  <a:pt x="0" y="1739348"/>
                </a:lnTo>
                <a:lnTo>
                  <a:pt x="0" y="0"/>
                </a:lnTo>
                <a:close/>
              </a:path>
            </a:pathLst>
          </a:custGeom>
          <a:solidFill>
            <a:srgbClr val="FFFFFF"/>
          </a:solidFill>
          <a:ln/>
        </p:spPr>
      </p:sp>
      <p:sp>
        <p:nvSpPr>
          <p:cNvPr id="10" name="Shape 8"/>
          <p:cNvSpPr/>
          <p:nvPr/>
        </p:nvSpPr>
        <p:spPr>
          <a:xfrm>
            <a:off x="331304" y="3561522"/>
            <a:ext cx="5698435" cy="33130"/>
          </a:xfrm>
          <a:custGeom>
            <a:avLst/>
            <a:gdLst/>
            <a:ahLst/>
            <a:cxnLst/>
            <a:rect l="l" t="t" r="r" b="b"/>
            <a:pathLst>
              <a:path w="5698435" h="33130">
                <a:moveTo>
                  <a:pt x="0" y="0"/>
                </a:moveTo>
                <a:lnTo>
                  <a:pt x="5698435" y="0"/>
                </a:lnTo>
                <a:lnTo>
                  <a:pt x="5698435" y="33130"/>
                </a:lnTo>
                <a:lnTo>
                  <a:pt x="0" y="33130"/>
                </a:lnTo>
                <a:lnTo>
                  <a:pt x="0" y="0"/>
                </a:lnTo>
                <a:close/>
              </a:path>
            </a:pathLst>
          </a:custGeom>
          <a:solidFill>
            <a:srgbClr val="C49A2C"/>
          </a:solidFill>
          <a:ln/>
        </p:spPr>
      </p:sp>
      <p:sp>
        <p:nvSpPr>
          <p:cNvPr id="11" name="Text 9"/>
          <p:cNvSpPr/>
          <p:nvPr/>
        </p:nvSpPr>
        <p:spPr>
          <a:xfrm>
            <a:off x="463826" y="3710609"/>
            <a:ext cx="5516217" cy="231913"/>
          </a:xfrm>
          <a:prstGeom prst="rect">
            <a:avLst/>
          </a:prstGeom>
          <a:noFill/>
          <a:ln/>
        </p:spPr>
        <p:txBody>
          <a:bodyPr wrap="square" lIns="0" tIns="0" rIns="0" bIns="0" rtlCol="0" anchor="ctr"/>
          <a:lstStyle/>
          <a:p>
            <a:pPr>
              <a:lnSpc>
                <a:spcPct val="120000"/>
              </a:lnSpc>
            </a:pPr>
            <a:r>
              <a:rPr lang="en-US" sz="1304" b="1" dirty="0">
                <a:solidFill>
                  <a:srgbClr val="1E3A5F"/>
                </a:solidFill>
                <a:latin typeface="MiSans" pitchFamily="34" charset="0"/>
                <a:ea typeface="MiSans" pitchFamily="34" charset="-122"/>
                <a:cs typeface="MiSans" pitchFamily="34" charset="-120"/>
              </a:rPr>
              <a:t>What the 0.61 Figure Means</a:t>
            </a:r>
            <a:endParaRPr lang="en-US" sz="1600" dirty="0"/>
          </a:p>
        </p:txBody>
      </p:sp>
      <p:sp>
        <p:nvSpPr>
          <p:cNvPr id="12" name="Shape 10"/>
          <p:cNvSpPr/>
          <p:nvPr/>
        </p:nvSpPr>
        <p:spPr>
          <a:xfrm>
            <a:off x="488674" y="4079185"/>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00A63E"/>
          </a:solidFill>
          <a:ln/>
        </p:spPr>
      </p:sp>
      <p:sp>
        <p:nvSpPr>
          <p:cNvPr id="13" name="Text 11"/>
          <p:cNvSpPr/>
          <p:nvPr/>
        </p:nvSpPr>
        <p:spPr>
          <a:xfrm>
            <a:off x="672692" y="4041913"/>
            <a:ext cx="5290786" cy="397565"/>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Pupils in MPI schools made </a:t>
            </a:r>
            <a:pPr>
              <a:lnSpc>
                <a:spcPct val="130000"/>
              </a:lnSpc>
            </a:pPr>
            <a:r>
              <a:rPr lang="en-US" sz="1043" b="1" dirty="0">
                <a:solidFill>
                  <a:srgbClr val="2D3436"/>
                </a:solidFill>
                <a:latin typeface="MiSans" pitchFamily="34" charset="0"/>
                <a:ea typeface="MiSans" pitchFamily="34" charset="-122"/>
                <a:cs typeface="MiSans" pitchFamily="34" charset="-120"/>
              </a:rPr>
              <a:t>more progress</a:t>
            </a:r>
            <a:pPr>
              <a:lnSpc>
                <a:spcPct val="130000"/>
              </a:lnSpc>
            </a:pPr>
            <a:r>
              <a:rPr lang="en-US" sz="1043" dirty="0">
                <a:solidFill>
                  <a:srgbClr val="2D3436"/>
                </a:solidFill>
                <a:latin typeface="MiSans" pitchFamily="34" charset="0"/>
                <a:ea typeface="MiSans" pitchFamily="34" charset="-122"/>
                <a:cs typeface="MiSans" pitchFamily="34" charset="-120"/>
              </a:rPr>
              <a:t> than statistically similar pupils in non-MPI schools</a:t>
            </a:r>
            <a:endParaRPr lang="en-US" sz="1600" dirty="0"/>
          </a:p>
        </p:txBody>
      </p:sp>
      <p:sp>
        <p:nvSpPr>
          <p:cNvPr id="14" name="Shape 12"/>
          <p:cNvSpPr/>
          <p:nvPr/>
        </p:nvSpPr>
        <p:spPr>
          <a:xfrm>
            <a:off x="488674" y="4543011"/>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00A63E"/>
          </a:solidFill>
          <a:ln/>
        </p:spPr>
      </p:sp>
      <p:sp>
        <p:nvSpPr>
          <p:cNvPr id="15" name="Text 13"/>
          <p:cNvSpPr/>
          <p:nvPr/>
        </p:nvSpPr>
        <p:spPr>
          <a:xfrm>
            <a:off x="672692" y="4505739"/>
            <a:ext cx="5290786" cy="198783"/>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The gap was </a:t>
            </a:r>
            <a:pPr>
              <a:lnSpc>
                <a:spcPct val="130000"/>
              </a:lnSpc>
            </a:pPr>
            <a:r>
              <a:rPr lang="en-US" sz="1043" b="1" dirty="0">
                <a:solidFill>
                  <a:srgbClr val="2D3436"/>
                </a:solidFill>
                <a:latin typeface="MiSans" pitchFamily="34" charset="0"/>
                <a:ea typeface="MiSans" pitchFamily="34" charset="-122"/>
                <a:cs typeface="MiSans" pitchFamily="34" charset="-120"/>
              </a:rPr>
              <a:t>large enough to be meaningful</a:t>
            </a:r>
            <a:pPr>
              <a:lnSpc>
                <a:spcPct val="130000"/>
              </a:lnSpc>
            </a:pPr>
            <a:r>
              <a:rPr lang="en-US" sz="1043" dirty="0">
                <a:solidFill>
                  <a:srgbClr val="2D3436"/>
                </a:solidFill>
                <a:latin typeface="MiSans" pitchFamily="34" charset="0"/>
                <a:ea typeface="MiSans" pitchFamily="34" charset="-122"/>
                <a:cs typeface="MiSans" pitchFamily="34" charset="-120"/>
              </a:rPr>
              <a:t> rather than merely detectable</a:t>
            </a:r>
            <a:endParaRPr lang="en-US" sz="1600" dirty="0"/>
          </a:p>
        </p:txBody>
      </p:sp>
      <p:sp>
        <p:nvSpPr>
          <p:cNvPr id="16" name="Shape 14"/>
          <p:cNvSpPr/>
          <p:nvPr/>
        </p:nvSpPr>
        <p:spPr>
          <a:xfrm>
            <a:off x="488674" y="4808054"/>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00A63E"/>
          </a:solidFill>
          <a:ln/>
        </p:spPr>
      </p:sp>
      <p:sp>
        <p:nvSpPr>
          <p:cNvPr id="17" name="Text 15"/>
          <p:cNvSpPr/>
          <p:nvPr/>
        </p:nvSpPr>
        <p:spPr>
          <a:xfrm>
            <a:off x="672692" y="4770783"/>
            <a:ext cx="5290786" cy="397565"/>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The effect size is </a:t>
            </a:r>
            <a:pPr>
              <a:lnSpc>
                <a:spcPct val="130000"/>
              </a:lnSpc>
            </a:pPr>
            <a:r>
              <a:rPr lang="en-US" sz="1043" b="1" dirty="0">
                <a:solidFill>
                  <a:srgbClr val="2D3436"/>
                </a:solidFill>
                <a:latin typeface="MiSans" pitchFamily="34" charset="0"/>
                <a:ea typeface="MiSans" pitchFamily="34" charset="-122"/>
                <a:cs typeface="MiSans" pitchFamily="34" charset="-120"/>
              </a:rPr>
              <a:t>above the 0.4 hinge point</a:t>
            </a:r>
            <a:pPr>
              <a:lnSpc>
                <a:spcPct val="130000"/>
              </a:lnSpc>
            </a:pPr>
            <a:r>
              <a:rPr lang="en-US" sz="1043" dirty="0">
                <a:solidFill>
                  <a:srgbClr val="2D3436"/>
                </a:solidFill>
                <a:latin typeface="MiSans" pitchFamily="34" charset="0"/>
                <a:ea typeface="MiSans" pitchFamily="34" charset="-122"/>
                <a:cs typeface="MiSans" pitchFamily="34" charset="-120"/>
              </a:rPr>
              <a:t> and in the upper range for formative assessment interventions</a:t>
            </a:r>
            <a:endParaRPr lang="en-US" sz="1600" dirty="0"/>
          </a:p>
        </p:txBody>
      </p:sp>
      <p:sp>
        <p:nvSpPr>
          <p:cNvPr id="18" name="Shape 16"/>
          <p:cNvSpPr/>
          <p:nvPr/>
        </p:nvSpPr>
        <p:spPr>
          <a:xfrm>
            <a:off x="6162261" y="944217"/>
            <a:ext cx="5698435" cy="3064565"/>
          </a:xfrm>
          <a:custGeom>
            <a:avLst/>
            <a:gdLst/>
            <a:ahLst/>
            <a:cxnLst/>
            <a:rect l="l" t="t" r="r" b="b"/>
            <a:pathLst>
              <a:path w="5698435" h="3064565">
                <a:moveTo>
                  <a:pt x="0" y="0"/>
                </a:moveTo>
                <a:lnTo>
                  <a:pt x="5698435" y="0"/>
                </a:lnTo>
                <a:lnTo>
                  <a:pt x="5698435" y="3064565"/>
                </a:lnTo>
                <a:lnTo>
                  <a:pt x="0" y="3064565"/>
                </a:lnTo>
                <a:lnTo>
                  <a:pt x="0" y="0"/>
                </a:lnTo>
                <a:close/>
              </a:path>
            </a:pathLst>
          </a:custGeom>
          <a:solidFill>
            <a:srgbClr val="FFFFFF"/>
          </a:solidFill>
          <a:ln/>
        </p:spPr>
      </p:sp>
      <p:sp>
        <p:nvSpPr>
          <p:cNvPr id="19" name="Shape 17"/>
          <p:cNvSpPr/>
          <p:nvPr/>
        </p:nvSpPr>
        <p:spPr>
          <a:xfrm>
            <a:off x="6162261" y="944217"/>
            <a:ext cx="5698435" cy="33130"/>
          </a:xfrm>
          <a:custGeom>
            <a:avLst/>
            <a:gdLst/>
            <a:ahLst/>
            <a:cxnLst/>
            <a:rect l="l" t="t" r="r" b="b"/>
            <a:pathLst>
              <a:path w="5698435" h="33130">
                <a:moveTo>
                  <a:pt x="0" y="0"/>
                </a:moveTo>
                <a:lnTo>
                  <a:pt x="5698435" y="0"/>
                </a:lnTo>
                <a:lnTo>
                  <a:pt x="5698435" y="33130"/>
                </a:lnTo>
                <a:lnTo>
                  <a:pt x="0" y="33130"/>
                </a:lnTo>
                <a:lnTo>
                  <a:pt x="0" y="0"/>
                </a:lnTo>
                <a:close/>
              </a:path>
            </a:pathLst>
          </a:custGeom>
          <a:solidFill>
            <a:srgbClr val="E7000B"/>
          </a:solidFill>
          <a:ln/>
        </p:spPr>
      </p:sp>
      <p:sp>
        <p:nvSpPr>
          <p:cNvPr id="20" name="Shape 18"/>
          <p:cNvSpPr/>
          <p:nvPr/>
        </p:nvSpPr>
        <p:spPr>
          <a:xfrm>
            <a:off x="6315489" y="1126435"/>
            <a:ext cx="165652" cy="165652"/>
          </a:xfrm>
          <a:custGeom>
            <a:avLst/>
            <a:gdLst/>
            <a:ahLst/>
            <a:cxnLst/>
            <a:rect l="l" t="t" r="r" b="b"/>
            <a:pathLst>
              <a:path w="165652" h="165652">
                <a:moveTo>
                  <a:pt x="82826" y="165652"/>
                </a:moveTo>
                <a:cubicBezTo>
                  <a:pt x="128539" y="165652"/>
                  <a:pt x="165652" y="128539"/>
                  <a:pt x="165652" y="82826"/>
                </a:cubicBezTo>
                <a:cubicBezTo>
                  <a:pt x="165652" y="37113"/>
                  <a:pt x="128539" y="0"/>
                  <a:pt x="82826" y="0"/>
                </a:cubicBezTo>
                <a:cubicBezTo>
                  <a:pt x="37113" y="0"/>
                  <a:pt x="0" y="37113"/>
                  <a:pt x="0" y="82826"/>
                </a:cubicBezTo>
                <a:cubicBezTo>
                  <a:pt x="0" y="128539"/>
                  <a:pt x="37113" y="165652"/>
                  <a:pt x="82826" y="165652"/>
                </a:cubicBezTo>
                <a:close/>
                <a:moveTo>
                  <a:pt x="54031" y="54031"/>
                </a:moveTo>
                <a:cubicBezTo>
                  <a:pt x="57072" y="50990"/>
                  <a:pt x="61990" y="50990"/>
                  <a:pt x="64999" y="54031"/>
                </a:cubicBezTo>
                <a:lnTo>
                  <a:pt x="82794" y="71826"/>
                </a:lnTo>
                <a:lnTo>
                  <a:pt x="100588" y="54031"/>
                </a:lnTo>
                <a:cubicBezTo>
                  <a:pt x="103630" y="50990"/>
                  <a:pt x="108547" y="50990"/>
                  <a:pt x="111556" y="54031"/>
                </a:cubicBezTo>
                <a:cubicBezTo>
                  <a:pt x="114565" y="57072"/>
                  <a:pt x="114598" y="61990"/>
                  <a:pt x="111556" y="64999"/>
                </a:cubicBezTo>
                <a:lnTo>
                  <a:pt x="93762" y="82794"/>
                </a:lnTo>
                <a:lnTo>
                  <a:pt x="111556" y="100588"/>
                </a:lnTo>
                <a:cubicBezTo>
                  <a:pt x="114598" y="103630"/>
                  <a:pt x="114598" y="108547"/>
                  <a:pt x="111556" y="111556"/>
                </a:cubicBezTo>
                <a:cubicBezTo>
                  <a:pt x="108515" y="114565"/>
                  <a:pt x="103597" y="114598"/>
                  <a:pt x="100588" y="111556"/>
                </a:cubicBezTo>
                <a:lnTo>
                  <a:pt x="82794" y="93762"/>
                </a:lnTo>
                <a:lnTo>
                  <a:pt x="64999" y="111556"/>
                </a:lnTo>
                <a:cubicBezTo>
                  <a:pt x="61958" y="114598"/>
                  <a:pt x="57040" y="114598"/>
                  <a:pt x="54031" y="111556"/>
                </a:cubicBezTo>
                <a:cubicBezTo>
                  <a:pt x="51022" y="108515"/>
                  <a:pt x="50990" y="103597"/>
                  <a:pt x="54031" y="100588"/>
                </a:cubicBezTo>
                <a:lnTo>
                  <a:pt x="71826" y="82794"/>
                </a:lnTo>
                <a:lnTo>
                  <a:pt x="54031" y="64999"/>
                </a:lnTo>
                <a:cubicBezTo>
                  <a:pt x="50990" y="61958"/>
                  <a:pt x="50990" y="57040"/>
                  <a:pt x="54031" y="54031"/>
                </a:cubicBezTo>
                <a:close/>
              </a:path>
            </a:pathLst>
          </a:custGeom>
          <a:solidFill>
            <a:srgbClr val="C10007"/>
          </a:solidFill>
          <a:ln/>
        </p:spPr>
      </p:sp>
      <p:sp>
        <p:nvSpPr>
          <p:cNvPr id="21" name="Text 19"/>
          <p:cNvSpPr/>
          <p:nvPr/>
        </p:nvSpPr>
        <p:spPr>
          <a:xfrm>
            <a:off x="6501848" y="1093304"/>
            <a:ext cx="5309152" cy="231913"/>
          </a:xfrm>
          <a:prstGeom prst="rect">
            <a:avLst/>
          </a:prstGeom>
          <a:noFill/>
          <a:ln/>
        </p:spPr>
        <p:txBody>
          <a:bodyPr wrap="square" lIns="0" tIns="0" rIns="0" bIns="0" rtlCol="0" anchor="ctr"/>
          <a:lstStyle/>
          <a:p>
            <a:pPr>
              <a:lnSpc>
                <a:spcPct val="120000"/>
              </a:lnSpc>
            </a:pPr>
            <a:r>
              <a:rPr lang="en-US" sz="1304" b="1" dirty="0">
                <a:solidFill>
                  <a:srgbClr val="C10007"/>
                </a:solidFill>
                <a:latin typeface="MiSans" pitchFamily="34" charset="0"/>
                <a:ea typeface="MiSans" pitchFamily="34" charset="-122"/>
                <a:cs typeface="MiSans" pitchFamily="34" charset="-120"/>
              </a:rPr>
              <a:t>What the 0.61 Figure Does NOT Mean</a:t>
            </a:r>
            <a:endParaRPr lang="en-US" sz="1600" dirty="0"/>
          </a:p>
        </p:txBody>
      </p:sp>
      <p:sp>
        <p:nvSpPr>
          <p:cNvPr id="22" name="Shape 20"/>
          <p:cNvSpPr/>
          <p:nvPr/>
        </p:nvSpPr>
        <p:spPr>
          <a:xfrm>
            <a:off x="6311348" y="1424609"/>
            <a:ext cx="5416826" cy="397565"/>
          </a:xfrm>
          <a:custGeom>
            <a:avLst/>
            <a:gdLst/>
            <a:ahLst/>
            <a:cxnLst/>
            <a:rect l="l" t="t" r="r" b="b"/>
            <a:pathLst>
              <a:path w="5416826" h="397565">
                <a:moveTo>
                  <a:pt x="0" y="0"/>
                </a:moveTo>
                <a:lnTo>
                  <a:pt x="5416826" y="0"/>
                </a:lnTo>
                <a:lnTo>
                  <a:pt x="5416826" y="397565"/>
                </a:lnTo>
                <a:lnTo>
                  <a:pt x="0" y="397565"/>
                </a:lnTo>
                <a:lnTo>
                  <a:pt x="0" y="0"/>
                </a:lnTo>
                <a:close/>
              </a:path>
            </a:pathLst>
          </a:custGeom>
          <a:solidFill>
            <a:srgbClr val="FEF2F2"/>
          </a:solidFill>
          <a:ln/>
        </p:spPr>
      </p:sp>
      <p:sp>
        <p:nvSpPr>
          <p:cNvPr id="23" name="Shape 21"/>
          <p:cNvSpPr/>
          <p:nvPr/>
        </p:nvSpPr>
        <p:spPr>
          <a:xfrm>
            <a:off x="6311348" y="1424609"/>
            <a:ext cx="33130" cy="397565"/>
          </a:xfrm>
          <a:custGeom>
            <a:avLst/>
            <a:gdLst/>
            <a:ahLst/>
            <a:cxnLst/>
            <a:rect l="l" t="t" r="r" b="b"/>
            <a:pathLst>
              <a:path w="33130" h="397565">
                <a:moveTo>
                  <a:pt x="0" y="0"/>
                </a:moveTo>
                <a:lnTo>
                  <a:pt x="33130" y="0"/>
                </a:lnTo>
                <a:lnTo>
                  <a:pt x="33130" y="397565"/>
                </a:lnTo>
                <a:lnTo>
                  <a:pt x="0" y="397565"/>
                </a:lnTo>
                <a:lnTo>
                  <a:pt x="0" y="0"/>
                </a:lnTo>
                <a:close/>
              </a:path>
            </a:pathLst>
          </a:custGeom>
          <a:solidFill>
            <a:srgbClr val="E7000B"/>
          </a:solidFill>
          <a:ln/>
        </p:spPr>
      </p:sp>
      <p:sp>
        <p:nvSpPr>
          <p:cNvPr id="24" name="Shape 22"/>
          <p:cNvSpPr/>
          <p:nvPr/>
        </p:nvSpPr>
        <p:spPr>
          <a:xfrm>
            <a:off x="6460435" y="1561272"/>
            <a:ext cx="99391" cy="132522"/>
          </a:xfrm>
          <a:custGeom>
            <a:avLst/>
            <a:gdLst/>
            <a:ahLst/>
            <a:cxnLst/>
            <a:rect l="l" t="t" r="r" b="b"/>
            <a:pathLst>
              <a:path w="99391" h="132522">
                <a:moveTo>
                  <a:pt x="14262" y="18998"/>
                </a:moveTo>
                <a:cubicBezTo>
                  <a:pt x="11026" y="15763"/>
                  <a:pt x="5772" y="15763"/>
                  <a:pt x="2537" y="18998"/>
                </a:cubicBezTo>
                <a:cubicBezTo>
                  <a:pt x="-699" y="22234"/>
                  <a:pt x="-699" y="27488"/>
                  <a:pt x="2537" y="30723"/>
                </a:cubicBezTo>
                <a:lnTo>
                  <a:pt x="38100" y="66261"/>
                </a:lnTo>
                <a:lnTo>
                  <a:pt x="2562" y="101824"/>
                </a:lnTo>
                <a:cubicBezTo>
                  <a:pt x="-673" y="105060"/>
                  <a:pt x="-673" y="110314"/>
                  <a:pt x="2562" y="113549"/>
                </a:cubicBezTo>
                <a:cubicBezTo>
                  <a:pt x="5798" y="116785"/>
                  <a:pt x="11052" y="116785"/>
                  <a:pt x="14287" y="113549"/>
                </a:cubicBezTo>
                <a:lnTo>
                  <a:pt x="49825" y="77986"/>
                </a:lnTo>
                <a:lnTo>
                  <a:pt x="85389" y="113524"/>
                </a:lnTo>
                <a:cubicBezTo>
                  <a:pt x="88624" y="116759"/>
                  <a:pt x="93878" y="116759"/>
                  <a:pt x="97114" y="113524"/>
                </a:cubicBezTo>
                <a:cubicBezTo>
                  <a:pt x="100349" y="110288"/>
                  <a:pt x="100349" y="105034"/>
                  <a:pt x="97114" y="101798"/>
                </a:cubicBezTo>
                <a:lnTo>
                  <a:pt x="61550" y="66261"/>
                </a:lnTo>
                <a:lnTo>
                  <a:pt x="97088" y="30697"/>
                </a:lnTo>
                <a:cubicBezTo>
                  <a:pt x="100323" y="27462"/>
                  <a:pt x="100323" y="22208"/>
                  <a:pt x="97088" y="18972"/>
                </a:cubicBezTo>
                <a:cubicBezTo>
                  <a:pt x="93852" y="15737"/>
                  <a:pt x="88598" y="15737"/>
                  <a:pt x="85363" y="18972"/>
                </a:cubicBezTo>
                <a:lnTo>
                  <a:pt x="49825" y="54536"/>
                </a:lnTo>
                <a:lnTo>
                  <a:pt x="14262" y="18998"/>
                </a:lnTo>
                <a:close/>
              </a:path>
            </a:pathLst>
          </a:custGeom>
          <a:solidFill>
            <a:srgbClr val="E7000B"/>
          </a:solidFill>
          <a:ln/>
        </p:spPr>
      </p:sp>
      <p:sp>
        <p:nvSpPr>
          <p:cNvPr id="25" name="Text 23"/>
          <p:cNvSpPr/>
          <p:nvPr/>
        </p:nvSpPr>
        <p:spPr>
          <a:xfrm>
            <a:off x="6636170" y="1524000"/>
            <a:ext cx="5058873" cy="198783"/>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It does NOT mean that </a:t>
            </a:r>
            <a:pPr>
              <a:lnSpc>
                <a:spcPct val="130000"/>
              </a:lnSpc>
            </a:pPr>
            <a:r>
              <a:rPr lang="en-US" sz="1043" b="1" dirty="0">
                <a:solidFill>
                  <a:srgbClr val="2D3436"/>
                </a:solidFill>
                <a:latin typeface="MiSans" pitchFamily="34" charset="0"/>
                <a:ea typeface="MiSans" pitchFamily="34" charset="-122"/>
                <a:cs typeface="MiSans" pitchFamily="34" charset="-120"/>
              </a:rPr>
              <a:t>every MPI school outperforms every non-MPI school</a:t>
            </a:r>
            <a:endParaRPr lang="en-US" sz="1600" dirty="0"/>
          </a:p>
        </p:txBody>
      </p:sp>
      <p:sp>
        <p:nvSpPr>
          <p:cNvPr id="26" name="Shape 24"/>
          <p:cNvSpPr/>
          <p:nvPr/>
        </p:nvSpPr>
        <p:spPr>
          <a:xfrm>
            <a:off x="6311348" y="1888435"/>
            <a:ext cx="5416826" cy="596348"/>
          </a:xfrm>
          <a:custGeom>
            <a:avLst/>
            <a:gdLst/>
            <a:ahLst/>
            <a:cxnLst/>
            <a:rect l="l" t="t" r="r" b="b"/>
            <a:pathLst>
              <a:path w="5416826" h="596348">
                <a:moveTo>
                  <a:pt x="0" y="0"/>
                </a:moveTo>
                <a:lnTo>
                  <a:pt x="5416826" y="0"/>
                </a:lnTo>
                <a:lnTo>
                  <a:pt x="5416826" y="596348"/>
                </a:lnTo>
                <a:lnTo>
                  <a:pt x="0" y="596348"/>
                </a:lnTo>
                <a:lnTo>
                  <a:pt x="0" y="0"/>
                </a:lnTo>
                <a:close/>
              </a:path>
            </a:pathLst>
          </a:custGeom>
          <a:solidFill>
            <a:srgbClr val="FEF2F2"/>
          </a:solidFill>
          <a:ln/>
        </p:spPr>
      </p:sp>
      <p:sp>
        <p:nvSpPr>
          <p:cNvPr id="27" name="Shape 25"/>
          <p:cNvSpPr/>
          <p:nvPr/>
        </p:nvSpPr>
        <p:spPr>
          <a:xfrm>
            <a:off x="6311348" y="1888435"/>
            <a:ext cx="33130" cy="596348"/>
          </a:xfrm>
          <a:custGeom>
            <a:avLst/>
            <a:gdLst/>
            <a:ahLst/>
            <a:cxnLst/>
            <a:rect l="l" t="t" r="r" b="b"/>
            <a:pathLst>
              <a:path w="33130" h="596348">
                <a:moveTo>
                  <a:pt x="0" y="0"/>
                </a:moveTo>
                <a:lnTo>
                  <a:pt x="33130" y="0"/>
                </a:lnTo>
                <a:lnTo>
                  <a:pt x="33130" y="596348"/>
                </a:lnTo>
                <a:lnTo>
                  <a:pt x="0" y="596348"/>
                </a:lnTo>
                <a:lnTo>
                  <a:pt x="0" y="0"/>
                </a:lnTo>
                <a:close/>
              </a:path>
            </a:pathLst>
          </a:custGeom>
          <a:solidFill>
            <a:srgbClr val="E7000B"/>
          </a:solidFill>
          <a:ln/>
        </p:spPr>
      </p:sp>
      <p:sp>
        <p:nvSpPr>
          <p:cNvPr id="28" name="Shape 26"/>
          <p:cNvSpPr/>
          <p:nvPr/>
        </p:nvSpPr>
        <p:spPr>
          <a:xfrm>
            <a:off x="6460435" y="2025098"/>
            <a:ext cx="99391" cy="132522"/>
          </a:xfrm>
          <a:custGeom>
            <a:avLst/>
            <a:gdLst/>
            <a:ahLst/>
            <a:cxnLst/>
            <a:rect l="l" t="t" r="r" b="b"/>
            <a:pathLst>
              <a:path w="99391" h="132522">
                <a:moveTo>
                  <a:pt x="14262" y="18998"/>
                </a:moveTo>
                <a:cubicBezTo>
                  <a:pt x="11026" y="15763"/>
                  <a:pt x="5772" y="15763"/>
                  <a:pt x="2537" y="18998"/>
                </a:cubicBezTo>
                <a:cubicBezTo>
                  <a:pt x="-699" y="22234"/>
                  <a:pt x="-699" y="27488"/>
                  <a:pt x="2537" y="30723"/>
                </a:cubicBezTo>
                <a:lnTo>
                  <a:pt x="38100" y="66261"/>
                </a:lnTo>
                <a:lnTo>
                  <a:pt x="2562" y="101824"/>
                </a:lnTo>
                <a:cubicBezTo>
                  <a:pt x="-673" y="105060"/>
                  <a:pt x="-673" y="110314"/>
                  <a:pt x="2562" y="113549"/>
                </a:cubicBezTo>
                <a:cubicBezTo>
                  <a:pt x="5798" y="116785"/>
                  <a:pt x="11052" y="116785"/>
                  <a:pt x="14287" y="113549"/>
                </a:cubicBezTo>
                <a:lnTo>
                  <a:pt x="49825" y="77986"/>
                </a:lnTo>
                <a:lnTo>
                  <a:pt x="85389" y="113524"/>
                </a:lnTo>
                <a:cubicBezTo>
                  <a:pt x="88624" y="116759"/>
                  <a:pt x="93878" y="116759"/>
                  <a:pt x="97114" y="113524"/>
                </a:cubicBezTo>
                <a:cubicBezTo>
                  <a:pt x="100349" y="110288"/>
                  <a:pt x="100349" y="105034"/>
                  <a:pt x="97114" y="101798"/>
                </a:cubicBezTo>
                <a:lnTo>
                  <a:pt x="61550" y="66261"/>
                </a:lnTo>
                <a:lnTo>
                  <a:pt x="97088" y="30697"/>
                </a:lnTo>
                <a:cubicBezTo>
                  <a:pt x="100323" y="27462"/>
                  <a:pt x="100323" y="22208"/>
                  <a:pt x="97088" y="18972"/>
                </a:cubicBezTo>
                <a:cubicBezTo>
                  <a:pt x="93852" y="15737"/>
                  <a:pt x="88598" y="15737"/>
                  <a:pt x="85363" y="18972"/>
                </a:cubicBezTo>
                <a:lnTo>
                  <a:pt x="49825" y="54536"/>
                </a:lnTo>
                <a:lnTo>
                  <a:pt x="14262" y="18998"/>
                </a:lnTo>
                <a:close/>
              </a:path>
            </a:pathLst>
          </a:custGeom>
          <a:solidFill>
            <a:srgbClr val="E7000B"/>
          </a:solidFill>
          <a:ln/>
        </p:spPr>
      </p:sp>
      <p:sp>
        <p:nvSpPr>
          <p:cNvPr id="29" name="Text 27"/>
          <p:cNvSpPr/>
          <p:nvPr/>
        </p:nvSpPr>
        <p:spPr>
          <a:xfrm>
            <a:off x="6636170" y="1987826"/>
            <a:ext cx="5058873" cy="397565"/>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It does NOT mean that the programme will produce </a:t>
            </a:r>
            <a:pPr>
              <a:lnSpc>
                <a:spcPct val="130000"/>
              </a:lnSpc>
            </a:pPr>
            <a:r>
              <a:rPr lang="en-US" sz="1043" b="1" dirty="0">
                <a:solidFill>
                  <a:srgbClr val="2D3436"/>
                </a:solidFill>
                <a:latin typeface="MiSans" pitchFamily="34" charset="0"/>
                <a:ea typeface="MiSans" pitchFamily="34" charset="-122"/>
                <a:cs typeface="MiSans" pitchFamily="34" charset="-120"/>
              </a:rPr>
              <a:t>the same effect in every context</a:t>
            </a:r>
            <a:endParaRPr lang="en-US" sz="1600" dirty="0"/>
          </a:p>
        </p:txBody>
      </p:sp>
      <p:sp>
        <p:nvSpPr>
          <p:cNvPr id="30" name="Shape 28"/>
          <p:cNvSpPr/>
          <p:nvPr/>
        </p:nvSpPr>
        <p:spPr>
          <a:xfrm>
            <a:off x="6311348" y="2551043"/>
            <a:ext cx="5416826" cy="397565"/>
          </a:xfrm>
          <a:custGeom>
            <a:avLst/>
            <a:gdLst/>
            <a:ahLst/>
            <a:cxnLst/>
            <a:rect l="l" t="t" r="r" b="b"/>
            <a:pathLst>
              <a:path w="5416826" h="397565">
                <a:moveTo>
                  <a:pt x="0" y="0"/>
                </a:moveTo>
                <a:lnTo>
                  <a:pt x="5416826" y="0"/>
                </a:lnTo>
                <a:lnTo>
                  <a:pt x="5416826" y="397565"/>
                </a:lnTo>
                <a:lnTo>
                  <a:pt x="0" y="397565"/>
                </a:lnTo>
                <a:lnTo>
                  <a:pt x="0" y="0"/>
                </a:lnTo>
                <a:close/>
              </a:path>
            </a:pathLst>
          </a:custGeom>
          <a:solidFill>
            <a:srgbClr val="FEF2F2"/>
          </a:solidFill>
          <a:ln/>
        </p:spPr>
      </p:sp>
      <p:sp>
        <p:nvSpPr>
          <p:cNvPr id="31" name="Shape 29"/>
          <p:cNvSpPr/>
          <p:nvPr/>
        </p:nvSpPr>
        <p:spPr>
          <a:xfrm>
            <a:off x="6311348" y="2551043"/>
            <a:ext cx="33130" cy="397565"/>
          </a:xfrm>
          <a:custGeom>
            <a:avLst/>
            <a:gdLst/>
            <a:ahLst/>
            <a:cxnLst/>
            <a:rect l="l" t="t" r="r" b="b"/>
            <a:pathLst>
              <a:path w="33130" h="397565">
                <a:moveTo>
                  <a:pt x="0" y="0"/>
                </a:moveTo>
                <a:lnTo>
                  <a:pt x="33130" y="0"/>
                </a:lnTo>
                <a:lnTo>
                  <a:pt x="33130" y="397565"/>
                </a:lnTo>
                <a:lnTo>
                  <a:pt x="0" y="397565"/>
                </a:lnTo>
                <a:lnTo>
                  <a:pt x="0" y="0"/>
                </a:lnTo>
                <a:close/>
              </a:path>
            </a:pathLst>
          </a:custGeom>
          <a:solidFill>
            <a:srgbClr val="E7000B"/>
          </a:solidFill>
          <a:ln/>
        </p:spPr>
      </p:sp>
      <p:sp>
        <p:nvSpPr>
          <p:cNvPr id="32" name="Shape 30"/>
          <p:cNvSpPr/>
          <p:nvPr/>
        </p:nvSpPr>
        <p:spPr>
          <a:xfrm>
            <a:off x="6460435" y="2687707"/>
            <a:ext cx="99391" cy="132522"/>
          </a:xfrm>
          <a:custGeom>
            <a:avLst/>
            <a:gdLst/>
            <a:ahLst/>
            <a:cxnLst/>
            <a:rect l="l" t="t" r="r" b="b"/>
            <a:pathLst>
              <a:path w="99391" h="132522">
                <a:moveTo>
                  <a:pt x="14262" y="18998"/>
                </a:moveTo>
                <a:cubicBezTo>
                  <a:pt x="11026" y="15763"/>
                  <a:pt x="5772" y="15763"/>
                  <a:pt x="2537" y="18998"/>
                </a:cubicBezTo>
                <a:cubicBezTo>
                  <a:pt x="-699" y="22234"/>
                  <a:pt x="-699" y="27488"/>
                  <a:pt x="2537" y="30723"/>
                </a:cubicBezTo>
                <a:lnTo>
                  <a:pt x="38100" y="66261"/>
                </a:lnTo>
                <a:lnTo>
                  <a:pt x="2562" y="101824"/>
                </a:lnTo>
                <a:cubicBezTo>
                  <a:pt x="-673" y="105060"/>
                  <a:pt x="-673" y="110314"/>
                  <a:pt x="2562" y="113549"/>
                </a:cubicBezTo>
                <a:cubicBezTo>
                  <a:pt x="5798" y="116785"/>
                  <a:pt x="11052" y="116785"/>
                  <a:pt x="14287" y="113549"/>
                </a:cubicBezTo>
                <a:lnTo>
                  <a:pt x="49825" y="77986"/>
                </a:lnTo>
                <a:lnTo>
                  <a:pt x="85389" y="113524"/>
                </a:lnTo>
                <a:cubicBezTo>
                  <a:pt x="88624" y="116759"/>
                  <a:pt x="93878" y="116759"/>
                  <a:pt x="97114" y="113524"/>
                </a:cubicBezTo>
                <a:cubicBezTo>
                  <a:pt x="100349" y="110288"/>
                  <a:pt x="100349" y="105034"/>
                  <a:pt x="97114" y="101798"/>
                </a:cubicBezTo>
                <a:lnTo>
                  <a:pt x="61550" y="66261"/>
                </a:lnTo>
                <a:lnTo>
                  <a:pt x="97088" y="30697"/>
                </a:lnTo>
                <a:cubicBezTo>
                  <a:pt x="100323" y="27462"/>
                  <a:pt x="100323" y="22208"/>
                  <a:pt x="97088" y="18972"/>
                </a:cubicBezTo>
                <a:cubicBezTo>
                  <a:pt x="93852" y="15737"/>
                  <a:pt x="88598" y="15737"/>
                  <a:pt x="85363" y="18972"/>
                </a:cubicBezTo>
                <a:lnTo>
                  <a:pt x="49825" y="54536"/>
                </a:lnTo>
                <a:lnTo>
                  <a:pt x="14262" y="18998"/>
                </a:lnTo>
                <a:close/>
              </a:path>
            </a:pathLst>
          </a:custGeom>
          <a:solidFill>
            <a:srgbClr val="E7000B"/>
          </a:solidFill>
          <a:ln/>
        </p:spPr>
      </p:sp>
      <p:sp>
        <p:nvSpPr>
          <p:cNvPr id="33" name="Text 31"/>
          <p:cNvSpPr/>
          <p:nvPr/>
        </p:nvSpPr>
        <p:spPr>
          <a:xfrm>
            <a:off x="6636170" y="2650435"/>
            <a:ext cx="5058873" cy="198783"/>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It does NOT mean that the effect size is </a:t>
            </a:r>
            <a:pPr>
              <a:lnSpc>
                <a:spcPct val="130000"/>
              </a:lnSpc>
            </a:pPr>
            <a:r>
              <a:rPr lang="en-US" sz="1043" b="1" dirty="0">
                <a:solidFill>
                  <a:srgbClr val="2D3436"/>
                </a:solidFill>
                <a:latin typeface="MiSans" pitchFamily="34" charset="0"/>
                <a:ea typeface="MiSans" pitchFamily="34" charset="-122"/>
                <a:cs typeface="MiSans" pitchFamily="34" charset="-120"/>
              </a:rPr>
              <a:t>stable across all subgroups of schools</a:t>
            </a:r>
            <a:endParaRPr lang="en-US" sz="1600" dirty="0"/>
          </a:p>
        </p:txBody>
      </p:sp>
      <p:sp>
        <p:nvSpPr>
          <p:cNvPr id="34" name="Shape 32"/>
          <p:cNvSpPr/>
          <p:nvPr/>
        </p:nvSpPr>
        <p:spPr>
          <a:xfrm>
            <a:off x="6311348" y="3014870"/>
            <a:ext cx="5416826" cy="397565"/>
          </a:xfrm>
          <a:custGeom>
            <a:avLst/>
            <a:gdLst/>
            <a:ahLst/>
            <a:cxnLst/>
            <a:rect l="l" t="t" r="r" b="b"/>
            <a:pathLst>
              <a:path w="5416826" h="397565">
                <a:moveTo>
                  <a:pt x="0" y="0"/>
                </a:moveTo>
                <a:lnTo>
                  <a:pt x="5416826" y="0"/>
                </a:lnTo>
                <a:lnTo>
                  <a:pt x="5416826" y="397565"/>
                </a:lnTo>
                <a:lnTo>
                  <a:pt x="0" y="397565"/>
                </a:lnTo>
                <a:lnTo>
                  <a:pt x="0" y="0"/>
                </a:lnTo>
                <a:close/>
              </a:path>
            </a:pathLst>
          </a:custGeom>
          <a:solidFill>
            <a:srgbClr val="FEF2F2"/>
          </a:solidFill>
          <a:ln/>
        </p:spPr>
      </p:sp>
      <p:sp>
        <p:nvSpPr>
          <p:cNvPr id="35" name="Shape 33"/>
          <p:cNvSpPr/>
          <p:nvPr/>
        </p:nvSpPr>
        <p:spPr>
          <a:xfrm>
            <a:off x="6311348" y="3014870"/>
            <a:ext cx="33130" cy="397565"/>
          </a:xfrm>
          <a:custGeom>
            <a:avLst/>
            <a:gdLst/>
            <a:ahLst/>
            <a:cxnLst/>
            <a:rect l="l" t="t" r="r" b="b"/>
            <a:pathLst>
              <a:path w="33130" h="397565">
                <a:moveTo>
                  <a:pt x="0" y="0"/>
                </a:moveTo>
                <a:lnTo>
                  <a:pt x="33130" y="0"/>
                </a:lnTo>
                <a:lnTo>
                  <a:pt x="33130" y="397565"/>
                </a:lnTo>
                <a:lnTo>
                  <a:pt x="0" y="397565"/>
                </a:lnTo>
                <a:lnTo>
                  <a:pt x="0" y="0"/>
                </a:lnTo>
                <a:close/>
              </a:path>
            </a:pathLst>
          </a:custGeom>
          <a:solidFill>
            <a:srgbClr val="E7000B"/>
          </a:solidFill>
          <a:ln/>
        </p:spPr>
      </p:sp>
      <p:sp>
        <p:nvSpPr>
          <p:cNvPr id="36" name="Shape 34"/>
          <p:cNvSpPr/>
          <p:nvPr/>
        </p:nvSpPr>
        <p:spPr>
          <a:xfrm>
            <a:off x="6460435" y="3151533"/>
            <a:ext cx="99391" cy="132522"/>
          </a:xfrm>
          <a:custGeom>
            <a:avLst/>
            <a:gdLst/>
            <a:ahLst/>
            <a:cxnLst/>
            <a:rect l="l" t="t" r="r" b="b"/>
            <a:pathLst>
              <a:path w="99391" h="132522">
                <a:moveTo>
                  <a:pt x="14262" y="18998"/>
                </a:moveTo>
                <a:cubicBezTo>
                  <a:pt x="11026" y="15763"/>
                  <a:pt x="5772" y="15763"/>
                  <a:pt x="2537" y="18998"/>
                </a:cubicBezTo>
                <a:cubicBezTo>
                  <a:pt x="-699" y="22234"/>
                  <a:pt x="-699" y="27488"/>
                  <a:pt x="2537" y="30723"/>
                </a:cubicBezTo>
                <a:lnTo>
                  <a:pt x="38100" y="66261"/>
                </a:lnTo>
                <a:lnTo>
                  <a:pt x="2562" y="101824"/>
                </a:lnTo>
                <a:cubicBezTo>
                  <a:pt x="-673" y="105060"/>
                  <a:pt x="-673" y="110314"/>
                  <a:pt x="2562" y="113549"/>
                </a:cubicBezTo>
                <a:cubicBezTo>
                  <a:pt x="5798" y="116785"/>
                  <a:pt x="11052" y="116785"/>
                  <a:pt x="14287" y="113549"/>
                </a:cubicBezTo>
                <a:lnTo>
                  <a:pt x="49825" y="77986"/>
                </a:lnTo>
                <a:lnTo>
                  <a:pt x="85389" y="113524"/>
                </a:lnTo>
                <a:cubicBezTo>
                  <a:pt x="88624" y="116759"/>
                  <a:pt x="93878" y="116759"/>
                  <a:pt x="97114" y="113524"/>
                </a:cubicBezTo>
                <a:cubicBezTo>
                  <a:pt x="100349" y="110288"/>
                  <a:pt x="100349" y="105034"/>
                  <a:pt x="97114" y="101798"/>
                </a:cubicBezTo>
                <a:lnTo>
                  <a:pt x="61550" y="66261"/>
                </a:lnTo>
                <a:lnTo>
                  <a:pt x="97088" y="30697"/>
                </a:lnTo>
                <a:cubicBezTo>
                  <a:pt x="100323" y="27462"/>
                  <a:pt x="100323" y="22208"/>
                  <a:pt x="97088" y="18972"/>
                </a:cubicBezTo>
                <a:cubicBezTo>
                  <a:pt x="93852" y="15737"/>
                  <a:pt x="88598" y="15737"/>
                  <a:pt x="85363" y="18972"/>
                </a:cubicBezTo>
                <a:lnTo>
                  <a:pt x="49825" y="54536"/>
                </a:lnTo>
                <a:lnTo>
                  <a:pt x="14262" y="18998"/>
                </a:lnTo>
                <a:close/>
              </a:path>
            </a:pathLst>
          </a:custGeom>
          <a:solidFill>
            <a:srgbClr val="E7000B"/>
          </a:solidFill>
          <a:ln/>
        </p:spPr>
      </p:sp>
      <p:sp>
        <p:nvSpPr>
          <p:cNvPr id="37" name="Text 35"/>
          <p:cNvSpPr/>
          <p:nvPr/>
        </p:nvSpPr>
        <p:spPr>
          <a:xfrm>
            <a:off x="6636170" y="3114261"/>
            <a:ext cx="5058873" cy="198783"/>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It does NOT apply to </a:t>
            </a:r>
            <a:pPr>
              <a:lnSpc>
                <a:spcPct val="130000"/>
              </a:lnSpc>
            </a:pPr>
            <a:r>
              <a:rPr lang="en-US" sz="1043" b="1" dirty="0">
                <a:solidFill>
                  <a:srgbClr val="2D3436"/>
                </a:solidFill>
                <a:latin typeface="MiSans" pitchFamily="34" charset="0"/>
                <a:ea typeface="MiSans" pitchFamily="34" charset="-122"/>
                <a:cs typeface="MiSans" pitchFamily="34" charset="-120"/>
              </a:rPr>
              <a:t>primary schools</a:t>
            </a:r>
            <a:pPr>
              <a:lnSpc>
                <a:spcPct val="130000"/>
              </a:lnSpc>
            </a:pPr>
            <a:r>
              <a:rPr lang="en-US" sz="1043" dirty="0">
                <a:solidFill>
                  <a:srgbClr val="2D3436"/>
                </a:solidFill>
                <a:latin typeface="MiSans" pitchFamily="34" charset="0"/>
                <a:ea typeface="MiSans" pitchFamily="34" charset="-122"/>
                <a:cs typeface="MiSans" pitchFamily="34" charset="-120"/>
              </a:rPr>
              <a:t> (not formally evaluated)</a:t>
            </a:r>
            <a:endParaRPr lang="en-US" sz="1600" dirty="0"/>
          </a:p>
        </p:txBody>
      </p:sp>
      <p:sp>
        <p:nvSpPr>
          <p:cNvPr id="38" name="Shape 36"/>
          <p:cNvSpPr/>
          <p:nvPr/>
        </p:nvSpPr>
        <p:spPr>
          <a:xfrm>
            <a:off x="6311348" y="3478696"/>
            <a:ext cx="5416826" cy="397565"/>
          </a:xfrm>
          <a:custGeom>
            <a:avLst/>
            <a:gdLst/>
            <a:ahLst/>
            <a:cxnLst/>
            <a:rect l="l" t="t" r="r" b="b"/>
            <a:pathLst>
              <a:path w="5416826" h="397565">
                <a:moveTo>
                  <a:pt x="0" y="0"/>
                </a:moveTo>
                <a:lnTo>
                  <a:pt x="5416826" y="0"/>
                </a:lnTo>
                <a:lnTo>
                  <a:pt x="5416826" y="397565"/>
                </a:lnTo>
                <a:lnTo>
                  <a:pt x="0" y="397565"/>
                </a:lnTo>
                <a:lnTo>
                  <a:pt x="0" y="0"/>
                </a:lnTo>
                <a:close/>
              </a:path>
            </a:pathLst>
          </a:custGeom>
          <a:solidFill>
            <a:srgbClr val="FEF2F2"/>
          </a:solidFill>
          <a:ln/>
        </p:spPr>
      </p:sp>
      <p:sp>
        <p:nvSpPr>
          <p:cNvPr id="39" name="Shape 37"/>
          <p:cNvSpPr/>
          <p:nvPr/>
        </p:nvSpPr>
        <p:spPr>
          <a:xfrm>
            <a:off x="6311348" y="3478696"/>
            <a:ext cx="33130" cy="397565"/>
          </a:xfrm>
          <a:custGeom>
            <a:avLst/>
            <a:gdLst/>
            <a:ahLst/>
            <a:cxnLst/>
            <a:rect l="l" t="t" r="r" b="b"/>
            <a:pathLst>
              <a:path w="33130" h="397565">
                <a:moveTo>
                  <a:pt x="0" y="0"/>
                </a:moveTo>
                <a:lnTo>
                  <a:pt x="33130" y="0"/>
                </a:lnTo>
                <a:lnTo>
                  <a:pt x="33130" y="397565"/>
                </a:lnTo>
                <a:lnTo>
                  <a:pt x="0" y="397565"/>
                </a:lnTo>
                <a:lnTo>
                  <a:pt x="0" y="0"/>
                </a:lnTo>
                <a:close/>
              </a:path>
            </a:pathLst>
          </a:custGeom>
          <a:solidFill>
            <a:srgbClr val="E7000B"/>
          </a:solidFill>
          <a:ln/>
        </p:spPr>
      </p:sp>
      <p:sp>
        <p:nvSpPr>
          <p:cNvPr id="40" name="Shape 38"/>
          <p:cNvSpPr/>
          <p:nvPr/>
        </p:nvSpPr>
        <p:spPr>
          <a:xfrm>
            <a:off x="6460435" y="3615359"/>
            <a:ext cx="99391" cy="132522"/>
          </a:xfrm>
          <a:custGeom>
            <a:avLst/>
            <a:gdLst/>
            <a:ahLst/>
            <a:cxnLst/>
            <a:rect l="l" t="t" r="r" b="b"/>
            <a:pathLst>
              <a:path w="99391" h="132522">
                <a:moveTo>
                  <a:pt x="14262" y="18998"/>
                </a:moveTo>
                <a:cubicBezTo>
                  <a:pt x="11026" y="15763"/>
                  <a:pt x="5772" y="15763"/>
                  <a:pt x="2537" y="18998"/>
                </a:cubicBezTo>
                <a:cubicBezTo>
                  <a:pt x="-699" y="22234"/>
                  <a:pt x="-699" y="27488"/>
                  <a:pt x="2537" y="30723"/>
                </a:cubicBezTo>
                <a:lnTo>
                  <a:pt x="38100" y="66261"/>
                </a:lnTo>
                <a:lnTo>
                  <a:pt x="2562" y="101824"/>
                </a:lnTo>
                <a:cubicBezTo>
                  <a:pt x="-673" y="105060"/>
                  <a:pt x="-673" y="110314"/>
                  <a:pt x="2562" y="113549"/>
                </a:cubicBezTo>
                <a:cubicBezTo>
                  <a:pt x="5798" y="116785"/>
                  <a:pt x="11052" y="116785"/>
                  <a:pt x="14287" y="113549"/>
                </a:cubicBezTo>
                <a:lnTo>
                  <a:pt x="49825" y="77986"/>
                </a:lnTo>
                <a:lnTo>
                  <a:pt x="85389" y="113524"/>
                </a:lnTo>
                <a:cubicBezTo>
                  <a:pt x="88624" y="116759"/>
                  <a:pt x="93878" y="116759"/>
                  <a:pt x="97114" y="113524"/>
                </a:cubicBezTo>
                <a:cubicBezTo>
                  <a:pt x="100349" y="110288"/>
                  <a:pt x="100349" y="105034"/>
                  <a:pt x="97114" y="101798"/>
                </a:cubicBezTo>
                <a:lnTo>
                  <a:pt x="61550" y="66261"/>
                </a:lnTo>
                <a:lnTo>
                  <a:pt x="97088" y="30697"/>
                </a:lnTo>
                <a:cubicBezTo>
                  <a:pt x="100323" y="27462"/>
                  <a:pt x="100323" y="22208"/>
                  <a:pt x="97088" y="18972"/>
                </a:cubicBezTo>
                <a:cubicBezTo>
                  <a:pt x="93852" y="15737"/>
                  <a:pt x="88598" y="15737"/>
                  <a:pt x="85363" y="18972"/>
                </a:cubicBezTo>
                <a:lnTo>
                  <a:pt x="49825" y="54536"/>
                </a:lnTo>
                <a:lnTo>
                  <a:pt x="14262" y="18998"/>
                </a:lnTo>
                <a:close/>
              </a:path>
            </a:pathLst>
          </a:custGeom>
          <a:solidFill>
            <a:srgbClr val="E7000B"/>
          </a:solidFill>
          <a:ln/>
        </p:spPr>
      </p:sp>
      <p:sp>
        <p:nvSpPr>
          <p:cNvPr id="41" name="Text 39"/>
          <p:cNvSpPr/>
          <p:nvPr/>
        </p:nvSpPr>
        <p:spPr>
          <a:xfrm>
            <a:off x="6636170" y="3578087"/>
            <a:ext cx="5058873" cy="198783"/>
          </a:xfrm>
          <a:prstGeom prst="rect">
            <a:avLst/>
          </a:prstGeom>
          <a:noFill/>
          <a:ln/>
        </p:spPr>
        <p:txBody>
          <a:bodyPr wrap="square" lIns="0" tIns="0" rIns="0" bIns="0" rtlCol="0" anchor="ctr"/>
          <a:lstStyle/>
          <a:p>
            <a:pPr>
              <a:lnSpc>
                <a:spcPct val="130000"/>
              </a:lnSpc>
            </a:pPr>
            <a:r>
              <a:rPr lang="en-US" sz="1043" dirty="0">
                <a:solidFill>
                  <a:srgbClr val="2D3436"/>
                </a:solidFill>
                <a:latin typeface="MiSans" pitchFamily="34" charset="0"/>
                <a:ea typeface="MiSans" pitchFamily="34" charset="-122"/>
                <a:cs typeface="MiSans" pitchFamily="34" charset="-120"/>
              </a:rPr>
              <a:t>It does NOT apply to </a:t>
            </a:r>
            <a:pPr>
              <a:lnSpc>
                <a:spcPct val="130000"/>
              </a:lnSpc>
            </a:pPr>
            <a:r>
              <a:rPr lang="en-US" sz="1043" b="1" dirty="0">
                <a:solidFill>
                  <a:srgbClr val="2D3436"/>
                </a:solidFill>
                <a:latin typeface="MiSans" pitchFamily="34" charset="0"/>
                <a:ea typeface="MiSans" pitchFamily="34" charset="-122"/>
                <a:cs typeface="MiSans" pitchFamily="34" charset="-120"/>
              </a:rPr>
              <a:t>subject-level outcomes</a:t>
            </a:r>
            <a:pPr>
              <a:lnSpc>
                <a:spcPct val="130000"/>
              </a:lnSpc>
            </a:pPr>
            <a:r>
              <a:rPr lang="en-US" sz="1043" dirty="0">
                <a:solidFill>
                  <a:srgbClr val="2D3436"/>
                </a:solidFill>
                <a:latin typeface="MiSans" pitchFamily="34" charset="0"/>
                <a:ea typeface="MiSans" pitchFamily="34" charset="-122"/>
                <a:cs typeface="MiSans" pitchFamily="34" charset="-120"/>
              </a:rPr>
              <a:t> (not in current dataset)</a:t>
            </a:r>
            <a:endParaRPr lang="en-US" sz="1600" dirty="0"/>
          </a:p>
        </p:txBody>
      </p:sp>
      <p:sp>
        <p:nvSpPr>
          <p:cNvPr id="42" name="Shape 40"/>
          <p:cNvSpPr/>
          <p:nvPr/>
        </p:nvSpPr>
        <p:spPr>
          <a:xfrm>
            <a:off x="6162261" y="4108174"/>
            <a:ext cx="5698435" cy="1242391"/>
          </a:xfrm>
          <a:custGeom>
            <a:avLst/>
            <a:gdLst/>
            <a:ahLst/>
            <a:cxnLst/>
            <a:rect l="l" t="t" r="r" b="b"/>
            <a:pathLst>
              <a:path w="5698435" h="1242391">
                <a:moveTo>
                  <a:pt x="0" y="0"/>
                </a:moveTo>
                <a:lnTo>
                  <a:pt x="5698435" y="0"/>
                </a:lnTo>
                <a:lnTo>
                  <a:pt x="5698435" y="1242391"/>
                </a:lnTo>
                <a:lnTo>
                  <a:pt x="0" y="1242391"/>
                </a:lnTo>
                <a:lnTo>
                  <a:pt x="0" y="0"/>
                </a:lnTo>
                <a:close/>
              </a:path>
            </a:pathLst>
          </a:custGeom>
          <a:solidFill>
            <a:srgbClr val="C49A2C"/>
          </a:solidFill>
          <a:ln/>
        </p:spPr>
      </p:sp>
      <p:sp>
        <p:nvSpPr>
          <p:cNvPr id="43" name="Text 41"/>
          <p:cNvSpPr/>
          <p:nvPr/>
        </p:nvSpPr>
        <p:spPr>
          <a:xfrm>
            <a:off x="6294783" y="4240696"/>
            <a:ext cx="5516217" cy="231913"/>
          </a:xfrm>
          <a:prstGeom prst="rect">
            <a:avLst/>
          </a:prstGeom>
          <a:noFill/>
          <a:ln/>
        </p:spPr>
        <p:txBody>
          <a:bodyPr wrap="square" lIns="0" tIns="0" rIns="0" bIns="0" rtlCol="0" anchor="ctr"/>
          <a:lstStyle/>
          <a:p>
            <a:pPr>
              <a:lnSpc>
                <a:spcPct val="120000"/>
              </a:lnSpc>
            </a:pPr>
            <a:r>
              <a:rPr lang="en-US" sz="1304" b="1" dirty="0">
                <a:solidFill>
                  <a:srgbClr val="F8F9FA"/>
                </a:solidFill>
                <a:latin typeface="MiSans" pitchFamily="34" charset="0"/>
                <a:ea typeface="MiSans" pitchFamily="34" charset="-122"/>
                <a:cs typeface="MiSans" pitchFamily="34" charset="-120"/>
              </a:rPr>
              <a:t>The Boundaries Are Not Weaknesses</a:t>
            </a:r>
            <a:endParaRPr lang="en-US" sz="1600" dirty="0"/>
          </a:p>
        </p:txBody>
      </p:sp>
      <p:sp>
        <p:nvSpPr>
          <p:cNvPr id="44" name="Text 42"/>
          <p:cNvSpPr/>
          <p:nvPr/>
        </p:nvSpPr>
        <p:spPr>
          <a:xfrm>
            <a:off x="6294783" y="4572000"/>
            <a:ext cx="5499652" cy="646043"/>
          </a:xfrm>
          <a:prstGeom prst="rect">
            <a:avLst/>
          </a:prstGeom>
          <a:noFill/>
          <a:ln/>
        </p:spPr>
        <p:txBody>
          <a:bodyPr wrap="square" lIns="0" tIns="0" rIns="0" bIns="0" rtlCol="0" anchor="ctr"/>
          <a:lstStyle/>
          <a:p>
            <a:pPr>
              <a:lnSpc>
                <a:spcPct val="140000"/>
              </a:lnSpc>
            </a:pPr>
            <a:r>
              <a:rPr lang="en-US" sz="1043" dirty="0">
                <a:solidFill>
                  <a:srgbClr val="F8F9FA"/>
                </a:solidFill>
                <a:latin typeface="MiSans" pitchFamily="34" charset="0"/>
                <a:ea typeface="MiSans" pitchFamily="34" charset="-122"/>
                <a:cs typeface="MiSans" pitchFamily="34" charset="-120"/>
              </a:rPr>
              <a:t>These limitations are </a:t>
            </a:r>
            <a:pPr>
              <a:lnSpc>
                <a:spcPct val="140000"/>
              </a:lnSpc>
            </a:pPr>
            <a:r>
              <a:rPr lang="en-US" sz="1043" b="1" dirty="0">
                <a:solidFill>
                  <a:srgbClr val="F8F9FA"/>
                </a:solidFill>
                <a:latin typeface="MiSans" pitchFamily="34" charset="0"/>
                <a:ea typeface="MiSans" pitchFamily="34" charset="-122"/>
                <a:cs typeface="MiSans" pitchFamily="34" charset="-120"/>
              </a:rPr>
              <a:t>not weaknesses</a:t>
            </a:r>
            <a:pPr>
              <a:lnSpc>
                <a:spcPct val="140000"/>
              </a:lnSpc>
            </a:pPr>
            <a:r>
              <a:rPr lang="en-US" sz="1043" dirty="0">
                <a:solidFill>
                  <a:srgbClr val="F8F9FA"/>
                </a:solidFill>
                <a:latin typeface="MiSans" pitchFamily="34" charset="0"/>
                <a:ea typeface="MiSans" pitchFamily="34" charset="-122"/>
                <a:cs typeface="MiSans" pitchFamily="34" charset="-120"/>
              </a:rPr>
              <a:t>. They are the </a:t>
            </a:r>
            <a:pPr>
              <a:lnSpc>
                <a:spcPct val="140000"/>
              </a:lnSpc>
            </a:pPr>
            <a:r>
              <a:rPr lang="en-US" sz="1043" b="1" dirty="0">
                <a:solidFill>
                  <a:srgbClr val="F8F9FA"/>
                </a:solidFill>
                <a:latin typeface="MiSans" pitchFamily="34" charset="0"/>
                <a:ea typeface="MiSans" pitchFamily="34" charset="-122"/>
                <a:cs typeface="MiSans" pitchFamily="34" charset="-120"/>
              </a:rPr>
              <a:t>boundaries within which the evidence is valid</a:t>
            </a:r>
            <a:pPr>
              <a:lnSpc>
                <a:spcPct val="140000"/>
              </a:lnSpc>
            </a:pPr>
            <a:r>
              <a:rPr lang="en-US" sz="1043" dirty="0">
                <a:solidFill>
                  <a:srgbClr val="F8F9FA"/>
                </a:solidFill>
                <a:latin typeface="MiSans" pitchFamily="34" charset="0"/>
                <a:ea typeface="MiSans" pitchFamily="34" charset="-122"/>
                <a:cs typeface="MiSans" pitchFamily="34" charset="-120"/>
              </a:rPr>
              <a:t>. Staff should be confident in communicating what the data supports and cautious about claims that exceed those bounds.</a:t>
            </a:r>
            <a:endParaRPr lang="en-US" sz="1600" dirty="0"/>
          </a:p>
        </p:txBody>
      </p:sp>
      <p:sp>
        <p:nvSpPr>
          <p:cNvPr id="45" name="Shape 43"/>
          <p:cNvSpPr/>
          <p:nvPr/>
        </p:nvSpPr>
        <p:spPr>
          <a:xfrm>
            <a:off x="6178826" y="5449957"/>
            <a:ext cx="5681870" cy="397565"/>
          </a:xfrm>
          <a:custGeom>
            <a:avLst/>
            <a:gdLst/>
            <a:ahLst/>
            <a:cxnLst/>
            <a:rect l="l" t="t" r="r" b="b"/>
            <a:pathLst>
              <a:path w="5681870" h="397565">
                <a:moveTo>
                  <a:pt x="0" y="0"/>
                </a:moveTo>
                <a:lnTo>
                  <a:pt x="5681870" y="0"/>
                </a:lnTo>
                <a:lnTo>
                  <a:pt x="5681870" y="397565"/>
                </a:lnTo>
                <a:lnTo>
                  <a:pt x="0" y="397565"/>
                </a:lnTo>
                <a:lnTo>
                  <a:pt x="0" y="0"/>
                </a:lnTo>
                <a:close/>
              </a:path>
            </a:pathLst>
          </a:custGeom>
          <a:solidFill>
            <a:srgbClr val="C49A2C">
              <a:alpha val="10196"/>
            </a:srgbClr>
          </a:solidFill>
          <a:ln/>
        </p:spPr>
      </p:sp>
      <p:sp>
        <p:nvSpPr>
          <p:cNvPr id="46" name="Shape 44"/>
          <p:cNvSpPr/>
          <p:nvPr/>
        </p:nvSpPr>
        <p:spPr>
          <a:xfrm>
            <a:off x="6178826" y="5449957"/>
            <a:ext cx="33130" cy="397565"/>
          </a:xfrm>
          <a:custGeom>
            <a:avLst/>
            <a:gdLst/>
            <a:ahLst/>
            <a:cxnLst/>
            <a:rect l="l" t="t" r="r" b="b"/>
            <a:pathLst>
              <a:path w="33130" h="397565">
                <a:moveTo>
                  <a:pt x="0" y="0"/>
                </a:moveTo>
                <a:lnTo>
                  <a:pt x="33130" y="0"/>
                </a:lnTo>
                <a:lnTo>
                  <a:pt x="33130" y="397565"/>
                </a:lnTo>
                <a:lnTo>
                  <a:pt x="0" y="397565"/>
                </a:lnTo>
                <a:lnTo>
                  <a:pt x="0" y="0"/>
                </a:lnTo>
                <a:close/>
              </a:path>
            </a:pathLst>
          </a:custGeom>
          <a:solidFill>
            <a:srgbClr val="C49A2C"/>
          </a:solidFill>
          <a:ln/>
        </p:spPr>
      </p:sp>
      <p:sp>
        <p:nvSpPr>
          <p:cNvPr id="47" name="Shape 45"/>
          <p:cNvSpPr/>
          <p:nvPr/>
        </p:nvSpPr>
        <p:spPr>
          <a:xfrm>
            <a:off x="6319630" y="5586620"/>
            <a:ext cx="115957" cy="132522"/>
          </a:xfrm>
          <a:custGeom>
            <a:avLst/>
            <a:gdLst/>
            <a:ahLst/>
            <a:cxnLst/>
            <a:rect l="l" t="t" r="r" b="b"/>
            <a:pathLst>
              <a:path w="115957" h="132522">
                <a:moveTo>
                  <a:pt x="99391" y="132522"/>
                </a:moveTo>
                <a:lnTo>
                  <a:pt x="24848" y="132522"/>
                </a:lnTo>
                <a:cubicBezTo>
                  <a:pt x="11130" y="132522"/>
                  <a:pt x="0" y="121392"/>
                  <a:pt x="0" y="107674"/>
                </a:cubicBezTo>
                <a:lnTo>
                  <a:pt x="0" y="24848"/>
                </a:lnTo>
                <a:cubicBezTo>
                  <a:pt x="0" y="11130"/>
                  <a:pt x="11130" y="0"/>
                  <a:pt x="24848" y="0"/>
                </a:cubicBezTo>
                <a:lnTo>
                  <a:pt x="103533" y="0"/>
                </a:lnTo>
                <a:cubicBezTo>
                  <a:pt x="110392" y="0"/>
                  <a:pt x="115957" y="5565"/>
                  <a:pt x="115957" y="12424"/>
                </a:cubicBezTo>
                <a:lnTo>
                  <a:pt x="115957" y="86967"/>
                </a:lnTo>
                <a:cubicBezTo>
                  <a:pt x="115957" y="92377"/>
                  <a:pt x="112488" y="96984"/>
                  <a:pt x="107674" y="98692"/>
                </a:cubicBezTo>
                <a:lnTo>
                  <a:pt x="107674" y="115957"/>
                </a:lnTo>
                <a:cubicBezTo>
                  <a:pt x="112255" y="115957"/>
                  <a:pt x="115957" y="119658"/>
                  <a:pt x="115957" y="124239"/>
                </a:cubicBezTo>
                <a:cubicBezTo>
                  <a:pt x="115957" y="128820"/>
                  <a:pt x="112255" y="132522"/>
                  <a:pt x="107674" y="132522"/>
                </a:cubicBezTo>
                <a:lnTo>
                  <a:pt x="99391" y="132522"/>
                </a:lnTo>
                <a:close/>
                <a:moveTo>
                  <a:pt x="24848" y="99391"/>
                </a:moveTo>
                <a:cubicBezTo>
                  <a:pt x="20267" y="99391"/>
                  <a:pt x="16565" y="103093"/>
                  <a:pt x="16565" y="107674"/>
                </a:cubicBezTo>
                <a:cubicBezTo>
                  <a:pt x="16565" y="112255"/>
                  <a:pt x="20267" y="115957"/>
                  <a:pt x="24848" y="115957"/>
                </a:cubicBezTo>
                <a:lnTo>
                  <a:pt x="91109" y="115957"/>
                </a:lnTo>
                <a:lnTo>
                  <a:pt x="91109" y="99391"/>
                </a:lnTo>
                <a:lnTo>
                  <a:pt x="24848" y="99391"/>
                </a:lnTo>
                <a:close/>
                <a:moveTo>
                  <a:pt x="33130" y="39342"/>
                </a:moveTo>
                <a:cubicBezTo>
                  <a:pt x="33130" y="42785"/>
                  <a:pt x="35900" y="45554"/>
                  <a:pt x="39342" y="45554"/>
                </a:cubicBezTo>
                <a:lnTo>
                  <a:pt x="84897" y="45554"/>
                </a:lnTo>
                <a:cubicBezTo>
                  <a:pt x="88339" y="45554"/>
                  <a:pt x="91109" y="42785"/>
                  <a:pt x="91109" y="39342"/>
                </a:cubicBezTo>
                <a:cubicBezTo>
                  <a:pt x="91109" y="35900"/>
                  <a:pt x="88339" y="33130"/>
                  <a:pt x="84897" y="33130"/>
                </a:cubicBezTo>
                <a:lnTo>
                  <a:pt x="39342" y="33130"/>
                </a:lnTo>
                <a:cubicBezTo>
                  <a:pt x="35900" y="33130"/>
                  <a:pt x="33130" y="35900"/>
                  <a:pt x="33130" y="39342"/>
                </a:cubicBezTo>
                <a:close/>
                <a:moveTo>
                  <a:pt x="39342" y="57978"/>
                </a:moveTo>
                <a:cubicBezTo>
                  <a:pt x="35900" y="57978"/>
                  <a:pt x="33130" y="60748"/>
                  <a:pt x="33130" y="64190"/>
                </a:cubicBezTo>
                <a:cubicBezTo>
                  <a:pt x="33130" y="67633"/>
                  <a:pt x="35900" y="70402"/>
                  <a:pt x="39342" y="70402"/>
                </a:cubicBezTo>
                <a:lnTo>
                  <a:pt x="84897" y="70402"/>
                </a:lnTo>
                <a:cubicBezTo>
                  <a:pt x="88339" y="70402"/>
                  <a:pt x="91109" y="67633"/>
                  <a:pt x="91109" y="64190"/>
                </a:cubicBezTo>
                <a:cubicBezTo>
                  <a:pt x="91109" y="60748"/>
                  <a:pt x="88339" y="57978"/>
                  <a:pt x="84897" y="57978"/>
                </a:cubicBezTo>
                <a:lnTo>
                  <a:pt x="39342" y="57978"/>
                </a:lnTo>
                <a:close/>
              </a:path>
            </a:pathLst>
          </a:custGeom>
          <a:solidFill>
            <a:srgbClr val="C49A2C"/>
          </a:solidFill>
          <a:ln/>
        </p:spPr>
      </p:sp>
      <p:sp>
        <p:nvSpPr>
          <p:cNvPr id="48" name="Text 46"/>
          <p:cNvSpPr/>
          <p:nvPr/>
        </p:nvSpPr>
        <p:spPr>
          <a:xfrm>
            <a:off x="6503648" y="5549348"/>
            <a:ext cx="5323917" cy="198783"/>
          </a:xfrm>
          <a:prstGeom prst="rect">
            <a:avLst/>
          </a:prstGeom>
          <a:noFill/>
          <a:ln/>
        </p:spPr>
        <p:txBody>
          <a:bodyPr wrap="square" lIns="0" tIns="0" rIns="0" bIns="0" rtlCol="0" anchor="ctr"/>
          <a:lstStyle/>
          <a:p>
            <a:pPr>
              <a:lnSpc>
                <a:spcPct val="130000"/>
              </a:lnSpc>
            </a:pPr>
            <a:r>
              <a:rPr lang="en-US" sz="1043" b="1" dirty="0">
                <a:solidFill>
                  <a:srgbClr val="1E3A5F"/>
                </a:solidFill>
                <a:latin typeface="MiSans" pitchFamily="34" charset="0"/>
                <a:ea typeface="MiSans" pitchFamily="34" charset="-122"/>
                <a:cs typeface="MiSans" pitchFamily="34" charset="-120"/>
              </a:rPr>
              <a:t>Reference:</a:t>
            </a:r>
            <a:pPr>
              <a:lnSpc>
                <a:spcPct val="130000"/>
              </a:lnSpc>
            </a:pPr>
            <a:r>
              <a:rPr lang="en-US" sz="1043" dirty="0">
                <a:solidFill>
                  <a:srgbClr val="1E3A5F"/>
                </a:solidFill>
                <a:latin typeface="MiSans" pitchFamily="34" charset="0"/>
                <a:ea typeface="MiSans" pitchFamily="34" charset="-122"/>
                <a:cs typeface="MiSans" pitchFamily="34" charset="-120"/>
              </a:rPr>
              <a:t> MPI Technical Handbook, Ch. 6 — Evidence Base and Outcome Data</a:t>
            </a:r>
            <a:endParaRPr lang="en-US" sz="16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38150"/>
            <a:ext cx="9096375" cy="342900"/>
          </a:xfrm>
          <a:prstGeom prst="rect">
            <a:avLst/>
          </a:prstGeom>
          <a:noFill/>
          <a:ln/>
        </p:spPr>
        <p:txBody>
          <a:bodyPr wrap="square" lIns="0" tIns="0" rIns="0" bIns="0" rtlCol="0" anchor="ctr"/>
          <a:lstStyle/>
          <a:p>
            <a:pPr>
              <a:lnSpc>
                <a:spcPct val="100000"/>
              </a:lnSpc>
            </a:pPr>
            <a:r>
              <a:rPr lang="en-US" sz="2250" b="1" dirty="0">
                <a:solidFill>
                  <a:srgbClr val="1E3A5F"/>
                </a:solidFill>
                <a:latin typeface="MiSans" pitchFamily="34" charset="0"/>
                <a:ea typeface="MiSans" pitchFamily="34" charset="-122"/>
                <a:cs typeface="MiSans" pitchFamily="34" charset="-120"/>
              </a:rPr>
              <a:t>Theoretical Summary: What the MPI Claims and What It Does Not</a:t>
            </a:r>
            <a:endParaRPr lang="en-US" sz="1600" dirty="0"/>
          </a:p>
        </p:txBody>
      </p:sp>
      <p:sp>
        <p:nvSpPr>
          <p:cNvPr id="4" name="Shape 2"/>
          <p:cNvSpPr/>
          <p:nvPr/>
        </p:nvSpPr>
        <p:spPr>
          <a:xfrm>
            <a:off x="381000" y="1085850"/>
            <a:ext cx="3705225" cy="3733800"/>
          </a:xfrm>
          <a:custGeom>
            <a:avLst/>
            <a:gdLst/>
            <a:ahLst/>
            <a:cxnLst/>
            <a:rect l="l" t="t" r="r" b="b"/>
            <a:pathLst>
              <a:path w="3705225" h="3733800">
                <a:moveTo>
                  <a:pt x="0" y="0"/>
                </a:moveTo>
                <a:lnTo>
                  <a:pt x="3705225" y="0"/>
                </a:lnTo>
                <a:lnTo>
                  <a:pt x="3705225" y="3733800"/>
                </a:lnTo>
                <a:lnTo>
                  <a:pt x="0" y="3733800"/>
                </a:lnTo>
                <a:lnTo>
                  <a:pt x="0" y="0"/>
                </a:lnTo>
                <a:close/>
              </a:path>
            </a:pathLst>
          </a:custGeom>
          <a:solidFill>
            <a:srgbClr val="FFFFFF"/>
          </a:solidFill>
          <a:ln/>
        </p:spPr>
      </p:sp>
      <p:sp>
        <p:nvSpPr>
          <p:cNvPr id="5" name="Shape 3"/>
          <p:cNvSpPr/>
          <p:nvPr/>
        </p:nvSpPr>
        <p:spPr>
          <a:xfrm>
            <a:off x="381000" y="10858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00A63E"/>
          </a:solidFill>
          <a:ln/>
        </p:spPr>
      </p:sp>
      <p:sp>
        <p:nvSpPr>
          <p:cNvPr id="6" name="Shape 4"/>
          <p:cNvSpPr/>
          <p:nvPr/>
        </p:nvSpPr>
        <p:spPr>
          <a:xfrm>
            <a:off x="557213" y="12954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008236"/>
          </a:solidFill>
          <a:ln/>
        </p:spPr>
      </p:sp>
      <p:sp>
        <p:nvSpPr>
          <p:cNvPr id="7" name="Text 5"/>
          <p:cNvSpPr/>
          <p:nvPr/>
        </p:nvSpPr>
        <p:spPr>
          <a:xfrm>
            <a:off x="771525" y="1257300"/>
            <a:ext cx="3257550" cy="266700"/>
          </a:xfrm>
          <a:prstGeom prst="rect">
            <a:avLst/>
          </a:prstGeom>
          <a:noFill/>
          <a:ln/>
        </p:spPr>
        <p:txBody>
          <a:bodyPr wrap="square" lIns="0" tIns="0" rIns="0" bIns="0" rtlCol="0" anchor="ctr"/>
          <a:lstStyle/>
          <a:p>
            <a:pPr>
              <a:lnSpc>
                <a:spcPct val="120000"/>
              </a:lnSpc>
            </a:pPr>
            <a:r>
              <a:rPr lang="en-US" sz="1500" b="1" dirty="0">
                <a:solidFill>
                  <a:srgbClr val="008236"/>
                </a:solidFill>
                <a:latin typeface="MiSans" pitchFamily="34" charset="0"/>
                <a:ea typeface="MiSans" pitchFamily="34" charset="-122"/>
                <a:cs typeface="MiSans" pitchFamily="34" charset="-120"/>
              </a:rPr>
              <a:t>Theoretical Claims</a:t>
            </a:r>
            <a:endParaRPr lang="en-US" sz="1600" dirty="0"/>
          </a:p>
        </p:txBody>
      </p:sp>
      <p:sp>
        <p:nvSpPr>
          <p:cNvPr id="8" name="Text 6"/>
          <p:cNvSpPr/>
          <p:nvPr/>
        </p:nvSpPr>
        <p:spPr>
          <a:xfrm>
            <a:off x="533400" y="1638300"/>
            <a:ext cx="3476625" cy="2476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MPI is grounded in:</a:t>
            </a:r>
            <a:endParaRPr lang="en-US" sz="1600" dirty="0"/>
          </a:p>
        </p:txBody>
      </p:sp>
      <p:sp>
        <p:nvSpPr>
          <p:cNvPr id="9" name="Shape 7"/>
          <p:cNvSpPr/>
          <p:nvPr/>
        </p:nvSpPr>
        <p:spPr>
          <a:xfrm>
            <a:off x="552450" y="20002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0FDF4"/>
          </a:solidFill>
          <a:ln/>
        </p:spPr>
      </p:sp>
      <p:sp>
        <p:nvSpPr>
          <p:cNvPr id="10" name="Shape 8"/>
          <p:cNvSpPr/>
          <p:nvPr/>
        </p:nvSpPr>
        <p:spPr>
          <a:xfrm>
            <a:off x="552450" y="20002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00A63E"/>
          </a:solidFill>
          <a:ln/>
        </p:spPr>
      </p:sp>
      <p:sp>
        <p:nvSpPr>
          <p:cNvPr id="11" name="Text 9"/>
          <p:cNvSpPr/>
          <p:nvPr/>
        </p:nvSpPr>
        <p:spPr>
          <a:xfrm>
            <a:off x="685800" y="2128838"/>
            <a:ext cx="1203484"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Vygotsky's ZPD</a:t>
            </a:r>
            <a:endParaRPr lang="en-US" sz="1600" dirty="0"/>
          </a:p>
        </p:txBody>
      </p:sp>
      <p:sp>
        <p:nvSpPr>
          <p:cNvPr id="12" name="Shape 10"/>
          <p:cNvSpPr/>
          <p:nvPr/>
        </p:nvSpPr>
        <p:spPr>
          <a:xfrm>
            <a:off x="552450" y="25336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0FDF4"/>
          </a:solidFill>
          <a:ln/>
        </p:spPr>
      </p:sp>
      <p:sp>
        <p:nvSpPr>
          <p:cNvPr id="13" name="Shape 11"/>
          <p:cNvSpPr/>
          <p:nvPr/>
        </p:nvSpPr>
        <p:spPr>
          <a:xfrm>
            <a:off x="552450" y="25336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00A63E"/>
          </a:solidFill>
          <a:ln/>
        </p:spPr>
      </p:sp>
      <p:sp>
        <p:nvSpPr>
          <p:cNvPr id="14" name="Text 12"/>
          <p:cNvSpPr/>
          <p:nvPr/>
        </p:nvSpPr>
        <p:spPr>
          <a:xfrm>
            <a:off x="685800" y="2662238"/>
            <a:ext cx="1409541"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Bloom's taxonomy</a:t>
            </a:r>
            <a:endParaRPr lang="en-US" sz="1600" dirty="0"/>
          </a:p>
        </p:txBody>
      </p:sp>
      <p:sp>
        <p:nvSpPr>
          <p:cNvPr id="15" name="Shape 13"/>
          <p:cNvSpPr/>
          <p:nvPr/>
        </p:nvSpPr>
        <p:spPr>
          <a:xfrm>
            <a:off x="552450" y="30670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0FDF4"/>
          </a:solidFill>
          <a:ln/>
        </p:spPr>
      </p:sp>
      <p:sp>
        <p:nvSpPr>
          <p:cNvPr id="16" name="Shape 14"/>
          <p:cNvSpPr/>
          <p:nvPr/>
        </p:nvSpPr>
        <p:spPr>
          <a:xfrm>
            <a:off x="552450" y="30670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00A63E"/>
          </a:solidFill>
          <a:ln/>
        </p:spPr>
      </p:sp>
      <p:sp>
        <p:nvSpPr>
          <p:cNvPr id="17" name="Text 15"/>
          <p:cNvSpPr/>
          <p:nvPr/>
        </p:nvSpPr>
        <p:spPr>
          <a:xfrm>
            <a:off x="685800" y="3195638"/>
            <a:ext cx="3082131"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Black and Wiliam's formative assessment</a:t>
            </a:r>
            <a:endParaRPr lang="en-US" sz="1600" dirty="0"/>
          </a:p>
        </p:txBody>
      </p:sp>
      <p:sp>
        <p:nvSpPr>
          <p:cNvPr id="18" name="Shape 16"/>
          <p:cNvSpPr/>
          <p:nvPr/>
        </p:nvSpPr>
        <p:spPr>
          <a:xfrm>
            <a:off x="552450" y="36004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0FDF4"/>
          </a:solidFill>
          <a:ln/>
        </p:spPr>
      </p:sp>
      <p:sp>
        <p:nvSpPr>
          <p:cNvPr id="19" name="Shape 17"/>
          <p:cNvSpPr/>
          <p:nvPr/>
        </p:nvSpPr>
        <p:spPr>
          <a:xfrm>
            <a:off x="552450" y="36004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00A63E"/>
          </a:solidFill>
          <a:ln/>
        </p:spPr>
      </p:sp>
      <p:sp>
        <p:nvSpPr>
          <p:cNvPr id="20" name="Text 18"/>
          <p:cNvSpPr/>
          <p:nvPr/>
        </p:nvSpPr>
        <p:spPr>
          <a:xfrm>
            <a:off x="685800" y="3729038"/>
            <a:ext cx="2497773"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Hattie's visible learning synthesis</a:t>
            </a:r>
            <a:endParaRPr lang="en-US" sz="1600" dirty="0"/>
          </a:p>
        </p:txBody>
      </p:sp>
      <p:sp>
        <p:nvSpPr>
          <p:cNvPr id="21" name="Text 19"/>
          <p:cNvSpPr/>
          <p:nvPr/>
        </p:nvSpPr>
        <p:spPr>
          <a:xfrm>
            <a:off x="533400" y="4171950"/>
            <a:ext cx="3476625"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These claims are </a:t>
            </a:r>
            <a:pPr>
              <a:lnSpc>
                <a:spcPct val="140000"/>
              </a:lnSpc>
            </a:pPr>
            <a:r>
              <a:rPr lang="en-US" sz="1200" b="1" dirty="0">
                <a:solidFill>
                  <a:srgbClr val="2D3436"/>
                </a:solidFill>
                <a:latin typeface="MiSans" pitchFamily="34" charset="0"/>
                <a:ea typeface="MiSans" pitchFamily="34" charset="-122"/>
                <a:cs typeface="MiSans" pitchFamily="34" charset="-120"/>
              </a:rPr>
              <a:t>well-supported</a:t>
            </a:r>
            <a:pPr>
              <a:lnSpc>
                <a:spcPct val="140000"/>
              </a:lnSpc>
            </a:pPr>
            <a:r>
              <a:rPr lang="en-US" sz="1200" dirty="0">
                <a:solidFill>
                  <a:srgbClr val="2D3436"/>
                </a:solidFill>
                <a:latin typeface="MiSans" pitchFamily="34" charset="0"/>
                <a:ea typeface="MiSans" pitchFamily="34" charset="-122"/>
                <a:cs typeface="MiSans" pitchFamily="34" charset="-120"/>
              </a:rPr>
              <a:t> and should be communicated with confidence.</a:t>
            </a:r>
            <a:endParaRPr lang="en-US" sz="1600" dirty="0"/>
          </a:p>
        </p:txBody>
      </p:sp>
      <p:sp>
        <p:nvSpPr>
          <p:cNvPr id="22" name="Shape 20"/>
          <p:cNvSpPr/>
          <p:nvPr/>
        </p:nvSpPr>
        <p:spPr>
          <a:xfrm>
            <a:off x="4241800" y="1085850"/>
            <a:ext cx="3705225" cy="2838450"/>
          </a:xfrm>
          <a:custGeom>
            <a:avLst/>
            <a:gdLst/>
            <a:ahLst/>
            <a:cxnLst/>
            <a:rect l="l" t="t" r="r" b="b"/>
            <a:pathLst>
              <a:path w="3705225" h="2838450">
                <a:moveTo>
                  <a:pt x="0" y="0"/>
                </a:moveTo>
                <a:lnTo>
                  <a:pt x="3705225" y="0"/>
                </a:lnTo>
                <a:lnTo>
                  <a:pt x="3705225" y="2838450"/>
                </a:lnTo>
                <a:lnTo>
                  <a:pt x="0" y="2838450"/>
                </a:lnTo>
                <a:lnTo>
                  <a:pt x="0" y="0"/>
                </a:lnTo>
                <a:close/>
              </a:path>
            </a:pathLst>
          </a:custGeom>
          <a:solidFill>
            <a:srgbClr val="FFFFFF"/>
          </a:solidFill>
          <a:ln/>
        </p:spPr>
      </p:sp>
      <p:sp>
        <p:nvSpPr>
          <p:cNvPr id="23" name="Shape 21"/>
          <p:cNvSpPr/>
          <p:nvPr/>
        </p:nvSpPr>
        <p:spPr>
          <a:xfrm>
            <a:off x="4241800" y="10858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C49A2C"/>
          </a:solidFill>
          <a:ln/>
        </p:spPr>
      </p:sp>
      <p:sp>
        <p:nvSpPr>
          <p:cNvPr id="24" name="Shape 22"/>
          <p:cNvSpPr/>
          <p:nvPr/>
        </p:nvSpPr>
        <p:spPr>
          <a:xfrm>
            <a:off x="4418012" y="12954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C49A2C"/>
          </a:solidFill>
          <a:ln/>
        </p:spPr>
      </p:sp>
      <p:sp>
        <p:nvSpPr>
          <p:cNvPr id="25" name="Text 23"/>
          <p:cNvSpPr/>
          <p:nvPr/>
        </p:nvSpPr>
        <p:spPr>
          <a:xfrm>
            <a:off x="4632325" y="1257300"/>
            <a:ext cx="3257550" cy="266700"/>
          </a:xfrm>
          <a:prstGeom prst="rect">
            <a:avLst/>
          </a:prstGeom>
          <a:noFill/>
          <a:ln/>
        </p:spPr>
        <p:txBody>
          <a:bodyPr wrap="square" lIns="0" tIns="0" rIns="0" bIns="0" rtlCol="0" anchor="ctr"/>
          <a:lstStyle/>
          <a:p>
            <a:pPr>
              <a:lnSpc>
                <a:spcPct val="120000"/>
              </a:lnSpc>
            </a:pPr>
            <a:r>
              <a:rPr lang="en-US" sz="1500" b="1" dirty="0">
                <a:solidFill>
                  <a:srgbClr val="C49A2C"/>
                </a:solidFill>
                <a:latin typeface="MiSans" pitchFamily="34" charset="0"/>
                <a:ea typeface="MiSans" pitchFamily="34" charset="-122"/>
                <a:cs typeface="MiSans" pitchFamily="34" charset="-120"/>
              </a:rPr>
              <a:t>Empirical Claims</a:t>
            </a:r>
            <a:endParaRPr lang="en-US" sz="1600" dirty="0"/>
          </a:p>
        </p:txBody>
      </p:sp>
      <p:sp>
        <p:nvSpPr>
          <p:cNvPr id="26" name="Text 24"/>
          <p:cNvSpPr/>
          <p:nvPr/>
        </p:nvSpPr>
        <p:spPr>
          <a:xfrm>
            <a:off x="4394200" y="1638300"/>
            <a:ext cx="3476625" cy="2476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MPI has:</a:t>
            </a:r>
            <a:endParaRPr lang="en-US" sz="1600" dirty="0"/>
          </a:p>
        </p:txBody>
      </p:sp>
      <p:sp>
        <p:nvSpPr>
          <p:cNvPr id="27" name="Shape 25"/>
          <p:cNvSpPr/>
          <p:nvPr/>
        </p:nvSpPr>
        <p:spPr>
          <a:xfrm>
            <a:off x="4413250" y="2000250"/>
            <a:ext cx="3381375" cy="914400"/>
          </a:xfrm>
          <a:custGeom>
            <a:avLst/>
            <a:gdLst/>
            <a:ahLst/>
            <a:cxnLst/>
            <a:rect l="l" t="t" r="r" b="b"/>
            <a:pathLst>
              <a:path w="3381375" h="914400">
                <a:moveTo>
                  <a:pt x="0" y="0"/>
                </a:moveTo>
                <a:lnTo>
                  <a:pt x="3381375" y="0"/>
                </a:lnTo>
                <a:lnTo>
                  <a:pt x="3381375" y="914400"/>
                </a:lnTo>
                <a:lnTo>
                  <a:pt x="0" y="914400"/>
                </a:lnTo>
                <a:lnTo>
                  <a:pt x="0" y="0"/>
                </a:lnTo>
                <a:close/>
              </a:path>
            </a:pathLst>
          </a:custGeom>
          <a:solidFill>
            <a:srgbClr val="C49A2C">
              <a:alpha val="10196"/>
            </a:srgbClr>
          </a:solidFill>
          <a:ln/>
        </p:spPr>
      </p:sp>
      <p:sp>
        <p:nvSpPr>
          <p:cNvPr id="28" name="Shape 26"/>
          <p:cNvSpPr/>
          <p:nvPr/>
        </p:nvSpPr>
        <p:spPr>
          <a:xfrm>
            <a:off x="4413250" y="2000250"/>
            <a:ext cx="38100" cy="914400"/>
          </a:xfrm>
          <a:custGeom>
            <a:avLst/>
            <a:gdLst/>
            <a:ahLst/>
            <a:cxnLst/>
            <a:rect l="l" t="t" r="r" b="b"/>
            <a:pathLst>
              <a:path w="38100" h="914400">
                <a:moveTo>
                  <a:pt x="0" y="0"/>
                </a:moveTo>
                <a:lnTo>
                  <a:pt x="38100" y="0"/>
                </a:lnTo>
                <a:lnTo>
                  <a:pt x="38100" y="914400"/>
                </a:lnTo>
                <a:lnTo>
                  <a:pt x="0" y="914400"/>
                </a:lnTo>
                <a:lnTo>
                  <a:pt x="0" y="0"/>
                </a:lnTo>
                <a:close/>
              </a:path>
            </a:pathLst>
          </a:custGeom>
          <a:solidFill>
            <a:srgbClr val="C49A2C"/>
          </a:solidFill>
          <a:ln/>
        </p:spPr>
      </p:sp>
      <p:sp>
        <p:nvSpPr>
          <p:cNvPr id="29" name="Text 27"/>
          <p:cNvSpPr/>
          <p:nvPr/>
        </p:nvSpPr>
        <p:spPr>
          <a:xfrm>
            <a:off x="4546600" y="2114550"/>
            <a:ext cx="3209925" cy="228600"/>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Published effect size of 0.61</a:t>
            </a:r>
            <a:endParaRPr lang="en-US" sz="1600" dirty="0"/>
          </a:p>
        </p:txBody>
      </p:sp>
      <p:sp>
        <p:nvSpPr>
          <p:cNvPr id="30" name="Text 28"/>
          <p:cNvSpPr/>
          <p:nvPr/>
        </p:nvSpPr>
        <p:spPr>
          <a:xfrm>
            <a:off x="4546600" y="2343150"/>
            <a:ext cx="3209925" cy="457200"/>
          </a:xfrm>
          <a:prstGeom prst="rect">
            <a:avLst/>
          </a:prstGeom>
          <a:noFill/>
          <a:ln/>
        </p:spPr>
        <p:txBody>
          <a:bodyPr wrap="square" lIns="0" tIns="0" rIns="0" bIns="0" rtlCol="0" anchor="ctr"/>
          <a:lstStyle/>
          <a:p>
            <a:pPr>
              <a:lnSpc>
                <a:spcPct val="130000"/>
              </a:lnSpc>
            </a:pPr>
            <a:r>
              <a:rPr lang="en-US" sz="1200" dirty="0">
                <a:solidFill>
                  <a:srgbClr val="2D3436"/>
                </a:solidFill>
                <a:latin typeface="MiSans" pitchFamily="34" charset="0"/>
                <a:ea typeface="MiSans" pitchFamily="34" charset="-122"/>
                <a:cs typeface="MiSans" pitchFamily="34" charset="-120"/>
              </a:rPr>
              <a:t>Based on 2022–2024 data from schools meeting fidelity standards</a:t>
            </a:r>
            <a:endParaRPr lang="en-US" sz="1600" dirty="0"/>
          </a:p>
        </p:txBody>
      </p:sp>
      <p:sp>
        <p:nvSpPr>
          <p:cNvPr id="31" name="Text 29"/>
          <p:cNvSpPr/>
          <p:nvPr/>
        </p:nvSpPr>
        <p:spPr>
          <a:xfrm>
            <a:off x="4394200" y="3028950"/>
            <a:ext cx="3476625"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This claim is </a:t>
            </a:r>
            <a:pPr>
              <a:lnSpc>
                <a:spcPct val="140000"/>
              </a:lnSpc>
            </a:pPr>
            <a:r>
              <a:rPr lang="en-US" sz="1200" b="1" dirty="0">
                <a:solidFill>
                  <a:srgbClr val="2D3436"/>
                </a:solidFill>
                <a:latin typeface="MiSans" pitchFamily="34" charset="0"/>
                <a:ea typeface="MiSans" pitchFamily="34" charset="-122"/>
                <a:cs typeface="MiSans" pitchFamily="34" charset="-120"/>
              </a:rPr>
              <a:t>supported by the evidence</a:t>
            </a:r>
            <a:pPr>
              <a:lnSpc>
                <a:spcPct val="140000"/>
              </a:lnSpc>
            </a:pPr>
            <a:r>
              <a:rPr lang="en-US" sz="1200" dirty="0">
                <a:solidFill>
                  <a:srgbClr val="2D3436"/>
                </a:solidFill>
                <a:latin typeface="MiSans" pitchFamily="34" charset="0"/>
                <a:ea typeface="MiSans" pitchFamily="34" charset="-122"/>
                <a:cs typeface="MiSans" pitchFamily="34" charset="-120"/>
              </a:rPr>
              <a:t>, provided that scope conditions are accurately communicated.</a:t>
            </a:r>
            <a:endParaRPr lang="en-US" sz="1600" dirty="0"/>
          </a:p>
        </p:txBody>
      </p:sp>
      <p:sp>
        <p:nvSpPr>
          <p:cNvPr id="32" name="Shape 30"/>
          <p:cNvSpPr/>
          <p:nvPr/>
        </p:nvSpPr>
        <p:spPr>
          <a:xfrm>
            <a:off x="4241800" y="4038600"/>
            <a:ext cx="3705225" cy="1524000"/>
          </a:xfrm>
          <a:custGeom>
            <a:avLst/>
            <a:gdLst/>
            <a:ahLst/>
            <a:cxnLst/>
            <a:rect l="l" t="t" r="r" b="b"/>
            <a:pathLst>
              <a:path w="3705225" h="1524000">
                <a:moveTo>
                  <a:pt x="0" y="0"/>
                </a:moveTo>
                <a:lnTo>
                  <a:pt x="3705225" y="0"/>
                </a:lnTo>
                <a:lnTo>
                  <a:pt x="3705225" y="1524000"/>
                </a:lnTo>
                <a:lnTo>
                  <a:pt x="0" y="1524000"/>
                </a:lnTo>
                <a:lnTo>
                  <a:pt x="0" y="0"/>
                </a:lnTo>
                <a:close/>
              </a:path>
            </a:pathLst>
          </a:custGeom>
          <a:solidFill>
            <a:srgbClr val="1E3A5F"/>
          </a:solidFill>
          <a:ln/>
        </p:spPr>
      </p:sp>
      <p:sp>
        <p:nvSpPr>
          <p:cNvPr id="33" name="Text 31"/>
          <p:cNvSpPr/>
          <p:nvPr/>
        </p:nvSpPr>
        <p:spPr>
          <a:xfrm>
            <a:off x="4394200" y="4191000"/>
            <a:ext cx="349567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MiSans" pitchFamily="34" charset="0"/>
                <a:ea typeface="MiSans" pitchFamily="34" charset="-122"/>
                <a:cs typeface="MiSans" pitchFamily="34" charset="-120"/>
              </a:rPr>
              <a:t>Communication Guidance</a:t>
            </a:r>
            <a:endParaRPr lang="en-US" sz="1600" dirty="0"/>
          </a:p>
        </p:txBody>
      </p:sp>
      <p:sp>
        <p:nvSpPr>
          <p:cNvPr id="34" name="Shape 32"/>
          <p:cNvSpPr/>
          <p:nvPr/>
        </p:nvSpPr>
        <p:spPr>
          <a:xfrm>
            <a:off x="4422775" y="4614863"/>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5DF72"/>
          </a:solidFill>
          <a:ln/>
        </p:spPr>
      </p:sp>
      <p:sp>
        <p:nvSpPr>
          <p:cNvPr id="35" name="Text 33"/>
          <p:cNvSpPr/>
          <p:nvPr/>
        </p:nvSpPr>
        <p:spPr>
          <a:xfrm>
            <a:off x="4641850" y="4572000"/>
            <a:ext cx="3228975"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Be </a:t>
            </a:r>
            <a:pPr>
              <a:lnSpc>
                <a:spcPct val="130000"/>
              </a:lnSpc>
            </a:pPr>
            <a:r>
              <a:rPr lang="en-US" sz="1200" b="1" dirty="0">
                <a:solidFill>
                  <a:srgbClr val="F8F9FA"/>
                </a:solidFill>
                <a:latin typeface="MiSans" pitchFamily="34" charset="0"/>
                <a:ea typeface="MiSans" pitchFamily="34" charset="-122"/>
                <a:cs typeface="MiSans" pitchFamily="34" charset="-120"/>
              </a:rPr>
              <a:t>confident</a:t>
            </a:r>
            <a:pPr>
              <a:lnSpc>
                <a:spcPct val="130000"/>
              </a:lnSpc>
            </a:pPr>
            <a:r>
              <a:rPr lang="en-US" sz="1200" dirty="0">
                <a:solidFill>
                  <a:srgbClr val="F8F9FA"/>
                </a:solidFill>
                <a:latin typeface="MiSans" pitchFamily="34" charset="0"/>
                <a:ea typeface="MiSans" pitchFamily="34" charset="-122"/>
                <a:cs typeface="MiSans" pitchFamily="34" charset="-120"/>
              </a:rPr>
              <a:t> about theoretical claims</a:t>
            </a:r>
            <a:endParaRPr lang="en-US" sz="1600" dirty="0"/>
          </a:p>
        </p:txBody>
      </p:sp>
      <p:sp>
        <p:nvSpPr>
          <p:cNvPr id="36" name="Shape 34"/>
          <p:cNvSpPr/>
          <p:nvPr/>
        </p:nvSpPr>
        <p:spPr>
          <a:xfrm>
            <a:off x="4422775" y="4919663"/>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05DF72"/>
          </a:solidFill>
          <a:ln/>
        </p:spPr>
      </p:sp>
      <p:sp>
        <p:nvSpPr>
          <p:cNvPr id="37" name="Text 35"/>
          <p:cNvSpPr/>
          <p:nvPr/>
        </p:nvSpPr>
        <p:spPr>
          <a:xfrm>
            <a:off x="4641850" y="4876800"/>
            <a:ext cx="3228975"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Be </a:t>
            </a:r>
            <a:pPr>
              <a:lnSpc>
                <a:spcPct val="130000"/>
              </a:lnSpc>
            </a:pPr>
            <a:r>
              <a:rPr lang="en-US" sz="1200" b="1" dirty="0">
                <a:solidFill>
                  <a:srgbClr val="F8F9FA"/>
                </a:solidFill>
                <a:latin typeface="MiSans" pitchFamily="34" charset="0"/>
                <a:ea typeface="MiSans" pitchFamily="34" charset="-122"/>
                <a:cs typeface="MiSans" pitchFamily="34" charset="-120"/>
              </a:rPr>
              <a:t>precise</a:t>
            </a:r>
            <a:pPr>
              <a:lnSpc>
                <a:spcPct val="130000"/>
              </a:lnSpc>
            </a:pPr>
            <a:r>
              <a:rPr lang="en-US" sz="1200" dirty="0">
                <a:solidFill>
                  <a:srgbClr val="F8F9FA"/>
                </a:solidFill>
                <a:latin typeface="MiSans" pitchFamily="34" charset="0"/>
                <a:ea typeface="MiSans" pitchFamily="34" charset="-122"/>
                <a:cs typeface="MiSans" pitchFamily="34" charset="-120"/>
              </a:rPr>
              <a:t> about empirical claims</a:t>
            </a:r>
            <a:endParaRPr lang="en-US" sz="1600" dirty="0"/>
          </a:p>
        </p:txBody>
      </p:sp>
      <p:sp>
        <p:nvSpPr>
          <p:cNvPr id="38" name="Shape 36"/>
          <p:cNvSpPr/>
          <p:nvPr/>
        </p:nvSpPr>
        <p:spPr>
          <a:xfrm>
            <a:off x="4413250" y="5224463"/>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C49A2C"/>
          </a:solidFill>
          <a:ln/>
        </p:spPr>
      </p:sp>
      <p:sp>
        <p:nvSpPr>
          <p:cNvPr id="39" name="Text 37"/>
          <p:cNvSpPr/>
          <p:nvPr/>
        </p:nvSpPr>
        <p:spPr>
          <a:xfrm>
            <a:off x="4641850" y="5181600"/>
            <a:ext cx="3228975" cy="228600"/>
          </a:xfrm>
          <a:prstGeom prst="rect">
            <a:avLst/>
          </a:prstGeom>
          <a:noFill/>
          <a:ln/>
        </p:spPr>
        <p:txBody>
          <a:bodyPr wrap="square" lIns="0" tIns="0" rIns="0" bIns="0" rtlCol="0" anchor="ctr"/>
          <a:lstStyle/>
          <a:p>
            <a:pPr>
              <a:lnSpc>
                <a:spcPct val="130000"/>
              </a:lnSpc>
            </a:pPr>
            <a:r>
              <a:rPr lang="en-US" sz="1200" dirty="0">
                <a:solidFill>
                  <a:srgbClr val="F8F9FA"/>
                </a:solidFill>
                <a:latin typeface="MiSans" pitchFamily="34" charset="0"/>
                <a:ea typeface="MiSans" pitchFamily="34" charset="-122"/>
                <a:cs typeface="MiSans" pitchFamily="34" charset="-120"/>
              </a:rPr>
              <a:t>Be </a:t>
            </a:r>
            <a:pPr>
              <a:lnSpc>
                <a:spcPct val="130000"/>
              </a:lnSpc>
            </a:pPr>
            <a:r>
              <a:rPr lang="en-US" sz="1200" b="1" dirty="0">
                <a:solidFill>
                  <a:srgbClr val="F8F9FA"/>
                </a:solidFill>
                <a:latin typeface="MiSans" pitchFamily="34" charset="0"/>
                <a:ea typeface="MiSans" pitchFamily="34" charset="-122"/>
                <a:cs typeface="MiSans" pitchFamily="34" charset="-120"/>
              </a:rPr>
              <a:t>cautious</a:t>
            </a:r>
            <a:pPr>
              <a:lnSpc>
                <a:spcPct val="130000"/>
              </a:lnSpc>
            </a:pPr>
            <a:r>
              <a:rPr lang="en-US" sz="1200" dirty="0">
                <a:solidFill>
                  <a:srgbClr val="F8F9FA"/>
                </a:solidFill>
                <a:latin typeface="MiSans" pitchFamily="34" charset="0"/>
                <a:ea typeface="MiSans" pitchFamily="34" charset="-122"/>
                <a:cs typeface="MiSans" pitchFamily="34" charset="-120"/>
              </a:rPr>
              <a:t> about generalisability claims</a:t>
            </a:r>
            <a:endParaRPr lang="en-US" sz="1600" dirty="0"/>
          </a:p>
        </p:txBody>
      </p:sp>
      <p:sp>
        <p:nvSpPr>
          <p:cNvPr id="40" name="Shape 38"/>
          <p:cNvSpPr/>
          <p:nvPr/>
        </p:nvSpPr>
        <p:spPr>
          <a:xfrm>
            <a:off x="8102600" y="1085850"/>
            <a:ext cx="3705225" cy="3200400"/>
          </a:xfrm>
          <a:custGeom>
            <a:avLst/>
            <a:gdLst/>
            <a:ahLst/>
            <a:cxnLst/>
            <a:rect l="l" t="t" r="r" b="b"/>
            <a:pathLst>
              <a:path w="3705225" h="3200400">
                <a:moveTo>
                  <a:pt x="0" y="0"/>
                </a:moveTo>
                <a:lnTo>
                  <a:pt x="3705225" y="0"/>
                </a:lnTo>
                <a:lnTo>
                  <a:pt x="3705225" y="3200400"/>
                </a:lnTo>
                <a:lnTo>
                  <a:pt x="0" y="3200400"/>
                </a:lnTo>
                <a:lnTo>
                  <a:pt x="0" y="0"/>
                </a:lnTo>
                <a:close/>
              </a:path>
            </a:pathLst>
          </a:custGeom>
          <a:solidFill>
            <a:srgbClr val="FFFFFF"/>
          </a:solidFill>
          <a:ln/>
        </p:spPr>
      </p:sp>
      <p:sp>
        <p:nvSpPr>
          <p:cNvPr id="41" name="Shape 39"/>
          <p:cNvSpPr/>
          <p:nvPr/>
        </p:nvSpPr>
        <p:spPr>
          <a:xfrm>
            <a:off x="8102600" y="10858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E7000B"/>
          </a:solidFill>
          <a:ln/>
        </p:spPr>
      </p:sp>
      <p:sp>
        <p:nvSpPr>
          <p:cNvPr id="42" name="Shape 40"/>
          <p:cNvSpPr/>
          <p:nvPr/>
        </p:nvSpPr>
        <p:spPr>
          <a:xfrm>
            <a:off x="8278813" y="12954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C10007"/>
          </a:solidFill>
          <a:ln/>
        </p:spPr>
      </p:sp>
      <p:sp>
        <p:nvSpPr>
          <p:cNvPr id="43" name="Text 41"/>
          <p:cNvSpPr/>
          <p:nvPr/>
        </p:nvSpPr>
        <p:spPr>
          <a:xfrm>
            <a:off x="8493125" y="1257300"/>
            <a:ext cx="3257550" cy="266700"/>
          </a:xfrm>
          <a:prstGeom prst="rect">
            <a:avLst/>
          </a:prstGeom>
          <a:noFill/>
          <a:ln/>
        </p:spPr>
        <p:txBody>
          <a:bodyPr wrap="square" lIns="0" tIns="0" rIns="0" bIns="0" rtlCol="0" anchor="ctr"/>
          <a:lstStyle/>
          <a:p>
            <a:pPr>
              <a:lnSpc>
                <a:spcPct val="120000"/>
              </a:lnSpc>
            </a:pPr>
            <a:r>
              <a:rPr lang="en-US" sz="1500" b="1" dirty="0">
                <a:solidFill>
                  <a:srgbClr val="C10007"/>
                </a:solidFill>
                <a:latin typeface="MiSans" pitchFamily="34" charset="0"/>
                <a:ea typeface="MiSans" pitchFamily="34" charset="-122"/>
                <a:cs typeface="MiSans" pitchFamily="34" charset="-120"/>
              </a:rPr>
              <a:t>Generalisability Claims</a:t>
            </a:r>
            <a:endParaRPr lang="en-US" sz="1600" dirty="0"/>
          </a:p>
        </p:txBody>
      </p:sp>
      <p:sp>
        <p:nvSpPr>
          <p:cNvPr id="44" name="Text 42"/>
          <p:cNvSpPr/>
          <p:nvPr/>
        </p:nvSpPr>
        <p:spPr>
          <a:xfrm>
            <a:off x="8255000" y="1638300"/>
            <a:ext cx="3476625" cy="2476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MPI will produce similar effects in:</a:t>
            </a:r>
            <a:endParaRPr lang="en-US" sz="1600" dirty="0"/>
          </a:p>
        </p:txBody>
      </p:sp>
      <p:sp>
        <p:nvSpPr>
          <p:cNvPr id="45" name="Shape 43"/>
          <p:cNvSpPr/>
          <p:nvPr/>
        </p:nvSpPr>
        <p:spPr>
          <a:xfrm>
            <a:off x="8274050" y="20002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EF2F2"/>
          </a:solidFill>
          <a:ln/>
        </p:spPr>
      </p:sp>
      <p:sp>
        <p:nvSpPr>
          <p:cNvPr id="46" name="Shape 44"/>
          <p:cNvSpPr/>
          <p:nvPr/>
        </p:nvSpPr>
        <p:spPr>
          <a:xfrm>
            <a:off x="8274050" y="20002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E7000B"/>
          </a:solidFill>
          <a:ln/>
        </p:spPr>
      </p:sp>
      <p:sp>
        <p:nvSpPr>
          <p:cNvPr id="47" name="Shape 45"/>
          <p:cNvSpPr/>
          <p:nvPr/>
        </p:nvSpPr>
        <p:spPr>
          <a:xfrm>
            <a:off x="8445500" y="2157413"/>
            <a:ext cx="114300" cy="152400"/>
          </a:xfrm>
          <a:custGeom>
            <a:avLst/>
            <a:gdLst/>
            <a:ahLst/>
            <a:cxnLst/>
            <a:rect l="l" t="t" r="r" b="b"/>
            <a:pathLst>
              <a:path w="114300" h="152400">
                <a:moveTo>
                  <a:pt x="16401" y="21848"/>
                </a:moveTo>
                <a:cubicBezTo>
                  <a:pt x="12680" y="18127"/>
                  <a:pt x="6638" y="18127"/>
                  <a:pt x="2917" y="21848"/>
                </a:cubicBezTo>
                <a:cubicBezTo>
                  <a:pt x="-804" y="25569"/>
                  <a:pt x="-804" y="31611"/>
                  <a:pt x="2917" y="35332"/>
                </a:cubicBezTo>
                <a:lnTo>
                  <a:pt x="43815" y="76200"/>
                </a:lnTo>
                <a:lnTo>
                  <a:pt x="2947" y="117098"/>
                </a:lnTo>
                <a:cubicBezTo>
                  <a:pt x="-774" y="120819"/>
                  <a:pt x="-774" y="126861"/>
                  <a:pt x="2947" y="130582"/>
                </a:cubicBezTo>
                <a:cubicBezTo>
                  <a:pt x="6668" y="134303"/>
                  <a:pt x="12710" y="134303"/>
                  <a:pt x="16431" y="130582"/>
                </a:cubicBezTo>
                <a:lnTo>
                  <a:pt x="57299" y="89684"/>
                </a:lnTo>
                <a:lnTo>
                  <a:pt x="98197" y="130552"/>
                </a:lnTo>
                <a:cubicBezTo>
                  <a:pt x="101918" y="134273"/>
                  <a:pt x="107960" y="134273"/>
                  <a:pt x="111681" y="130552"/>
                </a:cubicBezTo>
                <a:cubicBezTo>
                  <a:pt x="115401" y="126831"/>
                  <a:pt x="115401" y="120789"/>
                  <a:pt x="111681" y="117068"/>
                </a:cubicBezTo>
                <a:lnTo>
                  <a:pt x="70783" y="76200"/>
                </a:lnTo>
                <a:lnTo>
                  <a:pt x="111651" y="35302"/>
                </a:lnTo>
                <a:cubicBezTo>
                  <a:pt x="115372" y="31581"/>
                  <a:pt x="115372" y="25539"/>
                  <a:pt x="111651" y="21818"/>
                </a:cubicBezTo>
                <a:cubicBezTo>
                  <a:pt x="107930" y="18098"/>
                  <a:pt x="101888" y="18098"/>
                  <a:pt x="98167" y="21818"/>
                </a:cubicBezTo>
                <a:lnTo>
                  <a:pt x="57299" y="62716"/>
                </a:lnTo>
                <a:lnTo>
                  <a:pt x="16401" y="21848"/>
                </a:lnTo>
                <a:close/>
              </a:path>
            </a:pathLst>
          </a:custGeom>
          <a:solidFill>
            <a:srgbClr val="E7000B"/>
          </a:solidFill>
          <a:ln/>
        </p:spPr>
      </p:sp>
      <p:sp>
        <p:nvSpPr>
          <p:cNvPr id="48" name="Text 46"/>
          <p:cNvSpPr/>
          <p:nvPr/>
        </p:nvSpPr>
        <p:spPr>
          <a:xfrm>
            <a:off x="8674100" y="2128838"/>
            <a:ext cx="858996"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All schools</a:t>
            </a:r>
            <a:endParaRPr lang="en-US" sz="1600" dirty="0"/>
          </a:p>
        </p:txBody>
      </p:sp>
      <p:sp>
        <p:nvSpPr>
          <p:cNvPr id="49" name="Shape 47"/>
          <p:cNvSpPr/>
          <p:nvPr/>
        </p:nvSpPr>
        <p:spPr>
          <a:xfrm>
            <a:off x="8274050" y="25336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EF2F2"/>
          </a:solidFill>
          <a:ln/>
        </p:spPr>
      </p:sp>
      <p:sp>
        <p:nvSpPr>
          <p:cNvPr id="50" name="Shape 48"/>
          <p:cNvSpPr/>
          <p:nvPr/>
        </p:nvSpPr>
        <p:spPr>
          <a:xfrm>
            <a:off x="8274050" y="25336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E7000B"/>
          </a:solidFill>
          <a:ln/>
        </p:spPr>
      </p:sp>
      <p:sp>
        <p:nvSpPr>
          <p:cNvPr id="51" name="Shape 49"/>
          <p:cNvSpPr/>
          <p:nvPr/>
        </p:nvSpPr>
        <p:spPr>
          <a:xfrm>
            <a:off x="8445500" y="2690813"/>
            <a:ext cx="114300" cy="152400"/>
          </a:xfrm>
          <a:custGeom>
            <a:avLst/>
            <a:gdLst/>
            <a:ahLst/>
            <a:cxnLst/>
            <a:rect l="l" t="t" r="r" b="b"/>
            <a:pathLst>
              <a:path w="114300" h="152400">
                <a:moveTo>
                  <a:pt x="16401" y="21848"/>
                </a:moveTo>
                <a:cubicBezTo>
                  <a:pt x="12680" y="18127"/>
                  <a:pt x="6638" y="18127"/>
                  <a:pt x="2917" y="21848"/>
                </a:cubicBezTo>
                <a:cubicBezTo>
                  <a:pt x="-804" y="25569"/>
                  <a:pt x="-804" y="31611"/>
                  <a:pt x="2917" y="35332"/>
                </a:cubicBezTo>
                <a:lnTo>
                  <a:pt x="43815" y="76200"/>
                </a:lnTo>
                <a:lnTo>
                  <a:pt x="2947" y="117098"/>
                </a:lnTo>
                <a:cubicBezTo>
                  <a:pt x="-774" y="120819"/>
                  <a:pt x="-774" y="126861"/>
                  <a:pt x="2947" y="130582"/>
                </a:cubicBezTo>
                <a:cubicBezTo>
                  <a:pt x="6668" y="134303"/>
                  <a:pt x="12710" y="134303"/>
                  <a:pt x="16431" y="130582"/>
                </a:cubicBezTo>
                <a:lnTo>
                  <a:pt x="57299" y="89684"/>
                </a:lnTo>
                <a:lnTo>
                  <a:pt x="98197" y="130552"/>
                </a:lnTo>
                <a:cubicBezTo>
                  <a:pt x="101918" y="134273"/>
                  <a:pt x="107960" y="134273"/>
                  <a:pt x="111681" y="130552"/>
                </a:cubicBezTo>
                <a:cubicBezTo>
                  <a:pt x="115401" y="126831"/>
                  <a:pt x="115401" y="120789"/>
                  <a:pt x="111681" y="117068"/>
                </a:cubicBezTo>
                <a:lnTo>
                  <a:pt x="70783" y="76200"/>
                </a:lnTo>
                <a:lnTo>
                  <a:pt x="111651" y="35302"/>
                </a:lnTo>
                <a:cubicBezTo>
                  <a:pt x="115372" y="31581"/>
                  <a:pt x="115372" y="25539"/>
                  <a:pt x="111651" y="21818"/>
                </a:cubicBezTo>
                <a:cubicBezTo>
                  <a:pt x="107930" y="18098"/>
                  <a:pt x="101888" y="18098"/>
                  <a:pt x="98167" y="21818"/>
                </a:cubicBezTo>
                <a:lnTo>
                  <a:pt x="57299" y="62716"/>
                </a:lnTo>
                <a:lnTo>
                  <a:pt x="16401" y="21848"/>
                </a:lnTo>
                <a:close/>
              </a:path>
            </a:pathLst>
          </a:custGeom>
          <a:solidFill>
            <a:srgbClr val="E7000B"/>
          </a:solidFill>
          <a:ln/>
        </p:spPr>
      </p:sp>
      <p:sp>
        <p:nvSpPr>
          <p:cNvPr id="52" name="Text 50"/>
          <p:cNvSpPr/>
          <p:nvPr/>
        </p:nvSpPr>
        <p:spPr>
          <a:xfrm>
            <a:off x="8674100" y="2662238"/>
            <a:ext cx="931386"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All contexts</a:t>
            </a:r>
            <a:endParaRPr lang="en-US" sz="1600" dirty="0"/>
          </a:p>
        </p:txBody>
      </p:sp>
      <p:sp>
        <p:nvSpPr>
          <p:cNvPr id="53" name="Shape 51"/>
          <p:cNvSpPr/>
          <p:nvPr/>
        </p:nvSpPr>
        <p:spPr>
          <a:xfrm>
            <a:off x="8274050" y="3067050"/>
            <a:ext cx="3381375" cy="457200"/>
          </a:xfrm>
          <a:custGeom>
            <a:avLst/>
            <a:gdLst/>
            <a:ahLst/>
            <a:cxnLst/>
            <a:rect l="l" t="t" r="r" b="b"/>
            <a:pathLst>
              <a:path w="3381375" h="457200">
                <a:moveTo>
                  <a:pt x="0" y="0"/>
                </a:moveTo>
                <a:lnTo>
                  <a:pt x="3381375" y="0"/>
                </a:lnTo>
                <a:lnTo>
                  <a:pt x="3381375" y="457200"/>
                </a:lnTo>
                <a:lnTo>
                  <a:pt x="0" y="457200"/>
                </a:lnTo>
                <a:lnTo>
                  <a:pt x="0" y="0"/>
                </a:lnTo>
                <a:close/>
              </a:path>
            </a:pathLst>
          </a:custGeom>
          <a:solidFill>
            <a:srgbClr val="FEF2F2"/>
          </a:solidFill>
          <a:ln/>
        </p:spPr>
      </p:sp>
      <p:sp>
        <p:nvSpPr>
          <p:cNvPr id="54" name="Shape 52"/>
          <p:cNvSpPr/>
          <p:nvPr/>
        </p:nvSpPr>
        <p:spPr>
          <a:xfrm>
            <a:off x="8274050" y="306705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E7000B"/>
          </a:solidFill>
          <a:ln/>
        </p:spPr>
      </p:sp>
      <p:sp>
        <p:nvSpPr>
          <p:cNvPr id="55" name="Shape 53"/>
          <p:cNvSpPr/>
          <p:nvPr/>
        </p:nvSpPr>
        <p:spPr>
          <a:xfrm>
            <a:off x="8445500" y="3224213"/>
            <a:ext cx="114300" cy="152400"/>
          </a:xfrm>
          <a:custGeom>
            <a:avLst/>
            <a:gdLst/>
            <a:ahLst/>
            <a:cxnLst/>
            <a:rect l="l" t="t" r="r" b="b"/>
            <a:pathLst>
              <a:path w="114300" h="152400">
                <a:moveTo>
                  <a:pt x="16401" y="21848"/>
                </a:moveTo>
                <a:cubicBezTo>
                  <a:pt x="12680" y="18127"/>
                  <a:pt x="6638" y="18127"/>
                  <a:pt x="2917" y="21848"/>
                </a:cubicBezTo>
                <a:cubicBezTo>
                  <a:pt x="-804" y="25569"/>
                  <a:pt x="-804" y="31611"/>
                  <a:pt x="2917" y="35332"/>
                </a:cubicBezTo>
                <a:lnTo>
                  <a:pt x="43815" y="76200"/>
                </a:lnTo>
                <a:lnTo>
                  <a:pt x="2947" y="117098"/>
                </a:lnTo>
                <a:cubicBezTo>
                  <a:pt x="-774" y="120819"/>
                  <a:pt x="-774" y="126861"/>
                  <a:pt x="2947" y="130582"/>
                </a:cubicBezTo>
                <a:cubicBezTo>
                  <a:pt x="6668" y="134303"/>
                  <a:pt x="12710" y="134303"/>
                  <a:pt x="16431" y="130582"/>
                </a:cubicBezTo>
                <a:lnTo>
                  <a:pt x="57299" y="89684"/>
                </a:lnTo>
                <a:lnTo>
                  <a:pt x="98197" y="130552"/>
                </a:lnTo>
                <a:cubicBezTo>
                  <a:pt x="101918" y="134273"/>
                  <a:pt x="107960" y="134273"/>
                  <a:pt x="111681" y="130552"/>
                </a:cubicBezTo>
                <a:cubicBezTo>
                  <a:pt x="115401" y="126831"/>
                  <a:pt x="115401" y="120789"/>
                  <a:pt x="111681" y="117068"/>
                </a:cubicBezTo>
                <a:lnTo>
                  <a:pt x="70783" y="76200"/>
                </a:lnTo>
                <a:lnTo>
                  <a:pt x="111651" y="35302"/>
                </a:lnTo>
                <a:cubicBezTo>
                  <a:pt x="115372" y="31581"/>
                  <a:pt x="115372" y="25539"/>
                  <a:pt x="111651" y="21818"/>
                </a:cubicBezTo>
                <a:cubicBezTo>
                  <a:pt x="107930" y="18098"/>
                  <a:pt x="101888" y="18098"/>
                  <a:pt x="98167" y="21818"/>
                </a:cubicBezTo>
                <a:lnTo>
                  <a:pt x="57299" y="62716"/>
                </a:lnTo>
                <a:lnTo>
                  <a:pt x="16401" y="21848"/>
                </a:lnTo>
                <a:close/>
              </a:path>
            </a:pathLst>
          </a:custGeom>
          <a:solidFill>
            <a:srgbClr val="E7000B"/>
          </a:solidFill>
          <a:ln/>
        </p:spPr>
      </p:sp>
      <p:sp>
        <p:nvSpPr>
          <p:cNvPr id="56" name="Text 54"/>
          <p:cNvSpPr/>
          <p:nvPr/>
        </p:nvSpPr>
        <p:spPr>
          <a:xfrm>
            <a:off x="8674100" y="3195638"/>
            <a:ext cx="2257584" cy="200025"/>
          </a:xfrm>
          <a:prstGeom prst="rect">
            <a:avLst/>
          </a:prstGeom>
          <a:noFill/>
          <a:ln/>
        </p:spPr>
        <p:txBody>
          <a:bodyPr wrap="square" lIns="0" tIns="0" rIns="0" bIns="0" rtlCol="0" anchor="ctr"/>
          <a:lstStyle/>
          <a:p>
            <a:pPr>
              <a:lnSpc>
                <a:spcPct val="130000"/>
              </a:lnSpc>
            </a:pPr>
            <a:r>
              <a:rPr lang="en-US" sz="1200" b="1" dirty="0">
                <a:solidFill>
                  <a:srgbClr val="2D3436"/>
                </a:solidFill>
                <a:latin typeface="MiSans" pitchFamily="34" charset="0"/>
                <a:ea typeface="MiSans" pitchFamily="34" charset="-122"/>
                <a:cs typeface="MiSans" pitchFamily="34" charset="-120"/>
              </a:rPr>
              <a:t>All implementation conditions</a:t>
            </a:r>
            <a:endParaRPr lang="en-US" sz="1600" dirty="0"/>
          </a:p>
        </p:txBody>
      </p:sp>
      <p:sp>
        <p:nvSpPr>
          <p:cNvPr id="57" name="Text 55"/>
          <p:cNvSpPr/>
          <p:nvPr/>
        </p:nvSpPr>
        <p:spPr>
          <a:xfrm>
            <a:off x="8255000" y="3638550"/>
            <a:ext cx="3476625"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This claim is </a:t>
            </a:r>
            <a:pPr>
              <a:lnSpc>
                <a:spcPct val="140000"/>
              </a:lnSpc>
            </a:pPr>
            <a:r>
              <a:rPr lang="en-US" sz="1200" b="1" dirty="0">
                <a:solidFill>
                  <a:srgbClr val="2D3436"/>
                </a:solidFill>
                <a:latin typeface="MiSans" pitchFamily="34" charset="0"/>
                <a:ea typeface="MiSans" pitchFamily="34" charset="-122"/>
                <a:cs typeface="MiSans" pitchFamily="34" charset="-120"/>
              </a:rPr>
              <a:t>NOT supported</a:t>
            </a:r>
            <a:pPr>
              <a:lnSpc>
                <a:spcPct val="140000"/>
              </a:lnSpc>
            </a:pPr>
            <a:r>
              <a:rPr lang="en-US" sz="1200" dirty="0">
                <a:solidFill>
                  <a:srgbClr val="2D3436"/>
                </a:solidFill>
                <a:latin typeface="MiSans" pitchFamily="34" charset="0"/>
                <a:ea typeface="MiSans" pitchFamily="34" charset="-122"/>
                <a:cs typeface="MiSans" pitchFamily="34" charset="-120"/>
              </a:rPr>
              <a:t> by the evidence. School-level variation is substantial.</a:t>
            </a:r>
            <a:endParaRPr lang="en-US" sz="1600" dirty="0"/>
          </a:p>
        </p:txBody>
      </p:sp>
      <p:sp>
        <p:nvSpPr>
          <p:cNvPr id="58" name="Shape 56"/>
          <p:cNvSpPr/>
          <p:nvPr/>
        </p:nvSpPr>
        <p:spPr>
          <a:xfrm>
            <a:off x="8121650" y="4400550"/>
            <a:ext cx="3686175" cy="1790700"/>
          </a:xfrm>
          <a:custGeom>
            <a:avLst/>
            <a:gdLst/>
            <a:ahLst/>
            <a:cxnLst/>
            <a:rect l="l" t="t" r="r" b="b"/>
            <a:pathLst>
              <a:path w="3686175" h="1790700">
                <a:moveTo>
                  <a:pt x="0" y="0"/>
                </a:moveTo>
                <a:lnTo>
                  <a:pt x="3686175" y="0"/>
                </a:lnTo>
                <a:lnTo>
                  <a:pt x="3686175" y="1790700"/>
                </a:lnTo>
                <a:lnTo>
                  <a:pt x="0" y="1790700"/>
                </a:lnTo>
                <a:lnTo>
                  <a:pt x="0" y="0"/>
                </a:lnTo>
                <a:close/>
              </a:path>
            </a:pathLst>
          </a:custGeom>
          <a:solidFill>
            <a:srgbClr val="C49A2C">
              <a:alpha val="10196"/>
            </a:srgbClr>
          </a:solidFill>
          <a:ln/>
        </p:spPr>
      </p:sp>
      <p:sp>
        <p:nvSpPr>
          <p:cNvPr id="59" name="Shape 57"/>
          <p:cNvSpPr/>
          <p:nvPr/>
        </p:nvSpPr>
        <p:spPr>
          <a:xfrm>
            <a:off x="8121650" y="4400550"/>
            <a:ext cx="38100" cy="1790700"/>
          </a:xfrm>
          <a:custGeom>
            <a:avLst/>
            <a:gdLst/>
            <a:ahLst/>
            <a:cxnLst/>
            <a:rect l="l" t="t" r="r" b="b"/>
            <a:pathLst>
              <a:path w="38100" h="1790700">
                <a:moveTo>
                  <a:pt x="0" y="0"/>
                </a:moveTo>
                <a:lnTo>
                  <a:pt x="38100" y="0"/>
                </a:lnTo>
                <a:lnTo>
                  <a:pt x="38100" y="1790700"/>
                </a:lnTo>
                <a:lnTo>
                  <a:pt x="0" y="1790700"/>
                </a:lnTo>
                <a:lnTo>
                  <a:pt x="0" y="0"/>
                </a:lnTo>
                <a:close/>
              </a:path>
            </a:pathLst>
          </a:custGeom>
          <a:solidFill>
            <a:srgbClr val="C49A2C"/>
          </a:solidFill>
          <a:ln/>
        </p:spPr>
      </p:sp>
      <p:sp>
        <p:nvSpPr>
          <p:cNvPr id="60" name="Shape 58"/>
          <p:cNvSpPr/>
          <p:nvPr/>
        </p:nvSpPr>
        <p:spPr>
          <a:xfrm>
            <a:off x="8312150" y="4605338"/>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C49A2C"/>
          </a:solidFill>
          <a:ln/>
        </p:spPr>
      </p:sp>
      <p:sp>
        <p:nvSpPr>
          <p:cNvPr id="61" name="Text 59"/>
          <p:cNvSpPr/>
          <p:nvPr/>
        </p:nvSpPr>
        <p:spPr>
          <a:xfrm>
            <a:off x="8540750" y="4552950"/>
            <a:ext cx="3190875" cy="1485900"/>
          </a:xfrm>
          <a:prstGeom prst="rect">
            <a:avLst/>
          </a:prstGeom>
          <a:noFill/>
          <a:ln/>
        </p:spPr>
        <p:txBody>
          <a:bodyPr wrap="square" lIns="0" tIns="0" rIns="0" bIns="0" rtlCol="0" anchor="ctr"/>
          <a:lstStyle/>
          <a:p>
            <a:pPr>
              <a:lnSpc>
                <a:spcPct val="140000"/>
              </a:lnSpc>
            </a:pPr>
            <a:r>
              <a:rPr lang="en-US" sz="1200" b="1" dirty="0">
                <a:solidFill>
                  <a:srgbClr val="1E3A5F"/>
                </a:solidFill>
                <a:latin typeface="MiSans" pitchFamily="34" charset="0"/>
                <a:ea typeface="MiSans" pitchFamily="34" charset="-122"/>
                <a:cs typeface="MiSans" pitchFamily="34" charset="-120"/>
              </a:rPr>
              <a:t>The Credibility Principle:</a:t>
            </a:r>
            <a:pPr>
              <a:lnSpc>
                <a:spcPct val="140000"/>
              </a:lnSpc>
            </a:pPr>
            <a:r>
              <a:rPr lang="en-US" sz="1200" dirty="0">
                <a:solidFill>
                  <a:srgbClr val="1E3A5F"/>
                </a:solidFill>
                <a:latin typeface="MiSans" pitchFamily="34" charset="0"/>
                <a:ea typeface="MiSans" pitchFamily="34" charset="-122"/>
                <a:cs typeface="MiSans" pitchFamily="34" charset="-120"/>
              </a:rPr>
              <a:t> The distinction between what the data shows and what is projected or assumed is not merely methodological fastidiousness. It is </a:t>
            </a:r>
            <a:pPr>
              <a:lnSpc>
                <a:spcPct val="140000"/>
              </a:lnSpc>
            </a:pPr>
            <a:r>
              <a:rPr lang="en-US" sz="1200" b="1" dirty="0">
                <a:solidFill>
                  <a:srgbClr val="1E3A5F"/>
                </a:solidFill>
                <a:latin typeface="MiSans" pitchFamily="34" charset="0"/>
                <a:ea typeface="MiSans" pitchFamily="34" charset="-122"/>
                <a:cs typeface="MiSans" pitchFamily="34" charset="-120"/>
              </a:rPr>
              <a:t>the foundation of Meridian's credibility</a:t>
            </a:r>
            <a:pPr>
              <a:lnSpc>
                <a:spcPct val="140000"/>
              </a:lnSpc>
            </a:pPr>
            <a:r>
              <a:rPr lang="en-US" sz="1200" dirty="0">
                <a:solidFill>
                  <a:srgbClr val="1E3A5F"/>
                </a:solidFill>
                <a:latin typeface="MiSans" pitchFamily="34" charset="0"/>
                <a:ea typeface="MiSans" pitchFamily="34" charset="-122"/>
                <a:cs typeface="MiSans" pitchFamily="34" charset="-120"/>
              </a:rPr>
              <a:t> with clients, schools, and ultimately with children.</a:t>
            </a:r>
            <a:endParaRPr lang="en-US" sz="16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C49A2C"/>
          </a:solidFill>
          <a:ln/>
        </p:spPr>
      </p:sp>
      <p:sp>
        <p:nvSpPr>
          <p:cNvPr id="3" name="Text 1"/>
          <p:cNvSpPr/>
          <p:nvPr/>
        </p:nvSpPr>
        <p:spPr>
          <a:xfrm>
            <a:off x="476250" y="365125"/>
            <a:ext cx="5238750"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Progress vs Attainment: A Critical Distinction</a:t>
            </a:r>
            <a:endParaRPr lang="en-US" sz="1600" dirty="0"/>
          </a:p>
        </p:txBody>
      </p:sp>
      <p:sp>
        <p:nvSpPr>
          <p:cNvPr id="4" name="Text 2"/>
          <p:cNvSpPr/>
          <p:nvPr/>
        </p:nvSpPr>
        <p:spPr>
          <a:xfrm>
            <a:off x="476250" y="762000"/>
            <a:ext cx="11461750" cy="190500"/>
          </a:xfrm>
          <a:prstGeom prst="rect">
            <a:avLst/>
          </a:prstGeom>
          <a:noFill/>
          <a:ln/>
        </p:spPr>
        <p:txBody>
          <a:bodyPr wrap="square" lIns="0" tIns="0" rIns="0" bIns="0" rtlCol="0" anchor="ctr"/>
          <a:lstStyle/>
          <a:p>
            <a:pPr>
              <a:lnSpc>
                <a:spcPct val="130000"/>
              </a:lnSpc>
            </a:pPr>
            <a:r>
              <a:rPr lang="en-US" sz="1000" dirty="0">
                <a:solidFill>
                  <a:srgbClr val="6C757D"/>
                </a:solidFill>
                <a:latin typeface="MiSans" pitchFamily="34" charset="0"/>
                <a:ea typeface="MiSans" pitchFamily="34" charset="-122"/>
                <a:cs typeface="MiSans" pitchFamily="34" charset="-120"/>
              </a:rPr>
              <a:t>The single most important conceptual distinction in educational measurement</a:t>
            </a:r>
            <a:endParaRPr lang="en-US" sz="1600" dirty="0"/>
          </a:p>
        </p:txBody>
      </p:sp>
      <p:sp>
        <p:nvSpPr>
          <p:cNvPr id="5" name="Shape 3"/>
          <p:cNvSpPr/>
          <p:nvPr/>
        </p:nvSpPr>
        <p:spPr>
          <a:xfrm>
            <a:off x="317500" y="1016000"/>
            <a:ext cx="5715000" cy="1016000"/>
          </a:xfrm>
          <a:custGeom>
            <a:avLst/>
            <a:gdLst/>
            <a:ahLst/>
            <a:cxnLst/>
            <a:rect l="l" t="t" r="r" b="b"/>
            <a:pathLst>
              <a:path w="5715000" h="1016000">
                <a:moveTo>
                  <a:pt x="0" y="0"/>
                </a:moveTo>
                <a:lnTo>
                  <a:pt x="5715000" y="0"/>
                </a:lnTo>
                <a:lnTo>
                  <a:pt x="5715000" y="1016000"/>
                </a:lnTo>
                <a:lnTo>
                  <a:pt x="0" y="1016000"/>
                </a:lnTo>
                <a:lnTo>
                  <a:pt x="0" y="0"/>
                </a:lnTo>
                <a:close/>
              </a:path>
            </a:pathLst>
          </a:custGeom>
          <a:solidFill>
            <a:srgbClr val="C49A2C"/>
          </a:solidFill>
          <a:ln/>
        </p:spPr>
      </p:sp>
      <p:sp>
        <p:nvSpPr>
          <p:cNvPr id="6" name="Text 4"/>
          <p:cNvSpPr/>
          <p:nvPr/>
        </p:nvSpPr>
        <p:spPr>
          <a:xfrm>
            <a:off x="396875" y="1143000"/>
            <a:ext cx="5556250" cy="254000"/>
          </a:xfrm>
          <a:prstGeom prst="rect">
            <a:avLst/>
          </a:prstGeom>
          <a:noFill/>
          <a:ln/>
        </p:spPr>
        <p:txBody>
          <a:bodyPr wrap="square" lIns="0" tIns="0" rIns="0" bIns="0" rtlCol="0" anchor="ctr"/>
          <a:lstStyle/>
          <a:p>
            <a:pPr algn="ctr">
              <a:lnSpc>
                <a:spcPct val="110000"/>
              </a:lnSpc>
            </a:pPr>
            <a:r>
              <a:rPr lang="en-US" sz="1500" b="1" dirty="0">
                <a:solidFill>
                  <a:srgbClr val="F8F9FA"/>
                </a:solidFill>
                <a:latin typeface="MiSans" pitchFamily="34" charset="0"/>
                <a:ea typeface="MiSans" pitchFamily="34" charset="-122"/>
                <a:cs typeface="MiSans" pitchFamily="34" charset="-120"/>
              </a:rPr>
              <a:t>This Distinction Is Not Semantic</a:t>
            </a:r>
            <a:endParaRPr lang="en-US" sz="1600" dirty="0"/>
          </a:p>
        </p:txBody>
      </p:sp>
      <p:sp>
        <p:nvSpPr>
          <p:cNvPr id="7" name="Text 5"/>
          <p:cNvSpPr/>
          <p:nvPr/>
        </p:nvSpPr>
        <p:spPr>
          <a:xfrm>
            <a:off x="412750" y="1492250"/>
            <a:ext cx="5524500" cy="412750"/>
          </a:xfrm>
          <a:prstGeom prst="rect">
            <a:avLst/>
          </a:prstGeom>
          <a:noFill/>
          <a:ln/>
        </p:spPr>
        <p:txBody>
          <a:bodyPr wrap="square" lIns="0" tIns="0" rIns="0" bIns="0" rtlCol="0" anchor="ctr"/>
          <a:lstStyle/>
          <a:p>
            <a:pPr algn="ctr">
              <a:lnSpc>
                <a:spcPct val="140000"/>
              </a:lnSpc>
            </a:pPr>
            <a:r>
              <a:rPr lang="en-US" sz="1000" dirty="0">
                <a:solidFill>
                  <a:srgbClr val="F8F9FA"/>
                </a:solidFill>
                <a:latin typeface="MiSans" pitchFamily="34" charset="0"/>
                <a:ea typeface="MiSans" pitchFamily="34" charset="-122"/>
                <a:cs typeface="MiSans" pitchFamily="34" charset="-120"/>
              </a:rPr>
              <a:t>It is the single most important conceptual distinction in educational measurement, and </a:t>
            </a:r>
            <a:pPr algn="ctr">
              <a:lnSpc>
                <a:spcPct val="140000"/>
              </a:lnSpc>
            </a:pPr>
            <a:r>
              <a:rPr lang="en-US" sz="1000" b="1" dirty="0">
                <a:solidFill>
                  <a:srgbClr val="F8F9FA"/>
                </a:solidFill>
                <a:latin typeface="MiSans" pitchFamily="34" charset="0"/>
                <a:ea typeface="MiSans" pitchFamily="34" charset="-122"/>
                <a:cs typeface="MiSans" pitchFamily="34" charset="-120"/>
              </a:rPr>
              <a:t>failure to understand it will lead to the misreading of every dataset you ever encounter</a:t>
            </a:r>
            <a:pPr algn="ctr">
              <a:lnSpc>
                <a:spcPct val="140000"/>
              </a:lnSpc>
            </a:pPr>
            <a:r>
              <a:rPr lang="en-US" sz="1000" dirty="0">
                <a:solidFill>
                  <a:srgbClr val="F8F9FA"/>
                </a:solidFill>
                <a:latin typeface="MiSans" pitchFamily="34" charset="0"/>
                <a:ea typeface="MiSans" pitchFamily="34" charset="-122"/>
                <a:cs typeface="MiSans" pitchFamily="34" charset="-120"/>
              </a:rPr>
              <a:t>.</a:t>
            </a:r>
            <a:endParaRPr lang="en-US" sz="1600" dirty="0"/>
          </a:p>
        </p:txBody>
      </p:sp>
      <p:sp>
        <p:nvSpPr>
          <p:cNvPr id="8" name="Shape 6"/>
          <p:cNvSpPr/>
          <p:nvPr/>
        </p:nvSpPr>
        <p:spPr>
          <a:xfrm>
            <a:off x="317500" y="2143125"/>
            <a:ext cx="5715000" cy="2000250"/>
          </a:xfrm>
          <a:custGeom>
            <a:avLst/>
            <a:gdLst/>
            <a:ahLst/>
            <a:cxnLst/>
            <a:rect l="l" t="t" r="r" b="b"/>
            <a:pathLst>
              <a:path w="5715000" h="2000250">
                <a:moveTo>
                  <a:pt x="0" y="0"/>
                </a:moveTo>
                <a:lnTo>
                  <a:pt x="5715000" y="0"/>
                </a:lnTo>
                <a:lnTo>
                  <a:pt x="5715000" y="2000250"/>
                </a:lnTo>
                <a:lnTo>
                  <a:pt x="0" y="2000250"/>
                </a:lnTo>
                <a:lnTo>
                  <a:pt x="0" y="0"/>
                </a:lnTo>
                <a:close/>
              </a:path>
            </a:pathLst>
          </a:custGeom>
          <a:solidFill>
            <a:srgbClr val="FFFFFF"/>
          </a:solidFill>
          <a:ln/>
        </p:spPr>
      </p:sp>
      <p:sp>
        <p:nvSpPr>
          <p:cNvPr id="9" name="Shape 7"/>
          <p:cNvSpPr/>
          <p:nvPr/>
        </p:nvSpPr>
        <p:spPr>
          <a:xfrm>
            <a:off x="317500" y="214312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10" name="Text 8"/>
          <p:cNvSpPr/>
          <p:nvPr/>
        </p:nvSpPr>
        <p:spPr>
          <a:xfrm>
            <a:off x="444500" y="228600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Attainment: Absolute Achievement</a:t>
            </a:r>
            <a:endParaRPr lang="en-US" sz="1600" dirty="0"/>
          </a:p>
        </p:txBody>
      </p:sp>
      <p:sp>
        <p:nvSpPr>
          <p:cNvPr id="11" name="Text 9"/>
          <p:cNvSpPr/>
          <p:nvPr/>
        </p:nvSpPr>
        <p:spPr>
          <a:xfrm>
            <a:off x="444500" y="2603500"/>
            <a:ext cx="5524500" cy="412750"/>
          </a:xfrm>
          <a:prstGeom prst="rect">
            <a:avLst/>
          </a:prstGeom>
          <a:noFill/>
          <a:ln/>
        </p:spPr>
        <p:txBody>
          <a:bodyPr wrap="square" lIns="0" tIns="0" rIns="0" bIns="0" rtlCol="0" anchor="ctr"/>
          <a:lstStyle/>
          <a:p>
            <a:pPr>
              <a:lnSpc>
                <a:spcPct val="140000"/>
              </a:lnSpc>
            </a:pPr>
            <a:r>
              <a:rPr lang="en-US" sz="1000" b="1" dirty="0">
                <a:solidFill>
                  <a:srgbClr val="2D3436"/>
                </a:solidFill>
                <a:latin typeface="MiSans" pitchFamily="34" charset="0"/>
                <a:ea typeface="MiSans" pitchFamily="34" charset="-122"/>
                <a:cs typeface="MiSans" pitchFamily="34" charset="-120"/>
              </a:rPr>
              <a:t>Attainment</a:t>
            </a:r>
            <a:pPr>
              <a:lnSpc>
                <a:spcPct val="140000"/>
              </a:lnSpc>
            </a:pPr>
            <a:r>
              <a:rPr lang="en-US" sz="1000" dirty="0">
                <a:solidFill>
                  <a:srgbClr val="2D3436"/>
                </a:solidFill>
                <a:latin typeface="MiSans" pitchFamily="34" charset="0"/>
                <a:ea typeface="MiSans" pitchFamily="34" charset="-122"/>
                <a:cs typeface="MiSans" pitchFamily="34" charset="-120"/>
              </a:rPr>
              <a:t> refers to the </a:t>
            </a:r>
            <a:pPr>
              <a:lnSpc>
                <a:spcPct val="140000"/>
              </a:lnSpc>
            </a:pPr>
            <a:r>
              <a:rPr lang="en-US" sz="1000" b="1" dirty="0">
                <a:solidFill>
                  <a:srgbClr val="2D3436"/>
                </a:solidFill>
                <a:latin typeface="MiSans" pitchFamily="34" charset="0"/>
                <a:ea typeface="MiSans" pitchFamily="34" charset="-122"/>
                <a:cs typeface="MiSans" pitchFamily="34" charset="-120"/>
              </a:rPr>
              <a:t>absolute level of achievement</a:t>
            </a:r>
            <a:pPr>
              <a:lnSpc>
                <a:spcPct val="140000"/>
              </a:lnSpc>
            </a:pPr>
            <a:r>
              <a:rPr lang="en-US" sz="1000" dirty="0">
                <a:solidFill>
                  <a:srgbClr val="2D3436"/>
                </a:solidFill>
                <a:latin typeface="MiSans" pitchFamily="34" charset="0"/>
                <a:ea typeface="MiSans" pitchFamily="34" charset="-122"/>
                <a:cs typeface="MiSans" pitchFamily="34" charset="-120"/>
              </a:rPr>
              <a:t> a pupil has reached at a fixed point in time.</a:t>
            </a:r>
            <a:endParaRPr lang="en-US" sz="1600" dirty="0"/>
          </a:p>
        </p:txBody>
      </p:sp>
      <p:sp>
        <p:nvSpPr>
          <p:cNvPr id="12" name="Shape 10"/>
          <p:cNvSpPr/>
          <p:nvPr/>
        </p:nvSpPr>
        <p:spPr>
          <a:xfrm>
            <a:off x="444500" y="3111500"/>
            <a:ext cx="5461000" cy="603250"/>
          </a:xfrm>
          <a:custGeom>
            <a:avLst/>
            <a:gdLst/>
            <a:ahLst/>
            <a:cxnLst/>
            <a:rect l="l" t="t" r="r" b="b"/>
            <a:pathLst>
              <a:path w="5461000" h="603250">
                <a:moveTo>
                  <a:pt x="0" y="0"/>
                </a:moveTo>
                <a:lnTo>
                  <a:pt x="5461000" y="0"/>
                </a:lnTo>
                <a:lnTo>
                  <a:pt x="5461000" y="603250"/>
                </a:lnTo>
                <a:lnTo>
                  <a:pt x="0" y="603250"/>
                </a:lnTo>
                <a:lnTo>
                  <a:pt x="0" y="0"/>
                </a:lnTo>
                <a:close/>
              </a:path>
            </a:pathLst>
          </a:custGeom>
          <a:solidFill>
            <a:srgbClr val="F8F9FA"/>
          </a:solidFill>
          <a:ln/>
        </p:spPr>
      </p:sp>
      <p:sp>
        <p:nvSpPr>
          <p:cNvPr id="13" name="Text 11"/>
          <p:cNvSpPr/>
          <p:nvPr/>
        </p:nvSpPr>
        <p:spPr>
          <a:xfrm>
            <a:off x="539750" y="3206750"/>
            <a:ext cx="53340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pupil with </a:t>
            </a:r>
            <a:pPr>
              <a:lnSpc>
                <a:spcPct val="140000"/>
              </a:lnSpc>
            </a:pPr>
            <a:r>
              <a:rPr lang="en-US" sz="1000" b="1" dirty="0">
                <a:solidFill>
                  <a:srgbClr val="2D3436"/>
                </a:solidFill>
                <a:latin typeface="MiSans" pitchFamily="34" charset="0"/>
                <a:ea typeface="MiSans" pitchFamily="34" charset="-122"/>
                <a:cs typeface="MiSans" pitchFamily="34" charset="-120"/>
              </a:rPr>
              <a:t>grade 7 GCSEs</a:t>
            </a:r>
            <a:pPr>
              <a:lnSpc>
                <a:spcPct val="140000"/>
              </a:lnSpc>
            </a:pPr>
            <a:r>
              <a:rPr lang="en-US" sz="1000" dirty="0">
                <a:solidFill>
                  <a:srgbClr val="2D3436"/>
                </a:solidFill>
                <a:latin typeface="MiSans" pitchFamily="34" charset="0"/>
                <a:ea typeface="MiSans" pitchFamily="34" charset="-122"/>
                <a:cs typeface="MiSans" pitchFamily="34" charset="-120"/>
              </a:rPr>
              <a:t> has higher attainment than a pupil with grade 4 GCSEs. This is straightforward and intuitive.</a:t>
            </a:r>
            <a:endParaRPr lang="en-US" sz="1600" dirty="0"/>
          </a:p>
        </p:txBody>
      </p:sp>
      <p:sp>
        <p:nvSpPr>
          <p:cNvPr id="14" name="Text 12"/>
          <p:cNvSpPr/>
          <p:nvPr/>
        </p:nvSpPr>
        <p:spPr>
          <a:xfrm>
            <a:off x="444500" y="381000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Attainment measures </a:t>
            </a:r>
            <a:pPr>
              <a:lnSpc>
                <a:spcPct val="140000"/>
              </a:lnSpc>
            </a:pPr>
            <a:r>
              <a:rPr lang="en-US" sz="1000" b="1" dirty="0">
                <a:solidFill>
                  <a:srgbClr val="2D3436"/>
                </a:solidFill>
                <a:latin typeface="MiSans" pitchFamily="34" charset="0"/>
                <a:ea typeface="MiSans" pitchFamily="34" charset="-122"/>
                <a:cs typeface="MiSans" pitchFamily="34" charset="-120"/>
              </a:rPr>
              <a:t>describe a state</a:t>
            </a:r>
            <a:pPr>
              <a:lnSpc>
                <a:spcPct val="140000"/>
              </a:lnSpc>
            </a:pPr>
            <a:r>
              <a:rPr lang="en-US" sz="1000" dirty="0">
                <a:solidFill>
                  <a:srgbClr val="2D3436"/>
                </a:solidFill>
                <a:latin typeface="MiSans" pitchFamily="34" charset="0"/>
                <a:ea typeface="MiSans" pitchFamily="34" charset="-122"/>
                <a:cs typeface="MiSans" pitchFamily="34" charset="-120"/>
              </a:rPr>
              <a:t>. They do not account for where the pupil started.</a:t>
            </a:r>
            <a:endParaRPr lang="en-US" sz="1600" dirty="0"/>
          </a:p>
        </p:txBody>
      </p:sp>
      <p:sp>
        <p:nvSpPr>
          <p:cNvPr id="15" name="Shape 13"/>
          <p:cNvSpPr/>
          <p:nvPr/>
        </p:nvSpPr>
        <p:spPr>
          <a:xfrm>
            <a:off x="317500" y="4254500"/>
            <a:ext cx="5715000" cy="2476500"/>
          </a:xfrm>
          <a:custGeom>
            <a:avLst/>
            <a:gdLst/>
            <a:ahLst/>
            <a:cxnLst/>
            <a:rect l="l" t="t" r="r" b="b"/>
            <a:pathLst>
              <a:path w="5715000" h="2476500">
                <a:moveTo>
                  <a:pt x="0" y="0"/>
                </a:moveTo>
                <a:lnTo>
                  <a:pt x="5715000" y="0"/>
                </a:lnTo>
                <a:lnTo>
                  <a:pt x="5715000" y="2476500"/>
                </a:lnTo>
                <a:lnTo>
                  <a:pt x="0" y="2476500"/>
                </a:lnTo>
                <a:lnTo>
                  <a:pt x="0" y="0"/>
                </a:lnTo>
                <a:close/>
              </a:path>
            </a:pathLst>
          </a:custGeom>
          <a:solidFill>
            <a:srgbClr val="FFFFFF"/>
          </a:solidFill>
          <a:ln/>
        </p:spPr>
      </p:sp>
      <p:sp>
        <p:nvSpPr>
          <p:cNvPr id="16" name="Shape 14"/>
          <p:cNvSpPr/>
          <p:nvPr/>
        </p:nvSpPr>
        <p:spPr>
          <a:xfrm>
            <a:off x="317500" y="4254500"/>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17" name="Text 15"/>
          <p:cNvSpPr/>
          <p:nvPr/>
        </p:nvSpPr>
        <p:spPr>
          <a:xfrm>
            <a:off x="444500" y="4397375"/>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Progress: Distance from Baseline</a:t>
            </a:r>
            <a:endParaRPr lang="en-US" sz="1600" dirty="0"/>
          </a:p>
        </p:txBody>
      </p:sp>
      <p:sp>
        <p:nvSpPr>
          <p:cNvPr id="18" name="Text 16"/>
          <p:cNvSpPr/>
          <p:nvPr/>
        </p:nvSpPr>
        <p:spPr>
          <a:xfrm>
            <a:off x="444500" y="4714875"/>
            <a:ext cx="5524500" cy="412750"/>
          </a:xfrm>
          <a:prstGeom prst="rect">
            <a:avLst/>
          </a:prstGeom>
          <a:noFill/>
          <a:ln/>
        </p:spPr>
        <p:txBody>
          <a:bodyPr wrap="square" lIns="0" tIns="0" rIns="0" bIns="0" rtlCol="0" anchor="ctr"/>
          <a:lstStyle/>
          <a:p>
            <a:pPr>
              <a:lnSpc>
                <a:spcPct val="140000"/>
              </a:lnSpc>
            </a:pPr>
            <a:r>
              <a:rPr lang="en-US" sz="1000" b="1" dirty="0">
                <a:solidFill>
                  <a:srgbClr val="2D3436"/>
                </a:solidFill>
                <a:latin typeface="MiSans" pitchFamily="34" charset="0"/>
                <a:ea typeface="MiSans" pitchFamily="34" charset="-122"/>
                <a:cs typeface="MiSans" pitchFamily="34" charset="-120"/>
              </a:rPr>
              <a:t>Progress</a:t>
            </a:r>
            <a:pPr>
              <a:lnSpc>
                <a:spcPct val="140000"/>
              </a:lnSpc>
            </a:pPr>
            <a:r>
              <a:rPr lang="en-US" sz="1000" dirty="0">
                <a:solidFill>
                  <a:srgbClr val="2D3436"/>
                </a:solidFill>
                <a:latin typeface="MiSans" pitchFamily="34" charset="0"/>
                <a:ea typeface="MiSans" pitchFamily="34" charset="-122"/>
                <a:cs typeface="MiSans" pitchFamily="34" charset="-120"/>
              </a:rPr>
              <a:t> refers to the </a:t>
            </a:r>
            <a:pPr>
              <a:lnSpc>
                <a:spcPct val="140000"/>
              </a:lnSpc>
            </a:pPr>
            <a:r>
              <a:rPr lang="en-US" sz="1000" b="1" dirty="0">
                <a:solidFill>
                  <a:srgbClr val="2D3436"/>
                </a:solidFill>
                <a:latin typeface="MiSans" pitchFamily="34" charset="0"/>
                <a:ea typeface="MiSans" pitchFamily="34" charset="-122"/>
                <a:cs typeface="MiSans" pitchFamily="34" charset="-120"/>
              </a:rPr>
              <a:t>change in attainment relative to a predicted baseline</a:t>
            </a:r>
            <a:pPr>
              <a:lnSpc>
                <a:spcPct val="140000"/>
              </a:lnSpc>
            </a:pPr>
            <a:r>
              <a:rPr lang="en-US" sz="1000" dirty="0">
                <a:solidFill>
                  <a:srgbClr val="2D3436"/>
                </a:solidFill>
                <a:latin typeface="MiSans" pitchFamily="34" charset="0"/>
                <a:ea typeface="MiSans" pitchFamily="34" charset="-122"/>
                <a:cs typeface="MiSans" pitchFamily="34" charset="-120"/>
              </a:rPr>
              <a:t>, where that baseline accounts for prior attainment.</a:t>
            </a:r>
            <a:endParaRPr lang="en-US" sz="1600" dirty="0"/>
          </a:p>
        </p:txBody>
      </p:sp>
      <p:sp>
        <p:nvSpPr>
          <p:cNvPr id="19" name="Shape 17"/>
          <p:cNvSpPr/>
          <p:nvPr/>
        </p:nvSpPr>
        <p:spPr>
          <a:xfrm>
            <a:off x="444500" y="5222875"/>
            <a:ext cx="5461000" cy="1079500"/>
          </a:xfrm>
          <a:custGeom>
            <a:avLst/>
            <a:gdLst/>
            <a:ahLst/>
            <a:cxnLst/>
            <a:rect l="l" t="t" r="r" b="b"/>
            <a:pathLst>
              <a:path w="5461000" h="1079500">
                <a:moveTo>
                  <a:pt x="0" y="0"/>
                </a:moveTo>
                <a:lnTo>
                  <a:pt x="5461000" y="0"/>
                </a:lnTo>
                <a:lnTo>
                  <a:pt x="5461000" y="1079500"/>
                </a:lnTo>
                <a:lnTo>
                  <a:pt x="0" y="1079500"/>
                </a:lnTo>
                <a:lnTo>
                  <a:pt x="0" y="0"/>
                </a:lnTo>
                <a:close/>
              </a:path>
            </a:pathLst>
          </a:custGeom>
          <a:solidFill>
            <a:srgbClr val="F8F9FA"/>
          </a:solidFill>
          <a:ln/>
        </p:spPr>
      </p:sp>
      <p:sp>
        <p:nvSpPr>
          <p:cNvPr id="20" name="Text 18"/>
          <p:cNvSpPr/>
          <p:nvPr/>
        </p:nvSpPr>
        <p:spPr>
          <a:xfrm>
            <a:off x="539750" y="5318125"/>
            <a:ext cx="53340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pupil who arrives with </a:t>
            </a:r>
            <a:pPr>
              <a:lnSpc>
                <a:spcPct val="140000"/>
              </a:lnSpc>
            </a:pPr>
            <a:r>
              <a:rPr lang="en-US" sz="1000" b="1" dirty="0">
                <a:solidFill>
                  <a:srgbClr val="2D3436"/>
                </a:solidFill>
                <a:latin typeface="MiSans" pitchFamily="34" charset="0"/>
                <a:ea typeface="MiSans" pitchFamily="34" charset="-122"/>
                <a:cs typeface="MiSans" pitchFamily="34" charset="-120"/>
              </a:rPr>
              <a:t>above-average KS2 results</a:t>
            </a:r>
            <a:pPr>
              <a:lnSpc>
                <a:spcPct val="140000"/>
              </a:lnSpc>
            </a:pPr>
            <a:r>
              <a:rPr lang="en-US" sz="1000" dirty="0">
                <a:solidFill>
                  <a:srgbClr val="2D3436"/>
                </a:solidFill>
                <a:latin typeface="MiSans" pitchFamily="34" charset="0"/>
                <a:ea typeface="MiSans" pitchFamily="34" charset="-122"/>
                <a:cs typeface="MiSans" pitchFamily="34" charset="-120"/>
              </a:rPr>
              <a:t> and achieves </a:t>
            </a:r>
            <a:pPr>
              <a:lnSpc>
                <a:spcPct val="140000"/>
              </a:lnSpc>
            </a:pPr>
            <a:r>
              <a:rPr lang="en-US" sz="1000" b="1" dirty="0">
                <a:solidFill>
                  <a:srgbClr val="2D3436"/>
                </a:solidFill>
                <a:latin typeface="MiSans" pitchFamily="34" charset="0"/>
                <a:ea typeface="MiSans" pitchFamily="34" charset="-122"/>
                <a:cs typeface="MiSans" pitchFamily="34" charset="-120"/>
              </a:rPr>
              <a:t>average GCSEs</a:t>
            </a:r>
            <a:pPr>
              <a:lnSpc>
                <a:spcPct val="140000"/>
              </a:lnSpc>
            </a:pPr>
            <a:r>
              <a:rPr lang="en-US" sz="1000" dirty="0">
                <a:solidFill>
                  <a:srgbClr val="2D3436"/>
                </a:solidFill>
                <a:latin typeface="MiSans" pitchFamily="34" charset="0"/>
                <a:ea typeface="MiSans" pitchFamily="34" charset="-122"/>
                <a:cs typeface="MiSans" pitchFamily="34" charset="-120"/>
              </a:rPr>
              <a:t> has made </a:t>
            </a:r>
            <a:pPr>
              <a:lnSpc>
                <a:spcPct val="140000"/>
              </a:lnSpc>
            </a:pPr>
            <a:r>
              <a:rPr lang="en-US" sz="1000" dirty="0">
                <a:solidFill>
                  <a:srgbClr val="2D3436"/>
                </a:solidFill>
                <a:highlight>
                  <a:srgbClr val="FFC9C9">
                    <a:alpha val="100000"/>
                  </a:srgbClr>
                </a:highlight>
                <a:latin typeface="MiSans" pitchFamily="34" charset="0"/>
                <a:ea typeface="MiSans" pitchFamily="34" charset="-122"/>
                <a:cs typeface="MiSans" pitchFamily="34" charset="-120"/>
              </a:rPr>
              <a:t>negative progress </a:t>
            </a:r>
            <a:pPr>
              <a:lnSpc>
                <a:spcPct val="140000"/>
              </a:lnSpc>
            </a:pPr>
            <a:r>
              <a:rPr lang="en-US" sz="1000" dirty="0">
                <a:solidFill>
                  <a:srgbClr val="2D3436"/>
                </a:solidFill>
                <a:latin typeface="MiSans" pitchFamily="34" charset="0"/>
                <a:ea typeface="MiSans" pitchFamily="34" charset="-122"/>
                <a:cs typeface="MiSans" pitchFamily="34" charset="-120"/>
              </a:rPr>
              <a:t>— they underperformed their prediction.</a:t>
            </a:r>
            <a:endParaRPr lang="en-US" sz="1600" dirty="0"/>
          </a:p>
        </p:txBody>
      </p:sp>
      <p:sp>
        <p:nvSpPr>
          <p:cNvPr id="21" name="Text 19"/>
          <p:cNvSpPr/>
          <p:nvPr/>
        </p:nvSpPr>
        <p:spPr>
          <a:xfrm>
            <a:off x="539750" y="5794375"/>
            <a:ext cx="53340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pupil who arrives with </a:t>
            </a:r>
            <a:pPr>
              <a:lnSpc>
                <a:spcPct val="140000"/>
              </a:lnSpc>
            </a:pPr>
            <a:r>
              <a:rPr lang="en-US" sz="1000" b="1" dirty="0">
                <a:solidFill>
                  <a:srgbClr val="2D3436"/>
                </a:solidFill>
                <a:latin typeface="MiSans" pitchFamily="34" charset="0"/>
                <a:ea typeface="MiSans" pitchFamily="34" charset="-122"/>
                <a:cs typeface="MiSans" pitchFamily="34" charset="-120"/>
              </a:rPr>
              <a:t>below-average KS2 results</a:t>
            </a:r>
            <a:pPr>
              <a:lnSpc>
                <a:spcPct val="140000"/>
              </a:lnSpc>
            </a:pPr>
            <a:r>
              <a:rPr lang="en-US" sz="1000" dirty="0">
                <a:solidFill>
                  <a:srgbClr val="2D3436"/>
                </a:solidFill>
                <a:latin typeface="MiSans" pitchFamily="34" charset="0"/>
                <a:ea typeface="MiSans" pitchFamily="34" charset="-122"/>
                <a:cs typeface="MiSans" pitchFamily="34" charset="-120"/>
              </a:rPr>
              <a:t> and achieves </a:t>
            </a:r>
            <a:pPr>
              <a:lnSpc>
                <a:spcPct val="140000"/>
              </a:lnSpc>
            </a:pPr>
            <a:r>
              <a:rPr lang="en-US" sz="1000" b="1" dirty="0">
                <a:solidFill>
                  <a:srgbClr val="2D3436"/>
                </a:solidFill>
                <a:latin typeface="MiSans" pitchFamily="34" charset="0"/>
                <a:ea typeface="MiSans" pitchFamily="34" charset="-122"/>
                <a:cs typeface="MiSans" pitchFamily="34" charset="-120"/>
              </a:rPr>
              <a:t>average GCSEs</a:t>
            </a:r>
            <a:pPr>
              <a:lnSpc>
                <a:spcPct val="140000"/>
              </a:lnSpc>
            </a:pPr>
            <a:r>
              <a:rPr lang="en-US" sz="1000" dirty="0">
                <a:solidFill>
                  <a:srgbClr val="2D3436"/>
                </a:solidFill>
                <a:latin typeface="MiSans" pitchFamily="34" charset="0"/>
                <a:ea typeface="MiSans" pitchFamily="34" charset="-122"/>
                <a:cs typeface="MiSans" pitchFamily="34" charset="-120"/>
              </a:rPr>
              <a:t> has made </a:t>
            </a:r>
            <a:pPr>
              <a:lnSpc>
                <a:spcPct val="140000"/>
              </a:lnSpc>
            </a:pPr>
            <a:r>
              <a:rPr lang="en-US" sz="1000" dirty="0">
                <a:solidFill>
                  <a:srgbClr val="2D3436"/>
                </a:solidFill>
                <a:highlight>
                  <a:srgbClr val="B9F8CF">
                    <a:alpha val="100000"/>
                  </a:srgbClr>
                </a:highlight>
                <a:latin typeface="MiSans" pitchFamily="34" charset="0"/>
                <a:ea typeface="MiSans" pitchFamily="34" charset="-122"/>
                <a:cs typeface="MiSans" pitchFamily="34" charset="-120"/>
              </a:rPr>
              <a:t>strongly positive progress </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22" name="Text 20"/>
          <p:cNvSpPr/>
          <p:nvPr/>
        </p:nvSpPr>
        <p:spPr>
          <a:xfrm>
            <a:off x="444500" y="6397625"/>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a:t>
            </a:r>
            <a:pPr>
              <a:lnSpc>
                <a:spcPct val="140000"/>
              </a:lnSpc>
            </a:pPr>
            <a:r>
              <a:rPr lang="en-US" sz="1000" b="1" dirty="0">
                <a:solidFill>
                  <a:srgbClr val="2D3436"/>
                </a:solidFill>
                <a:latin typeface="MiSans" pitchFamily="34" charset="0"/>
                <a:ea typeface="MiSans" pitchFamily="34" charset="-122"/>
                <a:cs typeface="MiSans" pitchFamily="34" charset="-120"/>
              </a:rPr>
              <a:t>absolute grade is not the point</a:t>
            </a:r>
            <a:pPr>
              <a:lnSpc>
                <a:spcPct val="140000"/>
              </a:lnSpc>
            </a:pPr>
            <a:r>
              <a:rPr lang="en-US" sz="1000" dirty="0">
                <a:solidFill>
                  <a:srgbClr val="2D3436"/>
                </a:solidFill>
                <a:latin typeface="MiSans" pitchFamily="34" charset="0"/>
                <a:ea typeface="MiSans" pitchFamily="34" charset="-122"/>
                <a:cs typeface="MiSans" pitchFamily="34" charset="-120"/>
              </a:rPr>
              <a:t>. The distance from baseline is the point.</a:t>
            </a:r>
            <a:endParaRPr lang="en-US" sz="1600" dirty="0"/>
          </a:p>
        </p:txBody>
      </p:sp>
      <p:sp>
        <p:nvSpPr>
          <p:cNvPr id="23" name="Shape 21"/>
          <p:cNvSpPr/>
          <p:nvPr/>
        </p:nvSpPr>
        <p:spPr>
          <a:xfrm>
            <a:off x="6159500" y="1016000"/>
            <a:ext cx="5715000" cy="2587625"/>
          </a:xfrm>
          <a:custGeom>
            <a:avLst/>
            <a:gdLst/>
            <a:ahLst/>
            <a:cxnLst/>
            <a:rect l="l" t="t" r="r" b="b"/>
            <a:pathLst>
              <a:path w="5715000" h="2587625">
                <a:moveTo>
                  <a:pt x="0" y="0"/>
                </a:moveTo>
                <a:lnTo>
                  <a:pt x="5715000" y="0"/>
                </a:lnTo>
                <a:lnTo>
                  <a:pt x="5715000" y="2587625"/>
                </a:lnTo>
                <a:lnTo>
                  <a:pt x="0" y="2587625"/>
                </a:lnTo>
                <a:lnTo>
                  <a:pt x="0" y="0"/>
                </a:lnTo>
                <a:close/>
              </a:path>
            </a:pathLst>
          </a:custGeom>
          <a:solidFill>
            <a:srgbClr val="1E3A5F"/>
          </a:solidFill>
          <a:ln/>
        </p:spPr>
      </p:sp>
      <p:sp>
        <p:nvSpPr>
          <p:cNvPr id="24" name="Text 22"/>
          <p:cNvSpPr/>
          <p:nvPr/>
        </p:nvSpPr>
        <p:spPr>
          <a:xfrm>
            <a:off x="6286500" y="1143000"/>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Why This Determines What Counts as Impact</a:t>
            </a:r>
            <a:endParaRPr lang="en-US" sz="1600" dirty="0"/>
          </a:p>
        </p:txBody>
      </p:sp>
      <p:sp>
        <p:nvSpPr>
          <p:cNvPr id="25" name="Text 23"/>
          <p:cNvSpPr/>
          <p:nvPr/>
        </p:nvSpPr>
        <p:spPr>
          <a:xfrm>
            <a:off x="6286500" y="1460500"/>
            <a:ext cx="5524500" cy="20637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This distinction determines </a:t>
            </a:r>
            <a:pPr>
              <a:lnSpc>
                <a:spcPct val="140000"/>
              </a:lnSpc>
            </a:pPr>
            <a:r>
              <a:rPr lang="en-US" sz="1000" b="1" dirty="0">
                <a:solidFill>
                  <a:srgbClr val="F8F9FA"/>
                </a:solidFill>
                <a:latin typeface="MiSans" pitchFamily="34" charset="0"/>
                <a:ea typeface="MiSans" pitchFamily="34" charset="-122"/>
                <a:cs typeface="MiSans" pitchFamily="34" charset="-120"/>
              </a:rPr>
              <a:t>what counts as programme impact and what does not</a:t>
            </a:r>
            <a:pPr>
              <a:lnSpc>
                <a:spcPct val="140000"/>
              </a:lnSpc>
            </a:pPr>
            <a:r>
              <a:rPr lang="en-US" sz="1000" dirty="0">
                <a:solidFill>
                  <a:srgbClr val="F8F9FA"/>
                </a:solidFill>
                <a:latin typeface="MiSans" pitchFamily="34" charset="0"/>
                <a:ea typeface="MiSans" pitchFamily="34" charset="-122"/>
                <a:cs typeface="MiSans" pitchFamily="34" charset="-120"/>
              </a:rPr>
              <a:t>:</a:t>
            </a:r>
            <a:endParaRPr lang="en-US" sz="1600" dirty="0"/>
          </a:p>
        </p:txBody>
      </p:sp>
      <p:sp>
        <p:nvSpPr>
          <p:cNvPr id="26" name="Shape 24"/>
          <p:cNvSpPr/>
          <p:nvPr/>
        </p:nvSpPr>
        <p:spPr>
          <a:xfrm>
            <a:off x="6286500" y="1762125"/>
            <a:ext cx="5461000" cy="571500"/>
          </a:xfrm>
          <a:custGeom>
            <a:avLst/>
            <a:gdLst/>
            <a:ahLst/>
            <a:cxnLst/>
            <a:rect l="l" t="t" r="r" b="b"/>
            <a:pathLst>
              <a:path w="5461000" h="571500">
                <a:moveTo>
                  <a:pt x="0" y="0"/>
                </a:moveTo>
                <a:lnTo>
                  <a:pt x="5461000" y="0"/>
                </a:lnTo>
                <a:lnTo>
                  <a:pt x="5461000" y="571500"/>
                </a:lnTo>
                <a:lnTo>
                  <a:pt x="0" y="571500"/>
                </a:lnTo>
                <a:lnTo>
                  <a:pt x="0" y="0"/>
                </a:lnTo>
                <a:close/>
              </a:path>
            </a:pathLst>
          </a:custGeom>
          <a:solidFill>
            <a:srgbClr val="F8F9FA">
              <a:alpha val="10196"/>
            </a:srgbClr>
          </a:solidFill>
          <a:ln/>
        </p:spPr>
      </p:sp>
      <p:sp>
        <p:nvSpPr>
          <p:cNvPr id="27" name="Text 25"/>
          <p:cNvSpPr/>
          <p:nvPr/>
        </p:nvSpPr>
        <p:spPr>
          <a:xfrm>
            <a:off x="6381750" y="1857375"/>
            <a:ext cx="5334000" cy="381000"/>
          </a:xfrm>
          <a:prstGeom prst="rect">
            <a:avLst/>
          </a:prstGeom>
          <a:noFill/>
          <a:ln/>
        </p:spPr>
        <p:txBody>
          <a:bodyPr wrap="square" lIns="0" tIns="0" rIns="0" bIns="0" rtlCol="0" anchor="ctr"/>
          <a:lstStyle/>
          <a:p>
            <a:pPr>
              <a:lnSpc>
                <a:spcPct val="130000"/>
              </a:lnSpc>
            </a:pPr>
            <a:r>
              <a:rPr lang="en-US" sz="1000" dirty="0">
                <a:solidFill>
                  <a:srgbClr val="F8F9FA"/>
                </a:solidFill>
                <a:latin typeface="MiSans" pitchFamily="34" charset="0"/>
                <a:ea typeface="MiSans" pitchFamily="34" charset="-122"/>
                <a:cs typeface="MiSans" pitchFamily="34" charset="-120"/>
              </a:rPr>
              <a:t>A school serving </a:t>
            </a:r>
            <a:pPr>
              <a:lnSpc>
                <a:spcPct val="130000"/>
              </a:lnSpc>
            </a:pPr>
            <a:r>
              <a:rPr lang="en-US" sz="1000" b="1" dirty="0">
                <a:solidFill>
                  <a:srgbClr val="F8F9FA"/>
                </a:solidFill>
                <a:latin typeface="MiSans" pitchFamily="34" charset="0"/>
                <a:ea typeface="MiSans" pitchFamily="34" charset="-122"/>
                <a:cs typeface="MiSans" pitchFamily="34" charset="-120"/>
              </a:rPr>
              <a:t>high-attaining intakes</a:t>
            </a:r>
            <a:pPr>
              <a:lnSpc>
                <a:spcPct val="130000"/>
              </a:lnSpc>
            </a:pPr>
            <a:r>
              <a:rPr lang="en-US" sz="1000" dirty="0">
                <a:solidFill>
                  <a:srgbClr val="F8F9FA"/>
                </a:solidFill>
                <a:latin typeface="MiSans" pitchFamily="34" charset="0"/>
                <a:ea typeface="MiSans" pitchFamily="34" charset="-122"/>
                <a:cs typeface="MiSans" pitchFamily="34" charset="-120"/>
              </a:rPr>
              <a:t> will tend to produce good absolute outcomes </a:t>
            </a:r>
            <a:pPr>
              <a:lnSpc>
                <a:spcPct val="130000"/>
              </a:lnSpc>
            </a:pPr>
            <a:r>
              <a:rPr lang="en-US" sz="1000" b="1" dirty="0">
                <a:solidFill>
                  <a:srgbClr val="F8F9FA"/>
                </a:solidFill>
                <a:latin typeface="MiSans" pitchFamily="34" charset="0"/>
                <a:ea typeface="MiSans" pitchFamily="34" charset="-122"/>
                <a:cs typeface="MiSans" pitchFamily="34" charset="-120"/>
              </a:rPr>
              <a:t>regardless of programme quality</a:t>
            </a:r>
            <a:endParaRPr lang="en-US" sz="1600" dirty="0"/>
          </a:p>
        </p:txBody>
      </p:sp>
      <p:sp>
        <p:nvSpPr>
          <p:cNvPr id="28" name="Shape 26"/>
          <p:cNvSpPr/>
          <p:nvPr/>
        </p:nvSpPr>
        <p:spPr>
          <a:xfrm>
            <a:off x="6286500" y="2397125"/>
            <a:ext cx="5461000" cy="571500"/>
          </a:xfrm>
          <a:custGeom>
            <a:avLst/>
            <a:gdLst/>
            <a:ahLst/>
            <a:cxnLst/>
            <a:rect l="l" t="t" r="r" b="b"/>
            <a:pathLst>
              <a:path w="5461000" h="571500">
                <a:moveTo>
                  <a:pt x="0" y="0"/>
                </a:moveTo>
                <a:lnTo>
                  <a:pt x="5461000" y="0"/>
                </a:lnTo>
                <a:lnTo>
                  <a:pt x="5461000" y="571500"/>
                </a:lnTo>
                <a:lnTo>
                  <a:pt x="0" y="571500"/>
                </a:lnTo>
                <a:lnTo>
                  <a:pt x="0" y="0"/>
                </a:lnTo>
                <a:close/>
              </a:path>
            </a:pathLst>
          </a:custGeom>
          <a:solidFill>
            <a:srgbClr val="F8F9FA">
              <a:alpha val="10196"/>
            </a:srgbClr>
          </a:solidFill>
          <a:ln/>
        </p:spPr>
      </p:sp>
      <p:sp>
        <p:nvSpPr>
          <p:cNvPr id="29" name="Text 27"/>
          <p:cNvSpPr/>
          <p:nvPr/>
        </p:nvSpPr>
        <p:spPr>
          <a:xfrm>
            <a:off x="6381750" y="2492375"/>
            <a:ext cx="5334000" cy="381000"/>
          </a:xfrm>
          <a:prstGeom prst="rect">
            <a:avLst/>
          </a:prstGeom>
          <a:noFill/>
          <a:ln/>
        </p:spPr>
        <p:txBody>
          <a:bodyPr wrap="square" lIns="0" tIns="0" rIns="0" bIns="0" rtlCol="0" anchor="ctr"/>
          <a:lstStyle/>
          <a:p>
            <a:pPr>
              <a:lnSpc>
                <a:spcPct val="130000"/>
              </a:lnSpc>
            </a:pPr>
            <a:r>
              <a:rPr lang="en-US" sz="1000" dirty="0">
                <a:solidFill>
                  <a:srgbClr val="F8F9FA"/>
                </a:solidFill>
                <a:latin typeface="MiSans" pitchFamily="34" charset="0"/>
                <a:ea typeface="MiSans" pitchFamily="34" charset="-122"/>
                <a:cs typeface="MiSans" pitchFamily="34" charset="-120"/>
              </a:rPr>
              <a:t>A school serving </a:t>
            </a:r>
            <a:pPr>
              <a:lnSpc>
                <a:spcPct val="130000"/>
              </a:lnSpc>
            </a:pPr>
            <a:r>
              <a:rPr lang="en-US" sz="1000" b="1" dirty="0">
                <a:solidFill>
                  <a:srgbClr val="F8F9FA"/>
                </a:solidFill>
                <a:latin typeface="MiSans" pitchFamily="34" charset="0"/>
                <a:ea typeface="MiSans" pitchFamily="34" charset="-122"/>
                <a:cs typeface="MiSans" pitchFamily="34" charset="-120"/>
              </a:rPr>
              <a:t>low-attaining intakes</a:t>
            </a:r>
            <a:pPr>
              <a:lnSpc>
                <a:spcPct val="130000"/>
              </a:lnSpc>
            </a:pPr>
            <a:r>
              <a:rPr lang="en-US" sz="1000" dirty="0">
                <a:solidFill>
                  <a:srgbClr val="F8F9FA"/>
                </a:solidFill>
                <a:latin typeface="MiSans" pitchFamily="34" charset="0"/>
                <a:ea typeface="MiSans" pitchFamily="34" charset="-122"/>
                <a:cs typeface="MiSans" pitchFamily="34" charset="-120"/>
              </a:rPr>
              <a:t> may produce apparently poor outcomes </a:t>
            </a:r>
            <a:pPr>
              <a:lnSpc>
                <a:spcPct val="130000"/>
              </a:lnSpc>
            </a:pPr>
            <a:r>
              <a:rPr lang="en-US" sz="1000" b="1" dirty="0">
                <a:solidFill>
                  <a:srgbClr val="F8F9FA"/>
                </a:solidFill>
                <a:latin typeface="MiSans" pitchFamily="34" charset="0"/>
                <a:ea typeface="MiSans" pitchFamily="34" charset="-122"/>
                <a:cs typeface="MiSans" pitchFamily="34" charset="-120"/>
              </a:rPr>
              <a:t>despite excellent programme delivery</a:t>
            </a:r>
            <a:endParaRPr lang="en-US" sz="1600" dirty="0"/>
          </a:p>
        </p:txBody>
      </p:sp>
      <p:sp>
        <p:nvSpPr>
          <p:cNvPr id="30" name="Text 28"/>
          <p:cNvSpPr/>
          <p:nvPr/>
        </p:nvSpPr>
        <p:spPr>
          <a:xfrm>
            <a:off x="6286500" y="3063875"/>
            <a:ext cx="55245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Failure to account for this is the source of </a:t>
            </a:r>
            <a:pPr>
              <a:lnSpc>
                <a:spcPct val="140000"/>
              </a:lnSpc>
            </a:pPr>
            <a:r>
              <a:rPr lang="en-US" sz="1000" b="1" dirty="0">
                <a:solidFill>
                  <a:srgbClr val="F8F9FA"/>
                </a:solidFill>
                <a:latin typeface="MiSans" pitchFamily="34" charset="0"/>
                <a:ea typeface="MiSans" pitchFamily="34" charset="-122"/>
                <a:cs typeface="MiSans" pitchFamily="34" charset="-120"/>
              </a:rPr>
              <a:t>most bad educational research and most bad reporting</a:t>
            </a:r>
            <a:pPr>
              <a:lnSpc>
                <a:spcPct val="140000"/>
              </a:lnSpc>
            </a:pPr>
            <a:r>
              <a:rPr lang="en-US" sz="1000" dirty="0">
                <a:solidFill>
                  <a:srgbClr val="F8F9FA"/>
                </a:solidFill>
                <a:latin typeface="MiSans" pitchFamily="34" charset="0"/>
                <a:ea typeface="MiSans" pitchFamily="34" charset="-122"/>
                <a:cs typeface="MiSans" pitchFamily="34" charset="-120"/>
              </a:rPr>
              <a:t>.</a:t>
            </a:r>
            <a:endParaRPr lang="en-US" sz="1600" dirty="0"/>
          </a:p>
        </p:txBody>
      </p:sp>
      <p:sp>
        <p:nvSpPr>
          <p:cNvPr id="31" name="Shape 29"/>
          <p:cNvSpPr/>
          <p:nvPr/>
        </p:nvSpPr>
        <p:spPr>
          <a:xfrm>
            <a:off x="6159500" y="3714750"/>
            <a:ext cx="5715000" cy="1952625"/>
          </a:xfrm>
          <a:custGeom>
            <a:avLst/>
            <a:gdLst/>
            <a:ahLst/>
            <a:cxnLst/>
            <a:rect l="l" t="t" r="r" b="b"/>
            <a:pathLst>
              <a:path w="5715000" h="1952625">
                <a:moveTo>
                  <a:pt x="0" y="0"/>
                </a:moveTo>
                <a:lnTo>
                  <a:pt x="5715000" y="0"/>
                </a:lnTo>
                <a:lnTo>
                  <a:pt x="5715000" y="1952625"/>
                </a:lnTo>
                <a:lnTo>
                  <a:pt x="0" y="1952625"/>
                </a:lnTo>
                <a:lnTo>
                  <a:pt x="0" y="0"/>
                </a:lnTo>
                <a:close/>
              </a:path>
            </a:pathLst>
          </a:custGeom>
          <a:solidFill>
            <a:srgbClr val="FFFFFF"/>
          </a:solidFill>
          <a:ln/>
        </p:spPr>
      </p:sp>
      <p:sp>
        <p:nvSpPr>
          <p:cNvPr id="32" name="Shape 30"/>
          <p:cNvSpPr/>
          <p:nvPr/>
        </p:nvSpPr>
        <p:spPr>
          <a:xfrm>
            <a:off x="6159500" y="3714750"/>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33" name="Text 31"/>
          <p:cNvSpPr/>
          <p:nvPr/>
        </p:nvSpPr>
        <p:spPr>
          <a:xfrm>
            <a:off x="6286500" y="3857625"/>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Baseline Choice</a:t>
            </a:r>
            <a:endParaRPr lang="en-US" sz="1600" dirty="0"/>
          </a:p>
        </p:txBody>
      </p:sp>
      <p:sp>
        <p:nvSpPr>
          <p:cNvPr id="34" name="Shape 32"/>
          <p:cNvSpPr/>
          <p:nvPr/>
        </p:nvSpPr>
        <p:spPr>
          <a:xfrm>
            <a:off x="6302375" y="4175125"/>
            <a:ext cx="5445125" cy="857250"/>
          </a:xfrm>
          <a:custGeom>
            <a:avLst/>
            <a:gdLst/>
            <a:ahLst/>
            <a:cxnLst/>
            <a:rect l="l" t="t" r="r" b="b"/>
            <a:pathLst>
              <a:path w="5445125" h="857250">
                <a:moveTo>
                  <a:pt x="0" y="0"/>
                </a:moveTo>
                <a:lnTo>
                  <a:pt x="5445125" y="0"/>
                </a:lnTo>
                <a:lnTo>
                  <a:pt x="5445125" y="857250"/>
                </a:lnTo>
                <a:lnTo>
                  <a:pt x="0" y="857250"/>
                </a:lnTo>
                <a:lnTo>
                  <a:pt x="0" y="0"/>
                </a:lnTo>
                <a:close/>
              </a:path>
            </a:pathLst>
          </a:custGeom>
          <a:solidFill>
            <a:srgbClr val="C49A2C">
              <a:alpha val="10196"/>
            </a:srgbClr>
          </a:solidFill>
          <a:ln/>
        </p:spPr>
      </p:sp>
      <p:sp>
        <p:nvSpPr>
          <p:cNvPr id="35" name="Shape 33"/>
          <p:cNvSpPr/>
          <p:nvPr/>
        </p:nvSpPr>
        <p:spPr>
          <a:xfrm>
            <a:off x="6302375" y="4175125"/>
            <a:ext cx="31750" cy="857250"/>
          </a:xfrm>
          <a:custGeom>
            <a:avLst/>
            <a:gdLst/>
            <a:ahLst/>
            <a:cxnLst/>
            <a:rect l="l" t="t" r="r" b="b"/>
            <a:pathLst>
              <a:path w="31750" h="857250">
                <a:moveTo>
                  <a:pt x="0" y="0"/>
                </a:moveTo>
                <a:lnTo>
                  <a:pt x="31750" y="0"/>
                </a:lnTo>
                <a:lnTo>
                  <a:pt x="31750" y="857250"/>
                </a:lnTo>
                <a:lnTo>
                  <a:pt x="0" y="857250"/>
                </a:lnTo>
                <a:lnTo>
                  <a:pt x="0" y="0"/>
                </a:lnTo>
                <a:close/>
              </a:path>
            </a:pathLst>
          </a:custGeom>
          <a:solidFill>
            <a:srgbClr val="C49A2C"/>
          </a:solidFill>
          <a:ln/>
        </p:spPr>
      </p:sp>
      <p:sp>
        <p:nvSpPr>
          <p:cNvPr id="36" name="Text 34"/>
          <p:cNvSpPr/>
          <p:nvPr/>
        </p:nvSpPr>
        <p:spPr>
          <a:xfrm>
            <a:off x="6413500" y="4270375"/>
            <a:ext cx="5302250" cy="412750"/>
          </a:xfrm>
          <a:prstGeom prst="rect">
            <a:avLst/>
          </a:prstGeom>
          <a:noFill/>
          <a:ln/>
        </p:spPr>
        <p:txBody>
          <a:bodyPr wrap="square" lIns="0" tIns="0" rIns="0" bIns="0" rtlCol="0" anchor="ctr"/>
          <a:lstStyle/>
          <a:p>
            <a:pPr>
              <a:lnSpc>
                <a:spcPct val="140000"/>
              </a:lnSpc>
            </a:pPr>
            <a:r>
              <a:rPr lang="en-US" sz="1000" dirty="0">
                <a:solidFill>
                  <a:srgbClr val="1E3A5F"/>
                </a:solidFill>
                <a:latin typeface="思源宋体" pitchFamily="34" charset="0"/>
                <a:ea typeface="思源宋体" pitchFamily="34" charset="-122"/>
                <a:cs typeface="思源宋体" pitchFamily="34" charset="-120"/>
              </a:rPr>
              <a:t>"The single most important methodological decision in any educational impact study is the choice of baseline. Everything else is commentary."</a:t>
            </a:r>
            <a:endParaRPr lang="en-US" sz="1600" dirty="0"/>
          </a:p>
        </p:txBody>
      </p:sp>
      <p:sp>
        <p:nvSpPr>
          <p:cNvPr id="37" name="Text 35"/>
          <p:cNvSpPr/>
          <p:nvPr/>
        </p:nvSpPr>
        <p:spPr>
          <a:xfrm>
            <a:off x="6350000" y="4746625"/>
            <a:ext cx="5302250" cy="190500"/>
          </a:xfrm>
          <a:prstGeom prst="rect">
            <a:avLst/>
          </a:prstGeom>
          <a:noFill/>
          <a:ln/>
        </p:spPr>
        <p:txBody>
          <a:bodyPr wrap="square" lIns="0" tIns="0" rIns="0" bIns="0" rtlCol="0" anchor="ctr"/>
          <a:lstStyle/>
          <a:p>
            <a:pPr algn="r">
              <a:lnSpc>
                <a:spcPct val="130000"/>
              </a:lnSpc>
            </a:pPr>
            <a:r>
              <a:rPr lang="en-US" sz="1000" dirty="0">
                <a:solidFill>
                  <a:srgbClr val="6C757D"/>
                </a:solidFill>
                <a:latin typeface="MiSans" pitchFamily="34" charset="0"/>
                <a:ea typeface="MiSans" pitchFamily="34" charset="-122"/>
                <a:cs typeface="MiSans" pitchFamily="34" charset="-120"/>
              </a:rPr>
              <a:t>— Hattie, J., Visible Learning (2009)</a:t>
            </a:r>
            <a:endParaRPr lang="en-US" sz="1600" dirty="0"/>
          </a:p>
        </p:txBody>
      </p:sp>
      <p:sp>
        <p:nvSpPr>
          <p:cNvPr id="38" name="Text 36"/>
          <p:cNvSpPr/>
          <p:nvPr/>
        </p:nvSpPr>
        <p:spPr>
          <a:xfrm>
            <a:off x="6286500" y="5127625"/>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MPI uses </a:t>
            </a:r>
            <a:pPr>
              <a:lnSpc>
                <a:spcPct val="140000"/>
              </a:lnSpc>
            </a:pPr>
            <a:r>
              <a:rPr lang="en-US" sz="1000" b="1" dirty="0">
                <a:solidFill>
                  <a:srgbClr val="2D3436"/>
                </a:solidFill>
                <a:latin typeface="MiSans" pitchFamily="34" charset="0"/>
                <a:ea typeface="MiSans" pitchFamily="34" charset="-122"/>
                <a:cs typeface="MiSans" pitchFamily="34" charset="-120"/>
              </a:rPr>
              <a:t>KS2 attainment data as the baseline</a:t>
            </a:r>
            <a:pPr>
              <a:lnSpc>
                <a:spcPct val="140000"/>
              </a:lnSpc>
            </a:pPr>
            <a:r>
              <a:rPr lang="en-US" sz="1000" dirty="0">
                <a:solidFill>
                  <a:srgbClr val="2D3436"/>
                </a:solidFill>
                <a:latin typeface="MiSans" pitchFamily="34" charset="0"/>
                <a:ea typeface="MiSans" pitchFamily="34" charset="-122"/>
                <a:cs typeface="MiSans" pitchFamily="34" charset="-120"/>
              </a:rPr>
              <a:t>, supplemented by the Entry Assessment Tool (EAT), to establish a composite baseline score for each pupil.</a:t>
            </a:r>
            <a:endParaRPr lang="en-US" sz="1600" dirty="0"/>
          </a:p>
        </p:txBody>
      </p:sp>
      <p:sp>
        <p:nvSpPr>
          <p:cNvPr id="39" name="Shape 37"/>
          <p:cNvSpPr/>
          <p:nvPr/>
        </p:nvSpPr>
        <p:spPr>
          <a:xfrm>
            <a:off x="6175375" y="5762625"/>
            <a:ext cx="5699125" cy="603250"/>
          </a:xfrm>
          <a:custGeom>
            <a:avLst/>
            <a:gdLst/>
            <a:ahLst/>
            <a:cxnLst/>
            <a:rect l="l" t="t" r="r" b="b"/>
            <a:pathLst>
              <a:path w="5699125" h="603250">
                <a:moveTo>
                  <a:pt x="0" y="0"/>
                </a:moveTo>
                <a:lnTo>
                  <a:pt x="5699125" y="0"/>
                </a:lnTo>
                <a:lnTo>
                  <a:pt x="5699125" y="603250"/>
                </a:lnTo>
                <a:lnTo>
                  <a:pt x="0" y="603250"/>
                </a:lnTo>
                <a:lnTo>
                  <a:pt x="0" y="0"/>
                </a:lnTo>
                <a:close/>
              </a:path>
            </a:pathLst>
          </a:custGeom>
          <a:solidFill>
            <a:srgbClr val="C49A2C">
              <a:alpha val="10196"/>
            </a:srgbClr>
          </a:solidFill>
          <a:ln/>
        </p:spPr>
      </p:sp>
      <p:sp>
        <p:nvSpPr>
          <p:cNvPr id="40" name="Shape 38"/>
          <p:cNvSpPr/>
          <p:nvPr/>
        </p:nvSpPr>
        <p:spPr>
          <a:xfrm>
            <a:off x="6175375" y="5762625"/>
            <a:ext cx="31750" cy="603250"/>
          </a:xfrm>
          <a:custGeom>
            <a:avLst/>
            <a:gdLst/>
            <a:ahLst/>
            <a:cxnLst/>
            <a:rect l="l" t="t" r="r" b="b"/>
            <a:pathLst>
              <a:path w="31750" h="603250">
                <a:moveTo>
                  <a:pt x="0" y="0"/>
                </a:moveTo>
                <a:lnTo>
                  <a:pt x="31750" y="0"/>
                </a:lnTo>
                <a:lnTo>
                  <a:pt x="31750" y="603250"/>
                </a:lnTo>
                <a:lnTo>
                  <a:pt x="0" y="603250"/>
                </a:lnTo>
                <a:lnTo>
                  <a:pt x="0" y="0"/>
                </a:lnTo>
                <a:close/>
              </a:path>
            </a:pathLst>
          </a:custGeom>
          <a:solidFill>
            <a:srgbClr val="C49A2C"/>
          </a:solidFill>
          <a:ln/>
        </p:spPr>
      </p:sp>
      <p:sp>
        <p:nvSpPr>
          <p:cNvPr id="41" name="Shape 39"/>
          <p:cNvSpPr/>
          <p:nvPr/>
        </p:nvSpPr>
        <p:spPr>
          <a:xfrm>
            <a:off x="6318250" y="5901531"/>
            <a:ext cx="95250" cy="127000"/>
          </a:xfrm>
          <a:custGeom>
            <a:avLst/>
            <a:gdLst/>
            <a:ahLst/>
            <a:cxnLst/>
            <a:rect l="l" t="t" r="r" b="b"/>
            <a:pathLst>
              <a:path w="95250" h="127000">
                <a:moveTo>
                  <a:pt x="72653" y="95250"/>
                </a:moveTo>
                <a:cubicBezTo>
                  <a:pt x="74464" y="89719"/>
                  <a:pt x="78085" y="84708"/>
                  <a:pt x="82178" y="80392"/>
                </a:cubicBezTo>
                <a:cubicBezTo>
                  <a:pt x="90289" y="71859"/>
                  <a:pt x="95250" y="60325"/>
                  <a:pt x="95250" y="47625"/>
                </a:cubicBezTo>
                <a:cubicBezTo>
                  <a:pt x="95250" y="21332"/>
                  <a:pt x="73918" y="0"/>
                  <a:pt x="47625" y="0"/>
                </a:cubicBezTo>
                <a:cubicBezTo>
                  <a:pt x="21332" y="0"/>
                  <a:pt x="0" y="21332"/>
                  <a:pt x="0" y="47625"/>
                </a:cubicBezTo>
                <a:cubicBezTo>
                  <a:pt x="0" y="60325"/>
                  <a:pt x="4961" y="71859"/>
                  <a:pt x="13072" y="80392"/>
                </a:cubicBezTo>
                <a:cubicBezTo>
                  <a:pt x="17165" y="84708"/>
                  <a:pt x="20811" y="89719"/>
                  <a:pt x="22597" y="95250"/>
                </a:cubicBezTo>
                <a:lnTo>
                  <a:pt x="72628" y="95250"/>
                </a:lnTo>
                <a:close/>
                <a:moveTo>
                  <a:pt x="71438" y="107156"/>
                </a:moveTo>
                <a:lnTo>
                  <a:pt x="23812" y="107156"/>
                </a:lnTo>
                <a:lnTo>
                  <a:pt x="23812" y="111125"/>
                </a:lnTo>
                <a:cubicBezTo>
                  <a:pt x="23812" y="122089"/>
                  <a:pt x="32693" y="130969"/>
                  <a:pt x="43656" y="130969"/>
                </a:cubicBezTo>
                <a:lnTo>
                  <a:pt x="51594" y="130969"/>
                </a:lnTo>
                <a:cubicBezTo>
                  <a:pt x="62557" y="130969"/>
                  <a:pt x="71438" y="122089"/>
                  <a:pt x="71438" y="111125"/>
                </a:cubicBezTo>
                <a:lnTo>
                  <a:pt x="71438" y="107156"/>
                </a:lnTo>
                <a:close/>
                <a:moveTo>
                  <a:pt x="45641" y="27781"/>
                </a:moveTo>
                <a:cubicBezTo>
                  <a:pt x="35768" y="27781"/>
                  <a:pt x="27781" y="35768"/>
                  <a:pt x="27781" y="45641"/>
                </a:cubicBezTo>
                <a:cubicBezTo>
                  <a:pt x="27781" y="48940"/>
                  <a:pt x="25127" y="51594"/>
                  <a:pt x="21828" y="51594"/>
                </a:cubicBezTo>
                <a:cubicBezTo>
                  <a:pt x="18529" y="51594"/>
                  <a:pt x="15875" y="48940"/>
                  <a:pt x="15875" y="45641"/>
                </a:cubicBezTo>
                <a:cubicBezTo>
                  <a:pt x="15875" y="29195"/>
                  <a:pt x="29195" y="15875"/>
                  <a:pt x="45641" y="15875"/>
                </a:cubicBezTo>
                <a:cubicBezTo>
                  <a:pt x="48940" y="15875"/>
                  <a:pt x="51594" y="18529"/>
                  <a:pt x="51594" y="21828"/>
                </a:cubicBezTo>
                <a:cubicBezTo>
                  <a:pt x="51594" y="25127"/>
                  <a:pt x="48940" y="27781"/>
                  <a:pt x="45641" y="27781"/>
                </a:cubicBezTo>
                <a:close/>
              </a:path>
            </a:pathLst>
          </a:custGeom>
          <a:solidFill>
            <a:srgbClr val="C49A2C"/>
          </a:solidFill>
          <a:ln/>
        </p:spPr>
      </p:sp>
      <p:sp>
        <p:nvSpPr>
          <p:cNvPr id="42" name="Text 40"/>
          <p:cNvSpPr/>
          <p:nvPr/>
        </p:nvSpPr>
        <p:spPr>
          <a:xfrm>
            <a:off x="6484938" y="5857875"/>
            <a:ext cx="5357813" cy="412750"/>
          </a:xfrm>
          <a:prstGeom prst="rect">
            <a:avLst/>
          </a:prstGeom>
          <a:noFill/>
          <a:ln/>
        </p:spPr>
        <p:txBody>
          <a:bodyPr wrap="square" lIns="0" tIns="0" rIns="0" bIns="0" rtlCol="0" anchor="ctr"/>
          <a:lstStyle/>
          <a:p>
            <a:pPr>
              <a:lnSpc>
                <a:spcPct val="140000"/>
              </a:lnSpc>
            </a:pPr>
            <a:r>
              <a:rPr lang="en-US" sz="1000" b="1" dirty="0">
                <a:solidFill>
                  <a:srgbClr val="1E3A5F"/>
                </a:solidFill>
                <a:latin typeface="MiSans" pitchFamily="34" charset="0"/>
                <a:ea typeface="MiSans" pitchFamily="34" charset="-122"/>
                <a:cs typeface="MiSans" pitchFamily="34" charset="-120"/>
              </a:rPr>
              <a:t>Practical Implication:</a:t>
            </a:r>
            <a:pPr>
              <a:lnSpc>
                <a:spcPct val="140000"/>
              </a:lnSpc>
            </a:pPr>
            <a:r>
              <a:rPr lang="en-US" sz="1000" dirty="0">
                <a:solidFill>
                  <a:srgbClr val="1E3A5F"/>
                </a:solidFill>
                <a:latin typeface="MiSans" pitchFamily="34" charset="0"/>
                <a:ea typeface="MiSans" pitchFamily="34" charset="-122"/>
                <a:cs typeface="MiSans" pitchFamily="34" charset="-120"/>
              </a:rPr>
              <a:t> Programme impact should be evaluated using </a:t>
            </a:r>
            <a:pPr>
              <a:lnSpc>
                <a:spcPct val="140000"/>
              </a:lnSpc>
            </a:pPr>
            <a:r>
              <a:rPr lang="en-US" sz="1000" b="1" dirty="0">
                <a:solidFill>
                  <a:srgbClr val="1E3A5F"/>
                </a:solidFill>
                <a:latin typeface="MiSans" pitchFamily="34" charset="0"/>
                <a:ea typeface="MiSans" pitchFamily="34" charset="-122"/>
                <a:cs typeface="MiSans" pitchFamily="34" charset="-120"/>
              </a:rPr>
              <a:t>progress measures</a:t>
            </a:r>
            <a:pPr>
              <a:lnSpc>
                <a:spcPct val="140000"/>
              </a:lnSpc>
            </a:pPr>
            <a:r>
              <a:rPr lang="en-US" sz="1000" dirty="0">
                <a:solidFill>
                  <a:srgbClr val="1E3A5F"/>
                </a:solidFill>
                <a:latin typeface="MiSans" pitchFamily="34" charset="0"/>
                <a:ea typeface="MiSans" pitchFamily="34" charset="-122"/>
                <a:cs typeface="MiSans" pitchFamily="34" charset="-120"/>
              </a:rPr>
              <a:t>, not attainment measures. The MPI's calibrated progress delta is the appropriate metric.</a:t>
            </a:r>
            <a:endParaRPr lang="en-US" sz="16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p:bgPr>
    </p:bg>
    <p:spTree>
      <p:nvGrpSpPr>
        <p:cNvPr id="1" name=""/>
        <p:cNvGrpSpPr/>
        <p:nvPr/>
      </p:nvGrpSpPr>
      <p:grpSpPr>
        <a:xfrm>
          <a:off x="0" y="0"/>
          <a:ext cx="0" cy="0"/>
          <a:chOff x="0" y="0"/>
          <a:chExt cx="0" cy="0"/>
        </a:xfrm>
      </p:grpSpPr>
      <p:pic>
        <p:nvPicPr>
          <p:cNvPr id="2" name="Image 0" descr="https://images.stockcake.com/public/e/f/3/ef308318-1f64-472a-b4a2-4610f7d18966/geometric-corporate-pattern-stockcake.jpg">    </p:cNvPr>
          <p:cNvPicPr>
            <a:picLocks noChangeAspect="1"/>
          </p:cNvPicPr>
          <p:nvPr/>
        </p:nvPicPr>
        <p:blipFill>
          <a:blip r:embed="rId1">
            <a:alphaModFix amt="1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E3A5F">
                  <a:alpha val="95000"/>
                </a:srgbClr>
              </a:gs>
              <a:gs pos="100000">
                <a:srgbClr val="1E3A5F">
                  <a:alpha val="85000"/>
                </a:srgbClr>
              </a:gs>
            </a:gsLst>
            <a:lin ang="0" scaled="1"/>
          </a:gradFill>
          <a:ln/>
        </p:spPr>
      </p:sp>
      <p:sp>
        <p:nvSpPr>
          <p:cNvPr id="4" name="Shape 1"/>
          <p:cNvSpPr/>
          <p:nvPr/>
        </p:nvSpPr>
        <p:spPr>
          <a:xfrm>
            <a:off x="381000" y="1438275"/>
            <a:ext cx="1400175" cy="381000"/>
          </a:xfrm>
          <a:custGeom>
            <a:avLst/>
            <a:gdLst/>
            <a:ahLst/>
            <a:cxnLst/>
            <a:rect l="l" t="t" r="r" b="b"/>
            <a:pathLst>
              <a:path w="1400175" h="381000">
                <a:moveTo>
                  <a:pt x="0" y="0"/>
                </a:moveTo>
                <a:lnTo>
                  <a:pt x="1400175" y="0"/>
                </a:lnTo>
                <a:lnTo>
                  <a:pt x="1400175" y="381000"/>
                </a:lnTo>
                <a:lnTo>
                  <a:pt x="0" y="381000"/>
                </a:lnTo>
                <a:lnTo>
                  <a:pt x="0" y="0"/>
                </a:lnTo>
                <a:close/>
              </a:path>
            </a:pathLst>
          </a:custGeom>
          <a:solidFill>
            <a:srgbClr val="C49A2C"/>
          </a:solidFill>
          <a:ln/>
        </p:spPr>
      </p:sp>
      <p:sp>
        <p:nvSpPr>
          <p:cNvPr id="5" name="Text 2"/>
          <p:cNvSpPr/>
          <p:nvPr/>
        </p:nvSpPr>
        <p:spPr>
          <a:xfrm>
            <a:off x="381000" y="1438275"/>
            <a:ext cx="1476375" cy="381000"/>
          </a:xfrm>
          <a:prstGeom prst="rect">
            <a:avLst/>
          </a:prstGeom>
          <a:noFill/>
          <a:ln/>
        </p:spPr>
        <p:txBody>
          <a:bodyPr wrap="square" lIns="190500" tIns="76200" rIns="190500" bIns="76200" rtlCol="0" anchor="ctr"/>
          <a:lstStyle/>
          <a:p>
            <a:pPr>
              <a:lnSpc>
                <a:spcPct val="130000"/>
              </a:lnSpc>
            </a:pPr>
            <a:r>
              <a:rPr lang="en-US" sz="1200" b="1" spc="120" kern="0" dirty="0">
                <a:solidFill>
                  <a:srgbClr val="F8F9FA"/>
                </a:solidFill>
                <a:latin typeface="MiSans" pitchFamily="34" charset="0"/>
                <a:ea typeface="MiSans" pitchFamily="34" charset="-122"/>
                <a:cs typeface="MiSans" pitchFamily="34" charset="-120"/>
              </a:rPr>
              <a:t>SECTION IV</a:t>
            </a:r>
            <a:endParaRPr lang="en-US" sz="1600" dirty="0"/>
          </a:p>
        </p:txBody>
      </p:sp>
      <p:sp>
        <p:nvSpPr>
          <p:cNvPr id="6" name="Text 3"/>
          <p:cNvSpPr/>
          <p:nvPr/>
        </p:nvSpPr>
        <p:spPr>
          <a:xfrm>
            <a:off x="381000" y="2047875"/>
            <a:ext cx="11715750" cy="1428750"/>
          </a:xfrm>
          <a:prstGeom prst="rect">
            <a:avLst/>
          </a:prstGeom>
          <a:noFill/>
          <a:ln/>
        </p:spPr>
        <p:txBody>
          <a:bodyPr wrap="square" lIns="0" tIns="0" rIns="0" bIns="0" rtlCol="0" anchor="ctr"/>
          <a:lstStyle/>
          <a:p>
            <a:pPr>
              <a:lnSpc>
                <a:spcPct val="100000"/>
              </a:lnSpc>
            </a:pPr>
            <a:r>
              <a:rPr lang="en-US" sz="4500" b="1" dirty="0">
                <a:solidFill>
                  <a:srgbClr val="F8F9FA"/>
                </a:solidFill>
                <a:latin typeface="MiSans" pitchFamily="34" charset="0"/>
                <a:ea typeface="MiSans" pitchFamily="34" charset="-122"/>
                <a:cs typeface="MiSans" pitchFamily="34" charset="-120"/>
              </a:rPr>
              <a:t>Implementation</a:t>
            </a:r>
            <a:endParaRPr lang="en-US" sz="1600" dirty="0"/>
          </a:p>
          <a:p>
            <a:pPr>
              <a:lnSpc>
                <a:spcPct val="100000"/>
              </a:lnSpc>
            </a:pPr>
            <a:r>
              <a:rPr lang="en-US" sz="4500" b="1" dirty="0">
                <a:solidFill>
                  <a:srgbClr val="C49A2C"/>
                </a:solidFill>
                <a:latin typeface="MiSans" pitchFamily="34" charset="0"/>
                <a:ea typeface="MiSans" pitchFamily="34" charset="-122"/>
                <a:cs typeface="MiSans" pitchFamily="34" charset="-120"/>
              </a:rPr>
              <a:t>and Data</a:t>
            </a:r>
            <a:endParaRPr lang="en-US" sz="1600" dirty="0"/>
          </a:p>
        </p:txBody>
      </p:sp>
      <p:sp>
        <p:nvSpPr>
          <p:cNvPr id="7" name="Shape 4"/>
          <p:cNvSpPr/>
          <p:nvPr/>
        </p:nvSpPr>
        <p:spPr>
          <a:xfrm>
            <a:off x="381000" y="3705225"/>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49A2C"/>
          </a:solidFill>
          <a:ln/>
        </p:spPr>
      </p:sp>
      <p:sp>
        <p:nvSpPr>
          <p:cNvPr id="8" name="Text 5"/>
          <p:cNvSpPr/>
          <p:nvPr/>
        </p:nvSpPr>
        <p:spPr>
          <a:xfrm>
            <a:off x="381000" y="3990975"/>
            <a:ext cx="7429500" cy="742950"/>
          </a:xfrm>
          <a:prstGeom prst="rect">
            <a:avLst/>
          </a:prstGeom>
          <a:noFill/>
          <a:ln/>
        </p:spPr>
        <p:txBody>
          <a:bodyPr wrap="square" lIns="0" tIns="0" rIns="0" bIns="0" rtlCol="0" anchor="ctr"/>
          <a:lstStyle/>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Formative Assessment in Practice:</a:t>
            </a:r>
            <a:endParaRPr lang="en-US" sz="1600" dirty="0"/>
          </a:p>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Case Studies, Data Collection, and the Limits of Evidence</a:t>
            </a:r>
            <a:endParaRPr lang="en-US" sz="1600" dirty="0"/>
          </a:p>
        </p:txBody>
      </p:sp>
      <p:sp>
        <p:nvSpPr>
          <p:cNvPr id="9" name="Shape 6"/>
          <p:cNvSpPr/>
          <p:nvPr/>
        </p:nvSpPr>
        <p:spPr>
          <a:xfrm>
            <a:off x="423863" y="5191125"/>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C49A2C"/>
          </a:solidFill>
          <a:ln/>
        </p:spPr>
      </p:sp>
      <p:sp>
        <p:nvSpPr>
          <p:cNvPr id="10" name="Text 7"/>
          <p:cNvSpPr/>
          <p:nvPr/>
        </p:nvSpPr>
        <p:spPr>
          <a:xfrm>
            <a:off x="819150" y="5191125"/>
            <a:ext cx="4810125" cy="228600"/>
          </a:xfrm>
          <a:prstGeom prst="rect">
            <a:avLst/>
          </a:prstGeom>
          <a:noFill/>
          <a:ln/>
        </p:spPr>
        <p:txBody>
          <a:bodyPr wrap="square" lIns="0" tIns="0" rIns="0" bIns="0" rtlCol="0" anchor="ctr"/>
          <a:lstStyle/>
          <a:p>
            <a:pPr>
              <a:lnSpc>
                <a:spcPct val="130000"/>
              </a:lnSpc>
            </a:pPr>
            <a:r>
              <a:rPr lang="en-US" sz="1200" dirty="0">
                <a:solidFill>
                  <a:srgbClr val="F8F9FA">
                    <a:alpha val="70000"/>
                  </a:srgbClr>
                </a:solidFill>
                <a:latin typeface="MiSans" pitchFamily="34" charset="0"/>
                <a:ea typeface="MiSans" pitchFamily="34" charset="-122"/>
                <a:cs typeface="MiSans" pitchFamily="34" charset="-120"/>
              </a:rPr>
              <a:t>Slides 29–40 | Case Studies • Data Collection • Quality Assurance</a:t>
            </a:r>
            <a:endParaRPr lang="en-US" sz="16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49842" y="349842"/>
            <a:ext cx="69968" cy="419811"/>
          </a:xfrm>
          <a:custGeom>
            <a:avLst/>
            <a:gdLst/>
            <a:ahLst/>
            <a:cxnLst/>
            <a:rect l="l" t="t" r="r" b="b"/>
            <a:pathLst>
              <a:path w="69968" h="419811">
                <a:moveTo>
                  <a:pt x="0" y="0"/>
                </a:moveTo>
                <a:lnTo>
                  <a:pt x="69968" y="0"/>
                </a:lnTo>
                <a:lnTo>
                  <a:pt x="69968" y="419811"/>
                </a:lnTo>
                <a:lnTo>
                  <a:pt x="0" y="419811"/>
                </a:lnTo>
                <a:lnTo>
                  <a:pt x="0" y="0"/>
                </a:lnTo>
                <a:close/>
              </a:path>
            </a:pathLst>
          </a:custGeom>
          <a:solidFill>
            <a:srgbClr val="1E3A5F"/>
          </a:solidFill>
          <a:ln/>
        </p:spPr>
      </p:sp>
      <p:sp>
        <p:nvSpPr>
          <p:cNvPr id="3" name="Text 1"/>
          <p:cNvSpPr/>
          <p:nvPr/>
        </p:nvSpPr>
        <p:spPr>
          <a:xfrm>
            <a:off x="524763" y="402319"/>
            <a:ext cx="8396212" cy="314858"/>
          </a:xfrm>
          <a:prstGeom prst="rect">
            <a:avLst/>
          </a:prstGeom>
          <a:noFill/>
          <a:ln/>
        </p:spPr>
        <p:txBody>
          <a:bodyPr wrap="square" lIns="0" tIns="0" rIns="0" bIns="0" rtlCol="0" anchor="ctr"/>
          <a:lstStyle/>
          <a:p>
            <a:pPr>
              <a:lnSpc>
                <a:spcPct val="100000"/>
              </a:lnSpc>
            </a:pPr>
            <a:r>
              <a:rPr lang="en-US" sz="2066" b="1" dirty="0">
                <a:solidFill>
                  <a:srgbClr val="1E3A5F"/>
                </a:solidFill>
                <a:latin typeface="MiSans" pitchFamily="34" charset="0"/>
                <a:ea typeface="MiSans" pitchFamily="34" charset="-122"/>
                <a:cs typeface="MiSans" pitchFamily="34" charset="-120"/>
              </a:rPr>
              <a:t>Formative Assessment Integration: The Implementation Challenge</a:t>
            </a:r>
            <a:endParaRPr lang="en-US" sz="1600" dirty="0"/>
          </a:p>
        </p:txBody>
      </p:sp>
      <p:sp>
        <p:nvSpPr>
          <p:cNvPr id="4" name="Shape 2"/>
          <p:cNvSpPr/>
          <p:nvPr/>
        </p:nvSpPr>
        <p:spPr>
          <a:xfrm>
            <a:off x="349842" y="997050"/>
            <a:ext cx="5676189" cy="2116545"/>
          </a:xfrm>
          <a:custGeom>
            <a:avLst/>
            <a:gdLst/>
            <a:ahLst/>
            <a:cxnLst/>
            <a:rect l="l" t="t" r="r" b="b"/>
            <a:pathLst>
              <a:path w="5676189" h="2116545">
                <a:moveTo>
                  <a:pt x="0" y="0"/>
                </a:moveTo>
                <a:lnTo>
                  <a:pt x="5676189" y="0"/>
                </a:lnTo>
                <a:lnTo>
                  <a:pt x="5676189" y="2116545"/>
                </a:lnTo>
                <a:lnTo>
                  <a:pt x="0" y="2116545"/>
                </a:lnTo>
                <a:lnTo>
                  <a:pt x="0" y="0"/>
                </a:lnTo>
                <a:close/>
              </a:path>
            </a:pathLst>
          </a:custGeom>
          <a:solidFill>
            <a:srgbClr val="FFFFFF"/>
          </a:solidFill>
          <a:ln/>
        </p:spPr>
      </p:sp>
      <p:sp>
        <p:nvSpPr>
          <p:cNvPr id="5" name="Shape 3"/>
          <p:cNvSpPr/>
          <p:nvPr/>
        </p:nvSpPr>
        <p:spPr>
          <a:xfrm>
            <a:off x="349842" y="997050"/>
            <a:ext cx="5676189" cy="34984"/>
          </a:xfrm>
          <a:custGeom>
            <a:avLst/>
            <a:gdLst/>
            <a:ahLst/>
            <a:cxnLst/>
            <a:rect l="l" t="t" r="r" b="b"/>
            <a:pathLst>
              <a:path w="5676189" h="34984">
                <a:moveTo>
                  <a:pt x="0" y="0"/>
                </a:moveTo>
                <a:lnTo>
                  <a:pt x="5676189" y="0"/>
                </a:lnTo>
                <a:lnTo>
                  <a:pt x="5676189" y="34984"/>
                </a:lnTo>
                <a:lnTo>
                  <a:pt x="0" y="34984"/>
                </a:lnTo>
                <a:lnTo>
                  <a:pt x="0" y="0"/>
                </a:lnTo>
                <a:close/>
              </a:path>
            </a:pathLst>
          </a:custGeom>
          <a:solidFill>
            <a:srgbClr val="1E3A5F"/>
          </a:solidFill>
          <a:ln/>
        </p:spPr>
      </p:sp>
      <p:sp>
        <p:nvSpPr>
          <p:cNvPr id="6" name="Text 4"/>
          <p:cNvSpPr/>
          <p:nvPr/>
        </p:nvSpPr>
        <p:spPr>
          <a:xfrm>
            <a:off x="489779" y="1154479"/>
            <a:ext cx="5483776" cy="244890"/>
          </a:xfrm>
          <a:prstGeom prst="rect">
            <a:avLst/>
          </a:prstGeom>
          <a:noFill/>
          <a:ln/>
        </p:spPr>
        <p:txBody>
          <a:bodyPr wrap="square" lIns="0" tIns="0" rIns="0" bIns="0" rtlCol="0" anchor="ctr"/>
          <a:lstStyle/>
          <a:p>
            <a:pPr>
              <a:lnSpc>
                <a:spcPct val="120000"/>
              </a:lnSpc>
            </a:pPr>
            <a:r>
              <a:rPr lang="en-US" sz="1377" b="1" dirty="0">
                <a:solidFill>
                  <a:srgbClr val="1E3A5F"/>
                </a:solidFill>
                <a:latin typeface="MiSans" pitchFamily="34" charset="0"/>
                <a:ea typeface="MiSans" pitchFamily="34" charset="-122"/>
                <a:cs typeface="MiSans" pitchFamily="34" charset="-120"/>
              </a:rPr>
              <a:t>Theory Is Robust; Implementation Is Hard</a:t>
            </a:r>
            <a:endParaRPr lang="en-US" sz="1600" dirty="0"/>
          </a:p>
        </p:txBody>
      </p:sp>
      <p:sp>
        <p:nvSpPr>
          <p:cNvPr id="7" name="Text 5"/>
          <p:cNvSpPr/>
          <p:nvPr/>
        </p:nvSpPr>
        <p:spPr>
          <a:xfrm>
            <a:off x="489779" y="1504321"/>
            <a:ext cx="5466284" cy="682192"/>
          </a:xfrm>
          <a:prstGeom prst="rect">
            <a:avLst/>
          </a:prstGeom>
          <a:noFill/>
          <a:ln/>
        </p:spPr>
        <p:txBody>
          <a:bodyPr wrap="square" lIns="0" tIns="0" rIns="0" bIns="0" rtlCol="0" anchor="ctr"/>
          <a:lstStyle/>
          <a:p>
            <a:pPr>
              <a:lnSpc>
                <a:spcPct val="140000"/>
              </a:lnSpc>
            </a:pPr>
            <a:r>
              <a:rPr lang="en-US" sz="1102" dirty="0">
                <a:solidFill>
                  <a:srgbClr val="2D3436"/>
                </a:solidFill>
                <a:latin typeface="MiSans" pitchFamily="34" charset="0"/>
                <a:ea typeface="MiSans" pitchFamily="34" charset="-122"/>
                <a:cs typeface="MiSans" pitchFamily="34" charset="-120"/>
              </a:rPr>
              <a:t>The theoretical case for formative assessment is </a:t>
            </a:r>
            <a:pPr>
              <a:lnSpc>
                <a:spcPct val="140000"/>
              </a:lnSpc>
            </a:pPr>
            <a:r>
              <a:rPr lang="en-US" sz="1102" b="1" dirty="0">
                <a:solidFill>
                  <a:srgbClr val="2D3436"/>
                </a:solidFill>
                <a:latin typeface="MiSans" pitchFamily="34" charset="0"/>
                <a:ea typeface="MiSans" pitchFamily="34" charset="-122"/>
                <a:cs typeface="MiSans" pitchFamily="34" charset="-120"/>
              </a:rPr>
              <a:t>robust</a:t>
            </a:r>
            <a:pPr>
              <a:lnSpc>
                <a:spcPct val="140000"/>
              </a:lnSpc>
            </a:pPr>
            <a:r>
              <a:rPr lang="en-US" sz="1102" dirty="0">
                <a:solidFill>
                  <a:srgbClr val="2D3436"/>
                </a:solidFill>
                <a:latin typeface="MiSans" pitchFamily="34" charset="0"/>
                <a:ea typeface="MiSans" pitchFamily="34" charset="-122"/>
                <a:cs typeface="MiSans" pitchFamily="34" charset="-120"/>
              </a:rPr>
              <a:t>. The empirical evidence for its effectiveness is </a:t>
            </a:r>
            <a:pPr>
              <a:lnSpc>
                <a:spcPct val="140000"/>
              </a:lnSpc>
            </a:pPr>
            <a:r>
              <a:rPr lang="en-US" sz="1102" b="1" dirty="0">
                <a:solidFill>
                  <a:srgbClr val="2D3436"/>
                </a:solidFill>
                <a:latin typeface="MiSans" pitchFamily="34" charset="0"/>
                <a:ea typeface="MiSans" pitchFamily="34" charset="-122"/>
                <a:cs typeface="MiSans" pitchFamily="34" charset="-120"/>
              </a:rPr>
              <a:t>strong</a:t>
            </a:r>
            <a:pPr>
              <a:lnSpc>
                <a:spcPct val="140000"/>
              </a:lnSpc>
            </a:pPr>
            <a:r>
              <a:rPr lang="en-US" sz="1102" dirty="0">
                <a:solidFill>
                  <a:srgbClr val="2D3436"/>
                </a:solidFill>
                <a:latin typeface="MiSans" pitchFamily="34" charset="0"/>
                <a:ea typeface="MiSans" pitchFamily="34" charset="-122"/>
                <a:cs typeface="MiSans" pitchFamily="34" charset="-120"/>
              </a:rPr>
              <a:t>. The practical challenge of implementing it at scale in diverse school contexts is </a:t>
            </a:r>
            <a:pPr>
              <a:lnSpc>
                <a:spcPct val="140000"/>
              </a:lnSpc>
            </a:pPr>
            <a:r>
              <a:rPr lang="en-US" sz="1102" b="1" dirty="0">
                <a:solidFill>
                  <a:srgbClr val="2D3436"/>
                </a:solidFill>
                <a:latin typeface="MiSans" pitchFamily="34" charset="0"/>
                <a:ea typeface="MiSans" pitchFamily="34" charset="-122"/>
                <a:cs typeface="MiSans" pitchFamily="34" charset="-120"/>
              </a:rPr>
              <a:t>substantial</a:t>
            </a:r>
            <a:pPr>
              <a:lnSpc>
                <a:spcPct val="140000"/>
              </a:lnSpc>
            </a:pPr>
            <a:r>
              <a:rPr lang="en-US" sz="1102" dirty="0">
                <a:solidFill>
                  <a:srgbClr val="2D3436"/>
                </a:solidFill>
                <a:latin typeface="MiSans" pitchFamily="34" charset="0"/>
                <a:ea typeface="MiSans" pitchFamily="34" charset="-122"/>
                <a:cs typeface="MiSans" pitchFamily="34" charset="-120"/>
              </a:rPr>
              <a:t>, and it should not be underestimated.</a:t>
            </a:r>
            <a:endParaRPr lang="en-US" sz="1600" dirty="0"/>
          </a:p>
        </p:txBody>
      </p:sp>
      <p:sp>
        <p:nvSpPr>
          <p:cNvPr id="8" name="Text 6"/>
          <p:cNvSpPr/>
          <p:nvPr/>
        </p:nvSpPr>
        <p:spPr>
          <a:xfrm>
            <a:off x="489779" y="2291466"/>
            <a:ext cx="5466284" cy="682192"/>
          </a:xfrm>
          <a:prstGeom prst="rect">
            <a:avLst/>
          </a:prstGeom>
          <a:noFill/>
          <a:ln/>
        </p:spPr>
        <p:txBody>
          <a:bodyPr wrap="square" lIns="0" tIns="0" rIns="0" bIns="0" rtlCol="0" anchor="ctr"/>
          <a:lstStyle/>
          <a:p>
            <a:pPr>
              <a:lnSpc>
                <a:spcPct val="140000"/>
              </a:lnSpc>
            </a:pPr>
            <a:r>
              <a:rPr lang="en-US" sz="1102" dirty="0">
                <a:solidFill>
                  <a:srgbClr val="2D3436"/>
                </a:solidFill>
                <a:latin typeface="MiSans" pitchFamily="34" charset="0"/>
                <a:ea typeface="MiSans" pitchFamily="34" charset="-122"/>
                <a:cs typeface="MiSans" pitchFamily="34" charset="-120"/>
              </a:rPr>
              <a:t>The MPI's formative assessment strand is designed to address this challenge through a </a:t>
            </a:r>
            <a:pPr>
              <a:lnSpc>
                <a:spcPct val="140000"/>
              </a:lnSpc>
            </a:pPr>
            <a:r>
              <a:rPr lang="en-US" sz="1102" dirty="0">
                <a:solidFill>
                  <a:srgbClr val="2D3436"/>
                </a:solidFill>
                <a:highlight>
                  <a:srgbClr val="C49A2C">
                    <a:alpha val="20000"/>
                  </a:srgbClr>
                </a:highlight>
                <a:latin typeface="MiSans" pitchFamily="34" charset="0"/>
                <a:ea typeface="MiSans" pitchFamily="34" charset="-122"/>
                <a:cs typeface="MiSans" pitchFamily="34" charset="-120"/>
              </a:rPr>
              <a:t>structured implementation architecture </a:t>
            </a:r>
            <a:pPr>
              <a:lnSpc>
                <a:spcPct val="140000"/>
              </a:lnSpc>
            </a:pPr>
            <a:r>
              <a:rPr lang="en-US" sz="1102" dirty="0">
                <a:solidFill>
                  <a:srgbClr val="2D3436"/>
                </a:solidFill>
                <a:latin typeface="MiSans" pitchFamily="34" charset="0"/>
                <a:ea typeface="MiSans" pitchFamily="34" charset="-122"/>
                <a:cs typeface="MiSans" pitchFamily="34" charset="-120"/>
              </a:rPr>
              <a:t>that provides schools with the tools, training, and support necessary for effective deployment.</a:t>
            </a:r>
            <a:endParaRPr lang="en-US" sz="1600" dirty="0"/>
          </a:p>
        </p:txBody>
      </p:sp>
      <p:sp>
        <p:nvSpPr>
          <p:cNvPr id="9" name="Shape 7"/>
          <p:cNvSpPr/>
          <p:nvPr/>
        </p:nvSpPr>
        <p:spPr>
          <a:xfrm>
            <a:off x="349842" y="3218548"/>
            <a:ext cx="5676189" cy="3183564"/>
          </a:xfrm>
          <a:custGeom>
            <a:avLst/>
            <a:gdLst/>
            <a:ahLst/>
            <a:cxnLst/>
            <a:rect l="l" t="t" r="r" b="b"/>
            <a:pathLst>
              <a:path w="5676189" h="3183564">
                <a:moveTo>
                  <a:pt x="0" y="0"/>
                </a:moveTo>
                <a:lnTo>
                  <a:pt x="5676189" y="0"/>
                </a:lnTo>
                <a:lnTo>
                  <a:pt x="5676189" y="3183564"/>
                </a:lnTo>
                <a:lnTo>
                  <a:pt x="0" y="3183564"/>
                </a:lnTo>
                <a:lnTo>
                  <a:pt x="0" y="0"/>
                </a:lnTo>
                <a:close/>
              </a:path>
            </a:pathLst>
          </a:custGeom>
          <a:solidFill>
            <a:srgbClr val="1E3A5F"/>
          </a:solidFill>
          <a:ln/>
        </p:spPr>
      </p:sp>
      <p:sp>
        <p:nvSpPr>
          <p:cNvPr id="10" name="Text 8"/>
          <p:cNvSpPr/>
          <p:nvPr/>
        </p:nvSpPr>
        <p:spPr>
          <a:xfrm>
            <a:off x="489779" y="3358485"/>
            <a:ext cx="5483776" cy="244890"/>
          </a:xfrm>
          <a:prstGeom prst="rect">
            <a:avLst/>
          </a:prstGeom>
          <a:noFill/>
          <a:ln/>
        </p:spPr>
        <p:txBody>
          <a:bodyPr wrap="square" lIns="0" tIns="0" rIns="0" bIns="0" rtlCol="0" anchor="ctr"/>
          <a:lstStyle/>
          <a:p>
            <a:pPr>
              <a:lnSpc>
                <a:spcPct val="120000"/>
              </a:lnSpc>
            </a:pPr>
            <a:r>
              <a:rPr lang="en-US" sz="1377" b="1" dirty="0">
                <a:solidFill>
                  <a:srgbClr val="F8F9FA"/>
                </a:solidFill>
                <a:latin typeface="MiSans" pitchFamily="34" charset="0"/>
                <a:ea typeface="MiSans" pitchFamily="34" charset="-122"/>
                <a:cs typeface="MiSans" pitchFamily="34" charset="-120"/>
              </a:rPr>
              <a:t>Five Components of the Implementation Architecture</a:t>
            </a:r>
            <a:endParaRPr lang="en-US" sz="1600" dirty="0"/>
          </a:p>
        </p:txBody>
      </p:sp>
      <p:sp>
        <p:nvSpPr>
          <p:cNvPr id="11" name="Shape 9"/>
          <p:cNvSpPr/>
          <p:nvPr/>
        </p:nvSpPr>
        <p:spPr>
          <a:xfrm>
            <a:off x="489779" y="3708327"/>
            <a:ext cx="279874" cy="279874"/>
          </a:xfrm>
          <a:custGeom>
            <a:avLst/>
            <a:gdLst/>
            <a:ahLst/>
            <a:cxnLst/>
            <a:rect l="l" t="t" r="r" b="b"/>
            <a:pathLst>
              <a:path w="279874" h="279874">
                <a:moveTo>
                  <a:pt x="0" y="0"/>
                </a:moveTo>
                <a:lnTo>
                  <a:pt x="279874" y="0"/>
                </a:lnTo>
                <a:lnTo>
                  <a:pt x="279874" y="279874"/>
                </a:lnTo>
                <a:lnTo>
                  <a:pt x="0" y="279874"/>
                </a:lnTo>
                <a:lnTo>
                  <a:pt x="0" y="0"/>
                </a:lnTo>
                <a:close/>
              </a:path>
            </a:pathLst>
          </a:custGeom>
          <a:solidFill>
            <a:srgbClr val="C49A2C"/>
          </a:solidFill>
          <a:ln/>
        </p:spPr>
      </p:sp>
      <p:sp>
        <p:nvSpPr>
          <p:cNvPr id="12" name="Text 10"/>
          <p:cNvSpPr/>
          <p:nvPr/>
        </p:nvSpPr>
        <p:spPr>
          <a:xfrm>
            <a:off x="454795" y="3708327"/>
            <a:ext cx="349842" cy="279874"/>
          </a:xfrm>
          <a:prstGeom prst="rect">
            <a:avLst/>
          </a:prstGeom>
          <a:noFill/>
          <a:ln/>
        </p:spPr>
        <p:txBody>
          <a:bodyPr wrap="square" lIns="0" tIns="0" rIns="0" bIns="0" rtlCol="0" anchor="ctr"/>
          <a:lstStyle/>
          <a:p>
            <a:pPr algn="ctr">
              <a:lnSpc>
                <a:spcPct val="130000"/>
              </a:lnSpc>
            </a:pPr>
            <a:r>
              <a:rPr lang="en-US" sz="1102" b="1" dirty="0">
                <a:solidFill>
                  <a:srgbClr val="F8F9FA"/>
                </a:solidFill>
                <a:latin typeface="MiSans" pitchFamily="34" charset="0"/>
                <a:ea typeface="MiSans" pitchFamily="34" charset="-122"/>
                <a:cs typeface="MiSans" pitchFamily="34" charset="-120"/>
              </a:rPr>
              <a:t>1</a:t>
            </a:r>
            <a:endParaRPr lang="en-US" sz="1600" dirty="0"/>
          </a:p>
        </p:txBody>
      </p:sp>
      <p:sp>
        <p:nvSpPr>
          <p:cNvPr id="13" name="Text 11"/>
          <p:cNvSpPr/>
          <p:nvPr/>
        </p:nvSpPr>
        <p:spPr>
          <a:xfrm>
            <a:off x="874605" y="3708327"/>
            <a:ext cx="5081458" cy="454795"/>
          </a:xfrm>
          <a:prstGeom prst="rect">
            <a:avLst/>
          </a:prstGeom>
          <a:noFill/>
          <a:ln/>
        </p:spPr>
        <p:txBody>
          <a:bodyPr wrap="square" lIns="0" tIns="0" rIns="0" bIns="0" rtlCol="0" anchor="ctr"/>
          <a:lstStyle/>
          <a:p>
            <a:pPr>
              <a:lnSpc>
                <a:spcPct val="140000"/>
              </a:lnSpc>
            </a:pPr>
            <a:r>
              <a:rPr lang="en-US" sz="1102" dirty="0">
                <a:solidFill>
                  <a:srgbClr val="F8F9FA"/>
                </a:solidFill>
                <a:latin typeface="MiSans" pitchFamily="34" charset="0"/>
                <a:ea typeface="MiSans" pitchFamily="34" charset="-122"/>
                <a:cs typeface="MiSans" pitchFamily="34" charset="-120"/>
              </a:rPr>
              <a:t>A </a:t>
            </a:r>
            <a:pPr>
              <a:lnSpc>
                <a:spcPct val="140000"/>
              </a:lnSpc>
            </a:pPr>
            <a:r>
              <a:rPr lang="en-US" sz="1102" b="1" dirty="0">
                <a:solidFill>
                  <a:srgbClr val="F8F9FA"/>
                </a:solidFill>
                <a:latin typeface="MiSans" pitchFamily="34" charset="0"/>
                <a:ea typeface="MiSans" pitchFamily="34" charset="-122"/>
                <a:cs typeface="MiSans" pitchFamily="34" charset="-120"/>
              </a:rPr>
              <a:t>standardised assessment item bank</a:t>
            </a:r>
            <a:pPr>
              <a:lnSpc>
                <a:spcPct val="140000"/>
              </a:lnSpc>
            </a:pPr>
            <a:r>
              <a:rPr lang="en-US" sz="1102" dirty="0">
                <a:solidFill>
                  <a:srgbClr val="F8F9FA"/>
                </a:solidFill>
                <a:latin typeface="MiSans" pitchFamily="34" charset="0"/>
                <a:ea typeface="MiSans" pitchFamily="34" charset="-122"/>
                <a:cs typeface="MiSans" pitchFamily="34" charset="-120"/>
              </a:rPr>
              <a:t> calibrated to Bloom's taxonomy levels and aligned to the curriculum sequencing framework</a:t>
            </a:r>
            <a:endParaRPr lang="en-US" sz="1600" dirty="0"/>
          </a:p>
        </p:txBody>
      </p:sp>
      <p:sp>
        <p:nvSpPr>
          <p:cNvPr id="14" name="Shape 12"/>
          <p:cNvSpPr/>
          <p:nvPr/>
        </p:nvSpPr>
        <p:spPr>
          <a:xfrm>
            <a:off x="489779" y="4233090"/>
            <a:ext cx="279874" cy="279874"/>
          </a:xfrm>
          <a:custGeom>
            <a:avLst/>
            <a:gdLst/>
            <a:ahLst/>
            <a:cxnLst/>
            <a:rect l="l" t="t" r="r" b="b"/>
            <a:pathLst>
              <a:path w="279874" h="279874">
                <a:moveTo>
                  <a:pt x="0" y="0"/>
                </a:moveTo>
                <a:lnTo>
                  <a:pt x="279874" y="0"/>
                </a:lnTo>
                <a:lnTo>
                  <a:pt x="279874" y="279874"/>
                </a:lnTo>
                <a:lnTo>
                  <a:pt x="0" y="279874"/>
                </a:lnTo>
                <a:lnTo>
                  <a:pt x="0" y="0"/>
                </a:lnTo>
                <a:close/>
              </a:path>
            </a:pathLst>
          </a:custGeom>
          <a:solidFill>
            <a:srgbClr val="C49A2C"/>
          </a:solidFill>
          <a:ln/>
        </p:spPr>
      </p:sp>
      <p:sp>
        <p:nvSpPr>
          <p:cNvPr id="15" name="Text 13"/>
          <p:cNvSpPr/>
          <p:nvPr/>
        </p:nvSpPr>
        <p:spPr>
          <a:xfrm>
            <a:off x="454795" y="4233090"/>
            <a:ext cx="349842" cy="279874"/>
          </a:xfrm>
          <a:prstGeom prst="rect">
            <a:avLst/>
          </a:prstGeom>
          <a:noFill/>
          <a:ln/>
        </p:spPr>
        <p:txBody>
          <a:bodyPr wrap="square" lIns="0" tIns="0" rIns="0" bIns="0" rtlCol="0" anchor="ctr"/>
          <a:lstStyle/>
          <a:p>
            <a:pPr algn="ctr">
              <a:lnSpc>
                <a:spcPct val="130000"/>
              </a:lnSpc>
            </a:pPr>
            <a:r>
              <a:rPr lang="en-US" sz="1102" b="1" dirty="0">
                <a:solidFill>
                  <a:srgbClr val="F8F9FA"/>
                </a:solidFill>
                <a:latin typeface="MiSans" pitchFamily="34" charset="0"/>
                <a:ea typeface="MiSans" pitchFamily="34" charset="-122"/>
                <a:cs typeface="MiSans" pitchFamily="34" charset="-120"/>
              </a:rPr>
              <a:t>2</a:t>
            </a:r>
            <a:endParaRPr lang="en-US" sz="1600" dirty="0"/>
          </a:p>
        </p:txBody>
      </p:sp>
      <p:sp>
        <p:nvSpPr>
          <p:cNvPr id="16" name="Text 14"/>
          <p:cNvSpPr/>
          <p:nvPr/>
        </p:nvSpPr>
        <p:spPr>
          <a:xfrm>
            <a:off x="874605" y="4233090"/>
            <a:ext cx="5081458" cy="454795"/>
          </a:xfrm>
          <a:prstGeom prst="rect">
            <a:avLst/>
          </a:prstGeom>
          <a:noFill/>
          <a:ln/>
        </p:spPr>
        <p:txBody>
          <a:bodyPr wrap="square" lIns="0" tIns="0" rIns="0" bIns="0" rtlCol="0" anchor="ctr"/>
          <a:lstStyle/>
          <a:p>
            <a:pPr>
              <a:lnSpc>
                <a:spcPct val="140000"/>
              </a:lnSpc>
            </a:pPr>
            <a:r>
              <a:rPr lang="en-US" sz="1102" b="1" dirty="0">
                <a:solidFill>
                  <a:srgbClr val="F8F9FA"/>
                </a:solidFill>
                <a:latin typeface="MiSans" pitchFamily="34" charset="0"/>
                <a:ea typeface="MiSans" pitchFamily="34" charset="-122"/>
                <a:cs typeface="MiSans" pitchFamily="34" charset="-120"/>
              </a:rPr>
              <a:t>Digital tools</a:t>
            </a:r>
            <a:pPr>
              <a:lnSpc>
                <a:spcPct val="140000"/>
              </a:lnSpc>
            </a:pPr>
            <a:r>
              <a:rPr lang="en-US" sz="1102" dirty="0">
                <a:solidFill>
                  <a:srgbClr val="F8F9FA"/>
                </a:solidFill>
                <a:latin typeface="MiSans" pitchFamily="34" charset="0"/>
                <a:ea typeface="MiSans" pitchFamily="34" charset="-122"/>
                <a:cs typeface="MiSans" pitchFamily="34" charset="-120"/>
              </a:rPr>
              <a:t> for assessment administration, scoring, and feedback generation (MPI Connect)</a:t>
            </a:r>
            <a:endParaRPr lang="en-US" sz="1600" dirty="0"/>
          </a:p>
        </p:txBody>
      </p:sp>
      <p:sp>
        <p:nvSpPr>
          <p:cNvPr id="17" name="Shape 15"/>
          <p:cNvSpPr/>
          <p:nvPr/>
        </p:nvSpPr>
        <p:spPr>
          <a:xfrm>
            <a:off x="489779" y="4757854"/>
            <a:ext cx="279874" cy="279874"/>
          </a:xfrm>
          <a:custGeom>
            <a:avLst/>
            <a:gdLst/>
            <a:ahLst/>
            <a:cxnLst/>
            <a:rect l="l" t="t" r="r" b="b"/>
            <a:pathLst>
              <a:path w="279874" h="279874">
                <a:moveTo>
                  <a:pt x="0" y="0"/>
                </a:moveTo>
                <a:lnTo>
                  <a:pt x="279874" y="0"/>
                </a:lnTo>
                <a:lnTo>
                  <a:pt x="279874" y="279874"/>
                </a:lnTo>
                <a:lnTo>
                  <a:pt x="0" y="279874"/>
                </a:lnTo>
                <a:lnTo>
                  <a:pt x="0" y="0"/>
                </a:lnTo>
                <a:close/>
              </a:path>
            </a:pathLst>
          </a:custGeom>
          <a:solidFill>
            <a:srgbClr val="C49A2C"/>
          </a:solidFill>
          <a:ln/>
        </p:spPr>
      </p:sp>
      <p:sp>
        <p:nvSpPr>
          <p:cNvPr id="18" name="Text 16"/>
          <p:cNvSpPr/>
          <p:nvPr/>
        </p:nvSpPr>
        <p:spPr>
          <a:xfrm>
            <a:off x="454795" y="4757854"/>
            <a:ext cx="349842" cy="279874"/>
          </a:xfrm>
          <a:prstGeom prst="rect">
            <a:avLst/>
          </a:prstGeom>
          <a:noFill/>
          <a:ln/>
        </p:spPr>
        <p:txBody>
          <a:bodyPr wrap="square" lIns="0" tIns="0" rIns="0" bIns="0" rtlCol="0" anchor="ctr"/>
          <a:lstStyle/>
          <a:p>
            <a:pPr algn="ctr">
              <a:lnSpc>
                <a:spcPct val="130000"/>
              </a:lnSpc>
            </a:pPr>
            <a:r>
              <a:rPr lang="en-US" sz="1102" b="1" dirty="0">
                <a:solidFill>
                  <a:srgbClr val="F8F9FA"/>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874605" y="4757854"/>
            <a:ext cx="5081458" cy="454795"/>
          </a:xfrm>
          <a:prstGeom prst="rect">
            <a:avLst/>
          </a:prstGeom>
          <a:noFill/>
          <a:ln/>
        </p:spPr>
        <p:txBody>
          <a:bodyPr wrap="square" lIns="0" tIns="0" rIns="0" bIns="0" rtlCol="0" anchor="ctr"/>
          <a:lstStyle/>
          <a:p>
            <a:pPr>
              <a:lnSpc>
                <a:spcPct val="140000"/>
              </a:lnSpc>
            </a:pPr>
            <a:r>
              <a:rPr lang="en-US" sz="1102" b="1" dirty="0">
                <a:solidFill>
                  <a:srgbClr val="F8F9FA"/>
                </a:solidFill>
                <a:latin typeface="MiSans" pitchFamily="34" charset="0"/>
                <a:ea typeface="MiSans" pitchFamily="34" charset="-122"/>
                <a:cs typeface="MiSans" pitchFamily="34" charset="-120"/>
              </a:rPr>
              <a:t>Coordinator training</a:t>
            </a:r>
            <a:pPr>
              <a:lnSpc>
                <a:spcPct val="140000"/>
              </a:lnSpc>
            </a:pPr>
            <a:r>
              <a:rPr lang="en-US" sz="1102" dirty="0">
                <a:solidFill>
                  <a:srgbClr val="F8F9FA"/>
                </a:solidFill>
                <a:latin typeface="MiSans" pitchFamily="34" charset="0"/>
                <a:ea typeface="MiSans" pitchFamily="34" charset="-122"/>
                <a:cs typeface="MiSans" pitchFamily="34" charset="-120"/>
              </a:rPr>
              <a:t> in the interpretation of formative assessment data and the deployment of scaffolding strategies</a:t>
            </a:r>
            <a:endParaRPr lang="en-US" sz="1600" dirty="0"/>
          </a:p>
        </p:txBody>
      </p:sp>
      <p:sp>
        <p:nvSpPr>
          <p:cNvPr id="20" name="Shape 18"/>
          <p:cNvSpPr/>
          <p:nvPr/>
        </p:nvSpPr>
        <p:spPr>
          <a:xfrm>
            <a:off x="489779" y="5282617"/>
            <a:ext cx="279874" cy="279874"/>
          </a:xfrm>
          <a:custGeom>
            <a:avLst/>
            <a:gdLst/>
            <a:ahLst/>
            <a:cxnLst/>
            <a:rect l="l" t="t" r="r" b="b"/>
            <a:pathLst>
              <a:path w="279874" h="279874">
                <a:moveTo>
                  <a:pt x="0" y="0"/>
                </a:moveTo>
                <a:lnTo>
                  <a:pt x="279874" y="0"/>
                </a:lnTo>
                <a:lnTo>
                  <a:pt x="279874" y="279874"/>
                </a:lnTo>
                <a:lnTo>
                  <a:pt x="0" y="279874"/>
                </a:lnTo>
                <a:lnTo>
                  <a:pt x="0" y="0"/>
                </a:lnTo>
                <a:close/>
              </a:path>
            </a:pathLst>
          </a:custGeom>
          <a:solidFill>
            <a:srgbClr val="C49A2C"/>
          </a:solidFill>
          <a:ln/>
        </p:spPr>
      </p:sp>
      <p:sp>
        <p:nvSpPr>
          <p:cNvPr id="21" name="Text 19"/>
          <p:cNvSpPr/>
          <p:nvPr/>
        </p:nvSpPr>
        <p:spPr>
          <a:xfrm>
            <a:off x="454795" y="5282617"/>
            <a:ext cx="349842" cy="279874"/>
          </a:xfrm>
          <a:prstGeom prst="rect">
            <a:avLst/>
          </a:prstGeom>
          <a:noFill/>
          <a:ln/>
        </p:spPr>
        <p:txBody>
          <a:bodyPr wrap="square" lIns="0" tIns="0" rIns="0" bIns="0" rtlCol="0" anchor="ctr"/>
          <a:lstStyle/>
          <a:p>
            <a:pPr algn="ctr">
              <a:lnSpc>
                <a:spcPct val="130000"/>
              </a:lnSpc>
            </a:pPr>
            <a:r>
              <a:rPr lang="en-US" sz="1102" b="1" dirty="0">
                <a:solidFill>
                  <a:srgbClr val="F8F9FA"/>
                </a:solidFill>
                <a:latin typeface="MiSans" pitchFamily="34" charset="0"/>
                <a:ea typeface="MiSans" pitchFamily="34" charset="-122"/>
                <a:cs typeface="MiSans" pitchFamily="34" charset="-120"/>
              </a:rPr>
              <a:t>4</a:t>
            </a:r>
            <a:endParaRPr lang="en-US" sz="1600" dirty="0"/>
          </a:p>
        </p:txBody>
      </p:sp>
      <p:sp>
        <p:nvSpPr>
          <p:cNvPr id="22" name="Text 20"/>
          <p:cNvSpPr/>
          <p:nvPr/>
        </p:nvSpPr>
        <p:spPr>
          <a:xfrm>
            <a:off x="874605" y="5282617"/>
            <a:ext cx="5081458" cy="454795"/>
          </a:xfrm>
          <a:prstGeom prst="rect">
            <a:avLst/>
          </a:prstGeom>
          <a:noFill/>
          <a:ln/>
        </p:spPr>
        <p:txBody>
          <a:bodyPr wrap="square" lIns="0" tIns="0" rIns="0" bIns="0" rtlCol="0" anchor="ctr"/>
          <a:lstStyle/>
          <a:p>
            <a:pPr>
              <a:lnSpc>
                <a:spcPct val="140000"/>
              </a:lnSpc>
            </a:pPr>
            <a:r>
              <a:rPr lang="en-US" sz="1102" b="1" dirty="0">
                <a:solidFill>
                  <a:srgbClr val="F8F9FA"/>
                </a:solidFill>
                <a:latin typeface="MiSans" pitchFamily="34" charset="0"/>
                <a:ea typeface="MiSans" pitchFamily="34" charset="-122"/>
                <a:cs typeface="MiSans" pitchFamily="34" charset="-120"/>
              </a:rPr>
              <a:t>Peer observation protocols</a:t>
            </a:r>
            <a:pPr>
              <a:lnSpc>
                <a:spcPct val="140000"/>
              </a:lnSpc>
            </a:pPr>
            <a:r>
              <a:rPr lang="en-US" sz="1102" dirty="0">
                <a:solidFill>
                  <a:srgbClr val="F8F9FA"/>
                </a:solidFill>
                <a:latin typeface="MiSans" pitchFamily="34" charset="0"/>
                <a:ea typeface="MiSans" pitchFamily="34" charset="-122"/>
                <a:cs typeface="MiSans" pitchFamily="34" charset="-120"/>
              </a:rPr>
              <a:t> that focus specifically on formative assessment practice</a:t>
            </a:r>
            <a:endParaRPr lang="en-US" sz="1600" dirty="0"/>
          </a:p>
        </p:txBody>
      </p:sp>
      <p:sp>
        <p:nvSpPr>
          <p:cNvPr id="23" name="Shape 21"/>
          <p:cNvSpPr/>
          <p:nvPr/>
        </p:nvSpPr>
        <p:spPr>
          <a:xfrm>
            <a:off x="489779" y="5807380"/>
            <a:ext cx="279874" cy="279874"/>
          </a:xfrm>
          <a:custGeom>
            <a:avLst/>
            <a:gdLst/>
            <a:ahLst/>
            <a:cxnLst/>
            <a:rect l="l" t="t" r="r" b="b"/>
            <a:pathLst>
              <a:path w="279874" h="279874">
                <a:moveTo>
                  <a:pt x="0" y="0"/>
                </a:moveTo>
                <a:lnTo>
                  <a:pt x="279874" y="0"/>
                </a:lnTo>
                <a:lnTo>
                  <a:pt x="279874" y="279874"/>
                </a:lnTo>
                <a:lnTo>
                  <a:pt x="0" y="279874"/>
                </a:lnTo>
                <a:lnTo>
                  <a:pt x="0" y="0"/>
                </a:lnTo>
                <a:close/>
              </a:path>
            </a:pathLst>
          </a:custGeom>
          <a:solidFill>
            <a:srgbClr val="C49A2C"/>
          </a:solidFill>
          <a:ln/>
        </p:spPr>
      </p:sp>
      <p:sp>
        <p:nvSpPr>
          <p:cNvPr id="24" name="Text 22"/>
          <p:cNvSpPr/>
          <p:nvPr/>
        </p:nvSpPr>
        <p:spPr>
          <a:xfrm>
            <a:off x="454795" y="5807380"/>
            <a:ext cx="349842" cy="279874"/>
          </a:xfrm>
          <a:prstGeom prst="rect">
            <a:avLst/>
          </a:prstGeom>
          <a:noFill/>
          <a:ln/>
        </p:spPr>
        <p:txBody>
          <a:bodyPr wrap="square" lIns="0" tIns="0" rIns="0" bIns="0" rtlCol="0" anchor="ctr"/>
          <a:lstStyle/>
          <a:p>
            <a:pPr algn="ctr">
              <a:lnSpc>
                <a:spcPct val="130000"/>
              </a:lnSpc>
            </a:pPr>
            <a:r>
              <a:rPr lang="en-US" sz="1102" b="1" dirty="0">
                <a:solidFill>
                  <a:srgbClr val="F8F9FA"/>
                </a:solidFill>
                <a:latin typeface="MiSans" pitchFamily="34" charset="0"/>
                <a:ea typeface="MiSans" pitchFamily="34" charset="-122"/>
                <a:cs typeface="MiSans" pitchFamily="34" charset="-120"/>
              </a:rPr>
              <a:t>5</a:t>
            </a:r>
            <a:endParaRPr lang="en-US" sz="1600" dirty="0"/>
          </a:p>
        </p:txBody>
      </p:sp>
      <p:sp>
        <p:nvSpPr>
          <p:cNvPr id="25" name="Text 23"/>
          <p:cNvSpPr/>
          <p:nvPr/>
        </p:nvSpPr>
        <p:spPr>
          <a:xfrm>
            <a:off x="874605" y="5807380"/>
            <a:ext cx="5081458" cy="454795"/>
          </a:xfrm>
          <a:prstGeom prst="rect">
            <a:avLst/>
          </a:prstGeom>
          <a:noFill/>
          <a:ln/>
        </p:spPr>
        <p:txBody>
          <a:bodyPr wrap="square" lIns="0" tIns="0" rIns="0" bIns="0" rtlCol="0" anchor="ctr"/>
          <a:lstStyle/>
          <a:p>
            <a:pPr>
              <a:lnSpc>
                <a:spcPct val="140000"/>
              </a:lnSpc>
            </a:pPr>
            <a:r>
              <a:rPr lang="en-US" sz="1102" b="1" dirty="0">
                <a:solidFill>
                  <a:srgbClr val="F8F9FA"/>
                </a:solidFill>
                <a:latin typeface="MiSans" pitchFamily="34" charset="0"/>
                <a:ea typeface="MiSans" pitchFamily="34" charset="-122"/>
                <a:cs typeface="MiSans" pitchFamily="34" charset="-120"/>
              </a:rPr>
              <a:t>Annual audit procedures</a:t>
            </a:r>
            <a:pPr>
              <a:lnSpc>
                <a:spcPct val="140000"/>
              </a:lnSpc>
            </a:pPr>
            <a:r>
              <a:rPr lang="en-US" sz="1102" dirty="0">
                <a:solidFill>
                  <a:srgbClr val="F8F9FA"/>
                </a:solidFill>
                <a:latin typeface="MiSans" pitchFamily="34" charset="0"/>
                <a:ea typeface="MiSans" pitchFamily="34" charset="-122"/>
                <a:cs typeface="MiSans" pitchFamily="34" charset="-120"/>
              </a:rPr>
              <a:t> that review the quality of formative assessment implementation and identify areas for development</a:t>
            </a:r>
            <a:endParaRPr lang="en-US" sz="1600" dirty="0"/>
          </a:p>
        </p:txBody>
      </p:sp>
      <p:sp>
        <p:nvSpPr>
          <p:cNvPr id="26" name="Shape 24"/>
          <p:cNvSpPr/>
          <p:nvPr/>
        </p:nvSpPr>
        <p:spPr>
          <a:xfrm>
            <a:off x="6165094" y="997050"/>
            <a:ext cx="5676189" cy="2763753"/>
          </a:xfrm>
          <a:custGeom>
            <a:avLst/>
            <a:gdLst/>
            <a:ahLst/>
            <a:cxnLst/>
            <a:rect l="l" t="t" r="r" b="b"/>
            <a:pathLst>
              <a:path w="5676189" h="2763753">
                <a:moveTo>
                  <a:pt x="0" y="0"/>
                </a:moveTo>
                <a:lnTo>
                  <a:pt x="5676189" y="0"/>
                </a:lnTo>
                <a:lnTo>
                  <a:pt x="5676189" y="2763753"/>
                </a:lnTo>
                <a:lnTo>
                  <a:pt x="0" y="2763753"/>
                </a:lnTo>
                <a:lnTo>
                  <a:pt x="0" y="0"/>
                </a:lnTo>
                <a:close/>
              </a:path>
            </a:pathLst>
          </a:custGeom>
          <a:solidFill>
            <a:srgbClr val="FFFFFF"/>
          </a:solidFill>
          <a:ln/>
        </p:spPr>
      </p:sp>
      <p:sp>
        <p:nvSpPr>
          <p:cNvPr id="27" name="Shape 25"/>
          <p:cNvSpPr/>
          <p:nvPr/>
        </p:nvSpPr>
        <p:spPr>
          <a:xfrm>
            <a:off x="6165094" y="997050"/>
            <a:ext cx="5676189" cy="34984"/>
          </a:xfrm>
          <a:custGeom>
            <a:avLst/>
            <a:gdLst/>
            <a:ahLst/>
            <a:cxnLst/>
            <a:rect l="l" t="t" r="r" b="b"/>
            <a:pathLst>
              <a:path w="5676189" h="34984">
                <a:moveTo>
                  <a:pt x="0" y="0"/>
                </a:moveTo>
                <a:lnTo>
                  <a:pt x="5676189" y="0"/>
                </a:lnTo>
                <a:lnTo>
                  <a:pt x="5676189" y="34984"/>
                </a:lnTo>
                <a:lnTo>
                  <a:pt x="0" y="34984"/>
                </a:lnTo>
                <a:lnTo>
                  <a:pt x="0" y="0"/>
                </a:lnTo>
                <a:close/>
              </a:path>
            </a:pathLst>
          </a:custGeom>
          <a:solidFill>
            <a:srgbClr val="C49A2C"/>
          </a:solidFill>
          <a:ln/>
        </p:spPr>
      </p:sp>
      <p:sp>
        <p:nvSpPr>
          <p:cNvPr id="28" name="Text 26"/>
          <p:cNvSpPr/>
          <p:nvPr/>
        </p:nvSpPr>
        <p:spPr>
          <a:xfrm>
            <a:off x="6305031" y="1154479"/>
            <a:ext cx="5483776" cy="244890"/>
          </a:xfrm>
          <a:prstGeom prst="rect">
            <a:avLst/>
          </a:prstGeom>
          <a:noFill/>
          <a:ln/>
        </p:spPr>
        <p:txBody>
          <a:bodyPr wrap="square" lIns="0" tIns="0" rIns="0" bIns="0" rtlCol="0" anchor="ctr"/>
          <a:lstStyle/>
          <a:p>
            <a:pPr>
              <a:lnSpc>
                <a:spcPct val="120000"/>
              </a:lnSpc>
            </a:pPr>
            <a:r>
              <a:rPr lang="en-US" sz="1377" b="1" dirty="0">
                <a:solidFill>
                  <a:srgbClr val="1E3A5F"/>
                </a:solidFill>
                <a:latin typeface="MiSans" pitchFamily="34" charset="0"/>
                <a:ea typeface="MiSans" pitchFamily="34" charset="-122"/>
                <a:cs typeface="MiSans" pitchFamily="34" charset="-120"/>
              </a:rPr>
              <a:t>This Architecture Is Not a Guarantee</a:t>
            </a:r>
            <a:endParaRPr lang="en-US" sz="1600" dirty="0"/>
          </a:p>
        </p:txBody>
      </p:sp>
      <p:sp>
        <p:nvSpPr>
          <p:cNvPr id="29" name="Text 27"/>
          <p:cNvSpPr/>
          <p:nvPr/>
        </p:nvSpPr>
        <p:spPr>
          <a:xfrm>
            <a:off x="6305031" y="1504321"/>
            <a:ext cx="5466284" cy="682192"/>
          </a:xfrm>
          <a:prstGeom prst="rect">
            <a:avLst/>
          </a:prstGeom>
          <a:noFill/>
          <a:ln/>
        </p:spPr>
        <p:txBody>
          <a:bodyPr wrap="square" lIns="0" tIns="0" rIns="0" bIns="0" rtlCol="0" anchor="ctr"/>
          <a:lstStyle/>
          <a:p>
            <a:pPr>
              <a:lnSpc>
                <a:spcPct val="140000"/>
              </a:lnSpc>
            </a:pPr>
            <a:r>
              <a:rPr lang="en-US" sz="1102" dirty="0">
                <a:solidFill>
                  <a:srgbClr val="2D3436"/>
                </a:solidFill>
                <a:latin typeface="MiSans" pitchFamily="34" charset="0"/>
                <a:ea typeface="MiSans" pitchFamily="34" charset="-122"/>
                <a:cs typeface="MiSans" pitchFamily="34" charset="-120"/>
              </a:rPr>
              <a:t>This architecture is </a:t>
            </a:r>
            <a:pPr>
              <a:lnSpc>
                <a:spcPct val="140000"/>
              </a:lnSpc>
            </a:pPr>
            <a:r>
              <a:rPr lang="en-US" sz="1102" b="1" dirty="0">
                <a:solidFill>
                  <a:srgbClr val="2D3436"/>
                </a:solidFill>
                <a:latin typeface="MiSans" pitchFamily="34" charset="0"/>
                <a:ea typeface="MiSans" pitchFamily="34" charset="-122"/>
                <a:cs typeface="MiSans" pitchFamily="34" charset="-120"/>
              </a:rPr>
              <a:t>not a guarantee of effective implementation</a:t>
            </a:r>
            <a:pPr>
              <a:lnSpc>
                <a:spcPct val="140000"/>
              </a:lnSpc>
            </a:pPr>
            <a:r>
              <a:rPr lang="en-US" sz="1102" dirty="0">
                <a:solidFill>
                  <a:srgbClr val="2D3436"/>
                </a:solidFill>
                <a:latin typeface="MiSans" pitchFamily="34" charset="0"/>
                <a:ea typeface="MiSans" pitchFamily="34" charset="-122"/>
                <a:cs typeface="MiSans" pitchFamily="34" charset="-120"/>
              </a:rPr>
              <a:t>. It is a framework within which effective implementation is </a:t>
            </a:r>
            <a:pPr>
              <a:lnSpc>
                <a:spcPct val="140000"/>
              </a:lnSpc>
            </a:pPr>
            <a:r>
              <a:rPr lang="en-US" sz="1102" b="1" dirty="0">
                <a:solidFill>
                  <a:srgbClr val="2D3436"/>
                </a:solidFill>
                <a:latin typeface="MiSans" pitchFamily="34" charset="0"/>
                <a:ea typeface="MiSans" pitchFamily="34" charset="-122"/>
                <a:cs typeface="MiSans" pitchFamily="34" charset="-120"/>
              </a:rPr>
              <a:t>more likely</a:t>
            </a:r>
            <a:pPr>
              <a:lnSpc>
                <a:spcPct val="140000"/>
              </a:lnSpc>
            </a:pPr>
            <a:r>
              <a:rPr lang="en-US" sz="1102" dirty="0">
                <a:solidFill>
                  <a:srgbClr val="2D3436"/>
                </a:solidFill>
                <a:latin typeface="MiSans" pitchFamily="34" charset="0"/>
                <a:ea typeface="MiSans" pitchFamily="34" charset="-122"/>
                <a:cs typeface="MiSans" pitchFamily="34" charset="-120"/>
              </a:rPr>
              <a:t>, provided that schools engage with it substantively rather than performatively.</a:t>
            </a:r>
            <a:endParaRPr lang="en-US" sz="1600" dirty="0"/>
          </a:p>
        </p:txBody>
      </p:sp>
      <p:sp>
        <p:nvSpPr>
          <p:cNvPr id="30" name="Shape 28"/>
          <p:cNvSpPr/>
          <p:nvPr/>
        </p:nvSpPr>
        <p:spPr>
          <a:xfrm>
            <a:off x="6322523" y="2291466"/>
            <a:ext cx="5378824" cy="629716"/>
          </a:xfrm>
          <a:custGeom>
            <a:avLst/>
            <a:gdLst/>
            <a:ahLst/>
            <a:cxnLst/>
            <a:rect l="l" t="t" r="r" b="b"/>
            <a:pathLst>
              <a:path w="5378824" h="629716">
                <a:moveTo>
                  <a:pt x="0" y="0"/>
                </a:moveTo>
                <a:lnTo>
                  <a:pt x="5378824" y="0"/>
                </a:lnTo>
                <a:lnTo>
                  <a:pt x="5378824" y="629716"/>
                </a:lnTo>
                <a:lnTo>
                  <a:pt x="0" y="629716"/>
                </a:lnTo>
                <a:lnTo>
                  <a:pt x="0" y="0"/>
                </a:lnTo>
                <a:close/>
              </a:path>
            </a:pathLst>
          </a:custGeom>
          <a:solidFill>
            <a:srgbClr val="F0FDF4"/>
          </a:solidFill>
          <a:ln/>
        </p:spPr>
      </p:sp>
      <p:sp>
        <p:nvSpPr>
          <p:cNvPr id="31" name="Shape 29"/>
          <p:cNvSpPr/>
          <p:nvPr/>
        </p:nvSpPr>
        <p:spPr>
          <a:xfrm>
            <a:off x="6322523" y="2291466"/>
            <a:ext cx="34984" cy="629716"/>
          </a:xfrm>
          <a:custGeom>
            <a:avLst/>
            <a:gdLst/>
            <a:ahLst/>
            <a:cxnLst/>
            <a:rect l="l" t="t" r="r" b="b"/>
            <a:pathLst>
              <a:path w="34984" h="629716">
                <a:moveTo>
                  <a:pt x="0" y="0"/>
                </a:moveTo>
                <a:lnTo>
                  <a:pt x="34984" y="0"/>
                </a:lnTo>
                <a:lnTo>
                  <a:pt x="34984" y="629716"/>
                </a:lnTo>
                <a:lnTo>
                  <a:pt x="0" y="629716"/>
                </a:lnTo>
                <a:lnTo>
                  <a:pt x="0" y="0"/>
                </a:lnTo>
                <a:close/>
              </a:path>
            </a:pathLst>
          </a:custGeom>
          <a:solidFill>
            <a:srgbClr val="00A63E"/>
          </a:solidFill>
          <a:ln/>
        </p:spPr>
      </p:sp>
      <p:sp>
        <p:nvSpPr>
          <p:cNvPr id="32" name="Shape 30"/>
          <p:cNvSpPr/>
          <p:nvPr/>
        </p:nvSpPr>
        <p:spPr>
          <a:xfrm>
            <a:off x="6471206" y="2435776"/>
            <a:ext cx="122445" cy="139937"/>
          </a:xfrm>
          <a:custGeom>
            <a:avLst/>
            <a:gdLst/>
            <a:ahLst/>
            <a:cxnLst/>
            <a:rect l="l" t="t" r="r" b="b"/>
            <a:pathLst>
              <a:path w="122445" h="139937">
                <a:moveTo>
                  <a:pt x="118837" y="19159"/>
                </a:moveTo>
                <a:cubicBezTo>
                  <a:pt x="122745" y="22002"/>
                  <a:pt x="123620" y="27468"/>
                  <a:pt x="120778" y="31376"/>
                </a:cubicBezTo>
                <a:lnTo>
                  <a:pt x="50809" y="127583"/>
                </a:lnTo>
                <a:cubicBezTo>
                  <a:pt x="49306" y="129660"/>
                  <a:pt x="46983" y="130945"/>
                  <a:pt x="44414" y="131163"/>
                </a:cubicBezTo>
                <a:cubicBezTo>
                  <a:pt x="41844" y="131382"/>
                  <a:pt x="39357" y="130426"/>
                  <a:pt x="37553" y="128622"/>
                </a:cubicBezTo>
                <a:lnTo>
                  <a:pt x="2569" y="93637"/>
                </a:lnTo>
                <a:cubicBezTo>
                  <a:pt x="-847" y="90221"/>
                  <a:pt x="-847" y="84673"/>
                  <a:pt x="2569" y="81256"/>
                </a:cubicBezTo>
                <a:cubicBezTo>
                  <a:pt x="5986" y="77840"/>
                  <a:pt x="11534" y="77840"/>
                  <a:pt x="14950" y="81256"/>
                </a:cubicBezTo>
                <a:lnTo>
                  <a:pt x="42692" y="108998"/>
                </a:lnTo>
                <a:lnTo>
                  <a:pt x="106647" y="21073"/>
                </a:lnTo>
                <a:cubicBezTo>
                  <a:pt x="109490" y="17164"/>
                  <a:pt x="114956" y="16290"/>
                  <a:pt x="118864" y="19132"/>
                </a:cubicBezTo>
                <a:close/>
              </a:path>
            </a:pathLst>
          </a:custGeom>
          <a:solidFill>
            <a:srgbClr val="00A63E"/>
          </a:solidFill>
          <a:ln/>
        </p:spPr>
      </p:sp>
      <p:sp>
        <p:nvSpPr>
          <p:cNvPr id="33" name="Text 31"/>
          <p:cNvSpPr/>
          <p:nvPr/>
        </p:nvSpPr>
        <p:spPr>
          <a:xfrm>
            <a:off x="6668074" y="2396419"/>
            <a:ext cx="4998289" cy="419811"/>
          </a:xfrm>
          <a:prstGeom prst="rect">
            <a:avLst/>
          </a:prstGeom>
          <a:noFill/>
          <a:ln/>
        </p:spPr>
        <p:txBody>
          <a:bodyPr wrap="square" lIns="0" tIns="0" rIns="0" bIns="0" rtlCol="0" anchor="ctr"/>
          <a:lstStyle/>
          <a:p>
            <a:pPr>
              <a:lnSpc>
                <a:spcPct val="130000"/>
              </a:lnSpc>
            </a:pPr>
            <a:r>
              <a:rPr lang="en-US" sz="1102" b="1" dirty="0">
                <a:solidFill>
                  <a:srgbClr val="2D3436"/>
                </a:solidFill>
                <a:latin typeface="MiSans" pitchFamily="34" charset="0"/>
                <a:ea typeface="MiSans" pitchFamily="34" charset="-122"/>
                <a:cs typeface="MiSans" pitchFamily="34" charset="-120"/>
              </a:rPr>
              <a:t>Substantive engagement:</a:t>
            </a:r>
            <a:pPr>
              <a:lnSpc>
                <a:spcPct val="130000"/>
              </a:lnSpc>
            </a:pPr>
            <a:r>
              <a:rPr lang="en-US" sz="1102" dirty="0">
                <a:solidFill>
                  <a:srgbClr val="2D3436"/>
                </a:solidFill>
                <a:latin typeface="MiSans" pitchFamily="34" charset="0"/>
                <a:ea typeface="MiSans" pitchFamily="34" charset="-122"/>
                <a:cs typeface="MiSans" pitchFamily="34" charset="-120"/>
              </a:rPr>
              <a:t> Schools that use the assessment data to inform instruction, adjust scaffolding, and review curriculum sequencing</a:t>
            </a:r>
            <a:endParaRPr lang="en-US" sz="1600" dirty="0"/>
          </a:p>
        </p:txBody>
      </p:sp>
      <p:sp>
        <p:nvSpPr>
          <p:cNvPr id="34" name="Shape 32"/>
          <p:cNvSpPr/>
          <p:nvPr/>
        </p:nvSpPr>
        <p:spPr>
          <a:xfrm>
            <a:off x="6322523" y="2991151"/>
            <a:ext cx="5378824" cy="629716"/>
          </a:xfrm>
          <a:custGeom>
            <a:avLst/>
            <a:gdLst/>
            <a:ahLst/>
            <a:cxnLst/>
            <a:rect l="l" t="t" r="r" b="b"/>
            <a:pathLst>
              <a:path w="5378824" h="629716">
                <a:moveTo>
                  <a:pt x="0" y="0"/>
                </a:moveTo>
                <a:lnTo>
                  <a:pt x="5378824" y="0"/>
                </a:lnTo>
                <a:lnTo>
                  <a:pt x="5378824" y="629716"/>
                </a:lnTo>
                <a:lnTo>
                  <a:pt x="0" y="629716"/>
                </a:lnTo>
                <a:lnTo>
                  <a:pt x="0" y="0"/>
                </a:lnTo>
                <a:close/>
              </a:path>
            </a:pathLst>
          </a:custGeom>
          <a:solidFill>
            <a:srgbClr val="FEF2F2"/>
          </a:solidFill>
          <a:ln/>
        </p:spPr>
      </p:sp>
      <p:sp>
        <p:nvSpPr>
          <p:cNvPr id="35" name="Shape 33"/>
          <p:cNvSpPr/>
          <p:nvPr/>
        </p:nvSpPr>
        <p:spPr>
          <a:xfrm>
            <a:off x="6322523" y="2991151"/>
            <a:ext cx="34984" cy="629716"/>
          </a:xfrm>
          <a:custGeom>
            <a:avLst/>
            <a:gdLst/>
            <a:ahLst/>
            <a:cxnLst/>
            <a:rect l="l" t="t" r="r" b="b"/>
            <a:pathLst>
              <a:path w="34984" h="629716">
                <a:moveTo>
                  <a:pt x="0" y="0"/>
                </a:moveTo>
                <a:lnTo>
                  <a:pt x="34984" y="0"/>
                </a:lnTo>
                <a:lnTo>
                  <a:pt x="34984" y="629716"/>
                </a:lnTo>
                <a:lnTo>
                  <a:pt x="0" y="629716"/>
                </a:lnTo>
                <a:lnTo>
                  <a:pt x="0" y="0"/>
                </a:lnTo>
                <a:close/>
              </a:path>
            </a:pathLst>
          </a:custGeom>
          <a:solidFill>
            <a:srgbClr val="E7000B"/>
          </a:solidFill>
          <a:ln/>
        </p:spPr>
      </p:sp>
      <p:sp>
        <p:nvSpPr>
          <p:cNvPr id="36" name="Shape 34"/>
          <p:cNvSpPr/>
          <p:nvPr/>
        </p:nvSpPr>
        <p:spPr>
          <a:xfrm>
            <a:off x="6479952" y="3135461"/>
            <a:ext cx="104953" cy="139937"/>
          </a:xfrm>
          <a:custGeom>
            <a:avLst/>
            <a:gdLst/>
            <a:ahLst/>
            <a:cxnLst/>
            <a:rect l="l" t="t" r="r" b="b"/>
            <a:pathLst>
              <a:path w="104953" h="139937">
                <a:moveTo>
                  <a:pt x="15060" y="20061"/>
                </a:moveTo>
                <a:cubicBezTo>
                  <a:pt x="11643" y="16645"/>
                  <a:pt x="6095" y="16645"/>
                  <a:pt x="2678" y="20061"/>
                </a:cubicBezTo>
                <a:cubicBezTo>
                  <a:pt x="-738" y="23478"/>
                  <a:pt x="-738" y="29026"/>
                  <a:pt x="2678" y="32442"/>
                </a:cubicBezTo>
                <a:lnTo>
                  <a:pt x="40232" y="69968"/>
                </a:lnTo>
                <a:lnTo>
                  <a:pt x="2706" y="107522"/>
                </a:lnTo>
                <a:cubicBezTo>
                  <a:pt x="-711" y="110938"/>
                  <a:pt x="-711" y="116487"/>
                  <a:pt x="2706" y="119903"/>
                </a:cubicBezTo>
                <a:cubicBezTo>
                  <a:pt x="6122" y="123319"/>
                  <a:pt x="11671" y="123319"/>
                  <a:pt x="15087" y="119903"/>
                </a:cubicBezTo>
                <a:lnTo>
                  <a:pt x="52613" y="82350"/>
                </a:lnTo>
                <a:lnTo>
                  <a:pt x="90166" y="119876"/>
                </a:lnTo>
                <a:cubicBezTo>
                  <a:pt x="93583" y="123292"/>
                  <a:pt x="99131" y="123292"/>
                  <a:pt x="102547" y="119876"/>
                </a:cubicBezTo>
                <a:cubicBezTo>
                  <a:pt x="105964" y="116459"/>
                  <a:pt x="105964" y="110911"/>
                  <a:pt x="102547" y="107494"/>
                </a:cubicBezTo>
                <a:lnTo>
                  <a:pt x="64994" y="69968"/>
                </a:lnTo>
                <a:lnTo>
                  <a:pt x="102520" y="32415"/>
                </a:lnTo>
                <a:cubicBezTo>
                  <a:pt x="105937" y="28999"/>
                  <a:pt x="105937" y="23450"/>
                  <a:pt x="102520" y="20034"/>
                </a:cubicBezTo>
                <a:cubicBezTo>
                  <a:pt x="99104" y="16618"/>
                  <a:pt x="93555" y="16618"/>
                  <a:pt x="90139" y="20034"/>
                </a:cubicBezTo>
                <a:lnTo>
                  <a:pt x="52613" y="57587"/>
                </a:lnTo>
                <a:lnTo>
                  <a:pt x="15060" y="20061"/>
                </a:lnTo>
                <a:close/>
              </a:path>
            </a:pathLst>
          </a:custGeom>
          <a:solidFill>
            <a:srgbClr val="E7000B"/>
          </a:solidFill>
          <a:ln/>
        </p:spPr>
      </p:sp>
      <p:sp>
        <p:nvSpPr>
          <p:cNvPr id="37" name="Text 35"/>
          <p:cNvSpPr/>
          <p:nvPr/>
        </p:nvSpPr>
        <p:spPr>
          <a:xfrm>
            <a:off x="6668074" y="3096103"/>
            <a:ext cx="4998289" cy="419811"/>
          </a:xfrm>
          <a:prstGeom prst="rect">
            <a:avLst/>
          </a:prstGeom>
          <a:noFill/>
          <a:ln/>
        </p:spPr>
        <p:txBody>
          <a:bodyPr wrap="square" lIns="0" tIns="0" rIns="0" bIns="0" rtlCol="0" anchor="ctr"/>
          <a:lstStyle/>
          <a:p>
            <a:pPr>
              <a:lnSpc>
                <a:spcPct val="130000"/>
              </a:lnSpc>
            </a:pPr>
            <a:r>
              <a:rPr lang="en-US" sz="1102" b="1" dirty="0">
                <a:solidFill>
                  <a:srgbClr val="2D3436"/>
                </a:solidFill>
                <a:latin typeface="MiSans" pitchFamily="34" charset="0"/>
                <a:ea typeface="MiSans" pitchFamily="34" charset="-122"/>
                <a:cs typeface="MiSans" pitchFamily="34" charset="-120"/>
              </a:rPr>
              <a:t>Performative engagement:</a:t>
            </a:r>
            <a:pPr>
              <a:lnSpc>
                <a:spcPct val="130000"/>
              </a:lnSpc>
            </a:pPr>
            <a:r>
              <a:rPr lang="en-US" sz="1102" dirty="0">
                <a:solidFill>
                  <a:srgbClr val="2D3436"/>
                </a:solidFill>
                <a:latin typeface="MiSans" pitchFamily="34" charset="0"/>
                <a:ea typeface="MiSans" pitchFamily="34" charset="-122"/>
                <a:cs typeface="MiSans" pitchFamily="34" charset="-120"/>
              </a:rPr>
              <a:t> Schools that administer the assessments but do not use the data to change practice</a:t>
            </a:r>
            <a:endParaRPr lang="en-US" sz="1600" dirty="0"/>
          </a:p>
        </p:txBody>
      </p:sp>
      <p:sp>
        <p:nvSpPr>
          <p:cNvPr id="38" name="Shape 36"/>
          <p:cNvSpPr/>
          <p:nvPr/>
        </p:nvSpPr>
        <p:spPr>
          <a:xfrm>
            <a:off x="6182586" y="3865756"/>
            <a:ext cx="5658697" cy="1189463"/>
          </a:xfrm>
          <a:custGeom>
            <a:avLst/>
            <a:gdLst/>
            <a:ahLst/>
            <a:cxnLst/>
            <a:rect l="l" t="t" r="r" b="b"/>
            <a:pathLst>
              <a:path w="5658697" h="1189463">
                <a:moveTo>
                  <a:pt x="0" y="0"/>
                </a:moveTo>
                <a:lnTo>
                  <a:pt x="5658697" y="0"/>
                </a:lnTo>
                <a:lnTo>
                  <a:pt x="5658697" y="1189463"/>
                </a:lnTo>
                <a:lnTo>
                  <a:pt x="0" y="1189463"/>
                </a:lnTo>
                <a:lnTo>
                  <a:pt x="0" y="0"/>
                </a:lnTo>
                <a:close/>
              </a:path>
            </a:pathLst>
          </a:custGeom>
          <a:solidFill>
            <a:srgbClr val="C49A2C">
              <a:alpha val="10196"/>
            </a:srgbClr>
          </a:solidFill>
          <a:ln/>
        </p:spPr>
      </p:sp>
      <p:sp>
        <p:nvSpPr>
          <p:cNvPr id="39" name="Shape 37"/>
          <p:cNvSpPr/>
          <p:nvPr/>
        </p:nvSpPr>
        <p:spPr>
          <a:xfrm>
            <a:off x="6182586" y="3865756"/>
            <a:ext cx="34984" cy="1189463"/>
          </a:xfrm>
          <a:custGeom>
            <a:avLst/>
            <a:gdLst/>
            <a:ahLst/>
            <a:cxnLst/>
            <a:rect l="l" t="t" r="r" b="b"/>
            <a:pathLst>
              <a:path w="34984" h="1189463">
                <a:moveTo>
                  <a:pt x="0" y="0"/>
                </a:moveTo>
                <a:lnTo>
                  <a:pt x="34984" y="0"/>
                </a:lnTo>
                <a:lnTo>
                  <a:pt x="34984" y="1189463"/>
                </a:lnTo>
                <a:lnTo>
                  <a:pt x="0" y="1189463"/>
                </a:lnTo>
                <a:lnTo>
                  <a:pt x="0" y="0"/>
                </a:lnTo>
                <a:close/>
              </a:path>
            </a:pathLst>
          </a:custGeom>
          <a:solidFill>
            <a:srgbClr val="C49A2C"/>
          </a:solidFill>
          <a:ln/>
        </p:spPr>
      </p:sp>
      <p:sp>
        <p:nvSpPr>
          <p:cNvPr id="40" name="Shape 38"/>
          <p:cNvSpPr/>
          <p:nvPr/>
        </p:nvSpPr>
        <p:spPr>
          <a:xfrm>
            <a:off x="6357507" y="4053796"/>
            <a:ext cx="139937" cy="139937"/>
          </a:xfrm>
          <a:custGeom>
            <a:avLst/>
            <a:gdLst/>
            <a:ahLst/>
            <a:cxnLst/>
            <a:rect l="l" t="t" r="r" b="b"/>
            <a:pathLst>
              <a:path w="139937" h="139937">
                <a:moveTo>
                  <a:pt x="69968" y="0"/>
                </a:moveTo>
                <a:cubicBezTo>
                  <a:pt x="73986" y="0"/>
                  <a:pt x="77676" y="2214"/>
                  <a:pt x="79589" y="5740"/>
                </a:cubicBezTo>
                <a:lnTo>
                  <a:pt x="138625" y="115065"/>
                </a:lnTo>
                <a:cubicBezTo>
                  <a:pt x="140456" y="118454"/>
                  <a:pt x="140374" y="122554"/>
                  <a:pt x="138406" y="125861"/>
                </a:cubicBezTo>
                <a:cubicBezTo>
                  <a:pt x="136438" y="129168"/>
                  <a:pt x="132858" y="131191"/>
                  <a:pt x="129004" y="131191"/>
                </a:cubicBezTo>
                <a:lnTo>
                  <a:pt x="10933" y="131191"/>
                </a:lnTo>
                <a:cubicBezTo>
                  <a:pt x="7079" y="131191"/>
                  <a:pt x="3526" y="129168"/>
                  <a:pt x="1531" y="125861"/>
                </a:cubicBezTo>
                <a:cubicBezTo>
                  <a:pt x="-465" y="122554"/>
                  <a:pt x="-519" y="118454"/>
                  <a:pt x="1312" y="115065"/>
                </a:cubicBezTo>
                <a:lnTo>
                  <a:pt x="60348" y="5740"/>
                </a:lnTo>
                <a:cubicBezTo>
                  <a:pt x="62261" y="2214"/>
                  <a:pt x="65951" y="0"/>
                  <a:pt x="69968" y="0"/>
                </a:cubicBezTo>
                <a:close/>
                <a:moveTo>
                  <a:pt x="69968" y="45917"/>
                </a:moveTo>
                <a:cubicBezTo>
                  <a:pt x="66333" y="45917"/>
                  <a:pt x="63409" y="48841"/>
                  <a:pt x="63409" y="52476"/>
                </a:cubicBezTo>
                <a:lnTo>
                  <a:pt x="63409" y="83088"/>
                </a:lnTo>
                <a:cubicBezTo>
                  <a:pt x="63409" y="86723"/>
                  <a:pt x="66333" y="89647"/>
                  <a:pt x="69968" y="89647"/>
                </a:cubicBezTo>
                <a:cubicBezTo>
                  <a:pt x="73604" y="89647"/>
                  <a:pt x="76528" y="86723"/>
                  <a:pt x="76528" y="83088"/>
                </a:cubicBezTo>
                <a:lnTo>
                  <a:pt x="76528" y="52476"/>
                </a:lnTo>
                <a:cubicBezTo>
                  <a:pt x="76528" y="48841"/>
                  <a:pt x="73604" y="45917"/>
                  <a:pt x="69968" y="45917"/>
                </a:cubicBezTo>
                <a:close/>
                <a:moveTo>
                  <a:pt x="77266" y="104953"/>
                </a:moveTo>
                <a:cubicBezTo>
                  <a:pt x="77432" y="102244"/>
                  <a:pt x="76081" y="99667"/>
                  <a:pt x="73759" y="98262"/>
                </a:cubicBezTo>
                <a:cubicBezTo>
                  <a:pt x="71437" y="96858"/>
                  <a:pt x="68527" y="96858"/>
                  <a:pt x="66205" y="98262"/>
                </a:cubicBezTo>
                <a:cubicBezTo>
                  <a:pt x="63883" y="99667"/>
                  <a:pt x="62532" y="102244"/>
                  <a:pt x="62698" y="104953"/>
                </a:cubicBezTo>
                <a:cubicBezTo>
                  <a:pt x="62532" y="107661"/>
                  <a:pt x="63883" y="110239"/>
                  <a:pt x="66205" y="111643"/>
                </a:cubicBezTo>
                <a:cubicBezTo>
                  <a:pt x="68527" y="113048"/>
                  <a:pt x="71437" y="113048"/>
                  <a:pt x="73759" y="111643"/>
                </a:cubicBezTo>
                <a:cubicBezTo>
                  <a:pt x="76081" y="110239"/>
                  <a:pt x="77432" y="107661"/>
                  <a:pt x="77266" y="104953"/>
                </a:cubicBezTo>
                <a:close/>
              </a:path>
            </a:pathLst>
          </a:custGeom>
          <a:solidFill>
            <a:srgbClr val="C49A2C"/>
          </a:solidFill>
          <a:ln/>
        </p:spPr>
      </p:sp>
      <p:sp>
        <p:nvSpPr>
          <p:cNvPr id="41" name="Text 39"/>
          <p:cNvSpPr/>
          <p:nvPr/>
        </p:nvSpPr>
        <p:spPr>
          <a:xfrm>
            <a:off x="6563121" y="4005693"/>
            <a:ext cx="5208194" cy="909590"/>
          </a:xfrm>
          <a:prstGeom prst="rect">
            <a:avLst/>
          </a:prstGeom>
          <a:noFill/>
          <a:ln/>
        </p:spPr>
        <p:txBody>
          <a:bodyPr wrap="square" lIns="0" tIns="0" rIns="0" bIns="0" rtlCol="0" anchor="ctr"/>
          <a:lstStyle/>
          <a:p>
            <a:pPr>
              <a:lnSpc>
                <a:spcPct val="140000"/>
              </a:lnSpc>
            </a:pPr>
            <a:r>
              <a:rPr lang="en-US" sz="1102" b="1" dirty="0">
                <a:solidFill>
                  <a:srgbClr val="1E3A5F"/>
                </a:solidFill>
                <a:latin typeface="MiSans" pitchFamily="34" charset="0"/>
                <a:ea typeface="MiSans" pitchFamily="34" charset="-122"/>
                <a:cs typeface="MiSans" pitchFamily="34" charset="-120"/>
              </a:rPr>
              <a:t>Implementation Quality Varies:</a:t>
            </a:r>
            <a:pPr>
              <a:lnSpc>
                <a:spcPct val="140000"/>
              </a:lnSpc>
            </a:pPr>
            <a:r>
              <a:rPr lang="en-US" sz="1102" dirty="0">
                <a:solidFill>
                  <a:srgbClr val="1E3A5F"/>
                </a:solidFill>
                <a:latin typeface="MiSans" pitchFamily="34" charset="0"/>
                <a:ea typeface="MiSans" pitchFamily="34" charset="-122"/>
                <a:cs typeface="MiSans" pitchFamily="34" charset="-120"/>
              </a:rPr>
              <a:t> The case studies that follow illustrate both the potential of the MPI when implementation is strong and the challenges when implementation is weak or inconsistent. Staff should be aware that </a:t>
            </a:r>
            <a:pPr>
              <a:lnSpc>
                <a:spcPct val="140000"/>
              </a:lnSpc>
            </a:pPr>
            <a:r>
              <a:rPr lang="en-US" sz="1102" b="1" dirty="0">
                <a:solidFill>
                  <a:srgbClr val="1E3A5F"/>
                </a:solidFill>
                <a:latin typeface="MiSans" pitchFamily="34" charset="0"/>
                <a:ea typeface="MiSans" pitchFamily="34" charset="-122"/>
                <a:cs typeface="MiSans" pitchFamily="34" charset="-120"/>
              </a:rPr>
              <a:t>not all partner schools achieve the outcomes illustrated in Meridian's promotional materials</a:t>
            </a:r>
            <a:pPr>
              <a:lnSpc>
                <a:spcPct val="140000"/>
              </a:lnSpc>
            </a:pPr>
            <a:r>
              <a:rPr lang="en-US" sz="1102" dirty="0">
                <a:solidFill>
                  <a:srgbClr val="1E3A5F"/>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42954" y="342954"/>
            <a:ext cx="68591" cy="411544"/>
          </a:xfrm>
          <a:custGeom>
            <a:avLst/>
            <a:gdLst/>
            <a:ahLst/>
            <a:cxnLst/>
            <a:rect l="l" t="t" r="r" b="b"/>
            <a:pathLst>
              <a:path w="68591" h="411544">
                <a:moveTo>
                  <a:pt x="0" y="0"/>
                </a:moveTo>
                <a:lnTo>
                  <a:pt x="68591" y="0"/>
                </a:lnTo>
                <a:lnTo>
                  <a:pt x="68591" y="411544"/>
                </a:lnTo>
                <a:lnTo>
                  <a:pt x="0" y="411544"/>
                </a:lnTo>
                <a:lnTo>
                  <a:pt x="0" y="0"/>
                </a:lnTo>
                <a:close/>
              </a:path>
            </a:pathLst>
          </a:custGeom>
          <a:solidFill>
            <a:srgbClr val="00A63E"/>
          </a:solidFill>
          <a:ln/>
        </p:spPr>
      </p:sp>
      <p:sp>
        <p:nvSpPr>
          <p:cNvPr id="3" name="Text 1"/>
          <p:cNvSpPr/>
          <p:nvPr/>
        </p:nvSpPr>
        <p:spPr>
          <a:xfrm>
            <a:off x="514430" y="394397"/>
            <a:ext cx="7279190" cy="308658"/>
          </a:xfrm>
          <a:prstGeom prst="rect">
            <a:avLst/>
          </a:prstGeom>
          <a:noFill/>
          <a:ln/>
        </p:spPr>
        <p:txBody>
          <a:bodyPr wrap="square" lIns="0" tIns="0" rIns="0" bIns="0" rtlCol="0" anchor="ctr"/>
          <a:lstStyle/>
          <a:p>
            <a:pPr>
              <a:lnSpc>
                <a:spcPct val="100000"/>
              </a:lnSpc>
            </a:pPr>
            <a:r>
              <a:rPr lang="en-US" sz="2025" b="1" dirty="0">
                <a:solidFill>
                  <a:srgbClr val="1E3A5F"/>
                </a:solidFill>
                <a:latin typeface="MiSans" pitchFamily="34" charset="0"/>
                <a:ea typeface="MiSans" pitchFamily="34" charset="-122"/>
                <a:cs typeface="MiSans" pitchFamily="34" charset="-120"/>
              </a:rPr>
              <a:t>Case Study: Westfield Academy — Strong Implementation</a:t>
            </a:r>
            <a:endParaRPr lang="en-US" sz="1600" dirty="0"/>
          </a:p>
        </p:txBody>
      </p:sp>
      <p:sp>
        <p:nvSpPr>
          <p:cNvPr id="4" name="Shape 2"/>
          <p:cNvSpPr/>
          <p:nvPr/>
        </p:nvSpPr>
        <p:spPr>
          <a:xfrm>
            <a:off x="342954" y="977418"/>
            <a:ext cx="5684456" cy="1800506"/>
          </a:xfrm>
          <a:custGeom>
            <a:avLst/>
            <a:gdLst/>
            <a:ahLst/>
            <a:cxnLst/>
            <a:rect l="l" t="t" r="r" b="b"/>
            <a:pathLst>
              <a:path w="5684456" h="1800506">
                <a:moveTo>
                  <a:pt x="0" y="0"/>
                </a:moveTo>
                <a:lnTo>
                  <a:pt x="5684456" y="0"/>
                </a:lnTo>
                <a:lnTo>
                  <a:pt x="5684456" y="1800506"/>
                </a:lnTo>
                <a:lnTo>
                  <a:pt x="0" y="1800506"/>
                </a:lnTo>
                <a:lnTo>
                  <a:pt x="0" y="0"/>
                </a:lnTo>
                <a:close/>
              </a:path>
            </a:pathLst>
          </a:custGeom>
          <a:solidFill>
            <a:srgbClr val="FFFFFF"/>
          </a:solidFill>
          <a:ln/>
        </p:spPr>
      </p:sp>
      <p:sp>
        <p:nvSpPr>
          <p:cNvPr id="5" name="Shape 3"/>
          <p:cNvSpPr/>
          <p:nvPr/>
        </p:nvSpPr>
        <p:spPr>
          <a:xfrm>
            <a:off x="342954" y="977418"/>
            <a:ext cx="5684456" cy="34295"/>
          </a:xfrm>
          <a:custGeom>
            <a:avLst/>
            <a:gdLst/>
            <a:ahLst/>
            <a:cxnLst/>
            <a:rect l="l" t="t" r="r" b="b"/>
            <a:pathLst>
              <a:path w="5684456" h="34295">
                <a:moveTo>
                  <a:pt x="0" y="0"/>
                </a:moveTo>
                <a:lnTo>
                  <a:pt x="5684456" y="0"/>
                </a:lnTo>
                <a:lnTo>
                  <a:pt x="5684456" y="34295"/>
                </a:lnTo>
                <a:lnTo>
                  <a:pt x="0" y="34295"/>
                </a:lnTo>
                <a:lnTo>
                  <a:pt x="0" y="0"/>
                </a:lnTo>
                <a:close/>
              </a:path>
            </a:pathLst>
          </a:custGeom>
          <a:solidFill>
            <a:srgbClr val="00A63E"/>
          </a:solidFill>
          <a:ln/>
        </p:spPr>
      </p:sp>
      <p:sp>
        <p:nvSpPr>
          <p:cNvPr id="6" name="Text 4"/>
          <p:cNvSpPr/>
          <p:nvPr/>
        </p:nvSpPr>
        <p:spPr>
          <a:xfrm>
            <a:off x="480135" y="1131747"/>
            <a:ext cx="5495831" cy="240068"/>
          </a:xfrm>
          <a:prstGeom prst="rect">
            <a:avLst/>
          </a:prstGeom>
          <a:noFill/>
          <a:ln/>
        </p:spPr>
        <p:txBody>
          <a:bodyPr wrap="square" lIns="0" tIns="0" rIns="0" bIns="0" rtlCol="0" anchor="ctr"/>
          <a:lstStyle/>
          <a:p>
            <a:pPr>
              <a:lnSpc>
                <a:spcPct val="120000"/>
              </a:lnSpc>
            </a:pPr>
            <a:r>
              <a:rPr lang="en-US" sz="1350" b="1" dirty="0">
                <a:solidFill>
                  <a:srgbClr val="008236"/>
                </a:solidFill>
                <a:latin typeface="MiSans" pitchFamily="34" charset="0"/>
                <a:ea typeface="MiSans" pitchFamily="34" charset="-122"/>
                <a:cs typeface="MiSans" pitchFamily="34" charset="-120"/>
              </a:rPr>
              <a:t>School Profile</a:t>
            </a:r>
            <a:endParaRPr lang="en-US" sz="1600" dirty="0"/>
          </a:p>
        </p:txBody>
      </p:sp>
      <p:sp>
        <p:nvSpPr>
          <p:cNvPr id="7" name="Shape 5"/>
          <p:cNvSpPr/>
          <p:nvPr/>
        </p:nvSpPr>
        <p:spPr>
          <a:xfrm>
            <a:off x="480135" y="1474700"/>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8" name="Text 6"/>
          <p:cNvSpPr/>
          <p:nvPr/>
        </p:nvSpPr>
        <p:spPr>
          <a:xfrm>
            <a:off x="480135" y="1474700"/>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Type:</a:t>
            </a:r>
            <a:pPr>
              <a:lnSpc>
                <a:spcPct val="130000"/>
              </a:lnSpc>
            </a:pPr>
            <a:r>
              <a:rPr lang="en-US" sz="1080" dirty="0">
                <a:solidFill>
                  <a:srgbClr val="2D3436"/>
                </a:solidFill>
                <a:latin typeface="MiSans" pitchFamily="34" charset="0"/>
                <a:ea typeface="MiSans" pitchFamily="34" charset="-122"/>
                <a:cs typeface="MiSans" pitchFamily="34" charset="-120"/>
              </a:rPr>
              <a:t> Mixed comprehensive</a:t>
            </a:r>
            <a:endParaRPr lang="en-US" sz="1600" dirty="0"/>
          </a:p>
        </p:txBody>
      </p:sp>
      <p:sp>
        <p:nvSpPr>
          <p:cNvPr id="9" name="Shape 7"/>
          <p:cNvSpPr/>
          <p:nvPr/>
        </p:nvSpPr>
        <p:spPr>
          <a:xfrm>
            <a:off x="3220048" y="1474700"/>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0" name="Text 8"/>
          <p:cNvSpPr/>
          <p:nvPr/>
        </p:nvSpPr>
        <p:spPr>
          <a:xfrm>
            <a:off x="3220048" y="1474700"/>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Size:</a:t>
            </a:r>
            <a:pPr>
              <a:lnSpc>
                <a:spcPct val="130000"/>
              </a:lnSpc>
            </a:pPr>
            <a:r>
              <a:rPr lang="en-US" sz="1080" dirty="0">
                <a:solidFill>
                  <a:srgbClr val="2D3436"/>
                </a:solidFill>
                <a:latin typeface="MiSans" pitchFamily="34" charset="0"/>
                <a:ea typeface="MiSans" pitchFamily="34" charset="-122"/>
                <a:cs typeface="MiSans" pitchFamily="34" charset="-120"/>
              </a:rPr>
              <a:t> ~950 pupils</a:t>
            </a:r>
            <a:endParaRPr lang="en-US" sz="1600" dirty="0"/>
          </a:p>
        </p:txBody>
      </p:sp>
      <p:sp>
        <p:nvSpPr>
          <p:cNvPr id="11" name="Shape 9"/>
          <p:cNvSpPr/>
          <p:nvPr/>
        </p:nvSpPr>
        <p:spPr>
          <a:xfrm>
            <a:off x="480135" y="1886245"/>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2" name="Text 10"/>
          <p:cNvSpPr/>
          <p:nvPr/>
        </p:nvSpPr>
        <p:spPr>
          <a:xfrm>
            <a:off x="480135" y="1886245"/>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Setting:</a:t>
            </a:r>
            <a:pPr>
              <a:lnSpc>
                <a:spcPct val="130000"/>
              </a:lnSpc>
            </a:pPr>
            <a:r>
              <a:rPr lang="en-US" sz="1080" dirty="0">
                <a:solidFill>
                  <a:srgbClr val="2D3436"/>
                </a:solidFill>
                <a:latin typeface="MiSans" pitchFamily="34" charset="0"/>
                <a:ea typeface="MiSans" pitchFamily="34" charset="-122"/>
                <a:cs typeface="MiSans" pitchFamily="34" charset="-120"/>
              </a:rPr>
              <a:t> Semi-rural</a:t>
            </a:r>
            <a:endParaRPr lang="en-US" sz="1600" dirty="0"/>
          </a:p>
        </p:txBody>
      </p:sp>
      <p:sp>
        <p:nvSpPr>
          <p:cNvPr id="13" name="Shape 11"/>
          <p:cNvSpPr/>
          <p:nvPr/>
        </p:nvSpPr>
        <p:spPr>
          <a:xfrm>
            <a:off x="3220048" y="1886245"/>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4" name="Text 12"/>
          <p:cNvSpPr/>
          <p:nvPr/>
        </p:nvSpPr>
        <p:spPr>
          <a:xfrm>
            <a:off x="3220048" y="1886245"/>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Tenure:</a:t>
            </a:r>
            <a:pPr>
              <a:lnSpc>
                <a:spcPct val="130000"/>
              </a:lnSpc>
            </a:pPr>
            <a:r>
              <a:rPr lang="en-US" sz="1080" dirty="0">
                <a:solidFill>
                  <a:srgbClr val="2D3436"/>
                </a:solidFill>
                <a:latin typeface="MiSans" pitchFamily="34" charset="0"/>
                <a:ea typeface="MiSans" pitchFamily="34" charset="-122"/>
                <a:cs typeface="MiSans" pitchFamily="34" charset="-120"/>
              </a:rPr>
              <a:t> Since 2018</a:t>
            </a:r>
            <a:endParaRPr lang="en-US" sz="1600" dirty="0"/>
          </a:p>
        </p:txBody>
      </p:sp>
      <p:sp>
        <p:nvSpPr>
          <p:cNvPr id="15" name="Shape 13"/>
          <p:cNvSpPr/>
          <p:nvPr/>
        </p:nvSpPr>
        <p:spPr>
          <a:xfrm>
            <a:off x="480135" y="2297789"/>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6" name="Text 14"/>
          <p:cNvSpPr/>
          <p:nvPr/>
        </p:nvSpPr>
        <p:spPr>
          <a:xfrm>
            <a:off x="480135" y="2297789"/>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IQS:</a:t>
            </a:r>
            <a:pPr>
              <a:lnSpc>
                <a:spcPct val="130000"/>
              </a:lnSpc>
            </a:pPr>
            <a:r>
              <a:rPr lang="en-US" sz="1080" dirty="0">
                <a:solidFill>
                  <a:srgbClr val="2D3436"/>
                </a:solidFill>
                <a:latin typeface="MiSans" pitchFamily="34" charset="0"/>
                <a:ea typeface="MiSans" pitchFamily="34" charset="-122"/>
                <a:cs typeface="MiSans" pitchFamily="34" charset="-120"/>
              </a:rPr>
              <a:t> Consistently &gt;75</a:t>
            </a:r>
            <a:endParaRPr lang="en-US" sz="1600" dirty="0"/>
          </a:p>
        </p:txBody>
      </p:sp>
      <p:sp>
        <p:nvSpPr>
          <p:cNvPr id="17" name="Shape 15"/>
          <p:cNvSpPr/>
          <p:nvPr/>
        </p:nvSpPr>
        <p:spPr>
          <a:xfrm>
            <a:off x="3220048" y="2297789"/>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8" name="Text 16"/>
          <p:cNvSpPr/>
          <p:nvPr/>
        </p:nvSpPr>
        <p:spPr>
          <a:xfrm>
            <a:off x="3220048" y="2297789"/>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Progress delta:</a:t>
            </a:r>
            <a:pPr>
              <a:lnSpc>
                <a:spcPct val="130000"/>
              </a:lnSpc>
            </a:pPr>
            <a:r>
              <a:rPr lang="en-US" sz="1080" dirty="0">
                <a:solidFill>
                  <a:srgbClr val="2D3436"/>
                </a:solidFill>
                <a:latin typeface="MiSans" pitchFamily="34" charset="0"/>
                <a:ea typeface="MiSans" pitchFamily="34" charset="-122"/>
                <a:cs typeface="MiSans" pitchFamily="34" charset="-120"/>
              </a:rPr>
              <a:t> 0.42 → 0.68</a:t>
            </a:r>
            <a:endParaRPr lang="en-US" sz="1600" dirty="0"/>
          </a:p>
        </p:txBody>
      </p:sp>
      <p:sp>
        <p:nvSpPr>
          <p:cNvPr id="19" name="Shape 17"/>
          <p:cNvSpPr/>
          <p:nvPr/>
        </p:nvSpPr>
        <p:spPr>
          <a:xfrm>
            <a:off x="342954" y="2880810"/>
            <a:ext cx="5684456" cy="3978262"/>
          </a:xfrm>
          <a:custGeom>
            <a:avLst/>
            <a:gdLst/>
            <a:ahLst/>
            <a:cxnLst/>
            <a:rect l="l" t="t" r="r" b="b"/>
            <a:pathLst>
              <a:path w="5684456" h="3978262">
                <a:moveTo>
                  <a:pt x="0" y="0"/>
                </a:moveTo>
                <a:lnTo>
                  <a:pt x="5684456" y="0"/>
                </a:lnTo>
                <a:lnTo>
                  <a:pt x="5684456" y="3978262"/>
                </a:lnTo>
                <a:lnTo>
                  <a:pt x="0" y="3978262"/>
                </a:lnTo>
                <a:lnTo>
                  <a:pt x="0" y="0"/>
                </a:lnTo>
                <a:close/>
              </a:path>
            </a:pathLst>
          </a:custGeom>
          <a:solidFill>
            <a:srgbClr val="1E3A5F"/>
          </a:solidFill>
          <a:ln/>
        </p:spPr>
      </p:sp>
      <p:sp>
        <p:nvSpPr>
          <p:cNvPr id="20" name="Text 18"/>
          <p:cNvSpPr/>
          <p:nvPr/>
        </p:nvSpPr>
        <p:spPr>
          <a:xfrm>
            <a:off x="480135" y="3017992"/>
            <a:ext cx="5495831" cy="240068"/>
          </a:xfrm>
          <a:prstGeom prst="rect">
            <a:avLst/>
          </a:prstGeom>
          <a:noFill/>
          <a:ln/>
        </p:spPr>
        <p:txBody>
          <a:bodyPr wrap="square" lIns="0" tIns="0" rIns="0" bIns="0" rtlCol="0" anchor="ctr"/>
          <a:lstStyle/>
          <a:p>
            <a:pPr>
              <a:lnSpc>
                <a:spcPct val="120000"/>
              </a:lnSpc>
            </a:pPr>
            <a:r>
              <a:rPr lang="en-US" sz="1350" b="1" dirty="0">
                <a:solidFill>
                  <a:srgbClr val="F8F9FA"/>
                </a:solidFill>
                <a:latin typeface="MiSans" pitchFamily="34" charset="0"/>
                <a:ea typeface="MiSans" pitchFamily="34" charset="-122"/>
                <a:cs typeface="MiSans" pitchFamily="34" charset="-120"/>
              </a:rPr>
              <a:t>Five Key Features of Strong Implementation</a:t>
            </a:r>
            <a:endParaRPr lang="en-US" sz="1600" dirty="0"/>
          </a:p>
        </p:txBody>
      </p:sp>
      <p:sp>
        <p:nvSpPr>
          <p:cNvPr id="21" name="Shape 19"/>
          <p:cNvSpPr/>
          <p:nvPr/>
        </p:nvSpPr>
        <p:spPr>
          <a:xfrm>
            <a:off x="480135" y="3360945"/>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8F9FA">
              <a:alpha val="10196"/>
            </a:srgbClr>
          </a:solidFill>
          <a:ln/>
        </p:spPr>
      </p:sp>
      <p:sp>
        <p:nvSpPr>
          <p:cNvPr id="22" name="Text 20"/>
          <p:cNvSpPr/>
          <p:nvPr/>
        </p:nvSpPr>
        <p:spPr>
          <a:xfrm>
            <a:off x="583021" y="3463831"/>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1. Senior leadership commitment:</a:t>
            </a:r>
            <a:pPr>
              <a:lnSpc>
                <a:spcPct val="130000"/>
              </a:lnSpc>
            </a:pPr>
            <a:r>
              <a:rPr lang="en-US" sz="1080" dirty="0">
                <a:solidFill>
                  <a:srgbClr val="F8F9FA"/>
                </a:solidFill>
                <a:latin typeface="MiSans" pitchFamily="34" charset="0"/>
                <a:ea typeface="MiSans" pitchFamily="34" charset="-122"/>
                <a:cs typeface="MiSans" pitchFamily="34" charset="-120"/>
              </a:rPr>
              <a:t> The MPI coordinator is a member of the SLT with dedicated time for the role</a:t>
            </a:r>
            <a:endParaRPr lang="en-US" sz="1600" dirty="0"/>
          </a:p>
        </p:txBody>
      </p:sp>
      <p:sp>
        <p:nvSpPr>
          <p:cNvPr id="23" name="Shape 21"/>
          <p:cNvSpPr/>
          <p:nvPr/>
        </p:nvSpPr>
        <p:spPr>
          <a:xfrm>
            <a:off x="480135" y="4046852"/>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8F9FA">
              <a:alpha val="10196"/>
            </a:srgbClr>
          </a:solidFill>
          <a:ln/>
        </p:spPr>
      </p:sp>
      <p:sp>
        <p:nvSpPr>
          <p:cNvPr id="24" name="Text 22"/>
          <p:cNvSpPr/>
          <p:nvPr/>
        </p:nvSpPr>
        <p:spPr>
          <a:xfrm>
            <a:off x="583021" y="4149738"/>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2. Regular data review:</a:t>
            </a:r>
            <a:pPr>
              <a:lnSpc>
                <a:spcPct val="130000"/>
              </a:lnSpc>
            </a:pPr>
            <a:r>
              <a:rPr lang="en-US" sz="1080" dirty="0">
                <a:solidFill>
                  <a:srgbClr val="F8F9FA"/>
                </a:solidFill>
                <a:latin typeface="MiSans" pitchFamily="34" charset="0"/>
                <a:ea typeface="MiSans" pitchFamily="34" charset="-122"/>
                <a:cs typeface="MiSans" pitchFamily="34" charset="-120"/>
              </a:rPr>
              <a:t> Formative assessment data is reviewed fortnightly in departmental meetings</a:t>
            </a:r>
            <a:endParaRPr lang="en-US" sz="1600" dirty="0"/>
          </a:p>
        </p:txBody>
      </p:sp>
      <p:sp>
        <p:nvSpPr>
          <p:cNvPr id="25" name="Shape 23"/>
          <p:cNvSpPr/>
          <p:nvPr/>
        </p:nvSpPr>
        <p:spPr>
          <a:xfrm>
            <a:off x="480135" y="4732759"/>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8F9FA">
              <a:alpha val="10196"/>
            </a:srgbClr>
          </a:solidFill>
          <a:ln/>
        </p:spPr>
      </p:sp>
      <p:sp>
        <p:nvSpPr>
          <p:cNvPr id="26" name="Text 24"/>
          <p:cNvSpPr/>
          <p:nvPr/>
        </p:nvSpPr>
        <p:spPr>
          <a:xfrm>
            <a:off x="583021" y="4835646"/>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3. Comprehensive PD completion:</a:t>
            </a:r>
            <a:pPr>
              <a:lnSpc>
                <a:spcPct val="130000"/>
              </a:lnSpc>
            </a:pPr>
            <a:r>
              <a:rPr lang="en-US" sz="1080" dirty="0">
                <a:solidFill>
                  <a:srgbClr val="F8F9FA"/>
                </a:solidFill>
                <a:latin typeface="MiSans" pitchFamily="34" charset="0"/>
                <a:ea typeface="MiSans" pitchFamily="34" charset="-122"/>
                <a:cs typeface="MiSans" pitchFamily="34" charset="-120"/>
              </a:rPr>
              <a:t> All subject leads have completed the MPI professional development programme</a:t>
            </a:r>
            <a:endParaRPr lang="en-US" sz="1600" dirty="0"/>
          </a:p>
        </p:txBody>
      </p:sp>
      <p:sp>
        <p:nvSpPr>
          <p:cNvPr id="27" name="Shape 25"/>
          <p:cNvSpPr/>
          <p:nvPr/>
        </p:nvSpPr>
        <p:spPr>
          <a:xfrm>
            <a:off x="480135" y="5418667"/>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8F9FA">
              <a:alpha val="10196"/>
            </a:srgbClr>
          </a:solidFill>
          <a:ln/>
        </p:spPr>
      </p:sp>
      <p:sp>
        <p:nvSpPr>
          <p:cNvPr id="28" name="Text 26"/>
          <p:cNvSpPr/>
          <p:nvPr/>
        </p:nvSpPr>
        <p:spPr>
          <a:xfrm>
            <a:off x="583021" y="5521553"/>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4. Sustained high IQS:</a:t>
            </a:r>
            <a:pPr>
              <a:lnSpc>
                <a:spcPct val="130000"/>
              </a:lnSpc>
            </a:pPr>
            <a:r>
              <a:rPr lang="en-US" sz="1080" dirty="0">
                <a:solidFill>
                  <a:srgbClr val="F8F9FA"/>
                </a:solidFill>
                <a:latin typeface="MiSans" pitchFamily="34" charset="0"/>
                <a:ea typeface="MiSans" pitchFamily="34" charset="-122"/>
                <a:cs typeface="MiSans" pitchFamily="34" charset="-120"/>
              </a:rPr>
              <a:t> Implementation quality score has been above 75 for three consecutive years</a:t>
            </a:r>
            <a:endParaRPr lang="en-US" sz="1600" dirty="0"/>
          </a:p>
        </p:txBody>
      </p:sp>
      <p:sp>
        <p:nvSpPr>
          <p:cNvPr id="29" name="Shape 27"/>
          <p:cNvSpPr/>
          <p:nvPr/>
        </p:nvSpPr>
        <p:spPr>
          <a:xfrm>
            <a:off x="480135" y="6104574"/>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8F9FA">
              <a:alpha val="10196"/>
            </a:srgbClr>
          </a:solidFill>
          <a:ln/>
        </p:spPr>
      </p:sp>
      <p:sp>
        <p:nvSpPr>
          <p:cNvPr id="30" name="Text 28"/>
          <p:cNvSpPr/>
          <p:nvPr/>
        </p:nvSpPr>
        <p:spPr>
          <a:xfrm>
            <a:off x="583021" y="6207460"/>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5. Improving outcomes:</a:t>
            </a:r>
            <a:pPr>
              <a:lnSpc>
                <a:spcPct val="130000"/>
              </a:lnSpc>
            </a:pPr>
            <a:r>
              <a:rPr lang="en-US" sz="1080" dirty="0">
                <a:solidFill>
                  <a:srgbClr val="F8F9FA"/>
                </a:solidFill>
                <a:latin typeface="MiSans" pitchFamily="34" charset="0"/>
                <a:ea typeface="MiSans" pitchFamily="34" charset="-122"/>
                <a:cs typeface="MiSans" pitchFamily="34" charset="-120"/>
              </a:rPr>
              <a:t> Calibrated progress delta improved from 0.42 (2020) to 0.68 (2024)</a:t>
            </a:r>
            <a:endParaRPr lang="en-US" sz="1600" dirty="0"/>
          </a:p>
        </p:txBody>
      </p:sp>
      <p:sp>
        <p:nvSpPr>
          <p:cNvPr id="31" name="Shape 29"/>
          <p:cNvSpPr/>
          <p:nvPr/>
        </p:nvSpPr>
        <p:spPr>
          <a:xfrm>
            <a:off x="6182739" y="960270"/>
            <a:ext cx="5667308" cy="3352371"/>
          </a:xfrm>
          <a:custGeom>
            <a:avLst/>
            <a:gdLst/>
            <a:ahLst/>
            <a:cxnLst/>
            <a:rect l="l" t="t" r="r" b="b"/>
            <a:pathLst>
              <a:path w="5667308" h="3352371">
                <a:moveTo>
                  <a:pt x="0" y="0"/>
                </a:moveTo>
                <a:lnTo>
                  <a:pt x="5667308" y="0"/>
                </a:lnTo>
                <a:lnTo>
                  <a:pt x="5667308" y="3352371"/>
                </a:lnTo>
                <a:lnTo>
                  <a:pt x="0" y="3352371"/>
                </a:lnTo>
                <a:lnTo>
                  <a:pt x="0" y="0"/>
                </a:lnTo>
                <a:close/>
              </a:path>
            </a:pathLst>
          </a:custGeom>
          <a:solidFill>
            <a:srgbClr val="F0FDF4"/>
          </a:solidFill>
          <a:ln/>
        </p:spPr>
      </p:sp>
      <p:sp>
        <p:nvSpPr>
          <p:cNvPr id="32" name="Shape 30"/>
          <p:cNvSpPr/>
          <p:nvPr/>
        </p:nvSpPr>
        <p:spPr>
          <a:xfrm>
            <a:off x="6182739" y="960270"/>
            <a:ext cx="34295" cy="3352371"/>
          </a:xfrm>
          <a:custGeom>
            <a:avLst/>
            <a:gdLst/>
            <a:ahLst/>
            <a:cxnLst/>
            <a:rect l="l" t="t" r="r" b="b"/>
            <a:pathLst>
              <a:path w="34295" h="3352371">
                <a:moveTo>
                  <a:pt x="0" y="0"/>
                </a:moveTo>
                <a:lnTo>
                  <a:pt x="34295" y="0"/>
                </a:lnTo>
                <a:lnTo>
                  <a:pt x="34295" y="3352371"/>
                </a:lnTo>
                <a:lnTo>
                  <a:pt x="0" y="3352371"/>
                </a:lnTo>
                <a:lnTo>
                  <a:pt x="0" y="0"/>
                </a:lnTo>
                <a:close/>
              </a:path>
            </a:pathLst>
          </a:custGeom>
          <a:solidFill>
            <a:srgbClr val="00A63E"/>
          </a:solidFill>
          <a:ln/>
        </p:spPr>
      </p:sp>
      <p:sp>
        <p:nvSpPr>
          <p:cNvPr id="33" name="Text 31"/>
          <p:cNvSpPr/>
          <p:nvPr/>
        </p:nvSpPr>
        <p:spPr>
          <a:xfrm>
            <a:off x="6337068" y="1097451"/>
            <a:ext cx="5461536" cy="240068"/>
          </a:xfrm>
          <a:prstGeom prst="rect">
            <a:avLst/>
          </a:prstGeom>
          <a:noFill/>
          <a:ln/>
        </p:spPr>
        <p:txBody>
          <a:bodyPr wrap="square" lIns="0" tIns="0" rIns="0" bIns="0" rtlCol="0" anchor="ctr"/>
          <a:lstStyle/>
          <a:p>
            <a:pPr>
              <a:lnSpc>
                <a:spcPct val="120000"/>
              </a:lnSpc>
            </a:pPr>
            <a:r>
              <a:rPr lang="en-US" sz="1350" b="1" dirty="0">
                <a:solidFill>
                  <a:srgbClr val="008236"/>
                </a:solidFill>
                <a:latin typeface="MiSans" pitchFamily="34" charset="0"/>
                <a:ea typeface="MiSans" pitchFamily="34" charset="-122"/>
                <a:cs typeface="MiSans" pitchFamily="34" charset="-120"/>
              </a:rPr>
              <a:t>What Westfield Illustrates</a:t>
            </a:r>
            <a:endParaRPr lang="en-US" sz="1600" dirty="0"/>
          </a:p>
        </p:txBody>
      </p:sp>
      <p:sp>
        <p:nvSpPr>
          <p:cNvPr id="34" name="Text 32"/>
          <p:cNvSpPr/>
          <p:nvPr/>
        </p:nvSpPr>
        <p:spPr>
          <a:xfrm>
            <a:off x="6337068" y="1440405"/>
            <a:ext cx="5444388" cy="445840"/>
          </a:xfrm>
          <a:prstGeom prst="rect">
            <a:avLst/>
          </a:prstGeom>
          <a:noFill/>
          <a:ln/>
        </p:spPr>
        <p:txBody>
          <a:bodyPr wrap="square" lIns="0" tIns="0" rIns="0" bIns="0" rtlCol="0" anchor="ctr"/>
          <a:lstStyle/>
          <a:p>
            <a:pPr>
              <a:lnSpc>
                <a:spcPct val="140000"/>
              </a:lnSpc>
            </a:pPr>
            <a:r>
              <a:rPr lang="en-US" sz="1080" dirty="0">
                <a:solidFill>
                  <a:srgbClr val="2D3436"/>
                </a:solidFill>
                <a:latin typeface="MiSans" pitchFamily="34" charset="0"/>
                <a:ea typeface="MiSans" pitchFamily="34" charset="-122"/>
                <a:cs typeface="MiSans" pitchFamily="34" charset="-120"/>
              </a:rPr>
              <a:t>Westfield's case illustrates </a:t>
            </a:r>
            <a:pPr>
              <a:lnSpc>
                <a:spcPct val="140000"/>
              </a:lnSpc>
            </a:pPr>
            <a:r>
              <a:rPr lang="en-US" sz="1080" b="1" dirty="0">
                <a:solidFill>
                  <a:srgbClr val="2D3436"/>
                </a:solidFill>
                <a:latin typeface="MiSans" pitchFamily="34" charset="0"/>
                <a:ea typeface="MiSans" pitchFamily="34" charset="-122"/>
                <a:cs typeface="MiSans" pitchFamily="34" charset="-120"/>
              </a:rPr>
              <a:t>what the MPI can achieve when implementation is substantive and well-supported</a:t>
            </a:r>
            <a:pPr>
              <a:lnSpc>
                <a:spcPct val="140000"/>
              </a:lnSpc>
            </a:pPr>
            <a:r>
              <a:rPr lang="en-US" sz="1080" dirty="0">
                <a:solidFill>
                  <a:srgbClr val="2D3436"/>
                </a:solidFill>
                <a:latin typeface="MiSans" pitchFamily="34" charset="0"/>
                <a:ea typeface="MiSans" pitchFamily="34" charset="-122"/>
                <a:cs typeface="MiSans" pitchFamily="34" charset="-120"/>
              </a:rPr>
              <a:t>.</a:t>
            </a:r>
            <a:endParaRPr lang="en-US" sz="1600" dirty="0"/>
          </a:p>
        </p:txBody>
      </p:sp>
      <p:sp>
        <p:nvSpPr>
          <p:cNvPr id="35" name="Text 33"/>
          <p:cNvSpPr/>
          <p:nvPr/>
        </p:nvSpPr>
        <p:spPr>
          <a:xfrm>
            <a:off x="6337068" y="1989131"/>
            <a:ext cx="5444388" cy="668759"/>
          </a:xfrm>
          <a:prstGeom prst="rect">
            <a:avLst/>
          </a:prstGeom>
          <a:noFill/>
          <a:ln/>
        </p:spPr>
        <p:txBody>
          <a:bodyPr wrap="square" lIns="0" tIns="0" rIns="0" bIns="0" rtlCol="0" anchor="ctr"/>
          <a:lstStyle/>
          <a:p>
            <a:pPr>
              <a:lnSpc>
                <a:spcPct val="140000"/>
              </a:lnSpc>
            </a:pPr>
            <a:r>
              <a:rPr lang="en-US" sz="1080" dirty="0">
                <a:solidFill>
                  <a:srgbClr val="2D3436"/>
                </a:solidFill>
                <a:latin typeface="MiSans" pitchFamily="34" charset="0"/>
                <a:ea typeface="MiSans" pitchFamily="34" charset="-122"/>
                <a:cs typeface="MiSans" pitchFamily="34" charset="-120"/>
              </a:rPr>
              <a:t>The school's trajectory — from a below-average progress delta to a strongly above-average progress delta over four years — demonstrates the </a:t>
            </a:r>
            <a:pPr>
              <a:lnSpc>
                <a:spcPct val="140000"/>
              </a:lnSpc>
            </a:pPr>
            <a:r>
              <a:rPr lang="en-US" sz="1080" b="1" dirty="0">
                <a:solidFill>
                  <a:srgbClr val="2D3436"/>
                </a:solidFill>
                <a:latin typeface="MiSans" pitchFamily="34" charset="0"/>
                <a:ea typeface="MiSans" pitchFamily="34" charset="-122"/>
                <a:cs typeface="MiSans" pitchFamily="34" charset="-120"/>
              </a:rPr>
              <a:t>cumulative effect of sustained high-quality implementation</a:t>
            </a:r>
            <a:pPr>
              <a:lnSpc>
                <a:spcPct val="140000"/>
              </a:lnSpc>
            </a:pPr>
            <a:r>
              <a:rPr lang="en-US" sz="1080" dirty="0">
                <a:solidFill>
                  <a:srgbClr val="2D3436"/>
                </a:solidFill>
                <a:latin typeface="MiSans" pitchFamily="34" charset="0"/>
                <a:ea typeface="MiSans" pitchFamily="34" charset="-122"/>
                <a:cs typeface="MiSans" pitchFamily="34" charset="-120"/>
              </a:rPr>
              <a:t>.</a:t>
            </a:r>
            <a:endParaRPr lang="en-US" sz="1600" dirty="0"/>
          </a:p>
        </p:txBody>
      </p:sp>
      <p:sp>
        <p:nvSpPr>
          <p:cNvPr id="36" name="Shape 34"/>
          <p:cNvSpPr/>
          <p:nvPr/>
        </p:nvSpPr>
        <p:spPr>
          <a:xfrm>
            <a:off x="6337068" y="2760776"/>
            <a:ext cx="5375797" cy="1414684"/>
          </a:xfrm>
          <a:custGeom>
            <a:avLst/>
            <a:gdLst/>
            <a:ahLst/>
            <a:cxnLst/>
            <a:rect l="l" t="t" r="r" b="b"/>
            <a:pathLst>
              <a:path w="5375797" h="1414684">
                <a:moveTo>
                  <a:pt x="0" y="0"/>
                </a:moveTo>
                <a:lnTo>
                  <a:pt x="5375797" y="0"/>
                </a:lnTo>
                <a:lnTo>
                  <a:pt x="5375797" y="1414684"/>
                </a:lnTo>
                <a:lnTo>
                  <a:pt x="0" y="1414684"/>
                </a:lnTo>
                <a:lnTo>
                  <a:pt x="0" y="0"/>
                </a:lnTo>
                <a:close/>
              </a:path>
            </a:pathLst>
          </a:custGeom>
          <a:solidFill>
            <a:srgbClr val="FFFFFF"/>
          </a:solidFill>
          <a:ln/>
        </p:spPr>
      </p:sp>
      <p:sp>
        <p:nvSpPr>
          <p:cNvPr id="37" name="Text 35"/>
          <p:cNvSpPr/>
          <p:nvPr/>
        </p:nvSpPr>
        <p:spPr>
          <a:xfrm>
            <a:off x="6439954" y="2863662"/>
            <a:ext cx="5238616" cy="205772"/>
          </a:xfrm>
          <a:prstGeom prst="rect">
            <a:avLst/>
          </a:prstGeom>
          <a:noFill/>
          <a:ln/>
        </p:spPr>
        <p:txBody>
          <a:bodyPr wrap="square" lIns="0" tIns="0" rIns="0" bIns="0" rtlCol="0" anchor="ctr"/>
          <a:lstStyle/>
          <a:p>
            <a:pPr>
              <a:lnSpc>
                <a:spcPct val="130000"/>
              </a:lnSpc>
            </a:pPr>
            <a:r>
              <a:rPr lang="en-US" sz="1080" b="1" dirty="0">
                <a:solidFill>
                  <a:srgbClr val="1E3A5F"/>
                </a:solidFill>
                <a:latin typeface="MiSans" pitchFamily="34" charset="0"/>
                <a:ea typeface="MiSans" pitchFamily="34" charset="-122"/>
                <a:cs typeface="MiSans" pitchFamily="34" charset="-120"/>
              </a:rPr>
              <a:t>Key success factors:</a:t>
            </a:r>
            <a:endParaRPr lang="en-US" sz="1600" dirty="0"/>
          </a:p>
        </p:txBody>
      </p:sp>
      <p:sp>
        <p:nvSpPr>
          <p:cNvPr id="38" name="Text 36"/>
          <p:cNvSpPr/>
          <p:nvPr/>
        </p:nvSpPr>
        <p:spPr>
          <a:xfrm>
            <a:off x="6439954" y="3138025"/>
            <a:ext cx="5238616" cy="934549"/>
          </a:xfrm>
          <a:prstGeom prst="rect">
            <a:avLst/>
          </a:prstGeom>
          <a:noFill/>
          <a:ln/>
        </p:spPr>
        <p:txBody>
          <a:bodyPr wrap="square" lIns="0" tIns="0" rIns="0" bIns="0" rtlCol="0" anchor="ctr"/>
          <a:lstStyle/>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Stable leadership and coordinator capacity</a:t>
            </a:r>
            <a:endParaRPr lang="en-US" sz="1600" dirty="0"/>
          </a:p>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Systematic use of formative assessment data</a:t>
            </a:r>
            <a:endParaRPr lang="en-US" sz="1600" dirty="0"/>
          </a:p>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Whole-staff engagement with professional development</a:t>
            </a:r>
            <a:endParaRPr lang="en-US" sz="1600" dirty="0"/>
          </a:p>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Regular audit and quality assurance cycles</a:t>
            </a:r>
            <a:endParaRPr lang="en-US" sz="1600" dirty="0"/>
          </a:p>
        </p:txBody>
      </p:sp>
      <p:sp>
        <p:nvSpPr>
          <p:cNvPr id="39" name="Shape 37"/>
          <p:cNvSpPr/>
          <p:nvPr/>
        </p:nvSpPr>
        <p:spPr>
          <a:xfrm>
            <a:off x="6182739" y="4415527"/>
            <a:ext cx="5667308" cy="943122"/>
          </a:xfrm>
          <a:custGeom>
            <a:avLst/>
            <a:gdLst/>
            <a:ahLst/>
            <a:cxnLst/>
            <a:rect l="l" t="t" r="r" b="b"/>
            <a:pathLst>
              <a:path w="5667308" h="943122">
                <a:moveTo>
                  <a:pt x="0" y="0"/>
                </a:moveTo>
                <a:lnTo>
                  <a:pt x="5667308" y="0"/>
                </a:lnTo>
                <a:lnTo>
                  <a:pt x="5667308" y="943122"/>
                </a:lnTo>
                <a:lnTo>
                  <a:pt x="0" y="943122"/>
                </a:lnTo>
                <a:lnTo>
                  <a:pt x="0" y="0"/>
                </a:lnTo>
                <a:close/>
              </a:path>
            </a:pathLst>
          </a:custGeom>
          <a:solidFill>
            <a:srgbClr val="C49A2C">
              <a:alpha val="10196"/>
            </a:srgbClr>
          </a:solidFill>
          <a:ln/>
        </p:spPr>
      </p:sp>
      <p:sp>
        <p:nvSpPr>
          <p:cNvPr id="40" name="Shape 38"/>
          <p:cNvSpPr/>
          <p:nvPr/>
        </p:nvSpPr>
        <p:spPr>
          <a:xfrm>
            <a:off x="6182739" y="4415527"/>
            <a:ext cx="34295" cy="943122"/>
          </a:xfrm>
          <a:custGeom>
            <a:avLst/>
            <a:gdLst/>
            <a:ahLst/>
            <a:cxnLst/>
            <a:rect l="l" t="t" r="r" b="b"/>
            <a:pathLst>
              <a:path w="34295" h="943122">
                <a:moveTo>
                  <a:pt x="0" y="0"/>
                </a:moveTo>
                <a:lnTo>
                  <a:pt x="34295" y="0"/>
                </a:lnTo>
                <a:lnTo>
                  <a:pt x="34295" y="943122"/>
                </a:lnTo>
                <a:lnTo>
                  <a:pt x="0" y="943122"/>
                </a:lnTo>
                <a:lnTo>
                  <a:pt x="0" y="0"/>
                </a:lnTo>
                <a:close/>
              </a:path>
            </a:pathLst>
          </a:custGeom>
          <a:solidFill>
            <a:srgbClr val="C49A2C"/>
          </a:solidFill>
          <a:ln/>
        </p:spPr>
      </p:sp>
      <p:sp>
        <p:nvSpPr>
          <p:cNvPr id="41" name="Shape 39"/>
          <p:cNvSpPr/>
          <p:nvPr/>
        </p:nvSpPr>
        <p:spPr>
          <a:xfrm>
            <a:off x="6354216" y="4599865"/>
            <a:ext cx="137181" cy="137181"/>
          </a:xfrm>
          <a:custGeom>
            <a:avLst/>
            <a:gdLst/>
            <a:ahLst/>
            <a:cxnLst/>
            <a:rect l="l" t="t" r="r" b="b"/>
            <a:pathLst>
              <a:path w="137181" h="137181">
                <a:moveTo>
                  <a:pt x="68591" y="0"/>
                </a:moveTo>
                <a:cubicBezTo>
                  <a:pt x="72529" y="0"/>
                  <a:pt x="76146" y="2170"/>
                  <a:pt x="78022" y="5627"/>
                </a:cubicBezTo>
                <a:lnTo>
                  <a:pt x="135895" y="112800"/>
                </a:lnTo>
                <a:cubicBezTo>
                  <a:pt x="137691" y="116122"/>
                  <a:pt x="137610" y="120141"/>
                  <a:pt x="135681" y="123383"/>
                </a:cubicBezTo>
                <a:cubicBezTo>
                  <a:pt x="133752" y="126625"/>
                  <a:pt x="130242" y="128608"/>
                  <a:pt x="126464" y="128608"/>
                </a:cubicBezTo>
                <a:lnTo>
                  <a:pt x="10717" y="128608"/>
                </a:lnTo>
                <a:cubicBezTo>
                  <a:pt x="6939" y="128608"/>
                  <a:pt x="3456" y="126625"/>
                  <a:pt x="1500" y="123383"/>
                </a:cubicBezTo>
                <a:cubicBezTo>
                  <a:pt x="-455" y="120141"/>
                  <a:pt x="-509" y="116122"/>
                  <a:pt x="1286" y="112800"/>
                </a:cubicBezTo>
                <a:lnTo>
                  <a:pt x="59159" y="5627"/>
                </a:lnTo>
                <a:cubicBezTo>
                  <a:pt x="61035" y="2170"/>
                  <a:pt x="64652" y="0"/>
                  <a:pt x="68591" y="0"/>
                </a:cubicBezTo>
                <a:close/>
                <a:moveTo>
                  <a:pt x="68591" y="45013"/>
                </a:moveTo>
                <a:cubicBezTo>
                  <a:pt x="65027" y="45013"/>
                  <a:pt x="62160" y="47880"/>
                  <a:pt x="62160" y="51443"/>
                </a:cubicBezTo>
                <a:lnTo>
                  <a:pt x="62160" y="81451"/>
                </a:lnTo>
                <a:cubicBezTo>
                  <a:pt x="62160" y="85015"/>
                  <a:pt x="65027" y="87882"/>
                  <a:pt x="68591" y="87882"/>
                </a:cubicBezTo>
                <a:cubicBezTo>
                  <a:pt x="72154" y="87882"/>
                  <a:pt x="75021" y="85015"/>
                  <a:pt x="75021" y="81451"/>
                </a:cubicBezTo>
                <a:lnTo>
                  <a:pt x="75021" y="51443"/>
                </a:lnTo>
                <a:cubicBezTo>
                  <a:pt x="75021" y="47880"/>
                  <a:pt x="72154" y="45013"/>
                  <a:pt x="68591" y="45013"/>
                </a:cubicBezTo>
                <a:close/>
                <a:moveTo>
                  <a:pt x="75745" y="102886"/>
                </a:moveTo>
                <a:cubicBezTo>
                  <a:pt x="75907" y="100231"/>
                  <a:pt x="74583" y="97704"/>
                  <a:pt x="72307" y="96327"/>
                </a:cubicBezTo>
                <a:cubicBezTo>
                  <a:pt x="70030" y="94950"/>
                  <a:pt x="67178" y="94950"/>
                  <a:pt x="64902" y="96327"/>
                </a:cubicBezTo>
                <a:cubicBezTo>
                  <a:pt x="62625" y="97704"/>
                  <a:pt x="61301" y="100231"/>
                  <a:pt x="61464" y="102886"/>
                </a:cubicBezTo>
                <a:cubicBezTo>
                  <a:pt x="61301" y="105541"/>
                  <a:pt x="62625" y="108068"/>
                  <a:pt x="64902" y="109445"/>
                </a:cubicBezTo>
                <a:cubicBezTo>
                  <a:pt x="67178" y="110822"/>
                  <a:pt x="70030" y="110822"/>
                  <a:pt x="72307" y="109445"/>
                </a:cubicBezTo>
                <a:cubicBezTo>
                  <a:pt x="74583" y="108068"/>
                  <a:pt x="75907" y="105541"/>
                  <a:pt x="75745" y="102886"/>
                </a:cubicBezTo>
                <a:close/>
              </a:path>
            </a:pathLst>
          </a:custGeom>
          <a:solidFill>
            <a:srgbClr val="C49A2C"/>
          </a:solidFill>
          <a:ln/>
        </p:spPr>
      </p:sp>
      <p:sp>
        <p:nvSpPr>
          <p:cNvPr id="42" name="Text 40"/>
          <p:cNvSpPr/>
          <p:nvPr/>
        </p:nvSpPr>
        <p:spPr>
          <a:xfrm>
            <a:off x="6554851" y="4552709"/>
            <a:ext cx="5226605" cy="668759"/>
          </a:xfrm>
          <a:prstGeom prst="rect">
            <a:avLst/>
          </a:prstGeom>
          <a:noFill/>
          <a:ln/>
        </p:spPr>
        <p:txBody>
          <a:bodyPr wrap="square" lIns="0" tIns="0" rIns="0" bIns="0" rtlCol="0" anchor="ctr"/>
          <a:lstStyle/>
          <a:p>
            <a:pPr>
              <a:lnSpc>
                <a:spcPct val="140000"/>
              </a:lnSpc>
            </a:pPr>
            <a:r>
              <a:rPr lang="en-US" sz="1080" b="1" dirty="0">
                <a:solidFill>
                  <a:srgbClr val="1E3A5F"/>
                </a:solidFill>
                <a:latin typeface="MiSans" pitchFamily="34" charset="0"/>
                <a:ea typeface="MiSans" pitchFamily="34" charset="-122"/>
                <a:cs typeface="MiSans" pitchFamily="34" charset="-120"/>
              </a:rPr>
              <a:t>Important Caveat:</a:t>
            </a:r>
            <a:pPr>
              <a:lnSpc>
                <a:spcPct val="140000"/>
              </a:lnSpc>
            </a:pPr>
            <a:r>
              <a:rPr lang="en-US" sz="1080" dirty="0">
                <a:solidFill>
                  <a:srgbClr val="1E3A5F"/>
                </a:solidFill>
                <a:latin typeface="MiSans" pitchFamily="34" charset="0"/>
                <a:ea typeface="MiSans" pitchFamily="34" charset="-122"/>
                <a:cs typeface="MiSans" pitchFamily="34" charset="-120"/>
              </a:rPr>
              <a:t> Westfield is </a:t>
            </a:r>
            <a:pPr>
              <a:lnSpc>
                <a:spcPct val="140000"/>
              </a:lnSpc>
            </a:pPr>
            <a:r>
              <a:rPr lang="en-US" sz="1080" b="1" dirty="0">
                <a:solidFill>
                  <a:srgbClr val="1E3A5F"/>
                </a:solidFill>
                <a:latin typeface="MiSans" pitchFamily="34" charset="0"/>
                <a:ea typeface="MiSans" pitchFamily="34" charset="-122"/>
                <a:cs typeface="MiSans" pitchFamily="34" charset="-120"/>
              </a:rPr>
              <a:t>not representative of all partner schools</a:t>
            </a:r>
            <a:pPr>
              <a:lnSpc>
                <a:spcPct val="140000"/>
              </a:lnSpc>
            </a:pPr>
            <a:r>
              <a:rPr lang="en-US" sz="1080" dirty="0">
                <a:solidFill>
                  <a:srgbClr val="1E3A5F"/>
                </a:solidFill>
                <a:latin typeface="MiSans" pitchFamily="34" charset="0"/>
                <a:ea typeface="MiSans" pitchFamily="34" charset="-122"/>
                <a:cs typeface="MiSans" pitchFamily="34" charset="-120"/>
              </a:rPr>
              <a:t>. Staff should not cite Westfield as typical, but as an example of what is possible under favourable conditions.</a:t>
            </a:r>
            <a:endParaRPr lang="en-US" sz="1600" dirty="0"/>
          </a:p>
        </p:txBody>
      </p:sp>
      <p:sp>
        <p:nvSpPr>
          <p:cNvPr id="43" name="Shape 41"/>
          <p:cNvSpPr/>
          <p:nvPr/>
        </p:nvSpPr>
        <p:spPr>
          <a:xfrm>
            <a:off x="6165591" y="5478684"/>
            <a:ext cx="5684456" cy="428692"/>
          </a:xfrm>
          <a:custGeom>
            <a:avLst/>
            <a:gdLst/>
            <a:ahLst/>
            <a:cxnLst/>
            <a:rect l="l" t="t" r="r" b="b"/>
            <a:pathLst>
              <a:path w="5684456" h="428692">
                <a:moveTo>
                  <a:pt x="0" y="0"/>
                </a:moveTo>
                <a:lnTo>
                  <a:pt x="5684456" y="0"/>
                </a:lnTo>
                <a:lnTo>
                  <a:pt x="5684456" y="428692"/>
                </a:lnTo>
                <a:lnTo>
                  <a:pt x="0" y="428692"/>
                </a:lnTo>
                <a:lnTo>
                  <a:pt x="0" y="0"/>
                </a:lnTo>
                <a:close/>
              </a:path>
            </a:pathLst>
          </a:custGeom>
          <a:solidFill>
            <a:srgbClr val="FFFFFF"/>
          </a:solidFill>
          <a:ln/>
        </p:spPr>
      </p:sp>
      <p:sp>
        <p:nvSpPr>
          <p:cNvPr id="44" name="Shape 42"/>
          <p:cNvSpPr/>
          <p:nvPr/>
        </p:nvSpPr>
        <p:spPr>
          <a:xfrm>
            <a:off x="6165591" y="5478684"/>
            <a:ext cx="5684456" cy="34295"/>
          </a:xfrm>
          <a:custGeom>
            <a:avLst/>
            <a:gdLst/>
            <a:ahLst/>
            <a:cxnLst/>
            <a:rect l="l" t="t" r="r" b="b"/>
            <a:pathLst>
              <a:path w="5684456" h="34295">
                <a:moveTo>
                  <a:pt x="0" y="0"/>
                </a:moveTo>
                <a:lnTo>
                  <a:pt x="5684456" y="0"/>
                </a:lnTo>
                <a:lnTo>
                  <a:pt x="5684456" y="34295"/>
                </a:lnTo>
                <a:lnTo>
                  <a:pt x="0" y="34295"/>
                </a:lnTo>
                <a:lnTo>
                  <a:pt x="0" y="0"/>
                </a:lnTo>
                <a:close/>
              </a:path>
            </a:pathLst>
          </a:custGeom>
          <a:solidFill>
            <a:srgbClr val="1E3A5F"/>
          </a:solidFill>
          <a:ln/>
        </p:spPr>
      </p:sp>
      <p:sp>
        <p:nvSpPr>
          <p:cNvPr id="45" name="Shape 43"/>
          <p:cNvSpPr/>
          <p:nvPr/>
        </p:nvSpPr>
        <p:spPr>
          <a:xfrm>
            <a:off x="6294199" y="5637300"/>
            <a:ext cx="120034" cy="137181"/>
          </a:xfrm>
          <a:custGeom>
            <a:avLst/>
            <a:gdLst/>
            <a:ahLst/>
            <a:cxnLst/>
            <a:rect l="l" t="t" r="r" b="b"/>
            <a:pathLst>
              <a:path w="120034" h="137181">
                <a:moveTo>
                  <a:pt x="102886" y="137181"/>
                </a:moveTo>
                <a:lnTo>
                  <a:pt x="25722" y="137181"/>
                </a:lnTo>
                <a:cubicBezTo>
                  <a:pt x="11521" y="137181"/>
                  <a:pt x="0" y="125660"/>
                  <a:pt x="0" y="111460"/>
                </a:cubicBezTo>
                <a:lnTo>
                  <a:pt x="0" y="25722"/>
                </a:lnTo>
                <a:cubicBezTo>
                  <a:pt x="0" y="11521"/>
                  <a:pt x="11521" y="0"/>
                  <a:pt x="25722" y="0"/>
                </a:cubicBezTo>
                <a:lnTo>
                  <a:pt x="107173" y="0"/>
                </a:lnTo>
                <a:cubicBezTo>
                  <a:pt x="114273" y="0"/>
                  <a:pt x="120034" y="5761"/>
                  <a:pt x="120034" y="12861"/>
                </a:cubicBezTo>
                <a:lnTo>
                  <a:pt x="120034" y="90025"/>
                </a:lnTo>
                <a:cubicBezTo>
                  <a:pt x="120034" y="95625"/>
                  <a:pt x="116443" y="100394"/>
                  <a:pt x="111460" y="102163"/>
                </a:cubicBezTo>
                <a:lnTo>
                  <a:pt x="111460" y="120034"/>
                </a:lnTo>
                <a:cubicBezTo>
                  <a:pt x="116202" y="120034"/>
                  <a:pt x="120034" y="123865"/>
                  <a:pt x="120034" y="128608"/>
                </a:cubicBezTo>
                <a:cubicBezTo>
                  <a:pt x="120034" y="133350"/>
                  <a:pt x="116202" y="137181"/>
                  <a:pt x="111460" y="137181"/>
                </a:cubicBezTo>
                <a:lnTo>
                  <a:pt x="102886" y="137181"/>
                </a:lnTo>
                <a:close/>
                <a:moveTo>
                  <a:pt x="25722" y="102886"/>
                </a:moveTo>
                <a:cubicBezTo>
                  <a:pt x="20979" y="102886"/>
                  <a:pt x="17148" y="106718"/>
                  <a:pt x="17148" y="111460"/>
                </a:cubicBezTo>
                <a:cubicBezTo>
                  <a:pt x="17148" y="116202"/>
                  <a:pt x="20979" y="120034"/>
                  <a:pt x="25722" y="120034"/>
                </a:cubicBezTo>
                <a:lnTo>
                  <a:pt x="94312" y="120034"/>
                </a:lnTo>
                <a:lnTo>
                  <a:pt x="94312" y="102886"/>
                </a:lnTo>
                <a:lnTo>
                  <a:pt x="25722" y="102886"/>
                </a:lnTo>
                <a:close/>
                <a:moveTo>
                  <a:pt x="34295" y="40726"/>
                </a:moveTo>
                <a:cubicBezTo>
                  <a:pt x="34295" y="44289"/>
                  <a:pt x="37162" y="47156"/>
                  <a:pt x="40726" y="47156"/>
                </a:cubicBezTo>
                <a:lnTo>
                  <a:pt x="87882" y="47156"/>
                </a:lnTo>
                <a:cubicBezTo>
                  <a:pt x="91445" y="47156"/>
                  <a:pt x="94312" y="44289"/>
                  <a:pt x="94312" y="40726"/>
                </a:cubicBezTo>
                <a:cubicBezTo>
                  <a:pt x="94312" y="37162"/>
                  <a:pt x="91445" y="34295"/>
                  <a:pt x="87882" y="34295"/>
                </a:cubicBezTo>
                <a:lnTo>
                  <a:pt x="40726" y="34295"/>
                </a:lnTo>
                <a:cubicBezTo>
                  <a:pt x="37162" y="34295"/>
                  <a:pt x="34295" y="37162"/>
                  <a:pt x="34295" y="40726"/>
                </a:cubicBezTo>
                <a:close/>
                <a:moveTo>
                  <a:pt x="40726" y="60017"/>
                </a:moveTo>
                <a:cubicBezTo>
                  <a:pt x="37162" y="60017"/>
                  <a:pt x="34295" y="62884"/>
                  <a:pt x="34295" y="66447"/>
                </a:cubicBezTo>
                <a:cubicBezTo>
                  <a:pt x="34295" y="70011"/>
                  <a:pt x="37162" y="72878"/>
                  <a:pt x="40726" y="72878"/>
                </a:cubicBezTo>
                <a:lnTo>
                  <a:pt x="87882" y="72878"/>
                </a:lnTo>
                <a:cubicBezTo>
                  <a:pt x="91445" y="72878"/>
                  <a:pt x="94312" y="70011"/>
                  <a:pt x="94312" y="66447"/>
                </a:cubicBezTo>
                <a:cubicBezTo>
                  <a:pt x="94312" y="62884"/>
                  <a:pt x="91445" y="60017"/>
                  <a:pt x="87882" y="60017"/>
                </a:cubicBezTo>
                <a:lnTo>
                  <a:pt x="40726" y="60017"/>
                </a:lnTo>
                <a:close/>
              </a:path>
            </a:pathLst>
          </a:custGeom>
          <a:solidFill>
            <a:srgbClr val="C49A2C"/>
          </a:solidFill>
          <a:ln/>
        </p:spPr>
      </p:sp>
      <p:sp>
        <p:nvSpPr>
          <p:cNvPr id="46" name="Text 44"/>
          <p:cNvSpPr/>
          <p:nvPr/>
        </p:nvSpPr>
        <p:spPr>
          <a:xfrm>
            <a:off x="6486260" y="5598717"/>
            <a:ext cx="5329491" cy="205772"/>
          </a:xfrm>
          <a:prstGeom prst="rect">
            <a:avLst/>
          </a:prstGeom>
          <a:noFill/>
          <a:ln/>
        </p:spPr>
        <p:txBody>
          <a:bodyPr wrap="square" lIns="0" tIns="0" rIns="0" bIns="0" rtlCol="0" anchor="ctr"/>
          <a:lstStyle/>
          <a:p>
            <a:pPr>
              <a:lnSpc>
                <a:spcPct val="130000"/>
              </a:lnSpc>
            </a:pPr>
            <a:r>
              <a:rPr lang="en-US" sz="1080" b="1" dirty="0">
                <a:solidFill>
                  <a:srgbClr val="1E3A5F"/>
                </a:solidFill>
                <a:latin typeface="MiSans" pitchFamily="34" charset="0"/>
                <a:ea typeface="MiSans" pitchFamily="34" charset="-122"/>
                <a:cs typeface="MiSans" pitchFamily="34" charset="-120"/>
              </a:rPr>
              <a:t>Full case study:</a:t>
            </a:r>
            <a:pPr>
              <a:lnSpc>
                <a:spcPct val="130000"/>
              </a:lnSpc>
            </a:pPr>
            <a:r>
              <a:rPr lang="en-US" sz="1080" dirty="0">
                <a:solidFill>
                  <a:srgbClr val="1E3A5F"/>
                </a:solidFill>
                <a:latin typeface="MiSans" pitchFamily="34" charset="0"/>
                <a:ea typeface="MiSans" pitchFamily="34" charset="-122"/>
                <a:cs typeface="MiSans" pitchFamily="34" charset="-120"/>
              </a:rPr>
              <a:t> MPI Technical Handbook, Chapter 9, Appendix D</a:t>
            </a:r>
            <a:endParaRPr lang="en-US" sz="16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42954" y="342954"/>
            <a:ext cx="68591" cy="411544"/>
          </a:xfrm>
          <a:custGeom>
            <a:avLst/>
            <a:gdLst/>
            <a:ahLst/>
            <a:cxnLst/>
            <a:rect l="l" t="t" r="r" b="b"/>
            <a:pathLst>
              <a:path w="68591" h="411544">
                <a:moveTo>
                  <a:pt x="0" y="0"/>
                </a:moveTo>
                <a:lnTo>
                  <a:pt x="68591" y="0"/>
                </a:lnTo>
                <a:lnTo>
                  <a:pt x="68591" y="411544"/>
                </a:lnTo>
                <a:lnTo>
                  <a:pt x="0" y="411544"/>
                </a:lnTo>
                <a:lnTo>
                  <a:pt x="0" y="0"/>
                </a:lnTo>
                <a:close/>
              </a:path>
            </a:pathLst>
          </a:custGeom>
          <a:solidFill>
            <a:srgbClr val="E7000B"/>
          </a:solidFill>
          <a:ln/>
        </p:spPr>
      </p:sp>
      <p:sp>
        <p:nvSpPr>
          <p:cNvPr id="3" name="Text 1"/>
          <p:cNvSpPr/>
          <p:nvPr/>
        </p:nvSpPr>
        <p:spPr>
          <a:xfrm>
            <a:off x="514430" y="394397"/>
            <a:ext cx="8556692" cy="308658"/>
          </a:xfrm>
          <a:prstGeom prst="rect">
            <a:avLst/>
          </a:prstGeom>
          <a:noFill/>
          <a:ln/>
        </p:spPr>
        <p:txBody>
          <a:bodyPr wrap="square" lIns="0" tIns="0" rIns="0" bIns="0" rtlCol="0" anchor="ctr"/>
          <a:lstStyle/>
          <a:p>
            <a:pPr>
              <a:lnSpc>
                <a:spcPct val="100000"/>
              </a:lnSpc>
            </a:pPr>
            <a:r>
              <a:rPr lang="en-US" sz="2025" b="1" dirty="0">
                <a:solidFill>
                  <a:srgbClr val="1E3A5F"/>
                </a:solidFill>
                <a:latin typeface="MiSans" pitchFamily="34" charset="0"/>
                <a:ea typeface="MiSans" pitchFamily="34" charset="-122"/>
                <a:cs typeface="MiSans" pitchFamily="34" charset="-120"/>
              </a:rPr>
              <a:t>Case Study: Riverside Comprehensive — Implementation Challenges</a:t>
            </a:r>
            <a:endParaRPr lang="en-US" sz="1600" dirty="0"/>
          </a:p>
        </p:txBody>
      </p:sp>
      <p:sp>
        <p:nvSpPr>
          <p:cNvPr id="4" name="Shape 2"/>
          <p:cNvSpPr/>
          <p:nvPr/>
        </p:nvSpPr>
        <p:spPr>
          <a:xfrm>
            <a:off x="342954" y="977418"/>
            <a:ext cx="5684456" cy="1800506"/>
          </a:xfrm>
          <a:custGeom>
            <a:avLst/>
            <a:gdLst/>
            <a:ahLst/>
            <a:cxnLst/>
            <a:rect l="l" t="t" r="r" b="b"/>
            <a:pathLst>
              <a:path w="5684456" h="1800506">
                <a:moveTo>
                  <a:pt x="0" y="0"/>
                </a:moveTo>
                <a:lnTo>
                  <a:pt x="5684456" y="0"/>
                </a:lnTo>
                <a:lnTo>
                  <a:pt x="5684456" y="1800506"/>
                </a:lnTo>
                <a:lnTo>
                  <a:pt x="0" y="1800506"/>
                </a:lnTo>
                <a:lnTo>
                  <a:pt x="0" y="0"/>
                </a:lnTo>
                <a:close/>
              </a:path>
            </a:pathLst>
          </a:custGeom>
          <a:solidFill>
            <a:srgbClr val="FFFFFF"/>
          </a:solidFill>
          <a:ln/>
        </p:spPr>
      </p:sp>
      <p:sp>
        <p:nvSpPr>
          <p:cNvPr id="5" name="Shape 3"/>
          <p:cNvSpPr/>
          <p:nvPr/>
        </p:nvSpPr>
        <p:spPr>
          <a:xfrm>
            <a:off x="342954" y="977418"/>
            <a:ext cx="5684456" cy="34295"/>
          </a:xfrm>
          <a:custGeom>
            <a:avLst/>
            <a:gdLst/>
            <a:ahLst/>
            <a:cxnLst/>
            <a:rect l="l" t="t" r="r" b="b"/>
            <a:pathLst>
              <a:path w="5684456" h="34295">
                <a:moveTo>
                  <a:pt x="0" y="0"/>
                </a:moveTo>
                <a:lnTo>
                  <a:pt x="5684456" y="0"/>
                </a:lnTo>
                <a:lnTo>
                  <a:pt x="5684456" y="34295"/>
                </a:lnTo>
                <a:lnTo>
                  <a:pt x="0" y="34295"/>
                </a:lnTo>
                <a:lnTo>
                  <a:pt x="0" y="0"/>
                </a:lnTo>
                <a:close/>
              </a:path>
            </a:pathLst>
          </a:custGeom>
          <a:solidFill>
            <a:srgbClr val="E7000B"/>
          </a:solidFill>
          <a:ln/>
        </p:spPr>
      </p:sp>
      <p:sp>
        <p:nvSpPr>
          <p:cNvPr id="6" name="Text 4"/>
          <p:cNvSpPr/>
          <p:nvPr/>
        </p:nvSpPr>
        <p:spPr>
          <a:xfrm>
            <a:off x="480135" y="1131747"/>
            <a:ext cx="5495831" cy="240068"/>
          </a:xfrm>
          <a:prstGeom prst="rect">
            <a:avLst/>
          </a:prstGeom>
          <a:noFill/>
          <a:ln/>
        </p:spPr>
        <p:txBody>
          <a:bodyPr wrap="square" lIns="0" tIns="0" rIns="0" bIns="0" rtlCol="0" anchor="ctr"/>
          <a:lstStyle/>
          <a:p>
            <a:pPr>
              <a:lnSpc>
                <a:spcPct val="120000"/>
              </a:lnSpc>
            </a:pPr>
            <a:r>
              <a:rPr lang="en-US" sz="1350" b="1" dirty="0">
                <a:solidFill>
                  <a:srgbClr val="C10007"/>
                </a:solidFill>
                <a:latin typeface="MiSans" pitchFamily="34" charset="0"/>
                <a:ea typeface="MiSans" pitchFamily="34" charset="-122"/>
                <a:cs typeface="MiSans" pitchFamily="34" charset="-120"/>
              </a:rPr>
              <a:t>School Profile</a:t>
            </a:r>
            <a:endParaRPr lang="en-US" sz="1600" dirty="0"/>
          </a:p>
        </p:txBody>
      </p:sp>
      <p:sp>
        <p:nvSpPr>
          <p:cNvPr id="7" name="Shape 5"/>
          <p:cNvSpPr/>
          <p:nvPr/>
        </p:nvSpPr>
        <p:spPr>
          <a:xfrm>
            <a:off x="480135" y="1474700"/>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8" name="Text 6"/>
          <p:cNvSpPr/>
          <p:nvPr/>
        </p:nvSpPr>
        <p:spPr>
          <a:xfrm>
            <a:off x="480135" y="1474700"/>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Type:</a:t>
            </a:r>
            <a:pPr>
              <a:lnSpc>
                <a:spcPct val="130000"/>
              </a:lnSpc>
            </a:pPr>
            <a:r>
              <a:rPr lang="en-US" sz="1080" dirty="0">
                <a:solidFill>
                  <a:srgbClr val="2D3436"/>
                </a:solidFill>
                <a:latin typeface="MiSans" pitchFamily="34" charset="0"/>
                <a:ea typeface="MiSans" pitchFamily="34" charset="-122"/>
                <a:cs typeface="MiSans" pitchFamily="34" charset="-120"/>
              </a:rPr>
              <a:t> Mixed comprehensive</a:t>
            </a:r>
            <a:endParaRPr lang="en-US" sz="1600" dirty="0"/>
          </a:p>
        </p:txBody>
      </p:sp>
      <p:sp>
        <p:nvSpPr>
          <p:cNvPr id="9" name="Shape 7"/>
          <p:cNvSpPr/>
          <p:nvPr/>
        </p:nvSpPr>
        <p:spPr>
          <a:xfrm>
            <a:off x="3220048" y="1474700"/>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0" name="Text 8"/>
          <p:cNvSpPr/>
          <p:nvPr/>
        </p:nvSpPr>
        <p:spPr>
          <a:xfrm>
            <a:off x="3220048" y="1474700"/>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Size:</a:t>
            </a:r>
            <a:pPr>
              <a:lnSpc>
                <a:spcPct val="130000"/>
              </a:lnSpc>
            </a:pPr>
            <a:r>
              <a:rPr lang="en-US" sz="1080" dirty="0">
                <a:solidFill>
                  <a:srgbClr val="2D3436"/>
                </a:solidFill>
                <a:latin typeface="MiSans" pitchFamily="34" charset="0"/>
                <a:ea typeface="MiSans" pitchFamily="34" charset="-122"/>
                <a:cs typeface="MiSans" pitchFamily="34" charset="-120"/>
              </a:rPr>
              <a:t> ~1,200 pupils</a:t>
            </a:r>
            <a:endParaRPr lang="en-US" sz="1600" dirty="0"/>
          </a:p>
        </p:txBody>
      </p:sp>
      <p:sp>
        <p:nvSpPr>
          <p:cNvPr id="11" name="Shape 9"/>
          <p:cNvSpPr/>
          <p:nvPr/>
        </p:nvSpPr>
        <p:spPr>
          <a:xfrm>
            <a:off x="480135" y="1886245"/>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2" name="Text 10"/>
          <p:cNvSpPr/>
          <p:nvPr/>
        </p:nvSpPr>
        <p:spPr>
          <a:xfrm>
            <a:off x="480135" y="1886245"/>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Setting:</a:t>
            </a:r>
            <a:pPr>
              <a:lnSpc>
                <a:spcPct val="130000"/>
              </a:lnSpc>
            </a:pPr>
            <a:r>
              <a:rPr lang="en-US" sz="1080" dirty="0">
                <a:solidFill>
                  <a:srgbClr val="2D3436"/>
                </a:solidFill>
                <a:latin typeface="MiSans" pitchFamily="34" charset="0"/>
                <a:ea typeface="MiSans" pitchFamily="34" charset="-122"/>
                <a:cs typeface="MiSans" pitchFamily="34" charset="-120"/>
              </a:rPr>
              <a:t> Urban</a:t>
            </a:r>
            <a:endParaRPr lang="en-US" sz="1600" dirty="0"/>
          </a:p>
        </p:txBody>
      </p:sp>
      <p:sp>
        <p:nvSpPr>
          <p:cNvPr id="13" name="Shape 11"/>
          <p:cNvSpPr/>
          <p:nvPr/>
        </p:nvSpPr>
        <p:spPr>
          <a:xfrm>
            <a:off x="3220048" y="1886245"/>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4" name="Text 12"/>
          <p:cNvSpPr/>
          <p:nvPr/>
        </p:nvSpPr>
        <p:spPr>
          <a:xfrm>
            <a:off x="3220048" y="1886245"/>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Tenure:</a:t>
            </a:r>
            <a:pPr>
              <a:lnSpc>
                <a:spcPct val="130000"/>
              </a:lnSpc>
            </a:pPr>
            <a:r>
              <a:rPr lang="en-US" sz="1080" dirty="0">
                <a:solidFill>
                  <a:srgbClr val="2D3436"/>
                </a:solidFill>
                <a:latin typeface="MiSans" pitchFamily="34" charset="0"/>
                <a:ea typeface="MiSans" pitchFamily="34" charset="-122"/>
                <a:cs typeface="MiSans" pitchFamily="34" charset="-120"/>
              </a:rPr>
              <a:t> Since 2020</a:t>
            </a:r>
            <a:endParaRPr lang="en-US" sz="1600" dirty="0"/>
          </a:p>
        </p:txBody>
      </p:sp>
      <p:sp>
        <p:nvSpPr>
          <p:cNvPr id="15" name="Shape 13"/>
          <p:cNvSpPr/>
          <p:nvPr/>
        </p:nvSpPr>
        <p:spPr>
          <a:xfrm>
            <a:off x="480135" y="2297789"/>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6" name="Text 14"/>
          <p:cNvSpPr/>
          <p:nvPr/>
        </p:nvSpPr>
        <p:spPr>
          <a:xfrm>
            <a:off x="480135" y="2297789"/>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IQS:</a:t>
            </a:r>
            <a:pPr>
              <a:lnSpc>
                <a:spcPct val="130000"/>
              </a:lnSpc>
            </a:pPr>
            <a:r>
              <a:rPr lang="en-US" sz="1080" dirty="0">
                <a:solidFill>
                  <a:srgbClr val="2D3436"/>
                </a:solidFill>
                <a:latin typeface="MiSans" pitchFamily="34" charset="0"/>
                <a:ea typeface="MiSans" pitchFamily="34" charset="-122"/>
                <a:cs typeface="MiSans" pitchFamily="34" charset="-120"/>
              </a:rPr>
              <a:t> 38 → 52 → 44</a:t>
            </a:r>
            <a:endParaRPr lang="en-US" sz="1600" dirty="0"/>
          </a:p>
        </p:txBody>
      </p:sp>
      <p:sp>
        <p:nvSpPr>
          <p:cNvPr id="17" name="Shape 15"/>
          <p:cNvSpPr/>
          <p:nvPr/>
        </p:nvSpPr>
        <p:spPr>
          <a:xfrm>
            <a:off x="3220048" y="2297789"/>
            <a:ext cx="2675038" cy="342954"/>
          </a:xfrm>
          <a:custGeom>
            <a:avLst/>
            <a:gdLst/>
            <a:ahLst/>
            <a:cxnLst/>
            <a:rect l="l" t="t" r="r" b="b"/>
            <a:pathLst>
              <a:path w="2675038" h="342954">
                <a:moveTo>
                  <a:pt x="0" y="0"/>
                </a:moveTo>
                <a:lnTo>
                  <a:pt x="2675038" y="0"/>
                </a:lnTo>
                <a:lnTo>
                  <a:pt x="2675038" y="342954"/>
                </a:lnTo>
                <a:lnTo>
                  <a:pt x="0" y="342954"/>
                </a:lnTo>
                <a:lnTo>
                  <a:pt x="0" y="0"/>
                </a:lnTo>
                <a:close/>
              </a:path>
            </a:pathLst>
          </a:custGeom>
          <a:solidFill>
            <a:srgbClr val="F8F9FA"/>
          </a:solidFill>
          <a:ln/>
        </p:spPr>
      </p:sp>
      <p:sp>
        <p:nvSpPr>
          <p:cNvPr id="18" name="Text 16"/>
          <p:cNvSpPr/>
          <p:nvPr/>
        </p:nvSpPr>
        <p:spPr>
          <a:xfrm>
            <a:off x="3220048" y="2297789"/>
            <a:ext cx="2743629" cy="342954"/>
          </a:xfrm>
          <a:prstGeom prst="rect">
            <a:avLst/>
          </a:prstGeom>
          <a:noFill/>
          <a:ln/>
        </p:spPr>
        <p:txBody>
          <a:bodyPr wrap="square" lIns="68591" tIns="68591" rIns="68591" bIns="68591" rtlCol="0" anchor="ctr"/>
          <a:lstStyle/>
          <a:p>
            <a:pPr>
              <a:lnSpc>
                <a:spcPct val="130000"/>
              </a:lnSpc>
            </a:pPr>
            <a:r>
              <a:rPr lang="en-US" sz="1080" b="1" dirty="0">
                <a:solidFill>
                  <a:srgbClr val="2D3436"/>
                </a:solidFill>
                <a:latin typeface="MiSans" pitchFamily="34" charset="0"/>
                <a:ea typeface="MiSans" pitchFamily="34" charset="-122"/>
                <a:cs typeface="MiSans" pitchFamily="34" charset="-120"/>
              </a:rPr>
              <a:t>Progress delta:</a:t>
            </a:r>
            <a:pPr>
              <a:lnSpc>
                <a:spcPct val="130000"/>
              </a:lnSpc>
            </a:pPr>
            <a:r>
              <a:rPr lang="en-US" sz="1080" dirty="0">
                <a:solidFill>
                  <a:srgbClr val="2D3436"/>
                </a:solidFill>
                <a:latin typeface="MiSans" pitchFamily="34" charset="0"/>
                <a:ea typeface="MiSans" pitchFamily="34" charset="-122"/>
                <a:cs typeface="MiSans" pitchFamily="34" charset="-120"/>
              </a:rPr>
              <a:t> 0.31–0.45</a:t>
            </a:r>
            <a:endParaRPr lang="en-US" sz="1600" dirty="0"/>
          </a:p>
        </p:txBody>
      </p:sp>
      <p:sp>
        <p:nvSpPr>
          <p:cNvPr id="19" name="Shape 17"/>
          <p:cNvSpPr/>
          <p:nvPr/>
        </p:nvSpPr>
        <p:spPr>
          <a:xfrm>
            <a:off x="342954" y="2880810"/>
            <a:ext cx="5684456" cy="3978262"/>
          </a:xfrm>
          <a:custGeom>
            <a:avLst/>
            <a:gdLst/>
            <a:ahLst/>
            <a:cxnLst/>
            <a:rect l="l" t="t" r="r" b="b"/>
            <a:pathLst>
              <a:path w="5684456" h="3978262">
                <a:moveTo>
                  <a:pt x="0" y="0"/>
                </a:moveTo>
                <a:lnTo>
                  <a:pt x="5684456" y="0"/>
                </a:lnTo>
                <a:lnTo>
                  <a:pt x="5684456" y="3978262"/>
                </a:lnTo>
                <a:lnTo>
                  <a:pt x="0" y="3978262"/>
                </a:lnTo>
                <a:lnTo>
                  <a:pt x="0" y="0"/>
                </a:lnTo>
                <a:close/>
              </a:path>
            </a:pathLst>
          </a:custGeom>
          <a:solidFill>
            <a:srgbClr val="1E3A5F"/>
          </a:solidFill>
          <a:ln/>
        </p:spPr>
      </p:sp>
      <p:sp>
        <p:nvSpPr>
          <p:cNvPr id="20" name="Text 18"/>
          <p:cNvSpPr/>
          <p:nvPr/>
        </p:nvSpPr>
        <p:spPr>
          <a:xfrm>
            <a:off x="480135" y="3017992"/>
            <a:ext cx="5495831" cy="240068"/>
          </a:xfrm>
          <a:prstGeom prst="rect">
            <a:avLst/>
          </a:prstGeom>
          <a:noFill/>
          <a:ln/>
        </p:spPr>
        <p:txBody>
          <a:bodyPr wrap="square" lIns="0" tIns="0" rIns="0" bIns="0" rtlCol="0" anchor="ctr"/>
          <a:lstStyle/>
          <a:p>
            <a:pPr>
              <a:lnSpc>
                <a:spcPct val="120000"/>
              </a:lnSpc>
            </a:pPr>
            <a:r>
              <a:rPr lang="en-US" sz="1350" b="1" dirty="0">
                <a:solidFill>
                  <a:srgbClr val="F8F9FA"/>
                </a:solidFill>
                <a:latin typeface="MiSans" pitchFamily="34" charset="0"/>
                <a:ea typeface="MiSans" pitchFamily="34" charset="-122"/>
                <a:cs typeface="MiSans" pitchFamily="34" charset="-120"/>
              </a:rPr>
              <a:t>Five Key Features of Implementation Challenges</a:t>
            </a:r>
            <a:endParaRPr lang="en-US" sz="1600" dirty="0"/>
          </a:p>
        </p:txBody>
      </p:sp>
      <p:sp>
        <p:nvSpPr>
          <p:cNvPr id="21" name="Shape 19"/>
          <p:cNvSpPr/>
          <p:nvPr/>
        </p:nvSpPr>
        <p:spPr>
          <a:xfrm>
            <a:off x="480135" y="3360945"/>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B2C36">
              <a:alpha val="30196"/>
            </a:srgbClr>
          </a:solidFill>
          <a:ln/>
        </p:spPr>
      </p:sp>
      <p:sp>
        <p:nvSpPr>
          <p:cNvPr id="22" name="Text 20"/>
          <p:cNvSpPr/>
          <p:nvPr/>
        </p:nvSpPr>
        <p:spPr>
          <a:xfrm>
            <a:off x="583021" y="3463831"/>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1. Coordinator instability:</a:t>
            </a:r>
            <a:pPr>
              <a:lnSpc>
                <a:spcPct val="130000"/>
              </a:lnSpc>
            </a:pPr>
            <a:r>
              <a:rPr lang="en-US" sz="1080" dirty="0">
                <a:solidFill>
                  <a:srgbClr val="F8F9FA"/>
                </a:solidFill>
                <a:latin typeface="MiSans" pitchFamily="34" charset="0"/>
                <a:ea typeface="MiSans" pitchFamily="34" charset="-122"/>
                <a:cs typeface="MiSans" pitchFamily="34" charset="-120"/>
              </a:rPr>
              <a:t> The MPI coordinator role has changed hands three times in four years, with no overlap between appointments</a:t>
            </a:r>
            <a:endParaRPr lang="en-US" sz="1600" dirty="0"/>
          </a:p>
        </p:txBody>
      </p:sp>
      <p:sp>
        <p:nvSpPr>
          <p:cNvPr id="23" name="Shape 21"/>
          <p:cNvSpPr/>
          <p:nvPr/>
        </p:nvSpPr>
        <p:spPr>
          <a:xfrm>
            <a:off x="480135" y="4046852"/>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B2C36">
              <a:alpha val="30196"/>
            </a:srgbClr>
          </a:solidFill>
          <a:ln/>
        </p:spPr>
      </p:sp>
      <p:sp>
        <p:nvSpPr>
          <p:cNvPr id="24" name="Text 22"/>
          <p:cNvSpPr/>
          <p:nvPr/>
        </p:nvSpPr>
        <p:spPr>
          <a:xfrm>
            <a:off x="583021" y="4149738"/>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2. Data not reviewed:</a:t>
            </a:r>
            <a:pPr>
              <a:lnSpc>
                <a:spcPct val="130000"/>
              </a:lnSpc>
            </a:pPr>
            <a:r>
              <a:rPr lang="en-US" sz="1080" dirty="0">
                <a:solidFill>
                  <a:srgbClr val="F8F9FA"/>
                </a:solidFill>
                <a:latin typeface="MiSans" pitchFamily="34" charset="0"/>
                <a:ea typeface="MiSans" pitchFamily="34" charset="-122"/>
                <a:cs typeface="MiSans" pitchFamily="34" charset="-120"/>
              </a:rPr>
              <a:t> Formative assessment data is collected but not systematically reviewed at departmental level</a:t>
            </a:r>
            <a:endParaRPr lang="en-US" sz="1600" dirty="0"/>
          </a:p>
        </p:txBody>
      </p:sp>
      <p:sp>
        <p:nvSpPr>
          <p:cNvPr id="25" name="Shape 23"/>
          <p:cNvSpPr/>
          <p:nvPr/>
        </p:nvSpPr>
        <p:spPr>
          <a:xfrm>
            <a:off x="480135" y="4732759"/>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B2C36">
              <a:alpha val="30196"/>
            </a:srgbClr>
          </a:solidFill>
          <a:ln/>
        </p:spPr>
      </p:sp>
      <p:sp>
        <p:nvSpPr>
          <p:cNvPr id="26" name="Text 24"/>
          <p:cNvSpPr/>
          <p:nvPr/>
        </p:nvSpPr>
        <p:spPr>
          <a:xfrm>
            <a:off x="583021" y="4835646"/>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3. Incomplete PD:</a:t>
            </a:r>
            <a:pPr>
              <a:lnSpc>
                <a:spcPct val="130000"/>
              </a:lnSpc>
            </a:pPr>
            <a:r>
              <a:rPr lang="en-US" sz="1080" dirty="0">
                <a:solidFill>
                  <a:srgbClr val="F8F9FA"/>
                </a:solidFill>
                <a:latin typeface="MiSans" pitchFamily="34" charset="0"/>
                <a:ea typeface="MiSans" pitchFamily="34" charset="-122"/>
                <a:cs typeface="MiSans" pitchFamily="34" charset="-120"/>
              </a:rPr>
              <a:t> Two subject leads have not completed the professional development programme due to staffing pressures</a:t>
            </a:r>
            <a:endParaRPr lang="en-US" sz="1600" dirty="0"/>
          </a:p>
        </p:txBody>
      </p:sp>
      <p:sp>
        <p:nvSpPr>
          <p:cNvPr id="27" name="Shape 25"/>
          <p:cNvSpPr/>
          <p:nvPr/>
        </p:nvSpPr>
        <p:spPr>
          <a:xfrm>
            <a:off x="480135" y="5418667"/>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B2C36">
              <a:alpha val="30196"/>
            </a:srgbClr>
          </a:solidFill>
          <a:ln/>
        </p:spPr>
      </p:sp>
      <p:sp>
        <p:nvSpPr>
          <p:cNvPr id="28" name="Text 26"/>
          <p:cNvSpPr/>
          <p:nvPr/>
        </p:nvSpPr>
        <p:spPr>
          <a:xfrm>
            <a:off x="583021" y="5521553"/>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4. Fluctuating IQS:</a:t>
            </a:r>
            <a:pPr>
              <a:lnSpc>
                <a:spcPct val="130000"/>
              </a:lnSpc>
            </a:pPr>
            <a:r>
              <a:rPr lang="en-US" sz="1080" dirty="0">
                <a:solidFill>
                  <a:srgbClr val="F8F9FA"/>
                </a:solidFill>
                <a:latin typeface="MiSans" pitchFamily="34" charset="0"/>
                <a:ea typeface="MiSans" pitchFamily="34" charset="-122"/>
                <a:cs typeface="MiSans" pitchFamily="34" charset="-120"/>
              </a:rPr>
              <a:t> Implementation quality score was 38 in 2022, improved to 52 in 2023, and fell to 44 in 2024</a:t>
            </a:r>
            <a:endParaRPr lang="en-US" sz="1600" dirty="0"/>
          </a:p>
        </p:txBody>
      </p:sp>
      <p:sp>
        <p:nvSpPr>
          <p:cNvPr id="29" name="Shape 27"/>
          <p:cNvSpPr/>
          <p:nvPr/>
        </p:nvSpPr>
        <p:spPr>
          <a:xfrm>
            <a:off x="480135" y="6104574"/>
            <a:ext cx="5410093" cy="617316"/>
          </a:xfrm>
          <a:custGeom>
            <a:avLst/>
            <a:gdLst/>
            <a:ahLst/>
            <a:cxnLst/>
            <a:rect l="l" t="t" r="r" b="b"/>
            <a:pathLst>
              <a:path w="5410093" h="617316">
                <a:moveTo>
                  <a:pt x="0" y="0"/>
                </a:moveTo>
                <a:lnTo>
                  <a:pt x="5410093" y="0"/>
                </a:lnTo>
                <a:lnTo>
                  <a:pt x="5410093" y="617316"/>
                </a:lnTo>
                <a:lnTo>
                  <a:pt x="0" y="617316"/>
                </a:lnTo>
                <a:lnTo>
                  <a:pt x="0" y="0"/>
                </a:lnTo>
                <a:close/>
              </a:path>
            </a:pathLst>
          </a:custGeom>
          <a:solidFill>
            <a:srgbClr val="FB2C36">
              <a:alpha val="30196"/>
            </a:srgbClr>
          </a:solidFill>
          <a:ln/>
        </p:spPr>
      </p:sp>
      <p:sp>
        <p:nvSpPr>
          <p:cNvPr id="30" name="Text 28"/>
          <p:cNvSpPr/>
          <p:nvPr/>
        </p:nvSpPr>
        <p:spPr>
          <a:xfrm>
            <a:off x="583021" y="6207460"/>
            <a:ext cx="5272911" cy="411544"/>
          </a:xfrm>
          <a:prstGeom prst="rect">
            <a:avLst/>
          </a:prstGeom>
          <a:noFill/>
          <a:ln/>
        </p:spPr>
        <p:txBody>
          <a:bodyPr wrap="square" lIns="0" tIns="0" rIns="0" bIns="0" rtlCol="0" anchor="ctr"/>
          <a:lstStyle/>
          <a:p>
            <a:pPr>
              <a:lnSpc>
                <a:spcPct val="130000"/>
              </a:lnSpc>
            </a:pPr>
            <a:r>
              <a:rPr lang="en-US" sz="1080" b="1" dirty="0">
                <a:solidFill>
                  <a:srgbClr val="F8F9FA"/>
                </a:solidFill>
                <a:latin typeface="MiSans" pitchFamily="34" charset="0"/>
                <a:ea typeface="MiSans" pitchFamily="34" charset="-122"/>
                <a:cs typeface="MiSans" pitchFamily="34" charset="-120"/>
              </a:rPr>
              <a:t>5. Below-average outcomes:</a:t>
            </a:r>
            <a:pPr>
              <a:lnSpc>
                <a:spcPct val="130000"/>
              </a:lnSpc>
            </a:pPr>
            <a:r>
              <a:rPr lang="en-US" sz="1080" dirty="0">
                <a:solidFill>
                  <a:srgbClr val="F8F9FA"/>
                </a:solidFill>
                <a:latin typeface="MiSans" pitchFamily="34" charset="0"/>
                <a:ea typeface="MiSans" pitchFamily="34" charset="-122"/>
                <a:cs typeface="MiSans" pitchFamily="34" charset="-120"/>
              </a:rPr>
              <a:t> Calibrated progress delta has been consistently below the programme average</a:t>
            </a:r>
            <a:endParaRPr lang="en-US" sz="1600" dirty="0"/>
          </a:p>
        </p:txBody>
      </p:sp>
      <p:sp>
        <p:nvSpPr>
          <p:cNvPr id="31" name="Shape 29"/>
          <p:cNvSpPr/>
          <p:nvPr/>
        </p:nvSpPr>
        <p:spPr>
          <a:xfrm>
            <a:off x="6182739" y="960270"/>
            <a:ext cx="5667308" cy="3575291"/>
          </a:xfrm>
          <a:custGeom>
            <a:avLst/>
            <a:gdLst/>
            <a:ahLst/>
            <a:cxnLst/>
            <a:rect l="l" t="t" r="r" b="b"/>
            <a:pathLst>
              <a:path w="5667308" h="3575291">
                <a:moveTo>
                  <a:pt x="0" y="0"/>
                </a:moveTo>
                <a:lnTo>
                  <a:pt x="5667308" y="0"/>
                </a:lnTo>
                <a:lnTo>
                  <a:pt x="5667308" y="3575291"/>
                </a:lnTo>
                <a:lnTo>
                  <a:pt x="0" y="3575291"/>
                </a:lnTo>
                <a:lnTo>
                  <a:pt x="0" y="0"/>
                </a:lnTo>
                <a:close/>
              </a:path>
            </a:pathLst>
          </a:custGeom>
          <a:solidFill>
            <a:srgbClr val="FEF2F2"/>
          </a:solidFill>
          <a:ln/>
        </p:spPr>
      </p:sp>
      <p:sp>
        <p:nvSpPr>
          <p:cNvPr id="32" name="Shape 30"/>
          <p:cNvSpPr/>
          <p:nvPr/>
        </p:nvSpPr>
        <p:spPr>
          <a:xfrm>
            <a:off x="6182739" y="960270"/>
            <a:ext cx="34295" cy="3575291"/>
          </a:xfrm>
          <a:custGeom>
            <a:avLst/>
            <a:gdLst/>
            <a:ahLst/>
            <a:cxnLst/>
            <a:rect l="l" t="t" r="r" b="b"/>
            <a:pathLst>
              <a:path w="34295" h="3575291">
                <a:moveTo>
                  <a:pt x="0" y="0"/>
                </a:moveTo>
                <a:lnTo>
                  <a:pt x="34295" y="0"/>
                </a:lnTo>
                <a:lnTo>
                  <a:pt x="34295" y="3575291"/>
                </a:lnTo>
                <a:lnTo>
                  <a:pt x="0" y="3575291"/>
                </a:lnTo>
                <a:lnTo>
                  <a:pt x="0" y="0"/>
                </a:lnTo>
                <a:close/>
              </a:path>
            </a:pathLst>
          </a:custGeom>
          <a:solidFill>
            <a:srgbClr val="E7000B"/>
          </a:solidFill>
          <a:ln/>
        </p:spPr>
      </p:sp>
      <p:sp>
        <p:nvSpPr>
          <p:cNvPr id="33" name="Text 31"/>
          <p:cNvSpPr/>
          <p:nvPr/>
        </p:nvSpPr>
        <p:spPr>
          <a:xfrm>
            <a:off x="6337068" y="1097451"/>
            <a:ext cx="5461536" cy="240068"/>
          </a:xfrm>
          <a:prstGeom prst="rect">
            <a:avLst/>
          </a:prstGeom>
          <a:noFill/>
          <a:ln/>
        </p:spPr>
        <p:txBody>
          <a:bodyPr wrap="square" lIns="0" tIns="0" rIns="0" bIns="0" rtlCol="0" anchor="ctr"/>
          <a:lstStyle/>
          <a:p>
            <a:pPr>
              <a:lnSpc>
                <a:spcPct val="120000"/>
              </a:lnSpc>
            </a:pPr>
            <a:r>
              <a:rPr lang="en-US" sz="1350" b="1" dirty="0">
                <a:solidFill>
                  <a:srgbClr val="C10007"/>
                </a:solidFill>
                <a:latin typeface="MiSans" pitchFamily="34" charset="0"/>
                <a:ea typeface="MiSans" pitchFamily="34" charset="-122"/>
                <a:cs typeface="MiSans" pitchFamily="34" charset="-120"/>
              </a:rPr>
              <a:t>What Riverside Illustrates</a:t>
            </a:r>
            <a:endParaRPr lang="en-US" sz="1600" dirty="0"/>
          </a:p>
        </p:txBody>
      </p:sp>
      <p:sp>
        <p:nvSpPr>
          <p:cNvPr id="34" name="Text 32"/>
          <p:cNvSpPr/>
          <p:nvPr/>
        </p:nvSpPr>
        <p:spPr>
          <a:xfrm>
            <a:off x="6337068" y="1440405"/>
            <a:ext cx="5444388" cy="668759"/>
          </a:xfrm>
          <a:prstGeom prst="rect">
            <a:avLst/>
          </a:prstGeom>
          <a:noFill/>
          <a:ln/>
        </p:spPr>
        <p:txBody>
          <a:bodyPr wrap="square" lIns="0" tIns="0" rIns="0" bIns="0" rtlCol="0" anchor="ctr"/>
          <a:lstStyle/>
          <a:p>
            <a:pPr>
              <a:lnSpc>
                <a:spcPct val="140000"/>
              </a:lnSpc>
            </a:pPr>
            <a:r>
              <a:rPr lang="en-US" sz="1080" dirty="0">
                <a:solidFill>
                  <a:srgbClr val="2D3436"/>
                </a:solidFill>
                <a:latin typeface="MiSans" pitchFamily="34" charset="0"/>
                <a:ea typeface="MiSans" pitchFamily="34" charset="-122"/>
                <a:cs typeface="MiSans" pitchFamily="34" charset="-120"/>
              </a:rPr>
              <a:t>Riverside's case illustrates </a:t>
            </a:r>
            <a:pPr>
              <a:lnSpc>
                <a:spcPct val="140000"/>
              </a:lnSpc>
            </a:pPr>
            <a:r>
              <a:rPr lang="en-US" sz="1080" b="1" dirty="0">
                <a:solidFill>
                  <a:srgbClr val="2D3436"/>
                </a:solidFill>
                <a:latin typeface="MiSans" pitchFamily="34" charset="0"/>
                <a:ea typeface="MiSans" pitchFamily="34" charset="-122"/>
                <a:cs typeface="MiSans" pitchFamily="34" charset="-120"/>
              </a:rPr>
              <a:t>the vulnerability of MPI implementation to contextual factors</a:t>
            </a:r>
            <a:pPr>
              <a:lnSpc>
                <a:spcPct val="140000"/>
              </a:lnSpc>
            </a:pPr>
            <a:r>
              <a:rPr lang="en-US" sz="1080" dirty="0">
                <a:solidFill>
                  <a:srgbClr val="2D3436"/>
                </a:solidFill>
                <a:latin typeface="MiSans" pitchFamily="34" charset="0"/>
                <a:ea typeface="MiSans" pitchFamily="34" charset="-122"/>
                <a:cs typeface="MiSans" pitchFamily="34" charset="-120"/>
              </a:rPr>
              <a:t> — particularly staff turnover and competing priorities — that are outside Meridian's direct control.</a:t>
            </a:r>
            <a:endParaRPr lang="en-US" sz="1600" dirty="0"/>
          </a:p>
        </p:txBody>
      </p:sp>
      <p:sp>
        <p:nvSpPr>
          <p:cNvPr id="35" name="Text 33"/>
          <p:cNvSpPr/>
          <p:nvPr/>
        </p:nvSpPr>
        <p:spPr>
          <a:xfrm>
            <a:off x="6337068" y="2212051"/>
            <a:ext cx="5444388" cy="668759"/>
          </a:xfrm>
          <a:prstGeom prst="rect">
            <a:avLst/>
          </a:prstGeom>
          <a:noFill/>
          <a:ln/>
        </p:spPr>
        <p:txBody>
          <a:bodyPr wrap="square" lIns="0" tIns="0" rIns="0" bIns="0" rtlCol="0" anchor="ctr"/>
          <a:lstStyle/>
          <a:p>
            <a:pPr>
              <a:lnSpc>
                <a:spcPct val="140000"/>
              </a:lnSpc>
            </a:pPr>
            <a:r>
              <a:rPr lang="en-US" sz="1080" dirty="0">
                <a:solidFill>
                  <a:srgbClr val="2D3436"/>
                </a:solidFill>
                <a:latin typeface="MiSans" pitchFamily="34" charset="0"/>
                <a:ea typeface="MiSans" pitchFamily="34" charset="-122"/>
                <a:cs typeface="MiSans" pitchFamily="34" charset="-120"/>
              </a:rPr>
              <a:t>The school's fluctuating IQS trajectory suggests that </a:t>
            </a:r>
            <a:pPr>
              <a:lnSpc>
                <a:spcPct val="140000"/>
              </a:lnSpc>
            </a:pPr>
            <a:r>
              <a:rPr lang="en-US" sz="1080" b="1" dirty="0">
                <a:solidFill>
                  <a:srgbClr val="2D3436"/>
                </a:solidFill>
                <a:latin typeface="MiSans" pitchFamily="34" charset="0"/>
                <a:ea typeface="MiSans" pitchFamily="34" charset="-122"/>
                <a:cs typeface="MiSans" pitchFamily="34" charset="-120"/>
              </a:rPr>
              <a:t>implementation quality is fragile</a:t>
            </a:r>
            <a:pPr>
              <a:lnSpc>
                <a:spcPct val="140000"/>
              </a:lnSpc>
            </a:pPr>
            <a:r>
              <a:rPr lang="en-US" sz="1080" dirty="0">
                <a:solidFill>
                  <a:srgbClr val="2D3436"/>
                </a:solidFill>
                <a:latin typeface="MiSans" pitchFamily="34" charset="0"/>
                <a:ea typeface="MiSans" pitchFamily="34" charset="-122"/>
                <a:cs typeface="MiSans" pitchFamily="34" charset="-120"/>
              </a:rPr>
              <a:t> and can deteriorate rapidly when key personnel change or when organisational priorities shift.</a:t>
            </a:r>
            <a:endParaRPr lang="en-US" sz="1600" dirty="0"/>
          </a:p>
        </p:txBody>
      </p:sp>
      <p:sp>
        <p:nvSpPr>
          <p:cNvPr id="36" name="Shape 34"/>
          <p:cNvSpPr/>
          <p:nvPr/>
        </p:nvSpPr>
        <p:spPr>
          <a:xfrm>
            <a:off x="6337068" y="2983696"/>
            <a:ext cx="5375797" cy="1414684"/>
          </a:xfrm>
          <a:custGeom>
            <a:avLst/>
            <a:gdLst/>
            <a:ahLst/>
            <a:cxnLst/>
            <a:rect l="l" t="t" r="r" b="b"/>
            <a:pathLst>
              <a:path w="5375797" h="1414684">
                <a:moveTo>
                  <a:pt x="0" y="0"/>
                </a:moveTo>
                <a:lnTo>
                  <a:pt x="5375797" y="0"/>
                </a:lnTo>
                <a:lnTo>
                  <a:pt x="5375797" y="1414684"/>
                </a:lnTo>
                <a:lnTo>
                  <a:pt x="0" y="1414684"/>
                </a:lnTo>
                <a:lnTo>
                  <a:pt x="0" y="0"/>
                </a:lnTo>
                <a:close/>
              </a:path>
            </a:pathLst>
          </a:custGeom>
          <a:solidFill>
            <a:srgbClr val="FFFFFF"/>
          </a:solidFill>
          <a:ln/>
        </p:spPr>
      </p:sp>
      <p:sp>
        <p:nvSpPr>
          <p:cNvPr id="37" name="Text 35"/>
          <p:cNvSpPr/>
          <p:nvPr/>
        </p:nvSpPr>
        <p:spPr>
          <a:xfrm>
            <a:off x="6439954" y="3086582"/>
            <a:ext cx="5238616" cy="205772"/>
          </a:xfrm>
          <a:prstGeom prst="rect">
            <a:avLst/>
          </a:prstGeom>
          <a:noFill/>
          <a:ln/>
        </p:spPr>
        <p:txBody>
          <a:bodyPr wrap="square" lIns="0" tIns="0" rIns="0" bIns="0" rtlCol="0" anchor="ctr"/>
          <a:lstStyle/>
          <a:p>
            <a:pPr>
              <a:lnSpc>
                <a:spcPct val="130000"/>
              </a:lnSpc>
            </a:pPr>
            <a:r>
              <a:rPr lang="en-US" sz="1080" b="1" dirty="0">
                <a:solidFill>
                  <a:srgbClr val="1E3A5F"/>
                </a:solidFill>
                <a:latin typeface="MiSans" pitchFamily="34" charset="0"/>
                <a:ea typeface="MiSans" pitchFamily="34" charset="-122"/>
                <a:cs typeface="MiSans" pitchFamily="34" charset="-120"/>
              </a:rPr>
              <a:t>Key challenge factors:</a:t>
            </a:r>
            <a:endParaRPr lang="en-US" sz="1600" dirty="0"/>
          </a:p>
        </p:txBody>
      </p:sp>
      <p:sp>
        <p:nvSpPr>
          <p:cNvPr id="38" name="Text 36"/>
          <p:cNvSpPr/>
          <p:nvPr/>
        </p:nvSpPr>
        <p:spPr>
          <a:xfrm>
            <a:off x="6439954" y="3360945"/>
            <a:ext cx="5238616" cy="934549"/>
          </a:xfrm>
          <a:prstGeom prst="rect">
            <a:avLst/>
          </a:prstGeom>
          <a:noFill/>
          <a:ln/>
        </p:spPr>
        <p:txBody>
          <a:bodyPr wrap="square" lIns="0" tIns="0" rIns="0" bIns="0" rtlCol="0" anchor="ctr"/>
          <a:lstStyle/>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High staff turnover in coordinator role</a:t>
            </a:r>
            <a:endParaRPr lang="en-US" sz="1600" dirty="0"/>
          </a:p>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No systematic processes for data review</a:t>
            </a:r>
            <a:endParaRPr lang="en-US" sz="1600" dirty="0"/>
          </a:p>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Incomplete professional development coverage</a:t>
            </a:r>
            <a:endParaRPr lang="en-US" sz="1600" dirty="0"/>
          </a:p>
          <a:p>
            <a:pPr marL="254000" indent="-254000">
              <a:lnSpc>
                <a:spcPct val="130000"/>
              </a:lnSpc>
              <a:spcBef>
                <a:spcPts val="10"/>
              </a:spcBef>
              <a:buSzPct val="100000"/>
              <a:buChar char="•"/>
            </a:pPr>
            <a:r>
              <a:rPr lang="en-US" sz="1080" dirty="0">
                <a:solidFill>
                  <a:srgbClr val="2D3436"/>
                </a:solidFill>
                <a:latin typeface="MiSans" pitchFamily="34" charset="0"/>
                <a:ea typeface="MiSans" pitchFamily="34" charset="-122"/>
                <a:cs typeface="MiSans" pitchFamily="34" charset="-120"/>
              </a:rPr>
              <a:t>Competing priorities in a large urban school</a:t>
            </a:r>
            <a:endParaRPr lang="en-US" sz="1600" dirty="0"/>
          </a:p>
        </p:txBody>
      </p:sp>
      <p:sp>
        <p:nvSpPr>
          <p:cNvPr id="39" name="Shape 37"/>
          <p:cNvSpPr/>
          <p:nvPr/>
        </p:nvSpPr>
        <p:spPr>
          <a:xfrm>
            <a:off x="6182739" y="4638447"/>
            <a:ext cx="5667308" cy="1166042"/>
          </a:xfrm>
          <a:custGeom>
            <a:avLst/>
            <a:gdLst/>
            <a:ahLst/>
            <a:cxnLst/>
            <a:rect l="l" t="t" r="r" b="b"/>
            <a:pathLst>
              <a:path w="5667308" h="1166042">
                <a:moveTo>
                  <a:pt x="0" y="0"/>
                </a:moveTo>
                <a:lnTo>
                  <a:pt x="5667308" y="0"/>
                </a:lnTo>
                <a:lnTo>
                  <a:pt x="5667308" y="1166042"/>
                </a:lnTo>
                <a:lnTo>
                  <a:pt x="0" y="1166042"/>
                </a:lnTo>
                <a:lnTo>
                  <a:pt x="0" y="0"/>
                </a:lnTo>
                <a:close/>
              </a:path>
            </a:pathLst>
          </a:custGeom>
          <a:solidFill>
            <a:srgbClr val="C49A2C">
              <a:alpha val="10196"/>
            </a:srgbClr>
          </a:solidFill>
          <a:ln/>
        </p:spPr>
      </p:sp>
      <p:sp>
        <p:nvSpPr>
          <p:cNvPr id="40" name="Shape 38"/>
          <p:cNvSpPr/>
          <p:nvPr/>
        </p:nvSpPr>
        <p:spPr>
          <a:xfrm>
            <a:off x="6182739" y="4638447"/>
            <a:ext cx="34295" cy="1166042"/>
          </a:xfrm>
          <a:custGeom>
            <a:avLst/>
            <a:gdLst/>
            <a:ahLst/>
            <a:cxnLst/>
            <a:rect l="l" t="t" r="r" b="b"/>
            <a:pathLst>
              <a:path w="34295" h="1166042">
                <a:moveTo>
                  <a:pt x="0" y="0"/>
                </a:moveTo>
                <a:lnTo>
                  <a:pt x="34295" y="0"/>
                </a:lnTo>
                <a:lnTo>
                  <a:pt x="34295" y="1166042"/>
                </a:lnTo>
                <a:lnTo>
                  <a:pt x="0" y="1166042"/>
                </a:lnTo>
                <a:lnTo>
                  <a:pt x="0" y="0"/>
                </a:lnTo>
                <a:close/>
              </a:path>
            </a:pathLst>
          </a:custGeom>
          <a:solidFill>
            <a:srgbClr val="C49A2C"/>
          </a:solidFill>
          <a:ln/>
        </p:spPr>
      </p:sp>
      <p:sp>
        <p:nvSpPr>
          <p:cNvPr id="41" name="Shape 39"/>
          <p:cNvSpPr/>
          <p:nvPr/>
        </p:nvSpPr>
        <p:spPr>
          <a:xfrm>
            <a:off x="6354216" y="4822785"/>
            <a:ext cx="137181" cy="137181"/>
          </a:xfrm>
          <a:custGeom>
            <a:avLst/>
            <a:gdLst/>
            <a:ahLst/>
            <a:cxnLst/>
            <a:rect l="l" t="t" r="r" b="b"/>
            <a:pathLst>
              <a:path w="137181" h="137181">
                <a:moveTo>
                  <a:pt x="68591" y="137181"/>
                </a:moveTo>
                <a:cubicBezTo>
                  <a:pt x="106447" y="137181"/>
                  <a:pt x="137181" y="106447"/>
                  <a:pt x="137181" y="68591"/>
                </a:cubicBezTo>
                <a:cubicBezTo>
                  <a:pt x="137181" y="30734"/>
                  <a:pt x="106447" y="0"/>
                  <a:pt x="68591" y="0"/>
                </a:cubicBezTo>
                <a:cubicBezTo>
                  <a:pt x="30734" y="0"/>
                  <a:pt x="0" y="30734"/>
                  <a:pt x="0" y="68591"/>
                </a:cubicBezTo>
                <a:cubicBezTo>
                  <a:pt x="0" y="106447"/>
                  <a:pt x="30734" y="137181"/>
                  <a:pt x="68591" y="137181"/>
                </a:cubicBezTo>
                <a:close/>
                <a:moveTo>
                  <a:pt x="60017" y="42869"/>
                </a:moveTo>
                <a:cubicBezTo>
                  <a:pt x="60017" y="38137"/>
                  <a:pt x="63859" y="34295"/>
                  <a:pt x="68591" y="34295"/>
                </a:cubicBezTo>
                <a:cubicBezTo>
                  <a:pt x="73323" y="34295"/>
                  <a:pt x="77165" y="38137"/>
                  <a:pt x="77165" y="42869"/>
                </a:cubicBezTo>
                <a:cubicBezTo>
                  <a:pt x="77165" y="47601"/>
                  <a:pt x="73323" y="51443"/>
                  <a:pt x="68591" y="51443"/>
                </a:cubicBezTo>
                <a:cubicBezTo>
                  <a:pt x="63859" y="51443"/>
                  <a:pt x="60017" y="47601"/>
                  <a:pt x="60017" y="42869"/>
                </a:cubicBezTo>
                <a:close/>
                <a:moveTo>
                  <a:pt x="57873" y="60017"/>
                </a:moveTo>
                <a:lnTo>
                  <a:pt x="70734" y="60017"/>
                </a:lnTo>
                <a:cubicBezTo>
                  <a:pt x="74298" y="60017"/>
                  <a:pt x="77165" y="62884"/>
                  <a:pt x="77165" y="66447"/>
                </a:cubicBezTo>
                <a:lnTo>
                  <a:pt x="77165" y="90025"/>
                </a:lnTo>
                <a:lnTo>
                  <a:pt x="79308" y="90025"/>
                </a:lnTo>
                <a:cubicBezTo>
                  <a:pt x="82872" y="90025"/>
                  <a:pt x="85738" y="92892"/>
                  <a:pt x="85738" y="96456"/>
                </a:cubicBezTo>
                <a:cubicBezTo>
                  <a:pt x="85738" y="100019"/>
                  <a:pt x="82872" y="102886"/>
                  <a:pt x="79308" y="102886"/>
                </a:cubicBezTo>
                <a:lnTo>
                  <a:pt x="57873" y="102886"/>
                </a:lnTo>
                <a:cubicBezTo>
                  <a:pt x="54310" y="102886"/>
                  <a:pt x="51443" y="100019"/>
                  <a:pt x="51443" y="96456"/>
                </a:cubicBezTo>
                <a:cubicBezTo>
                  <a:pt x="51443" y="92892"/>
                  <a:pt x="54310" y="90025"/>
                  <a:pt x="57873" y="90025"/>
                </a:cubicBezTo>
                <a:lnTo>
                  <a:pt x="64304" y="90025"/>
                </a:lnTo>
                <a:lnTo>
                  <a:pt x="64304" y="72878"/>
                </a:lnTo>
                <a:lnTo>
                  <a:pt x="57873" y="72878"/>
                </a:lnTo>
                <a:cubicBezTo>
                  <a:pt x="54310" y="72878"/>
                  <a:pt x="51443" y="70011"/>
                  <a:pt x="51443" y="66447"/>
                </a:cubicBezTo>
                <a:cubicBezTo>
                  <a:pt x="51443" y="62884"/>
                  <a:pt x="54310" y="60017"/>
                  <a:pt x="57873" y="60017"/>
                </a:cubicBezTo>
                <a:close/>
              </a:path>
            </a:pathLst>
          </a:custGeom>
          <a:solidFill>
            <a:srgbClr val="C49A2C"/>
          </a:solidFill>
          <a:ln/>
        </p:spPr>
      </p:sp>
      <p:sp>
        <p:nvSpPr>
          <p:cNvPr id="42" name="Text 40"/>
          <p:cNvSpPr/>
          <p:nvPr/>
        </p:nvSpPr>
        <p:spPr>
          <a:xfrm>
            <a:off x="6554851" y="4775629"/>
            <a:ext cx="5226605" cy="891679"/>
          </a:xfrm>
          <a:prstGeom prst="rect">
            <a:avLst/>
          </a:prstGeom>
          <a:noFill/>
          <a:ln/>
        </p:spPr>
        <p:txBody>
          <a:bodyPr wrap="square" lIns="0" tIns="0" rIns="0" bIns="0" rtlCol="0" anchor="ctr"/>
          <a:lstStyle/>
          <a:p>
            <a:pPr>
              <a:lnSpc>
                <a:spcPct val="140000"/>
              </a:lnSpc>
            </a:pPr>
            <a:r>
              <a:rPr lang="en-US" sz="1080" b="1" dirty="0">
                <a:solidFill>
                  <a:srgbClr val="1E3A5F"/>
                </a:solidFill>
                <a:latin typeface="MiSans" pitchFamily="34" charset="0"/>
                <a:ea typeface="MiSans" pitchFamily="34" charset="-122"/>
                <a:cs typeface="MiSans" pitchFamily="34" charset="-120"/>
              </a:rPr>
              <a:t>Ongoing Support:</a:t>
            </a:r>
            <a:pPr>
              <a:lnSpc>
                <a:spcPct val="140000"/>
              </a:lnSpc>
            </a:pPr>
            <a:r>
              <a:rPr lang="en-US" sz="1080" dirty="0">
                <a:solidFill>
                  <a:srgbClr val="1E3A5F"/>
                </a:solidFill>
                <a:latin typeface="MiSans" pitchFamily="34" charset="0"/>
                <a:ea typeface="MiSans" pitchFamily="34" charset="-122"/>
                <a:cs typeface="MiSans" pitchFamily="34" charset="-120"/>
              </a:rPr>
              <a:t> The school remains a programme partner and is receiving </a:t>
            </a:r>
            <a:pPr>
              <a:lnSpc>
                <a:spcPct val="140000"/>
              </a:lnSpc>
            </a:pPr>
            <a:r>
              <a:rPr lang="en-US" sz="1080" b="1" dirty="0">
                <a:solidFill>
                  <a:srgbClr val="1E3A5F"/>
                </a:solidFill>
                <a:latin typeface="MiSans" pitchFamily="34" charset="0"/>
                <a:ea typeface="MiSans" pitchFamily="34" charset="-122"/>
                <a:cs typeface="MiSans" pitchFamily="34" charset="-120"/>
              </a:rPr>
              <a:t>additional support</a:t>
            </a:r>
            <a:pPr>
              <a:lnSpc>
                <a:spcPct val="140000"/>
              </a:lnSpc>
            </a:pPr>
            <a:r>
              <a:rPr lang="en-US" sz="1080" dirty="0">
                <a:solidFill>
                  <a:srgbClr val="1E3A5F"/>
                </a:solidFill>
                <a:latin typeface="MiSans" pitchFamily="34" charset="0"/>
                <a:ea typeface="MiSans" pitchFamily="34" charset="-122"/>
                <a:cs typeface="MiSans" pitchFamily="34" charset="-120"/>
              </a:rPr>
              <a:t> from Meridian's implementation team. Staff should be aware that not all partner schools achieve the outcomes illustrated in Meridian's promotional materials.</a:t>
            </a:r>
            <a:endParaRPr lang="en-US" sz="1600" dirty="0"/>
          </a:p>
        </p:txBody>
      </p:sp>
      <p:sp>
        <p:nvSpPr>
          <p:cNvPr id="43" name="Shape 41"/>
          <p:cNvSpPr/>
          <p:nvPr/>
        </p:nvSpPr>
        <p:spPr>
          <a:xfrm>
            <a:off x="6165591" y="5924523"/>
            <a:ext cx="5684456" cy="428692"/>
          </a:xfrm>
          <a:custGeom>
            <a:avLst/>
            <a:gdLst/>
            <a:ahLst/>
            <a:cxnLst/>
            <a:rect l="l" t="t" r="r" b="b"/>
            <a:pathLst>
              <a:path w="5684456" h="428692">
                <a:moveTo>
                  <a:pt x="0" y="0"/>
                </a:moveTo>
                <a:lnTo>
                  <a:pt x="5684456" y="0"/>
                </a:lnTo>
                <a:lnTo>
                  <a:pt x="5684456" y="428692"/>
                </a:lnTo>
                <a:lnTo>
                  <a:pt x="0" y="428692"/>
                </a:lnTo>
                <a:lnTo>
                  <a:pt x="0" y="0"/>
                </a:lnTo>
                <a:close/>
              </a:path>
            </a:pathLst>
          </a:custGeom>
          <a:solidFill>
            <a:srgbClr val="FFFFFF"/>
          </a:solidFill>
          <a:ln/>
        </p:spPr>
      </p:sp>
      <p:sp>
        <p:nvSpPr>
          <p:cNvPr id="44" name="Shape 42"/>
          <p:cNvSpPr/>
          <p:nvPr/>
        </p:nvSpPr>
        <p:spPr>
          <a:xfrm>
            <a:off x="6165591" y="5924523"/>
            <a:ext cx="5684456" cy="34295"/>
          </a:xfrm>
          <a:custGeom>
            <a:avLst/>
            <a:gdLst/>
            <a:ahLst/>
            <a:cxnLst/>
            <a:rect l="l" t="t" r="r" b="b"/>
            <a:pathLst>
              <a:path w="5684456" h="34295">
                <a:moveTo>
                  <a:pt x="0" y="0"/>
                </a:moveTo>
                <a:lnTo>
                  <a:pt x="5684456" y="0"/>
                </a:lnTo>
                <a:lnTo>
                  <a:pt x="5684456" y="34295"/>
                </a:lnTo>
                <a:lnTo>
                  <a:pt x="0" y="34295"/>
                </a:lnTo>
                <a:lnTo>
                  <a:pt x="0" y="0"/>
                </a:lnTo>
                <a:close/>
              </a:path>
            </a:pathLst>
          </a:custGeom>
          <a:solidFill>
            <a:srgbClr val="1E3A5F"/>
          </a:solidFill>
          <a:ln/>
        </p:spPr>
      </p:sp>
      <p:sp>
        <p:nvSpPr>
          <p:cNvPr id="45" name="Shape 43"/>
          <p:cNvSpPr/>
          <p:nvPr/>
        </p:nvSpPr>
        <p:spPr>
          <a:xfrm>
            <a:off x="6294199" y="6083139"/>
            <a:ext cx="120034" cy="137181"/>
          </a:xfrm>
          <a:custGeom>
            <a:avLst/>
            <a:gdLst/>
            <a:ahLst/>
            <a:cxnLst/>
            <a:rect l="l" t="t" r="r" b="b"/>
            <a:pathLst>
              <a:path w="120034" h="137181">
                <a:moveTo>
                  <a:pt x="102886" y="137181"/>
                </a:moveTo>
                <a:lnTo>
                  <a:pt x="25722" y="137181"/>
                </a:lnTo>
                <a:cubicBezTo>
                  <a:pt x="11521" y="137181"/>
                  <a:pt x="0" y="125660"/>
                  <a:pt x="0" y="111460"/>
                </a:cubicBezTo>
                <a:lnTo>
                  <a:pt x="0" y="25722"/>
                </a:lnTo>
                <a:cubicBezTo>
                  <a:pt x="0" y="11521"/>
                  <a:pt x="11521" y="0"/>
                  <a:pt x="25722" y="0"/>
                </a:cubicBezTo>
                <a:lnTo>
                  <a:pt x="107173" y="0"/>
                </a:lnTo>
                <a:cubicBezTo>
                  <a:pt x="114273" y="0"/>
                  <a:pt x="120034" y="5761"/>
                  <a:pt x="120034" y="12861"/>
                </a:cubicBezTo>
                <a:lnTo>
                  <a:pt x="120034" y="90025"/>
                </a:lnTo>
                <a:cubicBezTo>
                  <a:pt x="120034" y="95625"/>
                  <a:pt x="116443" y="100394"/>
                  <a:pt x="111460" y="102163"/>
                </a:cubicBezTo>
                <a:lnTo>
                  <a:pt x="111460" y="120034"/>
                </a:lnTo>
                <a:cubicBezTo>
                  <a:pt x="116202" y="120034"/>
                  <a:pt x="120034" y="123865"/>
                  <a:pt x="120034" y="128608"/>
                </a:cubicBezTo>
                <a:cubicBezTo>
                  <a:pt x="120034" y="133350"/>
                  <a:pt x="116202" y="137181"/>
                  <a:pt x="111460" y="137181"/>
                </a:cubicBezTo>
                <a:lnTo>
                  <a:pt x="102886" y="137181"/>
                </a:lnTo>
                <a:close/>
                <a:moveTo>
                  <a:pt x="25722" y="102886"/>
                </a:moveTo>
                <a:cubicBezTo>
                  <a:pt x="20979" y="102886"/>
                  <a:pt x="17148" y="106718"/>
                  <a:pt x="17148" y="111460"/>
                </a:cubicBezTo>
                <a:cubicBezTo>
                  <a:pt x="17148" y="116202"/>
                  <a:pt x="20979" y="120034"/>
                  <a:pt x="25722" y="120034"/>
                </a:cubicBezTo>
                <a:lnTo>
                  <a:pt x="94312" y="120034"/>
                </a:lnTo>
                <a:lnTo>
                  <a:pt x="94312" y="102886"/>
                </a:lnTo>
                <a:lnTo>
                  <a:pt x="25722" y="102886"/>
                </a:lnTo>
                <a:close/>
                <a:moveTo>
                  <a:pt x="34295" y="40726"/>
                </a:moveTo>
                <a:cubicBezTo>
                  <a:pt x="34295" y="44289"/>
                  <a:pt x="37162" y="47156"/>
                  <a:pt x="40726" y="47156"/>
                </a:cubicBezTo>
                <a:lnTo>
                  <a:pt x="87882" y="47156"/>
                </a:lnTo>
                <a:cubicBezTo>
                  <a:pt x="91445" y="47156"/>
                  <a:pt x="94312" y="44289"/>
                  <a:pt x="94312" y="40726"/>
                </a:cubicBezTo>
                <a:cubicBezTo>
                  <a:pt x="94312" y="37162"/>
                  <a:pt x="91445" y="34295"/>
                  <a:pt x="87882" y="34295"/>
                </a:cubicBezTo>
                <a:lnTo>
                  <a:pt x="40726" y="34295"/>
                </a:lnTo>
                <a:cubicBezTo>
                  <a:pt x="37162" y="34295"/>
                  <a:pt x="34295" y="37162"/>
                  <a:pt x="34295" y="40726"/>
                </a:cubicBezTo>
                <a:close/>
                <a:moveTo>
                  <a:pt x="40726" y="60017"/>
                </a:moveTo>
                <a:cubicBezTo>
                  <a:pt x="37162" y="60017"/>
                  <a:pt x="34295" y="62884"/>
                  <a:pt x="34295" y="66447"/>
                </a:cubicBezTo>
                <a:cubicBezTo>
                  <a:pt x="34295" y="70011"/>
                  <a:pt x="37162" y="72878"/>
                  <a:pt x="40726" y="72878"/>
                </a:cubicBezTo>
                <a:lnTo>
                  <a:pt x="87882" y="72878"/>
                </a:lnTo>
                <a:cubicBezTo>
                  <a:pt x="91445" y="72878"/>
                  <a:pt x="94312" y="70011"/>
                  <a:pt x="94312" y="66447"/>
                </a:cubicBezTo>
                <a:cubicBezTo>
                  <a:pt x="94312" y="62884"/>
                  <a:pt x="91445" y="60017"/>
                  <a:pt x="87882" y="60017"/>
                </a:cubicBezTo>
                <a:lnTo>
                  <a:pt x="40726" y="60017"/>
                </a:lnTo>
                <a:close/>
              </a:path>
            </a:pathLst>
          </a:custGeom>
          <a:solidFill>
            <a:srgbClr val="C49A2C"/>
          </a:solidFill>
          <a:ln/>
        </p:spPr>
      </p:sp>
      <p:sp>
        <p:nvSpPr>
          <p:cNvPr id="46" name="Text 44"/>
          <p:cNvSpPr/>
          <p:nvPr/>
        </p:nvSpPr>
        <p:spPr>
          <a:xfrm>
            <a:off x="6486260" y="6044557"/>
            <a:ext cx="5329491" cy="205772"/>
          </a:xfrm>
          <a:prstGeom prst="rect">
            <a:avLst/>
          </a:prstGeom>
          <a:noFill/>
          <a:ln/>
        </p:spPr>
        <p:txBody>
          <a:bodyPr wrap="square" lIns="0" tIns="0" rIns="0" bIns="0" rtlCol="0" anchor="ctr"/>
          <a:lstStyle/>
          <a:p>
            <a:pPr>
              <a:lnSpc>
                <a:spcPct val="130000"/>
              </a:lnSpc>
            </a:pPr>
            <a:r>
              <a:rPr lang="en-US" sz="1080" b="1" dirty="0">
                <a:solidFill>
                  <a:srgbClr val="1E3A5F"/>
                </a:solidFill>
                <a:latin typeface="MiSans" pitchFamily="34" charset="0"/>
                <a:ea typeface="MiSans" pitchFamily="34" charset="-122"/>
                <a:cs typeface="MiSans" pitchFamily="34" charset="-120"/>
              </a:rPr>
              <a:t>Full case study:</a:t>
            </a:r>
            <a:pPr>
              <a:lnSpc>
                <a:spcPct val="130000"/>
              </a:lnSpc>
            </a:pPr>
            <a:r>
              <a:rPr lang="en-US" sz="1080" dirty="0">
                <a:solidFill>
                  <a:srgbClr val="1E3A5F"/>
                </a:solidFill>
                <a:latin typeface="MiSans" pitchFamily="34" charset="0"/>
                <a:ea typeface="MiSans" pitchFamily="34" charset="-122"/>
                <a:cs typeface="MiSans" pitchFamily="34" charset="-120"/>
              </a:rPr>
              <a:t> MPI Technical Handbook, Chapter 9, Appendix D</a:t>
            </a:r>
            <a:endParaRPr lang="en-US" sz="16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32887" y="332887"/>
            <a:ext cx="66577" cy="399465"/>
          </a:xfrm>
          <a:custGeom>
            <a:avLst/>
            <a:gdLst/>
            <a:ahLst/>
            <a:cxnLst/>
            <a:rect l="l" t="t" r="r" b="b"/>
            <a:pathLst>
              <a:path w="66577" h="399465">
                <a:moveTo>
                  <a:pt x="0" y="0"/>
                </a:moveTo>
                <a:lnTo>
                  <a:pt x="66577" y="0"/>
                </a:lnTo>
                <a:lnTo>
                  <a:pt x="66577" y="399465"/>
                </a:lnTo>
                <a:lnTo>
                  <a:pt x="0" y="399465"/>
                </a:lnTo>
                <a:lnTo>
                  <a:pt x="0" y="0"/>
                </a:lnTo>
                <a:close/>
              </a:path>
            </a:pathLst>
          </a:custGeom>
          <a:solidFill>
            <a:srgbClr val="C49A2C"/>
          </a:solidFill>
          <a:ln/>
        </p:spPr>
      </p:sp>
      <p:sp>
        <p:nvSpPr>
          <p:cNvPr id="3" name="Text 1"/>
          <p:cNvSpPr/>
          <p:nvPr/>
        </p:nvSpPr>
        <p:spPr>
          <a:xfrm>
            <a:off x="499331" y="382820"/>
            <a:ext cx="6990635" cy="299599"/>
          </a:xfrm>
          <a:prstGeom prst="rect">
            <a:avLst/>
          </a:prstGeom>
          <a:noFill/>
          <a:ln/>
        </p:spPr>
        <p:txBody>
          <a:bodyPr wrap="square" lIns="0" tIns="0" rIns="0" bIns="0" rtlCol="0" anchor="ctr"/>
          <a:lstStyle/>
          <a:p>
            <a:pPr>
              <a:lnSpc>
                <a:spcPct val="100000"/>
              </a:lnSpc>
            </a:pPr>
            <a:r>
              <a:rPr lang="en-US" sz="1966" b="1" dirty="0">
                <a:solidFill>
                  <a:srgbClr val="1E3A5F"/>
                </a:solidFill>
                <a:latin typeface="MiSans" pitchFamily="34" charset="0"/>
                <a:ea typeface="MiSans" pitchFamily="34" charset="-122"/>
                <a:cs typeface="MiSans" pitchFamily="34" charset="-120"/>
              </a:rPr>
              <a:t>Case Study: Oakwood Grammar — Mixed Implementation</a:t>
            </a:r>
            <a:endParaRPr lang="en-US" sz="1600" dirty="0"/>
          </a:p>
        </p:txBody>
      </p:sp>
      <p:sp>
        <p:nvSpPr>
          <p:cNvPr id="4" name="Shape 2"/>
          <p:cNvSpPr/>
          <p:nvPr/>
        </p:nvSpPr>
        <p:spPr>
          <a:xfrm>
            <a:off x="332887" y="948729"/>
            <a:ext cx="5692374" cy="1747659"/>
          </a:xfrm>
          <a:custGeom>
            <a:avLst/>
            <a:gdLst/>
            <a:ahLst/>
            <a:cxnLst/>
            <a:rect l="l" t="t" r="r" b="b"/>
            <a:pathLst>
              <a:path w="5692374" h="1747659">
                <a:moveTo>
                  <a:pt x="0" y="0"/>
                </a:moveTo>
                <a:lnTo>
                  <a:pt x="5692374" y="0"/>
                </a:lnTo>
                <a:lnTo>
                  <a:pt x="5692374" y="1747659"/>
                </a:lnTo>
                <a:lnTo>
                  <a:pt x="0" y="1747659"/>
                </a:lnTo>
                <a:lnTo>
                  <a:pt x="0" y="0"/>
                </a:lnTo>
                <a:close/>
              </a:path>
            </a:pathLst>
          </a:custGeom>
          <a:solidFill>
            <a:srgbClr val="FFFFFF"/>
          </a:solidFill>
          <a:ln/>
        </p:spPr>
      </p:sp>
      <p:sp>
        <p:nvSpPr>
          <p:cNvPr id="5" name="Shape 3"/>
          <p:cNvSpPr/>
          <p:nvPr/>
        </p:nvSpPr>
        <p:spPr>
          <a:xfrm>
            <a:off x="332887" y="948729"/>
            <a:ext cx="5692374" cy="33289"/>
          </a:xfrm>
          <a:custGeom>
            <a:avLst/>
            <a:gdLst/>
            <a:ahLst/>
            <a:cxnLst/>
            <a:rect l="l" t="t" r="r" b="b"/>
            <a:pathLst>
              <a:path w="5692374" h="33289">
                <a:moveTo>
                  <a:pt x="0" y="0"/>
                </a:moveTo>
                <a:lnTo>
                  <a:pt x="5692374" y="0"/>
                </a:lnTo>
                <a:lnTo>
                  <a:pt x="5692374" y="33289"/>
                </a:lnTo>
                <a:lnTo>
                  <a:pt x="0" y="33289"/>
                </a:lnTo>
                <a:lnTo>
                  <a:pt x="0" y="0"/>
                </a:lnTo>
                <a:close/>
              </a:path>
            </a:pathLst>
          </a:custGeom>
          <a:solidFill>
            <a:srgbClr val="C49A2C"/>
          </a:solidFill>
          <a:ln/>
        </p:spPr>
      </p:sp>
      <p:sp>
        <p:nvSpPr>
          <p:cNvPr id="6" name="Text 4"/>
          <p:cNvSpPr/>
          <p:nvPr/>
        </p:nvSpPr>
        <p:spPr>
          <a:xfrm>
            <a:off x="466042" y="1098528"/>
            <a:ext cx="5509286" cy="233021"/>
          </a:xfrm>
          <a:prstGeom prst="rect">
            <a:avLst/>
          </a:prstGeom>
          <a:noFill/>
          <a:ln/>
        </p:spPr>
        <p:txBody>
          <a:bodyPr wrap="square" lIns="0" tIns="0" rIns="0" bIns="0" rtlCol="0" anchor="ctr"/>
          <a:lstStyle/>
          <a:p>
            <a:pPr>
              <a:lnSpc>
                <a:spcPct val="120000"/>
              </a:lnSpc>
            </a:pPr>
            <a:r>
              <a:rPr lang="en-US" sz="1311" b="1" dirty="0">
                <a:solidFill>
                  <a:srgbClr val="C49A2C"/>
                </a:solidFill>
                <a:latin typeface="MiSans" pitchFamily="34" charset="0"/>
                <a:ea typeface="MiSans" pitchFamily="34" charset="-122"/>
                <a:cs typeface="MiSans" pitchFamily="34" charset="-120"/>
              </a:rPr>
              <a:t>School Profile</a:t>
            </a:r>
            <a:endParaRPr lang="en-US" sz="1600" dirty="0"/>
          </a:p>
        </p:txBody>
      </p:sp>
      <p:sp>
        <p:nvSpPr>
          <p:cNvPr id="7" name="Shape 5"/>
          <p:cNvSpPr/>
          <p:nvPr/>
        </p:nvSpPr>
        <p:spPr>
          <a:xfrm>
            <a:off x="466042" y="1431416"/>
            <a:ext cx="2679743" cy="332887"/>
          </a:xfrm>
          <a:custGeom>
            <a:avLst/>
            <a:gdLst/>
            <a:ahLst/>
            <a:cxnLst/>
            <a:rect l="l" t="t" r="r" b="b"/>
            <a:pathLst>
              <a:path w="2679743" h="332887">
                <a:moveTo>
                  <a:pt x="0" y="0"/>
                </a:moveTo>
                <a:lnTo>
                  <a:pt x="2679743" y="0"/>
                </a:lnTo>
                <a:lnTo>
                  <a:pt x="2679743" y="332887"/>
                </a:lnTo>
                <a:lnTo>
                  <a:pt x="0" y="332887"/>
                </a:lnTo>
                <a:lnTo>
                  <a:pt x="0" y="0"/>
                </a:lnTo>
                <a:close/>
              </a:path>
            </a:pathLst>
          </a:custGeom>
          <a:solidFill>
            <a:srgbClr val="F8F9FA"/>
          </a:solidFill>
          <a:ln/>
        </p:spPr>
      </p:sp>
      <p:sp>
        <p:nvSpPr>
          <p:cNvPr id="8" name="Text 6"/>
          <p:cNvSpPr/>
          <p:nvPr/>
        </p:nvSpPr>
        <p:spPr>
          <a:xfrm>
            <a:off x="466042" y="1431416"/>
            <a:ext cx="2746321" cy="332887"/>
          </a:xfrm>
          <a:prstGeom prst="rect">
            <a:avLst/>
          </a:prstGeom>
          <a:noFill/>
          <a:ln/>
        </p:spPr>
        <p:txBody>
          <a:bodyPr wrap="square" lIns="66577" tIns="66577" rIns="66577" bIns="66577" rtlCol="0" anchor="ctr"/>
          <a:lstStyle/>
          <a:p>
            <a:pPr>
              <a:lnSpc>
                <a:spcPct val="130000"/>
              </a:lnSpc>
            </a:pPr>
            <a:r>
              <a:rPr lang="en-US" sz="1048" b="1" dirty="0">
                <a:solidFill>
                  <a:srgbClr val="2D3436"/>
                </a:solidFill>
                <a:latin typeface="MiSans" pitchFamily="34" charset="0"/>
                <a:ea typeface="MiSans" pitchFamily="34" charset="-122"/>
                <a:cs typeface="MiSans" pitchFamily="34" charset="-120"/>
              </a:rPr>
              <a:t>Type:</a:t>
            </a:r>
            <a:pPr>
              <a:lnSpc>
                <a:spcPct val="130000"/>
              </a:lnSpc>
            </a:pPr>
            <a:r>
              <a:rPr lang="en-US" sz="1048" dirty="0">
                <a:solidFill>
                  <a:srgbClr val="2D3436"/>
                </a:solidFill>
                <a:latin typeface="MiSans" pitchFamily="34" charset="0"/>
                <a:ea typeface="MiSans" pitchFamily="34" charset="-122"/>
                <a:cs typeface="MiSans" pitchFamily="34" charset="-120"/>
              </a:rPr>
              <a:t> Selective grammar</a:t>
            </a:r>
            <a:endParaRPr lang="en-US" sz="1600" dirty="0"/>
          </a:p>
        </p:txBody>
      </p:sp>
      <p:sp>
        <p:nvSpPr>
          <p:cNvPr id="9" name="Shape 7"/>
          <p:cNvSpPr/>
          <p:nvPr/>
        </p:nvSpPr>
        <p:spPr>
          <a:xfrm>
            <a:off x="3214305" y="1431416"/>
            <a:ext cx="2679743" cy="332887"/>
          </a:xfrm>
          <a:custGeom>
            <a:avLst/>
            <a:gdLst/>
            <a:ahLst/>
            <a:cxnLst/>
            <a:rect l="l" t="t" r="r" b="b"/>
            <a:pathLst>
              <a:path w="2679743" h="332887">
                <a:moveTo>
                  <a:pt x="0" y="0"/>
                </a:moveTo>
                <a:lnTo>
                  <a:pt x="2679743" y="0"/>
                </a:lnTo>
                <a:lnTo>
                  <a:pt x="2679743" y="332887"/>
                </a:lnTo>
                <a:lnTo>
                  <a:pt x="0" y="332887"/>
                </a:lnTo>
                <a:lnTo>
                  <a:pt x="0" y="0"/>
                </a:lnTo>
                <a:close/>
              </a:path>
            </a:pathLst>
          </a:custGeom>
          <a:solidFill>
            <a:srgbClr val="F8F9FA"/>
          </a:solidFill>
          <a:ln/>
        </p:spPr>
      </p:sp>
      <p:sp>
        <p:nvSpPr>
          <p:cNvPr id="10" name="Text 8"/>
          <p:cNvSpPr/>
          <p:nvPr/>
        </p:nvSpPr>
        <p:spPr>
          <a:xfrm>
            <a:off x="3214305" y="1431416"/>
            <a:ext cx="2746321" cy="332887"/>
          </a:xfrm>
          <a:prstGeom prst="rect">
            <a:avLst/>
          </a:prstGeom>
          <a:noFill/>
          <a:ln/>
        </p:spPr>
        <p:txBody>
          <a:bodyPr wrap="square" lIns="66577" tIns="66577" rIns="66577" bIns="66577" rtlCol="0" anchor="ctr"/>
          <a:lstStyle/>
          <a:p>
            <a:pPr>
              <a:lnSpc>
                <a:spcPct val="130000"/>
              </a:lnSpc>
            </a:pPr>
            <a:r>
              <a:rPr lang="en-US" sz="1048" b="1" dirty="0">
                <a:solidFill>
                  <a:srgbClr val="2D3436"/>
                </a:solidFill>
                <a:latin typeface="MiSans" pitchFamily="34" charset="0"/>
                <a:ea typeface="MiSans" pitchFamily="34" charset="-122"/>
                <a:cs typeface="MiSans" pitchFamily="34" charset="-120"/>
              </a:rPr>
              <a:t>Size:</a:t>
            </a:r>
            <a:pPr>
              <a:lnSpc>
                <a:spcPct val="130000"/>
              </a:lnSpc>
            </a:pPr>
            <a:r>
              <a:rPr lang="en-US" sz="1048" dirty="0">
                <a:solidFill>
                  <a:srgbClr val="2D3436"/>
                </a:solidFill>
                <a:latin typeface="MiSans" pitchFamily="34" charset="0"/>
                <a:ea typeface="MiSans" pitchFamily="34" charset="-122"/>
                <a:cs typeface="MiSans" pitchFamily="34" charset="-120"/>
              </a:rPr>
              <a:t> ~800 pupils</a:t>
            </a:r>
            <a:endParaRPr lang="en-US" sz="1600" dirty="0"/>
          </a:p>
        </p:txBody>
      </p:sp>
      <p:sp>
        <p:nvSpPr>
          <p:cNvPr id="11" name="Shape 9"/>
          <p:cNvSpPr/>
          <p:nvPr/>
        </p:nvSpPr>
        <p:spPr>
          <a:xfrm>
            <a:off x="466042" y="1830881"/>
            <a:ext cx="2679743" cy="332887"/>
          </a:xfrm>
          <a:custGeom>
            <a:avLst/>
            <a:gdLst/>
            <a:ahLst/>
            <a:cxnLst/>
            <a:rect l="l" t="t" r="r" b="b"/>
            <a:pathLst>
              <a:path w="2679743" h="332887">
                <a:moveTo>
                  <a:pt x="0" y="0"/>
                </a:moveTo>
                <a:lnTo>
                  <a:pt x="2679743" y="0"/>
                </a:lnTo>
                <a:lnTo>
                  <a:pt x="2679743" y="332887"/>
                </a:lnTo>
                <a:lnTo>
                  <a:pt x="0" y="332887"/>
                </a:lnTo>
                <a:lnTo>
                  <a:pt x="0" y="0"/>
                </a:lnTo>
                <a:close/>
              </a:path>
            </a:pathLst>
          </a:custGeom>
          <a:solidFill>
            <a:srgbClr val="F8F9FA"/>
          </a:solidFill>
          <a:ln/>
        </p:spPr>
      </p:sp>
      <p:sp>
        <p:nvSpPr>
          <p:cNvPr id="12" name="Text 10"/>
          <p:cNvSpPr/>
          <p:nvPr/>
        </p:nvSpPr>
        <p:spPr>
          <a:xfrm>
            <a:off x="466042" y="1830881"/>
            <a:ext cx="2746321" cy="332887"/>
          </a:xfrm>
          <a:prstGeom prst="rect">
            <a:avLst/>
          </a:prstGeom>
          <a:noFill/>
          <a:ln/>
        </p:spPr>
        <p:txBody>
          <a:bodyPr wrap="square" lIns="66577" tIns="66577" rIns="66577" bIns="66577" rtlCol="0" anchor="ctr"/>
          <a:lstStyle/>
          <a:p>
            <a:pPr>
              <a:lnSpc>
                <a:spcPct val="130000"/>
              </a:lnSpc>
            </a:pPr>
            <a:r>
              <a:rPr lang="en-US" sz="1048" b="1" dirty="0">
                <a:solidFill>
                  <a:srgbClr val="2D3436"/>
                </a:solidFill>
                <a:latin typeface="MiSans" pitchFamily="34" charset="0"/>
                <a:ea typeface="MiSans" pitchFamily="34" charset="-122"/>
                <a:cs typeface="MiSans" pitchFamily="34" charset="-120"/>
              </a:rPr>
              <a:t>Setting:</a:t>
            </a:r>
            <a:pPr>
              <a:lnSpc>
                <a:spcPct val="130000"/>
              </a:lnSpc>
            </a:pPr>
            <a:r>
              <a:rPr lang="en-US" sz="1048" dirty="0">
                <a:solidFill>
                  <a:srgbClr val="2D3436"/>
                </a:solidFill>
                <a:latin typeface="MiSans" pitchFamily="34" charset="0"/>
                <a:ea typeface="MiSans" pitchFamily="34" charset="-122"/>
                <a:cs typeface="MiSans" pitchFamily="34" charset="-120"/>
              </a:rPr>
              <a:t> Suburban</a:t>
            </a:r>
            <a:endParaRPr lang="en-US" sz="1600" dirty="0"/>
          </a:p>
        </p:txBody>
      </p:sp>
      <p:sp>
        <p:nvSpPr>
          <p:cNvPr id="13" name="Shape 11"/>
          <p:cNvSpPr/>
          <p:nvPr/>
        </p:nvSpPr>
        <p:spPr>
          <a:xfrm>
            <a:off x="3214305" y="1830881"/>
            <a:ext cx="2679743" cy="332887"/>
          </a:xfrm>
          <a:custGeom>
            <a:avLst/>
            <a:gdLst/>
            <a:ahLst/>
            <a:cxnLst/>
            <a:rect l="l" t="t" r="r" b="b"/>
            <a:pathLst>
              <a:path w="2679743" h="332887">
                <a:moveTo>
                  <a:pt x="0" y="0"/>
                </a:moveTo>
                <a:lnTo>
                  <a:pt x="2679743" y="0"/>
                </a:lnTo>
                <a:lnTo>
                  <a:pt x="2679743" y="332887"/>
                </a:lnTo>
                <a:lnTo>
                  <a:pt x="0" y="332887"/>
                </a:lnTo>
                <a:lnTo>
                  <a:pt x="0" y="0"/>
                </a:lnTo>
                <a:close/>
              </a:path>
            </a:pathLst>
          </a:custGeom>
          <a:solidFill>
            <a:srgbClr val="F8F9FA"/>
          </a:solidFill>
          <a:ln/>
        </p:spPr>
      </p:sp>
      <p:sp>
        <p:nvSpPr>
          <p:cNvPr id="14" name="Text 12"/>
          <p:cNvSpPr/>
          <p:nvPr/>
        </p:nvSpPr>
        <p:spPr>
          <a:xfrm>
            <a:off x="3214305" y="1830881"/>
            <a:ext cx="2746321" cy="332887"/>
          </a:xfrm>
          <a:prstGeom prst="rect">
            <a:avLst/>
          </a:prstGeom>
          <a:noFill/>
          <a:ln/>
        </p:spPr>
        <p:txBody>
          <a:bodyPr wrap="square" lIns="66577" tIns="66577" rIns="66577" bIns="66577" rtlCol="0" anchor="ctr"/>
          <a:lstStyle/>
          <a:p>
            <a:pPr>
              <a:lnSpc>
                <a:spcPct val="130000"/>
              </a:lnSpc>
            </a:pPr>
            <a:r>
              <a:rPr lang="en-US" sz="1048" b="1" dirty="0">
                <a:solidFill>
                  <a:srgbClr val="2D3436"/>
                </a:solidFill>
                <a:latin typeface="MiSans" pitchFamily="34" charset="0"/>
                <a:ea typeface="MiSans" pitchFamily="34" charset="-122"/>
                <a:cs typeface="MiSans" pitchFamily="34" charset="-120"/>
              </a:rPr>
              <a:t>Tenure:</a:t>
            </a:r>
            <a:pPr>
              <a:lnSpc>
                <a:spcPct val="130000"/>
              </a:lnSpc>
            </a:pPr>
            <a:r>
              <a:rPr lang="en-US" sz="1048" dirty="0">
                <a:solidFill>
                  <a:srgbClr val="2D3436"/>
                </a:solidFill>
                <a:latin typeface="MiSans" pitchFamily="34" charset="0"/>
                <a:ea typeface="MiSans" pitchFamily="34" charset="-122"/>
                <a:cs typeface="MiSans" pitchFamily="34" charset="-120"/>
              </a:rPr>
              <a:t> Since 2019</a:t>
            </a:r>
            <a:endParaRPr lang="en-US" sz="1600" dirty="0"/>
          </a:p>
        </p:txBody>
      </p:sp>
      <p:sp>
        <p:nvSpPr>
          <p:cNvPr id="15" name="Shape 13"/>
          <p:cNvSpPr/>
          <p:nvPr/>
        </p:nvSpPr>
        <p:spPr>
          <a:xfrm>
            <a:off x="466042" y="2230345"/>
            <a:ext cx="2679743" cy="332887"/>
          </a:xfrm>
          <a:custGeom>
            <a:avLst/>
            <a:gdLst/>
            <a:ahLst/>
            <a:cxnLst/>
            <a:rect l="l" t="t" r="r" b="b"/>
            <a:pathLst>
              <a:path w="2679743" h="332887">
                <a:moveTo>
                  <a:pt x="0" y="0"/>
                </a:moveTo>
                <a:lnTo>
                  <a:pt x="2679743" y="0"/>
                </a:lnTo>
                <a:lnTo>
                  <a:pt x="2679743" y="332887"/>
                </a:lnTo>
                <a:lnTo>
                  <a:pt x="0" y="332887"/>
                </a:lnTo>
                <a:lnTo>
                  <a:pt x="0" y="0"/>
                </a:lnTo>
                <a:close/>
              </a:path>
            </a:pathLst>
          </a:custGeom>
          <a:solidFill>
            <a:srgbClr val="F8F9FA"/>
          </a:solidFill>
          <a:ln/>
        </p:spPr>
      </p:sp>
      <p:sp>
        <p:nvSpPr>
          <p:cNvPr id="16" name="Text 14"/>
          <p:cNvSpPr/>
          <p:nvPr/>
        </p:nvSpPr>
        <p:spPr>
          <a:xfrm>
            <a:off x="466042" y="2230345"/>
            <a:ext cx="2746321" cy="332887"/>
          </a:xfrm>
          <a:prstGeom prst="rect">
            <a:avLst/>
          </a:prstGeom>
          <a:noFill/>
          <a:ln/>
        </p:spPr>
        <p:txBody>
          <a:bodyPr wrap="square" lIns="66577" tIns="66577" rIns="66577" bIns="66577" rtlCol="0" anchor="ctr"/>
          <a:lstStyle/>
          <a:p>
            <a:pPr>
              <a:lnSpc>
                <a:spcPct val="130000"/>
              </a:lnSpc>
            </a:pPr>
            <a:r>
              <a:rPr lang="en-US" sz="1048" b="1" dirty="0">
                <a:solidFill>
                  <a:srgbClr val="2D3436"/>
                </a:solidFill>
                <a:latin typeface="MiSans" pitchFamily="34" charset="0"/>
                <a:ea typeface="MiSans" pitchFamily="34" charset="-122"/>
                <a:cs typeface="MiSans" pitchFamily="34" charset="-120"/>
              </a:rPr>
              <a:t>IQS:</a:t>
            </a:r>
            <a:pPr>
              <a:lnSpc>
                <a:spcPct val="130000"/>
              </a:lnSpc>
            </a:pPr>
            <a:r>
              <a:rPr lang="en-US" sz="1048" dirty="0">
                <a:solidFill>
                  <a:srgbClr val="2D3436"/>
                </a:solidFill>
                <a:latin typeface="MiSans" pitchFamily="34" charset="0"/>
                <a:ea typeface="MiSans" pitchFamily="34" charset="-122"/>
                <a:cs typeface="MiSans" pitchFamily="34" charset="-120"/>
              </a:rPr>
              <a:t> Consistently &gt;60</a:t>
            </a:r>
            <a:endParaRPr lang="en-US" sz="1600" dirty="0"/>
          </a:p>
        </p:txBody>
      </p:sp>
      <p:sp>
        <p:nvSpPr>
          <p:cNvPr id="17" name="Shape 15"/>
          <p:cNvSpPr/>
          <p:nvPr/>
        </p:nvSpPr>
        <p:spPr>
          <a:xfrm>
            <a:off x="3214305" y="2230345"/>
            <a:ext cx="2679743" cy="332887"/>
          </a:xfrm>
          <a:custGeom>
            <a:avLst/>
            <a:gdLst/>
            <a:ahLst/>
            <a:cxnLst/>
            <a:rect l="l" t="t" r="r" b="b"/>
            <a:pathLst>
              <a:path w="2679743" h="332887">
                <a:moveTo>
                  <a:pt x="0" y="0"/>
                </a:moveTo>
                <a:lnTo>
                  <a:pt x="2679743" y="0"/>
                </a:lnTo>
                <a:lnTo>
                  <a:pt x="2679743" y="332887"/>
                </a:lnTo>
                <a:lnTo>
                  <a:pt x="0" y="332887"/>
                </a:lnTo>
                <a:lnTo>
                  <a:pt x="0" y="0"/>
                </a:lnTo>
                <a:close/>
              </a:path>
            </a:pathLst>
          </a:custGeom>
          <a:solidFill>
            <a:srgbClr val="F8F9FA"/>
          </a:solidFill>
          <a:ln/>
        </p:spPr>
      </p:sp>
      <p:sp>
        <p:nvSpPr>
          <p:cNvPr id="18" name="Text 16"/>
          <p:cNvSpPr/>
          <p:nvPr/>
        </p:nvSpPr>
        <p:spPr>
          <a:xfrm>
            <a:off x="3214305" y="2230345"/>
            <a:ext cx="2746321" cy="332887"/>
          </a:xfrm>
          <a:prstGeom prst="rect">
            <a:avLst/>
          </a:prstGeom>
          <a:noFill/>
          <a:ln/>
        </p:spPr>
        <p:txBody>
          <a:bodyPr wrap="square" lIns="66577" tIns="66577" rIns="66577" bIns="66577" rtlCol="0" anchor="ctr"/>
          <a:lstStyle/>
          <a:p>
            <a:pPr>
              <a:lnSpc>
                <a:spcPct val="130000"/>
              </a:lnSpc>
            </a:pPr>
            <a:r>
              <a:rPr lang="en-US" sz="1048" b="1" dirty="0">
                <a:solidFill>
                  <a:srgbClr val="2D3436"/>
                </a:solidFill>
                <a:latin typeface="MiSans" pitchFamily="34" charset="0"/>
                <a:ea typeface="MiSans" pitchFamily="34" charset="-122"/>
                <a:cs typeface="MiSans" pitchFamily="34" charset="-120"/>
              </a:rPr>
              <a:t>Progress delta:</a:t>
            </a:r>
            <a:pPr>
              <a:lnSpc>
                <a:spcPct val="130000"/>
              </a:lnSpc>
            </a:pPr>
            <a:r>
              <a:rPr lang="en-US" sz="1048" dirty="0">
                <a:solidFill>
                  <a:srgbClr val="2D3436"/>
                </a:solidFill>
                <a:latin typeface="MiSans" pitchFamily="34" charset="0"/>
                <a:ea typeface="MiSans" pitchFamily="34" charset="-122"/>
                <a:cs typeface="MiSans" pitchFamily="34" charset="-120"/>
              </a:rPr>
              <a:t> 0.48</a:t>
            </a:r>
            <a:endParaRPr lang="en-US" sz="1600" dirty="0"/>
          </a:p>
        </p:txBody>
      </p:sp>
      <p:sp>
        <p:nvSpPr>
          <p:cNvPr id="19" name="Shape 17"/>
          <p:cNvSpPr/>
          <p:nvPr/>
        </p:nvSpPr>
        <p:spPr>
          <a:xfrm>
            <a:off x="332887" y="2796254"/>
            <a:ext cx="5692374" cy="3861494"/>
          </a:xfrm>
          <a:custGeom>
            <a:avLst/>
            <a:gdLst/>
            <a:ahLst/>
            <a:cxnLst/>
            <a:rect l="l" t="t" r="r" b="b"/>
            <a:pathLst>
              <a:path w="5692374" h="3861494">
                <a:moveTo>
                  <a:pt x="0" y="0"/>
                </a:moveTo>
                <a:lnTo>
                  <a:pt x="5692374" y="0"/>
                </a:lnTo>
                <a:lnTo>
                  <a:pt x="5692374" y="3861494"/>
                </a:lnTo>
                <a:lnTo>
                  <a:pt x="0" y="3861494"/>
                </a:lnTo>
                <a:lnTo>
                  <a:pt x="0" y="0"/>
                </a:lnTo>
                <a:close/>
              </a:path>
            </a:pathLst>
          </a:custGeom>
          <a:solidFill>
            <a:srgbClr val="1E3A5F"/>
          </a:solidFill>
          <a:ln/>
        </p:spPr>
      </p:sp>
      <p:sp>
        <p:nvSpPr>
          <p:cNvPr id="20" name="Text 18"/>
          <p:cNvSpPr/>
          <p:nvPr/>
        </p:nvSpPr>
        <p:spPr>
          <a:xfrm>
            <a:off x="466042" y="2929409"/>
            <a:ext cx="5509286" cy="233021"/>
          </a:xfrm>
          <a:prstGeom prst="rect">
            <a:avLst/>
          </a:prstGeom>
          <a:noFill/>
          <a:ln/>
        </p:spPr>
        <p:txBody>
          <a:bodyPr wrap="square" lIns="0" tIns="0" rIns="0" bIns="0" rtlCol="0" anchor="ctr"/>
          <a:lstStyle/>
          <a:p>
            <a:pPr>
              <a:lnSpc>
                <a:spcPct val="120000"/>
              </a:lnSpc>
            </a:pPr>
            <a:r>
              <a:rPr lang="en-US" sz="1311" b="1" dirty="0">
                <a:solidFill>
                  <a:srgbClr val="F8F9FA"/>
                </a:solidFill>
                <a:latin typeface="MiSans" pitchFamily="34" charset="0"/>
                <a:ea typeface="MiSans" pitchFamily="34" charset="-122"/>
                <a:cs typeface="MiSans" pitchFamily="34" charset="-120"/>
              </a:rPr>
              <a:t>Five Key Features of Mixed Implementation</a:t>
            </a:r>
            <a:endParaRPr lang="en-US" sz="1600" dirty="0"/>
          </a:p>
        </p:txBody>
      </p:sp>
      <p:sp>
        <p:nvSpPr>
          <p:cNvPr id="21" name="Shape 19"/>
          <p:cNvSpPr/>
          <p:nvPr/>
        </p:nvSpPr>
        <p:spPr>
          <a:xfrm>
            <a:off x="466042" y="3262296"/>
            <a:ext cx="5426064" cy="599197"/>
          </a:xfrm>
          <a:custGeom>
            <a:avLst/>
            <a:gdLst/>
            <a:ahLst/>
            <a:cxnLst/>
            <a:rect l="l" t="t" r="r" b="b"/>
            <a:pathLst>
              <a:path w="5426064" h="599197">
                <a:moveTo>
                  <a:pt x="0" y="0"/>
                </a:moveTo>
                <a:lnTo>
                  <a:pt x="5426064" y="0"/>
                </a:lnTo>
                <a:lnTo>
                  <a:pt x="5426064" y="599197"/>
                </a:lnTo>
                <a:lnTo>
                  <a:pt x="0" y="599197"/>
                </a:lnTo>
                <a:lnTo>
                  <a:pt x="0" y="0"/>
                </a:lnTo>
                <a:close/>
              </a:path>
            </a:pathLst>
          </a:custGeom>
          <a:solidFill>
            <a:srgbClr val="F8F9FA">
              <a:alpha val="10196"/>
            </a:srgbClr>
          </a:solidFill>
          <a:ln/>
        </p:spPr>
      </p:sp>
      <p:sp>
        <p:nvSpPr>
          <p:cNvPr id="22" name="Text 20"/>
          <p:cNvSpPr/>
          <p:nvPr/>
        </p:nvSpPr>
        <p:spPr>
          <a:xfrm>
            <a:off x="565909" y="3362162"/>
            <a:ext cx="5292909" cy="399465"/>
          </a:xfrm>
          <a:prstGeom prst="rect">
            <a:avLst/>
          </a:prstGeom>
          <a:noFill/>
          <a:ln/>
        </p:spPr>
        <p:txBody>
          <a:bodyPr wrap="square" lIns="0" tIns="0" rIns="0" bIns="0" rtlCol="0" anchor="ctr"/>
          <a:lstStyle/>
          <a:p>
            <a:pPr>
              <a:lnSpc>
                <a:spcPct val="130000"/>
              </a:lnSpc>
            </a:pPr>
            <a:r>
              <a:rPr lang="en-US" sz="1048" b="1" dirty="0">
                <a:solidFill>
                  <a:srgbClr val="F8F9FA"/>
                </a:solidFill>
                <a:latin typeface="MiSans" pitchFamily="34" charset="0"/>
                <a:ea typeface="MiSans" pitchFamily="34" charset="-122"/>
                <a:cs typeface="MiSans" pitchFamily="34" charset="-120"/>
              </a:rPr>
              <a:t>1. High attainment, modest progress:</a:t>
            </a:r>
            <a:pPr>
              <a:lnSpc>
                <a:spcPct val="130000"/>
              </a:lnSpc>
            </a:pPr>
            <a:r>
              <a:rPr lang="en-US" sz="1048" dirty="0">
                <a:solidFill>
                  <a:srgbClr val="F8F9FA"/>
                </a:solidFill>
                <a:latin typeface="MiSans" pitchFamily="34" charset="0"/>
                <a:ea typeface="MiSans" pitchFamily="34" charset="-122"/>
                <a:cs typeface="MiSans" pitchFamily="34" charset="-120"/>
              </a:rPr>
              <a:t> The school has high attainment outcomes (average Progress 8 of 0.72) but modest progress relative to its high-attaining intake</a:t>
            </a:r>
            <a:endParaRPr lang="en-US" sz="1600" dirty="0"/>
          </a:p>
        </p:txBody>
      </p:sp>
      <p:sp>
        <p:nvSpPr>
          <p:cNvPr id="23" name="Shape 21"/>
          <p:cNvSpPr/>
          <p:nvPr/>
        </p:nvSpPr>
        <p:spPr>
          <a:xfrm>
            <a:off x="466042" y="3928071"/>
            <a:ext cx="5426064" cy="599197"/>
          </a:xfrm>
          <a:custGeom>
            <a:avLst/>
            <a:gdLst/>
            <a:ahLst/>
            <a:cxnLst/>
            <a:rect l="l" t="t" r="r" b="b"/>
            <a:pathLst>
              <a:path w="5426064" h="599197">
                <a:moveTo>
                  <a:pt x="0" y="0"/>
                </a:moveTo>
                <a:lnTo>
                  <a:pt x="5426064" y="0"/>
                </a:lnTo>
                <a:lnTo>
                  <a:pt x="5426064" y="599197"/>
                </a:lnTo>
                <a:lnTo>
                  <a:pt x="0" y="599197"/>
                </a:lnTo>
                <a:lnTo>
                  <a:pt x="0" y="0"/>
                </a:lnTo>
                <a:close/>
              </a:path>
            </a:pathLst>
          </a:custGeom>
          <a:solidFill>
            <a:srgbClr val="F8F9FA">
              <a:alpha val="10196"/>
            </a:srgbClr>
          </a:solidFill>
          <a:ln/>
        </p:spPr>
      </p:sp>
      <p:sp>
        <p:nvSpPr>
          <p:cNvPr id="24" name="Text 22"/>
          <p:cNvSpPr/>
          <p:nvPr/>
        </p:nvSpPr>
        <p:spPr>
          <a:xfrm>
            <a:off x="565909" y="4027937"/>
            <a:ext cx="5292909" cy="399465"/>
          </a:xfrm>
          <a:prstGeom prst="rect">
            <a:avLst/>
          </a:prstGeom>
          <a:noFill/>
          <a:ln/>
        </p:spPr>
        <p:txBody>
          <a:bodyPr wrap="square" lIns="0" tIns="0" rIns="0" bIns="0" rtlCol="0" anchor="ctr"/>
          <a:lstStyle/>
          <a:p>
            <a:pPr>
              <a:lnSpc>
                <a:spcPct val="130000"/>
              </a:lnSpc>
            </a:pPr>
            <a:r>
              <a:rPr lang="en-US" sz="1048" b="1" dirty="0">
                <a:solidFill>
                  <a:srgbClr val="F8F9FA"/>
                </a:solidFill>
                <a:latin typeface="MiSans" pitchFamily="34" charset="0"/>
                <a:ea typeface="MiSans" pitchFamily="34" charset="-122"/>
                <a:cs typeface="MiSans" pitchFamily="34" charset="-120"/>
              </a:rPr>
              <a:t>2. Strong coordinator support:</a:t>
            </a:r>
            <a:pPr>
              <a:lnSpc>
                <a:spcPct val="130000"/>
              </a:lnSpc>
            </a:pPr>
            <a:r>
              <a:rPr lang="en-US" sz="1048" dirty="0">
                <a:solidFill>
                  <a:srgbClr val="F8F9FA"/>
                </a:solidFill>
                <a:latin typeface="MiSans" pitchFamily="34" charset="0"/>
                <a:ea typeface="MiSans" pitchFamily="34" charset="-122"/>
                <a:cs typeface="MiSans" pitchFamily="34" charset="-120"/>
              </a:rPr>
              <a:t> The MPI coordinator is experienced and well-supported; IQS consistently above 60</a:t>
            </a:r>
            <a:endParaRPr lang="en-US" sz="1600" dirty="0"/>
          </a:p>
        </p:txBody>
      </p:sp>
      <p:sp>
        <p:nvSpPr>
          <p:cNvPr id="25" name="Shape 23"/>
          <p:cNvSpPr/>
          <p:nvPr/>
        </p:nvSpPr>
        <p:spPr>
          <a:xfrm>
            <a:off x="466042" y="4593846"/>
            <a:ext cx="5426064" cy="599197"/>
          </a:xfrm>
          <a:custGeom>
            <a:avLst/>
            <a:gdLst/>
            <a:ahLst/>
            <a:cxnLst/>
            <a:rect l="l" t="t" r="r" b="b"/>
            <a:pathLst>
              <a:path w="5426064" h="599197">
                <a:moveTo>
                  <a:pt x="0" y="0"/>
                </a:moveTo>
                <a:lnTo>
                  <a:pt x="5426064" y="0"/>
                </a:lnTo>
                <a:lnTo>
                  <a:pt x="5426064" y="599197"/>
                </a:lnTo>
                <a:lnTo>
                  <a:pt x="0" y="599197"/>
                </a:lnTo>
                <a:lnTo>
                  <a:pt x="0" y="0"/>
                </a:lnTo>
                <a:close/>
              </a:path>
            </a:pathLst>
          </a:custGeom>
          <a:solidFill>
            <a:srgbClr val="F8F9FA">
              <a:alpha val="10196"/>
            </a:srgbClr>
          </a:solidFill>
          <a:ln/>
        </p:spPr>
      </p:sp>
      <p:sp>
        <p:nvSpPr>
          <p:cNvPr id="26" name="Text 24"/>
          <p:cNvSpPr/>
          <p:nvPr/>
        </p:nvSpPr>
        <p:spPr>
          <a:xfrm>
            <a:off x="565909" y="4693712"/>
            <a:ext cx="5292909" cy="399465"/>
          </a:xfrm>
          <a:prstGeom prst="rect">
            <a:avLst/>
          </a:prstGeom>
          <a:noFill/>
          <a:ln/>
        </p:spPr>
        <p:txBody>
          <a:bodyPr wrap="square" lIns="0" tIns="0" rIns="0" bIns="0" rtlCol="0" anchor="ctr"/>
          <a:lstStyle/>
          <a:p>
            <a:pPr>
              <a:lnSpc>
                <a:spcPct val="130000"/>
              </a:lnSpc>
            </a:pPr>
            <a:r>
              <a:rPr lang="en-US" sz="1048" b="1" dirty="0">
                <a:solidFill>
                  <a:srgbClr val="F8F9FA"/>
                </a:solidFill>
                <a:latin typeface="MiSans" pitchFamily="34" charset="0"/>
                <a:ea typeface="MiSans" pitchFamily="34" charset="-122"/>
                <a:cs typeface="MiSans" pitchFamily="34" charset="-120"/>
              </a:rPr>
              <a:t>3. Subject-level variation:</a:t>
            </a:r>
            <a:pPr>
              <a:lnSpc>
                <a:spcPct val="130000"/>
              </a:lnSpc>
            </a:pPr>
            <a:r>
              <a:rPr lang="en-US" sz="1048" dirty="0">
                <a:solidFill>
                  <a:srgbClr val="F8F9FA"/>
                </a:solidFill>
                <a:latin typeface="MiSans" pitchFamily="34" charset="0"/>
                <a:ea typeface="MiSans" pitchFamily="34" charset="-122"/>
                <a:cs typeface="MiSans" pitchFamily="34" charset="-120"/>
              </a:rPr>
              <a:t> Formative assessment is well-implemented in English and mathematics but less consistently in science and humanities</a:t>
            </a:r>
            <a:endParaRPr lang="en-US" sz="1600" dirty="0"/>
          </a:p>
        </p:txBody>
      </p:sp>
      <p:sp>
        <p:nvSpPr>
          <p:cNvPr id="27" name="Shape 25"/>
          <p:cNvSpPr/>
          <p:nvPr/>
        </p:nvSpPr>
        <p:spPr>
          <a:xfrm>
            <a:off x="466042" y="5259620"/>
            <a:ext cx="5426064" cy="599197"/>
          </a:xfrm>
          <a:custGeom>
            <a:avLst/>
            <a:gdLst/>
            <a:ahLst/>
            <a:cxnLst/>
            <a:rect l="l" t="t" r="r" b="b"/>
            <a:pathLst>
              <a:path w="5426064" h="599197">
                <a:moveTo>
                  <a:pt x="0" y="0"/>
                </a:moveTo>
                <a:lnTo>
                  <a:pt x="5426064" y="0"/>
                </a:lnTo>
                <a:lnTo>
                  <a:pt x="5426064" y="599197"/>
                </a:lnTo>
                <a:lnTo>
                  <a:pt x="0" y="599197"/>
                </a:lnTo>
                <a:lnTo>
                  <a:pt x="0" y="0"/>
                </a:lnTo>
                <a:close/>
              </a:path>
            </a:pathLst>
          </a:custGeom>
          <a:solidFill>
            <a:srgbClr val="F8F9FA">
              <a:alpha val="10196"/>
            </a:srgbClr>
          </a:solidFill>
          <a:ln/>
        </p:spPr>
      </p:sp>
      <p:sp>
        <p:nvSpPr>
          <p:cNvPr id="28" name="Text 26"/>
          <p:cNvSpPr/>
          <p:nvPr/>
        </p:nvSpPr>
        <p:spPr>
          <a:xfrm>
            <a:off x="565909" y="5359487"/>
            <a:ext cx="5292909" cy="399465"/>
          </a:xfrm>
          <a:prstGeom prst="rect">
            <a:avLst/>
          </a:prstGeom>
          <a:noFill/>
          <a:ln/>
        </p:spPr>
        <p:txBody>
          <a:bodyPr wrap="square" lIns="0" tIns="0" rIns="0" bIns="0" rtlCol="0" anchor="ctr"/>
          <a:lstStyle/>
          <a:p>
            <a:pPr>
              <a:lnSpc>
                <a:spcPct val="130000"/>
              </a:lnSpc>
            </a:pPr>
            <a:r>
              <a:rPr lang="en-US" sz="1048" b="1" dirty="0">
                <a:solidFill>
                  <a:srgbClr val="F8F9FA"/>
                </a:solidFill>
                <a:latin typeface="MiSans" pitchFamily="34" charset="0"/>
                <a:ea typeface="MiSans" pitchFamily="34" charset="-122"/>
                <a:cs typeface="MiSans" pitchFamily="34" charset="-120"/>
              </a:rPr>
              <a:t>4. Below-average progress delta:</a:t>
            </a:r>
            <a:pPr>
              <a:lnSpc>
                <a:spcPct val="130000"/>
              </a:lnSpc>
            </a:pPr>
            <a:r>
              <a:rPr lang="en-US" sz="1048" dirty="0">
                <a:solidFill>
                  <a:srgbClr val="F8F9FA"/>
                </a:solidFill>
                <a:latin typeface="MiSans" pitchFamily="34" charset="0"/>
                <a:ea typeface="MiSans" pitchFamily="34" charset="-122"/>
                <a:cs typeface="MiSans" pitchFamily="34" charset="-120"/>
              </a:rPr>
              <a:t> Calibrated progress delta is 0.48, below the programme average but above the 0.4 hinge point</a:t>
            </a:r>
            <a:endParaRPr lang="en-US" sz="1600" dirty="0"/>
          </a:p>
        </p:txBody>
      </p:sp>
      <p:sp>
        <p:nvSpPr>
          <p:cNvPr id="29" name="Shape 27"/>
          <p:cNvSpPr/>
          <p:nvPr/>
        </p:nvSpPr>
        <p:spPr>
          <a:xfrm>
            <a:off x="466042" y="5925395"/>
            <a:ext cx="5426064" cy="599197"/>
          </a:xfrm>
          <a:custGeom>
            <a:avLst/>
            <a:gdLst/>
            <a:ahLst/>
            <a:cxnLst/>
            <a:rect l="l" t="t" r="r" b="b"/>
            <a:pathLst>
              <a:path w="5426064" h="599197">
                <a:moveTo>
                  <a:pt x="0" y="0"/>
                </a:moveTo>
                <a:lnTo>
                  <a:pt x="5426064" y="0"/>
                </a:lnTo>
                <a:lnTo>
                  <a:pt x="5426064" y="599197"/>
                </a:lnTo>
                <a:lnTo>
                  <a:pt x="0" y="599197"/>
                </a:lnTo>
                <a:lnTo>
                  <a:pt x="0" y="0"/>
                </a:lnTo>
                <a:close/>
              </a:path>
            </a:pathLst>
          </a:custGeom>
          <a:solidFill>
            <a:srgbClr val="F8F9FA">
              <a:alpha val="10196"/>
            </a:srgbClr>
          </a:solidFill>
          <a:ln/>
        </p:spPr>
      </p:sp>
      <p:sp>
        <p:nvSpPr>
          <p:cNvPr id="30" name="Text 28"/>
          <p:cNvSpPr/>
          <p:nvPr/>
        </p:nvSpPr>
        <p:spPr>
          <a:xfrm>
            <a:off x="565909" y="6025261"/>
            <a:ext cx="5292909" cy="399465"/>
          </a:xfrm>
          <a:prstGeom prst="rect">
            <a:avLst/>
          </a:prstGeom>
          <a:noFill/>
          <a:ln/>
        </p:spPr>
        <p:txBody>
          <a:bodyPr wrap="square" lIns="0" tIns="0" rIns="0" bIns="0" rtlCol="0" anchor="ctr"/>
          <a:lstStyle/>
          <a:p>
            <a:pPr>
              <a:lnSpc>
                <a:spcPct val="130000"/>
              </a:lnSpc>
            </a:pPr>
            <a:r>
              <a:rPr lang="en-US" sz="1048" b="1" dirty="0">
                <a:solidFill>
                  <a:srgbClr val="F8F9FA"/>
                </a:solidFill>
                <a:latin typeface="MiSans" pitchFamily="34" charset="0"/>
                <a:ea typeface="MiSans" pitchFamily="34" charset="-122"/>
                <a:cs typeface="MiSans" pitchFamily="34" charset="-120"/>
              </a:rPr>
              <a:t>5. Unanswered questions:</a:t>
            </a:r>
            <a:pPr>
              <a:lnSpc>
                <a:spcPct val="130000"/>
              </a:lnSpc>
            </a:pPr>
            <a:r>
              <a:rPr lang="en-US" sz="1048" dirty="0">
                <a:solidFill>
                  <a:srgbClr val="F8F9FA"/>
                </a:solidFill>
                <a:latin typeface="MiSans" pitchFamily="34" charset="0"/>
                <a:ea typeface="MiSans" pitchFamily="34" charset="-122"/>
                <a:cs typeface="MiSans" pitchFamily="34" charset="-120"/>
              </a:rPr>
              <a:t> The headteacher has questioned whether the MPI adds value in a selective context</a:t>
            </a:r>
            <a:endParaRPr lang="en-US" sz="1600" dirty="0"/>
          </a:p>
        </p:txBody>
      </p:sp>
      <p:sp>
        <p:nvSpPr>
          <p:cNvPr id="31" name="Shape 29"/>
          <p:cNvSpPr/>
          <p:nvPr/>
        </p:nvSpPr>
        <p:spPr>
          <a:xfrm>
            <a:off x="6178806" y="932085"/>
            <a:ext cx="5675730" cy="2995986"/>
          </a:xfrm>
          <a:custGeom>
            <a:avLst/>
            <a:gdLst/>
            <a:ahLst/>
            <a:cxnLst/>
            <a:rect l="l" t="t" r="r" b="b"/>
            <a:pathLst>
              <a:path w="5675730" h="2995986">
                <a:moveTo>
                  <a:pt x="0" y="0"/>
                </a:moveTo>
                <a:lnTo>
                  <a:pt x="5675730" y="0"/>
                </a:lnTo>
                <a:lnTo>
                  <a:pt x="5675730" y="2995986"/>
                </a:lnTo>
                <a:lnTo>
                  <a:pt x="0" y="2995986"/>
                </a:lnTo>
                <a:lnTo>
                  <a:pt x="0" y="0"/>
                </a:lnTo>
                <a:close/>
              </a:path>
            </a:pathLst>
          </a:custGeom>
          <a:solidFill>
            <a:srgbClr val="C49A2C">
              <a:alpha val="10196"/>
            </a:srgbClr>
          </a:solidFill>
          <a:ln/>
        </p:spPr>
      </p:sp>
      <p:sp>
        <p:nvSpPr>
          <p:cNvPr id="32" name="Shape 30"/>
          <p:cNvSpPr/>
          <p:nvPr/>
        </p:nvSpPr>
        <p:spPr>
          <a:xfrm>
            <a:off x="6178806" y="932085"/>
            <a:ext cx="33289" cy="2995986"/>
          </a:xfrm>
          <a:custGeom>
            <a:avLst/>
            <a:gdLst/>
            <a:ahLst/>
            <a:cxnLst/>
            <a:rect l="l" t="t" r="r" b="b"/>
            <a:pathLst>
              <a:path w="33289" h="2995986">
                <a:moveTo>
                  <a:pt x="0" y="0"/>
                </a:moveTo>
                <a:lnTo>
                  <a:pt x="33289" y="0"/>
                </a:lnTo>
                <a:lnTo>
                  <a:pt x="33289" y="2995986"/>
                </a:lnTo>
                <a:lnTo>
                  <a:pt x="0" y="2995986"/>
                </a:lnTo>
                <a:lnTo>
                  <a:pt x="0" y="0"/>
                </a:lnTo>
                <a:close/>
              </a:path>
            </a:pathLst>
          </a:custGeom>
          <a:solidFill>
            <a:srgbClr val="C49A2C"/>
          </a:solidFill>
          <a:ln/>
        </p:spPr>
      </p:sp>
      <p:sp>
        <p:nvSpPr>
          <p:cNvPr id="33" name="Text 31"/>
          <p:cNvSpPr/>
          <p:nvPr/>
        </p:nvSpPr>
        <p:spPr>
          <a:xfrm>
            <a:off x="6328605" y="1065240"/>
            <a:ext cx="5475997" cy="233021"/>
          </a:xfrm>
          <a:prstGeom prst="rect">
            <a:avLst/>
          </a:prstGeom>
          <a:noFill/>
          <a:ln/>
        </p:spPr>
        <p:txBody>
          <a:bodyPr wrap="square" lIns="0" tIns="0" rIns="0" bIns="0" rtlCol="0" anchor="ctr"/>
          <a:lstStyle/>
          <a:p>
            <a:pPr>
              <a:lnSpc>
                <a:spcPct val="120000"/>
              </a:lnSpc>
            </a:pPr>
            <a:r>
              <a:rPr lang="en-US" sz="1311" b="1" dirty="0">
                <a:solidFill>
                  <a:srgbClr val="1E3A5F"/>
                </a:solidFill>
                <a:latin typeface="MiSans" pitchFamily="34" charset="0"/>
                <a:ea typeface="MiSans" pitchFamily="34" charset="-122"/>
                <a:cs typeface="MiSans" pitchFamily="34" charset="-120"/>
              </a:rPr>
              <a:t>What Oakwood Illustrates</a:t>
            </a:r>
            <a:endParaRPr lang="en-US" sz="1600" dirty="0"/>
          </a:p>
        </p:txBody>
      </p:sp>
      <p:sp>
        <p:nvSpPr>
          <p:cNvPr id="34" name="Text 32"/>
          <p:cNvSpPr/>
          <p:nvPr/>
        </p:nvSpPr>
        <p:spPr>
          <a:xfrm>
            <a:off x="6328605" y="1398127"/>
            <a:ext cx="5459353" cy="432754"/>
          </a:xfrm>
          <a:prstGeom prst="rect">
            <a:avLst/>
          </a:prstGeom>
          <a:noFill/>
          <a:ln/>
        </p:spPr>
        <p:txBody>
          <a:bodyPr wrap="square" lIns="0" tIns="0" rIns="0" bIns="0" rtlCol="0" anchor="ctr"/>
          <a:lstStyle/>
          <a:p>
            <a:pPr>
              <a:lnSpc>
                <a:spcPct val="140000"/>
              </a:lnSpc>
            </a:pPr>
            <a:r>
              <a:rPr lang="en-US" sz="1048" dirty="0">
                <a:solidFill>
                  <a:srgbClr val="2D3436"/>
                </a:solidFill>
                <a:latin typeface="MiSans" pitchFamily="34" charset="0"/>
                <a:ea typeface="MiSans" pitchFamily="34" charset="-122"/>
                <a:cs typeface="MiSans" pitchFamily="34" charset="-120"/>
              </a:rPr>
              <a:t>Oakwood's case raises </a:t>
            </a:r>
            <a:pPr>
              <a:lnSpc>
                <a:spcPct val="140000"/>
              </a:lnSpc>
            </a:pPr>
            <a:r>
              <a:rPr lang="en-US" sz="1048" b="1" dirty="0">
                <a:solidFill>
                  <a:srgbClr val="2D3436"/>
                </a:solidFill>
                <a:latin typeface="MiSans" pitchFamily="34" charset="0"/>
                <a:ea typeface="MiSans" pitchFamily="34" charset="-122"/>
                <a:cs typeface="MiSans" pitchFamily="34" charset="-120"/>
              </a:rPr>
              <a:t>important questions about the generalisability of the MPI's evidence base to non-comprehensive settings</a:t>
            </a:r>
            <a:pPr>
              <a:lnSpc>
                <a:spcPct val="140000"/>
              </a:lnSpc>
            </a:pPr>
            <a:r>
              <a:rPr lang="en-US" sz="1048" dirty="0">
                <a:solidFill>
                  <a:srgbClr val="2D3436"/>
                </a:solidFill>
                <a:latin typeface="MiSans" pitchFamily="34" charset="0"/>
                <a:ea typeface="MiSans" pitchFamily="34" charset="-122"/>
                <a:cs typeface="MiSans" pitchFamily="34" charset="-120"/>
              </a:rPr>
              <a:t>.</a:t>
            </a:r>
            <a:endParaRPr lang="en-US" sz="1600" dirty="0"/>
          </a:p>
        </p:txBody>
      </p:sp>
      <p:sp>
        <p:nvSpPr>
          <p:cNvPr id="35" name="Text 33"/>
          <p:cNvSpPr/>
          <p:nvPr/>
        </p:nvSpPr>
        <p:spPr>
          <a:xfrm>
            <a:off x="6328605" y="1930747"/>
            <a:ext cx="5459353" cy="432754"/>
          </a:xfrm>
          <a:prstGeom prst="rect">
            <a:avLst/>
          </a:prstGeom>
          <a:noFill/>
          <a:ln/>
        </p:spPr>
        <p:txBody>
          <a:bodyPr wrap="square" lIns="0" tIns="0" rIns="0" bIns="0" rtlCol="0" anchor="ctr"/>
          <a:lstStyle/>
          <a:p>
            <a:pPr>
              <a:lnSpc>
                <a:spcPct val="140000"/>
              </a:lnSpc>
            </a:pPr>
            <a:r>
              <a:rPr lang="en-US" sz="1048" dirty="0">
                <a:solidFill>
                  <a:srgbClr val="2D3436"/>
                </a:solidFill>
                <a:latin typeface="MiSans" pitchFamily="34" charset="0"/>
                <a:ea typeface="MiSans" pitchFamily="34" charset="-122"/>
                <a:cs typeface="MiSans" pitchFamily="34" charset="-120"/>
              </a:rPr>
              <a:t>The school's high attainment outcomes mask a progress picture that is, while above the hinge point, </a:t>
            </a:r>
            <a:pPr>
              <a:lnSpc>
                <a:spcPct val="140000"/>
              </a:lnSpc>
            </a:pPr>
            <a:r>
              <a:rPr lang="en-US" sz="1048" b="1" dirty="0">
                <a:solidFill>
                  <a:srgbClr val="2D3436"/>
                </a:solidFill>
                <a:latin typeface="MiSans" pitchFamily="34" charset="0"/>
                <a:ea typeface="MiSans" pitchFamily="34" charset="-122"/>
                <a:cs typeface="MiSans" pitchFamily="34" charset="-120"/>
              </a:rPr>
              <a:t>below the programme average</a:t>
            </a:r>
            <a:pPr>
              <a:lnSpc>
                <a:spcPct val="140000"/>
              </a:lnSpc>
            </a:pPr>
            <a:r>
              <a:rPr lang="en-US" sz="1048" dirty="0">
                <a:solidFill>
                  <a:srgbClr val="2D3436"/>
                </a:solidFill>
                <a:latin typeface="MiSans" pitchFamily="34" charset="0"/>
                <a:ea typeface="MiSans" pitchFamily="34" charset="-122"/>
                <a:cs typeface="MiSans" pitchFamily="34" charset="-120"/>
              </a:rPr>
              <a:t>. This may reflect:</a:t>
            </a:r>
            <a:endParaRPr lang="en-US" sz="1600" dirty="0"/>
          </a:p>
        </p:txBody>
      </p:sp>
      <p:sp>
        <p:nvSpPr>
          <p:cNvPr id="36" name="Shape 34"/>
          <p:cNvSpPr/>
          <p:nvPr/>
        </p:nvSpPr>
        <p:spPr>
          <a:xfrm>
            <a:off x="6345250" y="2500816"/>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66577" y="45772"/>
                </a:moveTo>
                <a:cubicBezTo>
                  <a:pt x="61974" y="45772"/>
                  <a:pt x="58255" y="49491"/>
                  <a:pt x="58255" y="54094"/>
                </a:cubicBezTo>
                <a:cubicBezTo>
                  <a:pt x="58255" y="57553"/>
                  <a:pt x="55473" y="60336"/>
                  <a:pt x="52014" y="60336"/>
                </a:cubicBezTo>
                <a:cubicBezTo>
                  <a:pt x="48555" y="60336"/>
                  <a:pt x="45772" y="57553"/>
                  <a:pt x="45772" y="54094"/>
                </a:cubicBezTo>
                <a:cubicBezTo>
                  <a:pt x="45772" y="42599"/>
                  <a:pt x="55082" y="33289"/>
                  <a:pt x="66577" y="33289"/>
                </a:cubicBezTo>
                <a:cubicBezTo>
                  <a:pt x="78072" y="33289"/>
                  <a:pt x="87383" y="42599"/>
                  <a:pt x="87383" y="54094"/>
                </a:cubicBezTo>
                <a:cubicBezTo>
                  <a:pt x="87383" y="66369"/>
                  <a:pt x="78020" y="71571"/>
                  <a:pt x="72819" y="73469"/>
                </a:cubicBezTo>
                <a:lnTo>
                  <a:pt x="72819" y="74458"/>
                </a:lnTo>
                <a:cubicBezTo>
                  <a:pt x="72819" y="77916"/>
                  <a:pt x="70036" y="80699"/>
                  <a:pt x="66577" y="80699"/>
                </a:cubicBezTo>
                <a:cubicBezTo>
                  <a:pt x="63119" y="80699"/>
                  <a:pt x="60336" y="77916"/>
                  <a:pt x="60336" y="74458"/>
                </a:cubicBezTo>
                <a:lnTo>
                  <a:pt x="60336" y="72351"/>
                </a:lnTo>
                <a:cubicBezTo>
                  <a:pt x="60336" y="67020"/>
                  <a:pt x="64185" y="63197"/>
                  <a:pt x="68164" y="61896"/>
                </a:cubicBezTo>
                <a:cubicBezTo>
                  <a:pt x="69828" y="61350"/>
                  <a:pt x="71597" y="60466"/>
                  <a:pt x="72897" y="59218"/>
                </a:cubicBezTo>
                <a:cubicBezTo>
                  <a:pt x="74015" y="58125"/>
                  <a:pt x="74900" y="56617"/>
                  <a:pt x="74900" y="54120"/>
                </a:cubicBezTo>
                <a:cubicBezTo>
                  <a:pt x="74900" y="49517"/>
                  <a:pt x="71181" y="45798"/>
                  <a:pt x="66577" y="45798"/>
                </a:cubicBezTo>
                <a:close/>
                <a:moveTo>
                  <a:pt x="58255" y="95705"/>
                </a:moveTo>
                <a:cubicBezTo>
                  <a:pt x="58255" y="91112"/>
                  <a:pt x="61984" y="87383"/>
                  <a:pt x="66577" y="87383"/>
                </a:cubicBezTo>
                <a:cubicBezTo>
                  <a:pt x="71171" y="87383"/>
                  <a:pt x="74900" y="91112"/>
                  <a:pt x="74900" y="95705"/>
                </a:cubicBezTo>
                <a:cubicBezTo>
                  <a:pt x="74900" y="100298"/>
                  <a:pt x="71171" y="104027"/>
                  <a:pt x="66577" y="104027"/>
                </a:cubicBezTo>
                <a:cubicBezTo>
                  <a:pt x="61984" y="104027"/>
                  <a:pt x="58255" y="100298"/>
                  <a:pt x="58255" y="95705"/>
                </a:cubicBezTo>
                <a:close/>
              </a:path>
            </a:pathLst>
          </a:custGeom>
          <a:solidFill>
            <a:srgbClr val="C49A2C"/>
          </a:solidFill>
          <a:ln/>
        </p:spPr>
      </p:sp>
      <p:sp>
        <p:nvSpPr>
          <p:cNvPr id="37" name="Text 35"/>
          <p:cNvSpPr/>
          <p:nvPr/>
        </p:nvSpPr>
        <p:spPr>
          <a:xfrm>
            <a:off x="6538676" y="2463367"/>
            <a:ext cx="5249282" cy="399465"/>
          </a:xfrm>
          <a:prstGeom prst="rect">
            <a:avLst/>
          </a:prstGeom>
          <a:noFill/>
          <a:ln/>
        </p:spPr>
        <p:txBody>
          <a:bodyPr wrap="square" lIns="0" tIns="0" rIns="0" bIns="0" rtlCol="0" anchor="ctr"/>
          <a:lstStyle/>
          <a:p>
            <a:pPr>
              <a:lnSpc>
                <a:spcPct val="130000"/>
              </a:lnSpc>
            </a:pPr>
            <a:r>
              <a:rPr lang="en-US" sz="1048" dirty="0">
                <a:solidFill>
                  <a:srgbClr val="2D3436"/>
                </a:solidFill>
                <a:latin typeface="MiSans" pitchFamily="34" charset="0"/>
                <a:ea typeface="MiSans" pitchFamily="34" charset="-122"/>
                <a:cs typeface="MiSans" pitchFamily="34" charset="-120"/>
              </a:rPr>
              <a:t>The </a:t>
            </a:r>
            <a:pPr>
              <a:lnSpc>
                <a:spcPct val="130000"/>
              </a:lnSpc>
            </a:pPr>
            <a:r>
              <a:rPr lang="en-US" sz="1048" b="1" dirty="0">
                <a:solidFill>
                  <a:srgbClr val="2D3436"/>
                </a:solidFill>
                <a:latin typeface="MiSans" pitchFamily="34" charset="0"/>
                <a:ea typeface="MiSans" pitchFamily="34" charset="-122"/>
                <a:cs typeface="MiSans" pitchFamily="34" charset="-120"/>
              </a:rPr>
              <a:t>ceiling effect</a:t>
            </a:r>
            <a:pPr>
              <a:lnSpc>
                <a:spcPct val="130000"/>
              </a:lnSpc>
            </a:pPr>
            <a:r>
              <a:rPr lang="en-US" sz="1048" dirty="0">
                <a:solidFill>
                  <a:srgbClr val="2D3436"/>
                </a:solidFill>
                <a:latin typeface="MiSans" pitchFamily="34" charset="0"/>
                <a:ea typeface="MiSans" pitchFamily="34" charset="-122"/>
                <a:cs typeface="MiSans" pitchFamily="34" charset="-120"/>
              </a:rPr>
              <a:t> in selective schools, where high-attaining intakes have less room to demonstrate progress</a:t>
            </a:r>
            <a:endParaRPr lang="en-US" sz="1600" dirty="0"/>
          </a:p>
        </p:txBody>
      </p:sp>
      <p:sp>
        <p:nvSpPr>
          <p:cNvPr id="38" name="Shape 36"/>
          <p:cNvSpPr/>
          <p:nvPr/>
        </p:nvSpPr>
        <p:spPr>
          <a:xfrm>
            <a:off x="6345250" y="2966859"/>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66577" y="45772"/>
                </a:moveTo>
                <a:cubicBezTo>
                  <a:pt x="61974" y="45772"/>
                  <a:pt x="58255" y="49491"/>
                  <a:pt x="58255" y="54094"/>
                </a:cubicBezTo>
                <a:cubicBezTo>
                  <a:pt x="58255" y="57553"/>
                  <a:pt x="55473" y="60336"/>
                  <a:pt x="52014" y="60336"/>
                </a:cubicBezTo>
                <a:cubicBezTo>
                  <a:pt x="48555" y="60336"/>
                  <a:pt x="45772" y="57553"/>
                  <a:pt x="45772" y="54094"/>
                </a:cubicBezTo>
                <a:cubicBezTo>
                  <a:pt x="45772" y="42599"/>
                  <a:pt x="55082" y="33289"/>
                  <a:pt x="66577" y="33289"/>
                </a:cubicBezTo>
                <a:cubicBezTo>
                  <a:pt x="78072" y="33289"/>
                  <a:pt x="87383" y="42599"/>
                  <a:pt x="87383" y="54094"/>
                </a:cubicBezTo>
                <a:cubicBezTo>
                  <a:pt x="87383" y="66369"/>
                  <a:pt x="78020" y="71571"/>
                  <a:pt x="72819" y="73469"/>
                </a:cubicBezTo>
                <a:lnTo>
                  <a:pt x="72819" y="74458"/>
                </a:lnTo>
                <a:cubicBezTo>
                  <a:pt x="72819" y="77916"/>
                  <a:pt x="70036" y="80699"/>
                  <a:pt x="66577" y="80699"/>
                </a:cubicBezTo>
                <a:cubicBezTo>
                  <a:pt x="63119" y="80699"/>
                  <a:pt x="60336" y="77916"/>
                  <a:pt x="60336" y="74458"/>
                </a:cubicBezTo>
                <a:lnTo>
                  <a:pt x="60336" y="72351"/>
                </a:lnTo>
                <a:cubicBezTo>
                  <a:pt x="60336" y="67020"/>
                  <a:pt x="64185" y="63197"/>
                  <a:pt x="68164" y="61896"/>
                </a:cubicBezTo>
                <a:cubicBezTo>
                  <a:pt x="69828" y="61350"/>
                  <a:pt x="71597" y="60466"/>
                  <a:pt x="72897" y="59218"/>
                </a:cubicBezTo>
                <a:cubicBezTo>
                  <a:pt x="74015" y="58125"/>
                  <a:pt x="74900" y="56617"/>
                  <a:pt x="74900" y="54120"/>
                </a:cubicBezTo>
                <a:cubicBezTo>
                  <a:pt x="74900" y="49517"/>
                  <a:pt x="71181" y="45798"/>
                  <a:pt x="66577" y="45798"/>
                </a:cubicBezTo>
                <a:close/>
                <a:moveTo>
                  <a:pt x="58255" y="95705"/>
                </a:moveTo>
                <a:cubicBezTo>
                  <a:pt x="58255" y="91112"/>
                  <a:pt x="61984" y="87383"/>
                  <a:pt x="66577" y="87383"/>
                </a:cubicBezTo>
                <a:cubicBezTo>
                  <a:pt x="71171" y="87383"/>
                  <a:pt x="74900" y="91112"/>
                  <a:pt x="74900" y="95705"/>
                </a:cubicBezTo>
                <a:cubicBezTo>
                  <a:pt x="74900" y="100298"/>
                  <a:pt x="71171" y="104027"/>
                  <a:pt x="66577" y="104027"/>
                </a:cubicBezTo>
                <a:cubicBezTo>
                  <a:pt x="61984" y="104027"/>
                  <a:pt x="58255" y="100298"/>
                  <a:pt x="58255" y="95705"/>
                </a:cubicBezTo>
                <a:close/>
              </a:path>
            </a:pathLst>
          </a:custGeom>
          <a:solidFill>
            <a:srgbClr val="C49A2C"/>
          </a:solidFill>
          <a:ln/>
        </p:spPr>
      </p:sp>
      <p:sp>
        <p:nvSpPr>
          <p:cNvPr id="39" name="Text 37"/>
          <p:cNvSpPr/>
          <p:nvPr/>
        </p:nvSpPr>
        <p:spPr>
          <a:xfrm>
            <a:off x="6538676" y="2929409"/>
            <a:ext cx="5249282" cy="399465"/>
          </a:xfrm>
          <a:prstGeom prst="rect">
            <a:avLst/>
          </a:prstGeom>
          <a:noFill/>
          <a:ln/>
        </p:spPr>
        <p:txBody>
          <a:bodyPr wrap="square" lIns="0" tIns="0" rIns="0" bIns="0" rtlCol="0" anchor="ctr"/>
          <a:lstStyle/>
          <a:p>
            <a:pPr>
              <a:lnSpc>
                <a:spcPct val="130000"/>
              </a:lnSpc>
            </a:pPr>
            <a:r>
              <a:rPr lang="en-US" sz="1048" dirty="0">
                <a:solidFill>
                  <a:srgbClr val="2D3436"/>
                </a:solidFill>
                <a:latin typeface="MiSans" pitchFamily="34" charset="0"/>
                <a:ea typeface="MiSans" pitchFamily="34" charset="-122"/>
                <a:cs typeface="MiSans" pitchFamily="34" charset="-120"/>
              </a:rPr>
              <a:t>The </a:t>
            </a:r>
            <a:pPr>
              <a:lnSpc>
                <a:spcPct val="130000"/>
              </a:lnSpc>
            </a:pPr>
            <a:r>
              <a:rPr lang="en-US" sz="1048" b="1" dirty="0">
                <a:solidFill>
                  <a:srgbClr val="2D3436"/>
                </a:solidFill>
                <a:latin typeface="MiSans" pitchFamily="34" charset="0"/>
                <a:ea typeface="MiSans" pitchFamily="34" charset="-122"/>
                <a:cs typeface="MiSans" pitchFamily="34" charset="-120"/>
              </a:rPr>
              <a:t>different pedagogical needs</a:t>
            </a:r>
            <a:pPr>
              <a:lnSpc>
                <a:spcPct val="130000"/>
              </a:lnSpc>
            </a:pPr>
            <a:r>
              <a:rPr lang="en-US" sz="1048" dirty="0">
                <a:solidFill>
                  <a:srgbClr val="2D3436"/>
                </a:solidFill>
                <a:latin typeface="MiSans" pitchFamily="34" charset="0"/>
                <a:ea typeface="MiSans" pitchFamily="34" charset="-122"/>
                <a:cs typeface="MiSans" pitchFamily="34" charset="-120"/>
              </a:rPr>
              <a:t> of high-attaining pupils, which the MPI may not fully address</a:t>
            </a:r>
            <a:endParaRPr lang="en-US" sz="1600" dirty="0"/>
          </a:p>
        </p:txBody>
      </p:sp>
      <p:sp>
        <p:nvSpPr>
          <p:cNvPr id="40" name="Shape 38"/>
          <p:cNvSpPr/>
          <p:nvPr/>
        </p:nvSpPr>
        <p:spPr>
          <a:xfrm>
            <a:off x="6345250" y="3432901"/>
            <a:ext cx="133155" cy="133155"/>
          </a:xfrm>
          <a:custGeom>
            <a:avLst/>
            <a:gdLst/>
            <a:ahLst/>
            <a:cxnLst/>
            <a:rect l="l" t="t" r="r" b="b"/>
            <a:pathLst>
              <a:path w="133155" h="133155">
                <a:moveTo>
                  <a:pt x="66577" y="133155"/>
                </a:moveTo>
                <a:cubicBezTo>
                  <a:pt x="103323" y="133155"/>
                  <a:pt x="133155" y="103323"/>
                  <a:pt x="133155" y="66577"/>
                </a:cubicBezTo>
                <a:cubicBezTo>
                  <a:pt x="133155" y="29832"/>
                  <a:pt x="103323" y="0"/>
                  <a:pt x="66577" y="0"/>
                </a:cubicBezTo>
                <a:cubicBezTo>
                  <a:pt x="29832" y="0"/>
                  <a:pt x="0" y="29832"/>
                  <a:pt x="0" y="66577"/>
                </a:cubicBezTo>
                <a:cubicBezTo>
                  <a:pt x="0" y="103323"/>
                  <a:pt x="29832" y="133155"/>
                  <a:pt x="66577" y="133155"/>
                </a:cubicBezTo>
                <a:close/>
                <a:moveTo>
                  <a:pt x="66577" y="45772"/>
                </a:moveTo>
                <a:cubicBezTo>
                  <a:pt x="61974" y="45772"/>
                  <a:pt x="58255" y="49491"/>
                  <a:pt x="58255" y="54094"/>
                </a:cubicBezTo>
                <a:cubicBezTo>
                  <a:pt x="58255" y="57553"/>
                  <a:pt x="55473" y="60336"/>
                  <a:pt x="52014" y="60336"/>
                </a:cubicBezTo>
                <a:cubicBezTo>
                  <a:pt x="48555" y="60336"/>
                  <a:pt x="45772" y="57553"/>
                  <a:pt x="45772" y="54094"/>
                </a:cubicBezTo>
                <a:cubicBezTo>
                  <a:pt x="45772" y="42599"/>
                  <a:pt x="55082" y="33289"/>
                  <a:pt x="66577" y="33289"/>
                </a:cubicBezTo>
                <a:cubicBezTo>
                  <a:pt x="78072" y="33289"/>
                  <a:pt x="87383" y="42599"/>
                  <a:pt x="87383" y="54094"/>
                </a:cubicBezTo>
                <a:cubicBezTo>
                  <a:pt x="87383" y="66369"/>
                  <a:pt x="78020" y="71571"/>
                  <a:pt x="72819" y="73469"/>
                </a:cubicBezTo>
                <a:lnTo>
                  <a:pt x="72819" y="74458"/>
                </a:lnTo>
                <a:cubicBezTo>
                  <a:pt x="72819" y="77916"/>
                  <a:pt x="70036" y="80699"/>
                  <a:pt x="66577" y="80699"/>
                </a:cubicBezTo>
                <a:cubicBezTo>
                  <a:pt x="63119" y="80699"/>
                  <a:pt x="60336" y="77916"/>
                  <a:pt x="60336" y="74458"/>
                </a:cubicBezTo>
                <a:lnTo>
                  <a:pt x="60336" y="72351"/>
                </a:lnTo>
                <a:cubicBezTo>
                  <a:pt x="60336" y="67020"/>
                  <a:pt x="64185" y="63197"/>
                  <a:pt x="68164" y="61896"/>
                </a:cubicBezTo>
                <a:cubicBezTo>
                  <a:pt x="69828" y="61350"/>
                  <a:pt x="71597" y="60466"/>
                  <a:pt x="72897" y="59218"/>
                </a:cubicBezTo>
                <a:cubicBezTo>
                  <a:pt x="74015" y="58125"/>
                  <a:pt x="74900" y="56617"/>
                  <a:pt x="74900" y="54120"/>
                </a:cubicBezTo>
                <a:cubicBezTo>
                  <a:pt x="74900" y="49517"/>
                  <a:pt x="71181" y="45798"/>
                  <a:pt x="66577" y="45798"/>
                </a:cubicBezTo>
                <a:close/>
                <a:moveTo>
                  <a:pt x="58255" y="95705"/>
                </a:moveTo>
                <a:cubicBezTo>
                  <a:pt x="58255" y="91112"/>
                  <a:pt x="61984" y="87383"/>
                  <a:pt x="66577" y="87383"/>
                </a:cubicBezTo>
                <a:cubicBezTo>
                  <a:pt x="71171" y="87383"/>
                  <a:pt x="74900" y="91112"/>
                  <a:pt x="74900" y="95705"/>
                </a:cubicBezTo>
                <a:cubicBezTo>
                  <a:pt x="74900" y="100298"/>
                  <a:pt x="71171" y="104027"/>
                  <a:pt x="66577" y="104027"/>
                </a:cubicBezTo>
                <a:cubicBezTo>
                  <a:pt x="61984" y="104027"/>
                  <a:pt x="58255" y="100298"/>
                  <a:pt x="58255" y="95705"/>
                </a:cubicBezTo>
                <a:close/>
              </a:path>
            </a:pathLst>
          </a:custGeom>
          <a:solidFill>
            <a:srgbClr val="C49A2C"/>
          </a:solidFill>
          <a:ln/>
        </p:spPr>
      </p:sp>
      <p:sp>
        <p:nvSpPr>
          <p:cNvPr id="41" name="Text 39"/>
          <p:cNvSpPr/>
          <p:nvPr/>
        </p:nvSpPr>
        <p:spPr>
          <a:xfrm>
            <a:off x="6538676" y="3395451"/>
            <a:ext cx="5249282" cy="399465"/>
          </a:xfrm>
          <a:prstGeom prst="rect">
            <a:avLst/>
          </a:prstGeom>
          <a:noFill/>
          <a:ln/>
        </p:spPr>
        <p:txBody>
          <a:bodyPr wrap="square" lIns="0" tIns="0" rIns="0" bIns="0" rtlCol="0" anchor="ctr"/>
          <a:lstStyle/>
          <a:p>
            <a:pPr>
              <a:lnSpc>
                <a:spcPct val="130000"/>
              </a:lnSpc>
            </a:pPr>
            <a:r>
              <a:rPr lang="en-US" sz="1048" dirty="0">
                <a:solidFill>
                  <a:srgbClr val="2D3436"/>
                </a:solidFill>
                <a:latin typeface="MiSans" pitchFamily="34" charset="0"/>
                <a:ea typeface="MiSans" pitchFamily="34" charset="-122"/>
                <a:cs typeface="MiSans" pitchFamily="34" charset="-120"/>
              </a:rPr>
              <a:t>The </a:t>
            </a:r>
            <a:pPr>
              <a:lnSpc>
                <a:spcPct val="130000"/>
              </a:lnSpc>
            </a:pPr>
            <a:r>
              <a:rPr lang="en-US" sz="1048" b="1" dirty="0">
                <a:solidFill>
                  <a:srgbClr val="2D3436"/>
                </a:solidFill>
                <a:latin typeface="MiSans" pitchFamily="34" charset="0"/>
                <a:ea typeface="MiSans" pitchFamily="34" charset="-122"/>
                <a:cs typeface="MiSans" pitchFamily="34" charset="-120"/>
              </a:rPr>
              <a:t>subject-level variation</a:t>
            </a:r>
            <a:pPr>
              <a:lnSpc>
                <a:spcPct val="130000"/>
              </a:lnSpc>
            </a:pPr>
            <a:r>
              <a:rPr lang="en-US" sz="1048" dirty="0">
                <a:solidFill>
                  <a:srgbClr val="2D3436"/>
                </a:solidFill>
                <a:latin typeface="MiSans" pitchFamily="34" charset="0"/>
                <a:ea typeface="MiSans" pitchFamily="34" charset="-122"/>
                <a:cs typeface="MiSans" pitchFamily="34" charset="-120"/>
              </a:rPr>
              <a:t> in implementation quality, which suggests inconsistent engagement</a:t>
            </a:r>
            <a:endParaRPr lang="en-US" sz="1600" dirty="0"/>
          </a:p>
        </p:txBody>
      </p:sp>
      <p:sp>
        <p:nvSpPr>
          <p:cNvPr id="42" name="Shape 40"/>
          <p:cNvSpPr/>
          <p:nvPr/>
        </p:nvSpPr>
        <p:spPr>
          <a:xfrm>
            <a:off x="6162161" y="4044582"/>
            <a:ext cx="5692374" cy="1231683"/>
          </a:xfrm>
          <a:custGeom>
            <a:avLst/>
            <a:gdLst/>
            <a:ahLst/>
            <a:cxnLst/>
            <a:rect l="l" t="t" r="r" b="b"/>
            <a:pathLst>
              <a:path w="5692374" h="1231683">
                <a:moveTo>
                  <a:pt x="0" y="0"/>
                </a:moveTo>
                <a:lnTo>
                  <a:pt x="5692374" y="0"/>
                </a:lnTo>
                <a:lnTo>
                  <a:pt x="5692374" y="1231683"/>
                </a:lnTo>
                <a:lnTo>
                  <a:pt x="0" y="1231683"/>
                </a:lnTo>
                <a:lnTo>
                  <a:pt x="0" y="0"/>
                </a:lnTo>
                <a:close/>
              </a:path>
            </a:pathLst>
          </a:custGeom>
          <a:solidFill>
            <a:srgbClr val="FFFFFF"/>
          </a:solidFill>
          <a:ln/>
        </p:spPr>
      </p:sp>
      <p:sp>
        <p:nvSpPr>
          <p:cNvPr id="43" name="Shape 41"/>
          <p:cNvSpPr/>
          <p:nvPr/>
        </p:nvSpPr>
        <p:spPr>
          <a:xfrm>
            <a:off x="6162161" y="4044582"/>
            <a:ext cx="5692374" cy="33289"/>
          </a:xfrm>
          <a:custGeom>
            <a:avLst/>
            <a:gdLst/>
            <a:ahLst/>
            <a:cxnLst/>
            <a:rect l="l" t="t" r="r" b="b"/>
            <a:pathLst>
              <a:path w="5692374" h="33289">
                <a:moveTo>
                  <a:pt x="0" y="0"/>
                </a:moveTo>
                <a:lnTo>
                  <a:pt x="5692374" y="0"/>
                </a:lnTo>
                <a:lnTo>
                  <a:pt x="5692374" y="33289"/>
                </a:lnTo>
                <a:lnTo>
                  <a:pt x="0" y="33289"/>
                </a:lnTo>
                <a:lnTo>
                  <a:pt x="0" y="0"/>
                </a:lnTo>
                <a:close/>
              </a:path>
            </a:pathLst>
          </a:custGeom>
          <a:solidFill>
            <a:srgbClr val="1E3A5F"/>
          </a:solidFill>
          <a:ln/>
        </p:spPr>
      </p:sp>
      <p:sp>
        <p:nvSpPr>
          <p:cNvPr id="44" name="Text 42"/>
          <p:cNvSpPr/>
          <p:nvPr/>
        </p:nvSpPr>
        <p:spPr>
          <a:xfrm>
            <a:off x="6295316" y="4194381"/>
            <a:ext cx="5500964" cy="233021"/>
          </a:xfrm>
          <a:prstGeom prst="rect">
            <a:avLst/>
          </a:prstGeom>
          <a:noFill/>
          <a:ln/>
        </p:spPr>
        <p:txBody>
          <a:bodyPr wrap="square" lIns="0" tIns="0" rIns="0" bIns="0" rtlCol="0" anchor="ctr"/>
          <a:lstStyle/>
          <a:p>
            <a:pPr>
              <a:lnSpc>
                <a:spcPct val="130000"/>
              </a:lnSpc>
            </a:pPr>
            <a:r>
              <a:rPr lang="en-US" sz="1180" b="1" dirty="0">
                <a:solidFill>
                  <a:srgbClr val="1E3A5F"/>
                </a:solidFill>
                <a:latin typeface="MiSans" pitchFamily="34" charset="0"/>
                <a:ea typeface="MiSans" pitchFamily="34" charset="-122"/>
                <a:cs typeface="MiSans" pitchFamily="34" charset="-120"/>
              </a:rPr>
              <a:t>Communication Guidance</a:t>
            </a:r>
            <a:endParaRPr lang="en-US" sz="1600" dirty="0"/>
          </a:p>
        </p:txBody>
      </p:sp>
      <p:sp>
        <p:nvSpPr>
          <p:cNvPr id="45" name="Text 43"/>
          <p:cNvSpPr/>
          <p:nvPr/>
        </p:nvSpPr>
        <p:spPr>
          <a:xfrm>
            <a:off x="6295316" y="4493980"/>
            <a:ext cx="5492642" cy="649130"/>
          </a:xfrm>
          <a:prstGeom prst="rect">
            <a:avLst/>
          </a:prstGeom>
          <a:noFill/>
          <a:ln/>
        </p:spPr>
        <p:txBody>
          <a:bodyPr wrap="square" lIns="0" tIns="0" rIns="0" bIns="0" rtlCol="0" anchor="ctr"/>
          <a:lstStyle/>
          <a:p>
            <a:pPr>
              <a:lnSpc>
                <a:spcPct val="140000"/>
              </a:lnSpc>
            </a:pPr>
            <a:r>
              <a:rPr lang="en-US" sz="1048" dirty="0">
                <a:solidFill>
                  <a:srgbClr val="2D3436"/>
                </a:solidFill>
                <a:latin typeface="MiSans" pitchFamily="34" charset="0"/>
                <a:ea typeface="MiSans" pitchFamily="34" charset="-122"/>
                <a:cs typeface="MiSans" pitchFamily="34" charset="-120"/>
              </a:rPr>
              <a:t>Staff should be </a:t>
            </a:r>
            <a:pPr>
              <a:lnSpc>
                <a:spcPct val="140000"/>
              </a:lnSpc>
            </a:pPr>
            <a:r>
              <a:rPr lang="en-US" sz="1048" b="1" dirty="0">
                <a:solidFill>
                  <a:srgbClr val="2D3436"/>
                </a:solidFill>
                <a:latin typeface="MiSans" pitchFamily="34" charset="0"/>
                <a:ea typeface="MiSans" pitchFamily="34" charset="-122"/>
                <a:cs typeface="MiSans" pitchFamily="34" charset="-120"/>
              </a:rPr>
              <a:t>cautious about making strong claims for selective schools</a:t>
            </a:r>
            <a:pPr>
              <a:lnSpc>
                <a:spcPct val="140000"/>
              </a:lnSpc>
            </a:pPr>
            <a:r>
              <a:rPr lang="en-US" sz="1048" dirty="0">
                <a:solidFill>
                  <a:srgbClr val="2D3436"/>
                </a:solidFill>
                <a:latin typeface="MiSans" pitchFamily="34" charset="0"/>
                <a:ea typeface="MiSans" pitchFamily="34" charset="-122"/>
                <a:cs typeface="MiSans" pitchFamily="34" charset="-120"/>
              </a:rPr>
              <a:t> based on the current evidence. The MPI has not been formally evaluated in selective contexts, and the available data suggests that effects may be weaker than in comprehensive settings.</a:t>
            </a:r>
            <a:endParaRPr lang="en-US" sz="1600" dirty="0"/>
          </a:p>
        </p:txBody>
      </p:sp>
      <p:sp>
        <p:nvSpPr>
          <p:cNvPr id="46" name="Shape 44"/>
          <p:cNvSpPr/>
          <p:nvPr/>
        </p:nvSpPr>
        <p:spPr>
          <a:xfrm>
            <a:off x="6162161" y="5392775"/>
            <a:ext cx="5692374" cy="416109"/>
          </a:xfrm>
          <a:custGeom>
            <a:avLst/>
            <a:gdLst/>
            <a:ahLst/>
            <a:cxnLst/>
            <a:rect l="l" t="t" r="r" b="b"/>
            <a:pathLst>
              <a:path w="5692374" h="416109">
                <a:moveTo>
                  <a:pt x="0" y="0"/>
                </a:moveTo>
                <a:lnTo>
                  <a:pt x="5692374" y="0"/>
                </a:lnTo>
                <a:lnTo>
                  <a:pt x="5692374" y="416109"/>
                </a:lnTo>
                <a:lnTo>
                  <a:pt x="0" y="416109"/>
                </a:lnTo>
                <a:lnTo>
                  <a:pt x="0" y="0"/>
                </a:lnTo>
                <a:close/>
              </a:path>
            </a:pathLst>
          </a:custGeom>
          <a:solidFill>
            <a:srgbClr val="FFFFFF"/>
          </a:solidFill>
          <a:ln/>
        </p:spPr>
      </p:sp>
      <p:sp>
        <p:nvSpPr>
          <p:cNvPr id="47" name="Shape 45"/>
          <p:cNvSpPr/>
          <p:nvPr/>
        </p:nvSpPr>
        <p:spPr>
          <a:xfrm>
            <a:off x="6162161" y="5392775"/>
            <a:ext cx="5692374" cy="33289"/>
          </a:xfrm>
          <a:custGeom>
            <a:avLst/>
            <a:gdLst/>
            <a:ahLst/>
            <a:cxnLst/>
            <a:rect l="l" t="t" r="r" b="b"/>
            <a:pathLst>
              <a:path w="5692374" h="33289">
                <a:moveTo>
                  <a:pt x="0" y="0"/>
                </a:moveTo>
                <a:lnTo>
                  <a:pt x="5692374" y="0"/>
                </a:lnTo>
                <a:lnTo>
                  <a:pt x="5692374" y="33289"/>
                </a:lnTo>
                <a:lnTo>
                  <a:pt x="0" y="33289"/>
                </a:lnTo>
                <a:lnTo>
                  <a:pt x="0" y="0"/>
                </a:lnTo>
                <a:close/>
              </a:path>
            </a:pathLst>
          </a:custGeom>
          <a:solidFill>
            <a:srgbClr val="1E3A5F"/>
          </a:solidFill>
          <a:ln/>
        </p:spPr>
      </p:sp>
      <p:sp>
        <p:nvSpPr>
          <p:cNvPr id="48" name="Shape 46"/>
          <p:cNvSpPr/>
          <p:nvPr/>
        </p:nvSpPr>
        <p:spPr>
          <a:xfrm>
            <a:off x="6286994" y="5546736"/>
            <a:ext cx="116511" cy="133155"/>
          </a:xfrm>
          <a:custGeom>
            <a:avLst/>
            <a:gdLst/>
            <a:ahLst/>
            <a:cxnLst/>
            <a:rect l="l" t="t" r="r" b="b"/>
            <a:pathLst>
              <a:path w="116511" h="133155">
                <a:moveTo>
                  <a:pt x="99866" y="133155"/>
                </a:moveTo>
                <a:lnTo>
                  <a:pt x="24967" y="133155"/>
                </a:lnTo>
                <a:cubicBezTo>
                  <a:pt x="11183" y="133155"/>
                  <a:pt x="0" y="121972"/>
                  <a:pt x="0" y="108188"/>
                </a:cubicBezTo>
                <a:lnTo>
                  <a:pt x="0" y="24967"/>
                </a:lnTo>
                <a:cubicBezTo>
                  <a:pt x="0" y="11183"/>
                  <a:pt x="11183" y="0"/>
                  <a:pt x="24967" y="0"/>
                </a:cubicBezTo>
                <a:lnTo>
                  <a:pt x="104027" y="0"/>
                </a:lnTo>
                <a:cubicBezTo>
                  <a:pt x="110919" y="0"/>
                  <a:pt x="116511" y="5591"/>
                  <a:pt x="116511" y="12483"/>
                </a:cubicBezTo>
                <a:lnTo>
                  <a:pt x="116511" y="87383"/>
                </a:lnTo>
                <a:cubicBezTo>
                  <a:pt x="116511" y="92818"/>
                  <a:pt x="113026" y="97448"/>
                  <a:pt x="108188" y="99164"/>
                </a:cubicBezTo>
                <a:lnTo>
                  <a:pt x="108188" y="116511"/>
                </a:lnTo>
                <a:cubicBezTo>
                  <a:pt x="112792" y="116511"/>
                  <a:pt x="116511" y="120230"/>
                  <a:pt x="116511" y="124833"/>
                </a:cubicBezTo>
                <a:cubicBezTo>
                  <a:pt x="116511" y="129436"/>
                  <a:pt x="112792" y="133155"/>
                  <a:pt x="108188" y="133155"/>
                </a:cubicBezTo>
                <a:lnTo>
                  <a:pt x="99866" y="133155"/>
                </a:lnTo>
                <a:close/>
                <a:moveTo>
                  <a:pt x="24967" y="99866"/>
                </a:moveTo>
                <a:cubicBezTo>
                  <a:pt x="20363" y="99866"/>
                  <a:pt x="16644" y="103585"/>
                  <a:pt x="16644" y="108188"/>
                </a:cubicBezTo>
                <a:cubicBezTo>
                  <a:pt x="16644" y="112792"/>
                  <a:pt x="20363" y="116511"/>
                  <a:pt x="24967" y="116511"/>
                </a:cubicBezTo>
                <a:lnTo>
                  <a:pt x="91544" y="116511"/>
                </a:lnTo>
                <a:lnTo>
                  <a:pt x="91544" y="99866"/>
                </a:lnTo>
                <a:lnTo>
                  <a:pt x="24967" y="99866"/>
                </a:lnTo>
                <a:close/>
                <a:moveTo>
                  <a:pt x="33289" y="39530"/>
                </a:moveTo>
                <a:cubicBezTo>
                  <a:pt x="33289" y="42989"/>
                  <a:pt x="36071" y="45772"/>
                  <a:pt x="39530" y="45772"/>
                </a:cubicBezTo>
                <a:lnTo>
                  <a:pt x="85302" y="45772"/>
                </a:lnTo>
                <a:cubicBezTo>
                  <a:pt x="88761" y="45772"/>
                  <a:pt x="91544" y="42989"/>
                  <a:pt x="91544" y="39530"/>
                </a:cubicBezTo>
                <a:cubicBezTo>
                  <a:pt x="91544" y="36071"/>
                  <a:pt x="88761" y="33289"/>
                  <a:pt x="85302" y="33289"/>
                </a:cubicBezTo>
                <a:lnTo>
                  <a:pt x="39530" y="33289"/>
                </a:lnTo>
                <a:cubicBezTo>
                  <a:pt x="36071" y="33289"/>
                  <a:pt x="33289" y="36071"/>
                  <a:pt x="33289" y="39530"/>
                </a:cubicBezTo>
                <a:close/>
                <a:moveTo>
                  <a:pt x="39530" y="58255"/>
                </a:moveTo>
                <a:cubicBezTo>
                  <a:pt x="36071" y="58255"/>
                  <a:pt x="33289" y="61038"/>
                  <a:pt x="33289" y="64497"/>
                </a:cubicBezTo>
                <a:cubicBezTo>
                  <a:pt x="33289" y="67956"/>
                  <a:pt x="36071" y="70739"/>
                  <a:pt x="39530" y="70739"/>
                </a:cubicBezTo>
                <a:lnTo>
                  <a:pt x="85302" y="70739"/>
                </a:lnTo>
                <a:cubicBezTo>
                  <a:pt x="88761" y="70739"/>
                  <a:pt x="91544" y="67956"/>
                  <a:pt x="91544" y="64497"/>
                </a:cubicBezTo>
                <a:cubicBezTo>
                  <a:pt x="91544" y="61038"/>
                  <a:pt x="88761" y="58255"/>
                  <a:pt x="85302" y="58255"/>
                </a:cubicBezTo>
                <a:lnTo>
                  <a:pt x="39530" y="58255"/>
                </a:lnTo>
                <a:close/>
              </a:path>
            </a:pathLst>
          </a:custGeom>
          <a:solidFill>
            <a:srgbClr val="C49A2C"/>
          </a:solidFill>
          <a:ln/>
        </p:spPr>
      </p:sp>
      <p:sp>
        <p:nvSpPr>
          <p:cNvPr id="49" name="Text 47"/>
          <p:cNvSpPr/>
          <p:nvPr/>
        </p:nvSpPr>
        <p:spPr>
          <a:xfrm>
            <a:off x="6472099" y="5509286"/>
            <a:ext cx="5349148" cy="199732"/>
          </a:xfrm>
          <a:prstGeom prst="rect">
            <a:avLst/>
          </a:prstGeom>
          <a:noFill/>
          <a:ln/>
        </p:spPr>
        <p:txBody>
          <a:bodyPr wrap="square" lIns="0" tIns="0" rIns="0" bIns="0" rtlCol="0" anchor="ctr"/>
          <a:lstStyle/>
          <a:p>
            <a:pPr>
              <a:lnSpc>
                <a:spcPct val="130000"/>
              </a:lnSpc>
            </a:pPr>
            <a:r>
              <a:rPr lang="en-US" sz="1048" b="1" dirty="0">
                <a:solidFill>
                  <a:srgbClr val="1E3A5F"/>
                </a:solidFill>
                <a:latin typeface="MiSans" pitchFamily="34" charset="0"/>
                <a:ea typeface="MiSans" pitchFamily="34" charset="-122"/>
                <a:cs typeface="MiSans" pitchFamily="34" charset="-120"/>
              </a:rPr>
              <a:t>Full case study:</a:t>
            </a:r>
            <a:pPr>
              <a:lnSpc>
                <a:spcPct val="130000"/>
              </a:lnSpc>
            </a:pPr>
            <a:r>
              <a:rPr lang="en-US" sz="1048" dirty="0">
                <a:solidFill>
                  <a:srgbClr val="1E3A5F"/>
                </a:solidFill>
                <a:latin typeface="MiSans" pitchFamily="34" charset="0"/>
                <a:ea typeface="MiSans" pitchFamily="34" charset="-122"/>
                <a:cs typeface="MiSans" pitchFamily="34" charset="-120"/>
              </a:rPr>
              <a:t> MPI Technical Handbook, Chapter 9, Appendix D</a:t>
            </a:r>
            <a:endParaRPr lang="en-US" sz="1600" dirty="0"/>
          </a:p>
        </p:txBody>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40321" y="340321"/>
            <a:ext cx="68064" cy="408385"/>
          </a:xfrm>
          <a:custGeom>
            <a:avLst/>
            <a:gdLst/>
            <a:ahLst/>
            <a:cxnLst/>
            <a:rect l="l" t="t" r="r" b="b"/>
            <a:pathLst>
              <a:path w="68064" h="408385">
                <a:moveTo>
                  <a:pt x="0" y="0"/>
                </a:moveTo>
                <a:lnTo>
                  <a:pt x="68064" y="0"/>
                </a:lnTo>
                <a:lnTo>
                  <a:pt x="68064" y="408385"/>
                </a:lnTo>
                <a:lnTo>
                  <a:pt x="0" y="408385"/>
                </a:lnTo>
                <a:lnTo>
                  <a:pt x="0" y="0"/>
                </a:lnTo>
                <a:close/>
              </a:path>
            </a:pathLst>
          </a:custGeom>
          <a:solidFill>
            <a:srgbClr val="1E3A5F"/>
          </a:solidFill>
          <a:ln/>
        </p:spPr>
      </p:sp>
      <p:sp>
        <p:nvSpPr>
          <p:cNvPr id="3" name="Text 1"/>
          <p:cNvSpPr/>
          <p:nvPr/>
        </p:nvSpPr>
        <p:spPr>
          <a:xfrm>
            <a:off x="510482" y="391369"/>
            <a:ext cx="6219366" cy="306289"/>
          </a:xfrm>
          <a:prstGeom prst="rect">
            <a:avLst/>
          </a:prstGeom>
          <a:noFill/>
          <a:ln/>
        </p:spPr>
        <p:txBody>
          <a:bodyPr wrap="square" lIns="0" tIns="0" rIns="0" bIns="0" rtlCol="0" anchor="ctr"/>
          <a:lstStyle/>
          <a:p>
            <a:pPr>
              <a:lnSpc>
                <a:spcPct val="100000"/>
              </a:lnSpc>
            </a:pPr>
            <a:r>
              <a:rPr lang="en-US" sz="2010" b="1" dirty="0">
                <a:solidFill>
                  <a:srgbClr val="1E3A5F"/>
                </a:solidFill>
                <a:latin typeface="MiSans" pitchFamily="34" charset="0"/>
                <a:ea typeface="MiSans" pitchFamily="34" charset="-122"/>
                <a:cs typeface="MiSans" pitchFamily="34" charset="-120"/>
              </a:rPr>
              <a:t>Data Collection Overview: The MPI's Annual Cycle</a:t>
            </a:r>
            <a:endParaRPr lang="en-US" sz="1600" dirty="0"/>
          </a:p>
        </p:txBody>
      </p:sp>
      <p:sp>
        <p:nvSpPr>
          <p:cNvPr id="4" name="Shape 2"/>
          <p:cNvSpPr/>
          <p:nvPr/>
        </p:nvSpPr>
        <p:spPr>
          <a:xfrm>
            <a:off x="340321" y="969915"/>
            <a:ext cx="5683361" cy="5649329"/>
          </a:xfrm>
          <a:custGeom>
            <a:avLst/>
            <a:gdLst/>
            <a:ahLst/>
            <a:cxnLst/>
            <a:rect l="l" t="t" r="r" b="b"/>
            <a:pathLst>
              <a:path w="5683361" h="5649329">
                <a:moveTo>
                  <a:pt x="0" y="0"/>
                </a:moveTo>
                <a:lnTo>
                  <a:pt x="5683361" y="0"/>
                </a:lnTo>
                <a:lnTo>
                  <a:pt x="5683361" y="5649329"/>
                </a:lnTo>
                <a:lnTo>
                  <a:pt x="0" y="5649329"/>
                </a:lnTo>
                <a:lnTo>
                  <a:pt x="0" y="0"/>
                </a:lnTo>
                <a:close/>
              </a:path>
            </a:pathLst>
          </a:custGeom>
          <a:solidFill>
            <a:srgbClr val="FFFFFF"/>
          </a:solidFill>
          <a:ln/>
        </p:spPr>
      </p:sp>
      <p:sp>
        <p:nvSpPr>
          <p:cNvPr id="5" name="Shape 3"/>
          <p:cNvSpPr/>
          <p:nvPr/>
        </p:nvSpPr>
        <p:spPr>
          <a:xfrm>
            <a:off x="340321" y="969915"/>
            <a:ext cx="5683361" cy="34032"/>
          </a:xfrm>
          <a:custGeom>
            <a:avLst/>
            <a:gdLst/>
            <a:ahLst/>
            <a:cxnLst/>
            <a:rect l="l" t="t" r="r" b="b"/>
            <a:pathLst>
              <a:path w="5683361" h="34032">
                <a:moveTo>
                  <a:pt x="0" y="0"/>
                </a:moveTo>
                <a:lnTo>
                  <a:pt x="5683361" y="0"/>
                </a:lnTo>
                <a:lnTo>
                  <a:pt x="5683361" y="34032"/>
                </a:lnTo>
                <a:lnTo>
                  <a:pt x="0" y="34032"/>
                </a:lnTo>
                <a:lnTo>
                  <a:pt x="0" y="0"/>
                </a:lnTo>
                <a:close/>
              </a:path>
            </a:pathLst>
          </a:custGeom>
          <a:solidFill>
            <a:srgbClr val="1E3A5F"/>
          </a:solidFill>
          <a:ln/>
        </p:spPr>
      </p:sp>
      <p:sp>
        <p:nvSpPr>
          <p:cNvPr id="6" name="Text 4"/>
          <p:cNvSpPr/>
          <p:nvPr/>
        </p:nvSpPr>
        <p:spPr>
          <a:xfrm>
            <a:off x="476449" y="1123059"/>
            <a:ext cx="5496184" cy="238225"/>
          </a:xfrm>
          <a:prstGeom prst="rect">
            <a:avLst/>
          </a:prstGeom>
          <a:noFill/>
          <a:ln/>
        </p:spPr>
        <p:txBody>
          <a:bodyPr wrap="square" lIns="0" tIns="0" rIns="0" bIns="0" rtlCol="0" anchor="ctr"/>
          <a:lstStyle/>
          <a:p>
            <a:pPr>
              <a:lnSpc>
                <a:spcPct val="120000"/>
              </a:lnSpc>
            </a:pPr>
            <a:r>
              <a:rPr lang="en-US" sz="1340" b="1" dirty="0">
                <a:solidFill>
                  <a:srgbClr val="1E3A5F"/>
                </a:solidFill>
                <a:latin typeface="MiSans" pitchFamily="34" charset="0"/>
                <a:ea typeface="MiSans" pitchFamily="34" charset="-122"/>
                <a:cs typeface="MiSans" pitchFamily="34" charset="-120"/>
              </a:rPr>
              <a:t>Annual Data Submission Requirements</a:t>
            </a:r>
            <a:endParaRPr lang="en-US" sz="1600" dirty="0"/>
          </a:p>
        </p:txBody>
      </p:sp>
      <p:sp>
        <p:nvSpPr>
          <p:cNvPr id="7" name="Text 5"/>
          <p:cNvSpPr/>
          <p:nvPr/>
        </p:nvSpPr>
        <p:spPr>
          <a:xfrm>
            <a:off x="476449" y="1463380"/>
            <a:ext cx="5479168" cy="442417"/>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Each partner school is required to submit the following data via the SynergyDrive submission portal, </a:t>
            </a:r>
            <a:pPr>
              <a:lnSpc>
                <a:spcPct val="140000"/>
              </a:lnSpc>
            </a:pPr>
            <a:r>
              <a:rPr lang="en-US" sz="1072" b="1" dirty="0">
                <a:solidFill>
                  <a:srgbClr val="2D3436"/>
                </a:solidFill>
                <a:latin typeface="MiSans" pitchFamily="34" charset="0"/>
                <a:ea typeface="MiSans" pitchFamily="34" charset="-122"/>
                <a:cs typeface="MiSans" pitchFamily="34" charset="-120"/>
              </a:rPr>
              <a:t>within six weeks of GCSE results day</a:t>
            </a:r>
            <a:pPr>
              <a:lnSpc>
                <a:spcPct val="140000"/>
              </a:lnSpc>
            </a:pPr>
            <a:r>
              <a:rPr lang="en-US" sz="1072" dirty="0">
                <a:solidFill>
                  <a:srgbClr val="2D3436"/>
                </a:solidFill>
                <a:latin typeface="MiSans" pitchFamily="34" charset="0"/>
                <a:ea typeface="MiSans" pitchFamily="34" charset="-122"/>
                <a:cs typeface="MiSans" pitchFamily="34" charset="-120"/>
              </a:rPr>
              <a:t>:</a:t>
            </a:r>
            <a:endParaRPr lang="en-US" sz="1600" dirty="0"/>
          </a:p>
        </p:txBody>
      </p:sp>
      <p:sp>
        <p:nvSpPr>
          <p:cNvPr id="8" name="Shape 6"/>
          <p:cNvSpPr/>
          <p:nvPr/>
        </p:nvSpPr>
        <p:spPr>
          <a:xfrm>
            <a:off x="493465" y="2007894"/>
            <a:ext cx="5394088" cy="884835"/>
          </a:xfrm>
          <a:custGeom>
            <a:avLst/>
            <a:gdLst/>
            <a:ahLst/>
            <a:cxnLst/>
            <a:rect l="l" t="t" r="r" b="b"/>
            <a:pathLst>
              <a:path w="5394088" h="884835">
                <a:moveTo>
                  <a:pt x="0" y="0"/>
                </a:moveTo>
                <a:lnTo>
                  <a:pt x="5394088" y="0"/>
                </a:lnTo>
                <a:lnTo>
                  <a:pt x="5394088" y="884835"/>
                </a:lnTo>
                <a:lnTo>
                  <a:pt x="0" y="884835"/>
                </a:lnTo>
                <a:lnTo>
                  <a:pt x="0" y="0"/>
                </a:lnTo>
                <a:close/>
              </a:path>
            </a:pathLst>
          </a:custGeom>
          <a:solidFill>
            <a:srgbClr val="F8F9FA"/>
          </a:solidFill>
          <a:ln/>
        </p:spPr>
      </p:sp>
      <p:sp>
        <p:nvSpPr>
          <p:cNvPr id="9" name="Shape 7"/>
          <p:cNvSpPr/>
          <p:nvPr/>
        </p:nvSpPr>
        <p:spPr>
          <a:xfrm>
            <a:off x="493465" y="2007894"/>
            <a:ext cx="34032" cy="884835"/>
          </a:xfrm>
          <a:custGeom>
            <a:avLst/>
            <a:gdLst/>
            <a:ahLst/>
            <a:cxnLst/>
            <a:rect l="l" t="t" r="r" b="b"/>
            <a:pathLst>
              <a:path w="34032" h="884835">
                <a:moveTo>
                  <a:pt x="0" y="0"/>
                </a:moveTo>
                <a:lnTo>
                  <a:pt x="34032" y="0"/>
                </a:lnTo>
                <a:lnTo>
                  <a:pt x="34032" y="884835"/>
                </a:lnTo>
                <a:lnTo>
                  <a:pt x="0" y="884835"/>
                </a:lnTo>
                <a:lnTo>
                  <a:pt x="0" y="0"/>
                </a:lnTo>
                <a:close/>
              </a:path>
            </a:pathLst>
          </a:custGeom>
          <a:solidFill>
            <a:srgbClr val="1E3A5F"/>
          </a:solidFill>
          <a:ln/>
        </p:spPr>
      </p:sp>
      <p:sp>
        <p:nvSpPr>
          <p:cNvPr id="10" name="Text 8"/>
          <p:cNvSpPr/>
          <p:nvPr/>
        </p:nvSpPr>
        <p:spPr>
          <a:xfrm>
            <a:off x="612578" y="2109990"/>
            <a:ext cx="5240943" cy="204193"/>
          </a:xfrm>
          <a:prstGeom prst="rect">
            <a:avLst/>
          </a:prstGeom>
          <a:noFill/>
          <a:ln/>
        </p:spPr>
        <p:txBody>
          <a:bodyPr wrap="square" lIns="0" tIns="0" rIns="0" bIns="0" rtlCol="0" anchor="ctr"/>
          <a:lstStyle/>
          <a:p>
            <a:pPr>
              <a:lnSpc>
                <a:spcPct val="130000"/>
              </a:lnSpc>
            </a:pPr>
            <a:r>
              <a:rPr lang="en-US" sz="1072" b="1" dirty="0">
                <a:solidFill>
                  <a:srgbClr val="1E3A5F"/>
                </a:solidFill>
                <a:latin typeface="MiSans" pitchFamily="34" charset="0"/>
                <a:ea typeface="MiSans" pitchFamily="34" charset="-122"/>
                <a:cs typeface="MiSans" pitchFamily="34" charset="-120"/>
              </a:rPr>
              <a:t>1. Pupil-Level GCSE Outcomes</a:t>
            </a:r>
            <a:endParaRPr lang="en-US" sz="1600" dirty="0"/>
          </a:p>
        </p:txBody>
      </p:sp>
      <p:sp>
        <p:nvSpPr>
          <p:cNvPr id="11" name="Text 9"/>
          <p:cNvSpPr/>
          <p:nvPr/>
        </p:nvSpPr>
        <p:spPr>
          <a:xfrm>
            <a:off x="612578" y="2348215"/>
            <a:ext cx="5240943" cy="442417"/>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All Year 11 pupils. Subject grades and total score. </a:t>
            </a:r>
            <a:pPr>
              <a:lnSpc>
                <a:spcPct val="140000"/>
              </a:lnSpc>
            </a:pPr>
            <a:r>
              <a:rPr lang="en-US" sz="1072" b="1" dirty="0">
                <a:solidFill>
                  <a:srgbClr val="2D3436"/>
                </a:solidFill>
                <a:latin typeface="MiSans" pitchFamily="34" charset="0"/>
                <a:ea typeface="MiSans" pitchFamily="34" charset="-122"/>
                <a:cs typeface="MiSans" pitchFamily="34" charset="-120"/>
              </a:rPr>
              <a:t>Anonymised to pupil reference number.</a:t>
            </a:r>
            <a:endParaRPr lang="en-US" sz="1600" dirty="0"/>
          </a:p>
        </p:txBody>
      </p:sp>
      <p:sp>
        <p:nvSpPr>
          <p:cNvPr id="12" name="Shape 10"/>
          <p:cNvSpPr/>
          <p:nvPr/>
        </p:nvSpPr>
        <p:spPr>
          <a:xfrm>
            <a:off x="493465" y="2960793"/>
            <a:ext cx="5394088" cy="884835"/>
          </a:xfrm>
          <a:custGeom>
            <a:avLst/>
            <a:gdLst/>
            <a:ahLst/>
            <a:cxnLst/>
            <a:rect l="l" t="t" r="r" b="b"/>
            <a:pathLst>
              <a:path w="5394088" h="884835">
                <a:moveTo>
                  <a:pt x="0" y="0"/>
                </a:moveTo>
                <a:lnTo>
                  <a:pt x="5394088" y="0"/>
                </a:lnTo>
                <a:lnTo>
                  <a:pt x="5394088" y="884835"/>
                </a:lnTo>
                <a:lnTo>
                  <a:pt x="0" y="884835"/>
                </a:lnTo>
                <a:lnTo>
                  <a:pt x="0" y="0"/>
                </a:lnTo>
                <a:close/>
              </a:path>
            </a:pathLst>
          </a:custGeom>
          <a:solidFill>
            <a:srgbClr val="F8F9FA"/>
          </a:solidFill>
          <a:ln/>
        </p:spPr>
      </p:sp>
      <p:sp>
        <p:nvSpPr>
          <p:cNvPr id="13" name="Shape 11"/>
          <p:cNvSpPr/>
          <p:nvPr/>
        </p:nvSpPr>
        <p:spPr>
          <a:xfrm>
            <a:off x="493465" y="2960793"/>
            <a:ext cx="34032" cy="884835"/>
          </a:xfrm>
          <a:custGeom>
            <a:avLst/>
            <a:gdLst/>
            <a:ahLst/>
            <a:cxnLst/>
            <a:rect l="l" t="t" r="r" b="b"/>
            <a:pathLst>
              <a:path w="34032" h="884835">
                <a:moveTo>
                  <a:pt x="0" y="0"/>
                </a:moveTo>
                <a:lnTo>
                  <a:pt x="34032" y="0"/>
                </a:lnTo>
                <a:lnTo>
                  <a:pt x="34032" y="884835"/>
                </a:lnTo>
                <a:lnTo>
                  <a:pt x="0" y="884835"/>
                </a:lnTo>
                <a:lnTo>
                  <a:pt x="0" y="0"/>
                </a:lnTo>
                <a:close/>
              </a:path>
            </a:pathLst>
          </a:custGeom>
          <a:solidFill>
            <a:srgbClr val="C49A2C"/>
          </a:solidFill>
          <a:ln/>
        </p:spPr>
      </p:sp>
      <p:sp>
        <p:nvSpPr>
          <p:cNvPr id="14" name="Text 12"/>
          <p:cNvSpPr/>
          <p:nvPr/>
        </p:nvSpPr>
        <p:spPr>
          <a:xfrm>
            <a:off x="612578" y="3062889"/>
            <a:ext cx="5240943" cy="204193"/>
          </a:xfrm>
          <a:prstGeom prst="rect">
            <a:avLst/>
          </a:prstGeom>
          <a:noFill/>
          <a:ln/>
        </p:spPr>
        <p:txBody>
          <a:bodyPr wrap="square" lIns="0" tIns="0" rIns="0" bIns="0" rtlCol="0" anchor="ctr"/>
          <a:lstStyle/>
          <a:p>
            <a:pPr>
              <a:lnSpc>
                <a:spcPct val="130000"/>
              </a:lnSpc>
            </a:pPr>
            <a:r>
              <a:rPr lang="en-US" sz="1072" b="1" dirty="0">
                <a:solidFill>
                  <a:srgbClr val="1E3A5F"/>
                </a:solidFill>
                <a:latin typeface="MiSans" pitchFamily="34" charset="0"/>
                <a:ea typeface="MiSans" pitchFamily="34" charset="-122"/>
                <a:cs typeface="MiSans" pitchFamily="34" charset="-120"/>
              </a:rPr>
              <a:t>2. KS2 Baseline Data</a:t>
            </a:r>
            <a:endParaRPr lang="en-US" sz="1600" dirty="0"/>
          </a:p>
        </p:txBody>
      </p:sp>
      <p:sp>
        <p:nvSpPr>
          <p:cNvPr id="15" name="Text 13"/>
          <p:cNvSpPr/>
          <p:nvPr/>
        </p:nvSpPr>
        <p:spPr>
          <a:xfrm>
            <a:off x="612578" y="3301114"/>
            <a:ext cx="5240943" cy="442417"/>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Matched to GCSE cohort where possible. Where matching is not possible, school-level KS2 averages are accepted.</a:t>
            </a:r>
            <a:endParaRPr lang="en-US" sz="1600" dirty="0"/>
          </a:p>
        </p:txBody>
      </p:sp>
      <p:sp>
        <p:nvSpPr>
          <p:cNvPr id="16" name="Shape 14"/>
          <p:cNvSpPr/>
          <p:nvPr/>
        </p:nvSpPr>
        <p:spPr>
          <a:xfrm>
            <a:off x="493465" y="3913692"/>
            <a:ext cx="5394088" cy="884835"/>
          </a:xfrm>
          <a:custGeom>
            <a:avLst/>
            <a:gdLst/>
            <a:ahLst/>
            <a:cxnLst/>
            <a:rect l="l" t="t" r="r" b="b"/>
            <a:pathLst>
              <a:path w="5394088" h="884835">
                <a:moveTo>
                  <a:pt x="0" y="0"/>
                </a:moveTo>
                <a:lnTo>
                  <a:pt x="5394088" y="0"/>
                </a:lnTo>
                <a:lnTo>
                  <a:pt x="5394088" y="884835"/>
                </a:lnTo>
                <a:lnTo>
                  <a:pt x="0" y="884835"/>
                </a:lnTo>
                <a:lnTo>
                  <a:pt x="0" y="0"/>
                </a:lnTo>
                <a:close/>
              </a:path>
            </a:pathLst>
          </a:custGeom>
          <a:solidFill>
            <a:srgbClr val="F8F9FA"/>
          </a:solidFill>
          <a:ln/>
        </p:spPr>
      </p:sp>
      <p:sp>
        <p:nvSpPr>
          <p:cNvPr id="17" name="Shape 15"/>
          <p:cNvSpPr/>
          <p:nvPr/>
        </p:nvSpPr>
        <p:spPr>
          <a:xfrm>
            <a:off x="493465" y="3913692"/>
            <a:ext cx="34032" cy="884835"/>
          </a:xfrm>
          <a:custGeom>
            <a:avLst/>
            <a:gdLst/>
            <a:ahLst/>
            <a:cxnLst/>
            <a:rect l="l" t="t" r="r" b="b"/>
            <a:pathLst>
              <a:path w="34032" h="884835">
                <a:moveTo>
                  <a:pt x="0" y="0"/>
                </a:moveTo>
                <a:lnTo>
                  <a:pt x="34032" y="0"/>
                </a:lnTo>
                <a:lnTo>
                  <a:pt x="34032" y="884835"/>
                </a:lnTo>
                <a:lnTo>
                  <a:pt x="0" y="884835"/>
                </a:lnTo>
                <a:lnTo>
                  <a:pt x="0" y="0"/>
                </a:lnTo>
                <a:close/>
              </a:path>
            </a:pathLst>
          </a:custGeom>
          <a:solidFill>
            <a:srgbClr val="1E3A5F"/>
          </a:solidFill>
          <a:ln/>
        </p:spPr>
      </p:sp>
      <p:sp>
        <p:nvSpPr>
          <p:cNvPr id="18" name="Text 16"/>
          <p:cNvSpPr/>
          <p:nvPr/>
        </p:nvSpPr>
        <p:spPr>
          <a:xfrm>
            <a:off x="612578" y="4015788"/>
            <a:ext cx="5240943" cy="204193"/>
          </a:xfrm>
          <a:prstGeom prst="rect">
            <a:avLst/>
          </a:prstGeom>
          <a:noFill/>
          <a:ln/>
        </p:spPr>
        <p:txBody>
          <a:bodyPr wrap="square" lIns="0" tIns="0" rIns="0" bIns="0" rtlCol="0" anchor="ctr"/>
          <a:lstStyle/>
          <a:p>
            <a:pPr>
              <a:lnSpc>
                <a:spcPct val="130000"/>
              </a:lnSpc>
            </a:pPr>
            <a:r>
              <a:rPr lang="en-US" sz="1072" b="1" dirty="0">
                <a:solidFill>
                  <a:srgbClr val="1E3A5F"/>
                </a:solidFill>
                <a:latin typeface="MiSans" pitchFamily="34" charset="0"/>
                <a:ea typeface="MiSans" pitchFamily="34" charset="-122"/>
                <a:cs typeface="MiSans" pitchFamily="34" charset="-120"/>
              </a:rPr>
              <a:t>3. Implementation Quality Checklist</a:t>
            </a:r>
            <a:endParaRPr lang="en-US" sz="1600" dirty="0"/>
          </a:p>
        </p:txBody>
      </p:sp>
      <p:sp>
        <p:nvSpPr>
          <p:cNvPr id="19" name="Text 17"/>
          <p:cNvSpPr/>
          <p:nvPr/>
        </p:nvSpPr>
        <p:spPr>
          <a:xfrm>
            <a:off x="612578" y="4254013"/>
            <a:ext cx="5240943" cy="442417"/>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Completed by MPI coordinator. </a:t>
            </a:r>
            <a:pPr>
              <a:lnSpc>
                <a:spcPct val="140000"/>
              </a:lnSpc>
            </a:pPr>
            <a:r>
              <a:rPr lang="en-US" sz="1072" b="1" dirty="0">
                <a:solidFill>
                  <a:srgbClr val="2D3436"/>
                </a:solidFill>
                <a:latin typeface="MiSans" pitchFamily="34" charset="0"/>
                <a:ea typeface="MiSans" pitchFamily="34" charset="-122"/>
                <a:cs typeface="MiSans" pitchFamily="34" charset="-120"/>
              </a:rPr>
              <a:t>Eight dimensions</a:t>
            </a:r>
            <a:pPr>
              <a:lnSpc>
                <a:spcPct val="140000"/>
              </a:lnSpc>
            </a:pPr>
            <a:r>
              <a:rPr lang="en-US" sz="1072" dirty="0">
                <a:solidFill>
                  <a:srgbClr val="2D3436"/>
                </a:solidFill>
                <a:latin typeface="MiSans" pitchFamily="34" charset="0"/>
                <a:ea typeface="MiSans" pitchFamily="34" charset="-122"/>
                <a:cs typeface="MiSans" pitchFamily="34" charset="-120"/>
              </a:rPr>
              <a:t> as described in Chapter 4.3 of the Technical Handbook.</a:t>
            </a:r>
            <a:endParaRPr lang="en-US" sz="1600" dirty="0"/>
          </a:p>
        </p:txBody>
      </p:sp>
      <p:sp>
        <p:nvSpPr>
          <p:cNvPr id="20" name="Shape 18"/>
          <p:cNvSpPr/>
          <p:nvPr/>
        </p:nvSpPr>
        <p:spPr>
          <a:xfrm>
            <a:off x="493465" y="4866590"/>
            <a:ext cx="5394088" cy="663626"/>
          </a:xfrm>
          <a:custGeom>
            <a:avLst/>
            <a:gdLst/>
            <a:ahLst/>
            <a:cxnLst/>
            <a:rect l="l" t="t" r="r" b="b"/>
            <a:pathLst>
              <a:path w="5394088" h="663626">
                <a:moveTo>
                  <a:pt x="0" y="0"/>
                </a:moveTo>
                <a:lnTo>
                  <a:pt x="5394088" y="0"/>
                </a:lnTo>
                <a:lnTo>
                  <a:pt x="5394088" y="663626"/>
                </a:lnTo>
                <a:lnTo>
                  <a:pt x="0" y="663626"/>
                </a:lnTo>
                <a:lnTo>
                  <a:pt x="0" y="0"/>
                </a:lnTo>
                <a:close/>
              </a:path>
            </a:pathLst>
          </a:custGeom>
          <a:solidFill>
            <a:srgbClr val="F8F9FA"/>
          </a:solidFill>
          <a:ln/>
        </p:spPr>
      </p:sp>
      <p:sp>
        <p:nvSpPr>
          <p:cNvPr id="21" name="Shape 19"/>
          <p:cNvSpPr/>
          <p:nvPr/>
        </p:nvSpPr>
        <p:spPr>
          <a:xfrm>
            <a:off x="493465" y="4866590"/>
            <a:ext cx="34032" cy="663626"/>
          </a:xfrm>
          <a:custGeom>
            <a:avLst/>
            <a:gdLst/>
            <a:ahLst/>
            <a:cxnLst/>
            <a:rect l="l" t="t" r="r" b="b"/>
            <a:pathLst>
              <a:path w="34032" h="663626">
                <a:moveTo>
                  <a:pt x="0" y="0"/>
                </a:moveTo>
                <a:lnTo>
                  <a:pt x="34032" y="0"/>
                </a:lnTo>
                <a:lnTo>
                  <a:pt x="34032" y="663626"/>
                </a:lnTo>
                <a:lnTo>
                  <a:pt x="0" y="663626"/>
                </a:lnTo>
                <a:lnTo>
                  <a:pt x="0" y="0"/>
                </a:lnTo>
                <a:close/>
              </a:path>
            </a:pathLst>
          </a:custGeom>
          <a:solidFill>
            <a:srgbClr val="C49A2C"/>
          </a:solidFill>
          <a:ln/>
        </p:spPr>
      </p:sp>
      <p:sp>
        <p:nvSpPr>
          <p:cNvPr id="22" name="Text 20"/>
          <p:cNvSpPr/>
          <p:nvPr/>
        </p:nvSpPr>
        <p:spPr>
          <a:xfrm>
            <a:off x="612578" y="4968687"/>
            <a:ext cx="5240943" cy="204193"/>
          </a:xfrm>
          <a:prstGeom prst="rect">
            <a:avLst/>
          </a:prstGeom>
          <a:noFill/>
          <a:ln/>
        </p:spPr>
        <p:txBody>
          <a:bodyPr wrap="square" lIns="0" tIns="0" rIns="0" bIns="0" rtlCol="0" anchor="ctr"/>
          <a:lstStyle/>
          <a:p>
            <a:pPr>
              <a:lnSpc>
                <a:spcPct val="130000"/>
              </a:lnSpc>
            </a:pPr>
            <a:r>
              <a:rPr lang="en-US" sz="1072" b="1" dirty="0">
                <a:solidFill>
                  <a:srgbClr val="1E3A5F"/>
                </a:solidFill>
                <a:latin typeface="MiSans" pitchFamily="34" charset="0"/>
                <a:ea typeface="MiSans" pitchFamily="34" charset="-122"/>
                <a:cs typeface="MiSans" pitchFamily="34" charset="-120"/>
              </a:rPr>
              <a:t>4. Cohort Composition Data</a:t>
            </a:r>
            <a:endParaRPr lang="en-US" sz="1600" dirty="0"/>
          </a:p>
        </p:txBody>
      </p:sp>
      <p:sp>
        <p:nvSpPr>
          <p:cNvPr id="23" name="Text 21"/>
          <p:cNvSpPr/>
          <p:nvPr/>
        </p:nvSpPr>
        <p:spPr>
          <a:xfrm>
            <a:off x="612578" y="5206911"/>
            <a:ext cx="5240943" cy="221209"/>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Total Year 11 cohort. </a:t>
            </a:r>
            <a:pPr>
              <a:lnSpc>
                <a:spcPct val="140000"/>
              </a:lnSpc>
            </a:pPr>
            <a:r>
              <a:rPr lang="en-US" sz="1072" b="1" dirty="0">
                <a:solidFill>
                  <a:srgbClr val="2D3436"/>
                </a:solidFill>
                <a:latin typeface="MiSans" pitchFamily="34" charset="0"/>
                <a:ea typeface="MiSans" pitchFamily="34" charset="-122"/>
                <a:cs typeface="MiSans" pitchFamily="34" charset="-120"/>
              </a:rPr>
              <a:t>FSM %, SEN %, EAL %.</a:t>
            </a:r>
            <a:pPr>
              <a:lnSpc>
                <a:spcPct val="140000"/>
              </a:lnSpc>
            </a:pPr>
            <a:r>
              <a:rPr lang="en-US" sz="1072" dirty="0">
                <a:solidFill>
                  <a:srgbClr val="2D3436"/>
                </a:solidFill>
                <a:latin typeface="MiSans" pitchFamily="34" charset="0"/>
                <a:ea typeface="MiSans" pitchFamily="34" charset="-122"/>
                <a:cs typeface="MiSans" pitchFamily="34" charset="-120"/>
              </a:rPr>
              <a:t> Used in calibration.</a:t>
            </a:r>
            <a:endParaRPr lang="en-US" sz="1600" dirty="0"/>
          </a:p>
        </p:txBody>
      </p:sp>
      <p:sp>
        <p:nvSpPr>
          <p:cNvPr id="24" name="Shape 22"/>
          <p:cNvSpPr/>
          <p:nvPr/>
        </p:nvSpPr>
        <p:spPr>
          <a:xfrm>
            <a:off x="493465" y="5598281"/>
            <a:ext cx="5394088" cy="884835"/>
          </a:xfrm>
          <a:custGeom>
            <a:avLst/>
            <a:gdLst/>
            <a:ahLst/>
            <a:cxnLst/>
            <a:rect l="l" t="t" r="r" b="b"/>
            <a:pathLst>
              <a:path w="5394088" h="884835">
                <a:moveTo>
                  <a:pt x="0" y="0"/>
                </a:moveTo>
                <a:lnTo>
                  <a:pt x="5394088" y="0"/>
                </a:lnTo>
                <a:lnTo>
                  <a:pt x="5394088" y="884835"/>
                </a:lnTo>
                <a:lnTo>
                  <a:pt x="0" y="884835"/>
                </a:lnTo>
                <a:lnTo>
                  <a:pt x="0" y="0"/>
                </a:lnTo>
                <a:close/>
              </a:path>
            </a:pathLst>
          </a:custGeom>
          <a:solidFill>
            <a:srgbClr val="F8F9FA"/>
          </a:solidFill>
          <a:ln/>
        </p:spPr>
      </p:sp>
      <p:sp>
        <p:nvSpPr>
          <p:cNvPr id="25" name="Shape 23"/>
          <p:cNvSpPr/>
          <p:nvPr/>
        </p:nvSpPr>
        <p:spPr>
          <a:xfrm>
            <a:off x="493465" y="5598281"/>
            <a:ext cx="34032" cy="884835"/>
          </a:xfrm>
          <a:custGeom>
            <a:avLst/>
            <a:gdLst/>
            <a:ahLst/>
            <a:cxnLst/>
            <a:rect l="l" t="t" r="r" b="b"/>
            <a:pathLst>
              <a:path w="34032" h="884835">
                <a:moveTo>
                  <a:pt x="0" y="0"/>
                </a:moveTo>
                <a:lnTo>
                  <a:pt x="34032" y="0"/>
                </a:lnTo>
                <a:lnTo>
                  <a:pt x="34032" y="884835"/>
                </a:lnTo>
                <a:lnTo>
                  <a:pt x="0" y="884835"/>
                </a:lnTo>
                <a:lnTo>
                  <a:pt x="0" y="0"/>
                </a:lnTo>
                <a:close/>
              </a:path>
            </a:pathLst>
          </a:custGeom>
          <a:solidFill>
            <a:srgbClr val="1E3A5F"/>
          </a:solidFill>
          <a:ln/>
        </p:spPr>
      </p:sp>
      <p:sp>
        <p:nvSpPr>
          <p:cNvPr id="26" name="Text 24"/>
          <p:cNvSpPr/>
          <p:nvPr/>
        </p:nvSpPr>
        <p:spPr>
          <a:xfrm>
            <a:off x="612578" y="5700377"/>
            <a:ext cx="5240943" cy="204193"/>
          </a:xfrm>
          <a:prstGeom prst="rect">
            <a:avLst/>
          </a:prstGeom>
          <a:noFill/>
          <a:ln/>
        </p:spPr>
        <p:txBody>
          <a:bodyPr wrap="square" lIns="0" tIns="0" rIns="0" bIns="0" rtlCol="0" anchor="ctr"/>
          <a:lstStyle/>
          <a:p>
            <a:pPr>
              <a:lnSpc>
                <a:spcPct val="130000"/>
              </a:lnSpc>
            </a:pPr>
            <a:r>
              <a:rPr lang="en-US" sz="1072" b="1" dirty="0">
                <a:solidFill>
                  <a:srgbClr val="1E3A5F"/>
                </a:solidFill>
                <a:latin typeface="MiSans" pitchFamily="34" charset="0"/>
                <a:ea typeface="MiSans" pitchFamily="34" charset="-122"/>
                <a:cs typeface="MiSans" pitchFamily="34" charset="-120"/>
              </a:rPr>
              <a:t>5. Significant Context Factors</a:t>
            </a:r>
            <a:endParaRPr lang="en-US" sz="1600" dirty="0"/>
          </a:p>
        </p:txBody>
      </p:sp>
      <p:sp>
        <p:nvSpPr>
          <p:cNvPr id="27" name="Text 25"/>
          <p:cNvSpPr/>
          <p:nvPr/>
        </p:nvSpPr>
        <p:spPr>
          <a:xfrm>
            <a:off x="612578" y="5938602"/>
            <a:ext cx="5240943" cy="442417"/>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Free text. Staffing changes, building works, external disruptions. Used in audit review.</a:t>
            </a:r>
            <a:endParaRPr lang="en-US" sz="1600" dirty="0"/>
          </a:p>
        </p:txBody>
      </p:sp>
      <p:sp>
        <p:nvSpPr>
          <p:cNvPr id="28" name="Shape 26"/>
          <p:cNvSpPr/>
          <p:nvPr/>
        </p:nvSpPr>
        <p:spPr>
          <a:xfrm>
            <a:off x="6163639" y="952899"/>
            <a:ext cx="5683361" cy="3794579"/>
          </a:xfrm>
          <a:custGeom>
            <a:avLst/>
            <a:gdLst/>
            <a:ahLst/>
            <a:cxnLst/>
            <a:rect l="l" t="t" r="r" b="b"/>
            <a:pathLst>
              <a:path w="5683361" h="3794579">
                <a:moveTo>
                  <a:pt x="0" y="0"/>
                </a:moveTo>
                <a:lnTo>
                  <a:pt x="5683361" y="0"/>
                </a:lnTo>
                <a:lnTo>
                  <a:pt x="5683361" y="3794579"/>
                </a:lnTo>
                <a:lnTo>
                  <a:pt x="0" y="3794579"/>
                </a:lnTo>
                <a:lnTo>
                  <a:pt x="0" y="0"/>
                </a:lnTo>
                <a:close/>
              </a:path>
            </a:pathLst>
          </a:custGeom>
          <a:solidFill>
            <a:srgbClr val="1E3A5F"/>
          </a:solidFill>
          <a:ln/>
        </p:spPr>
      </p:sp>
      <p:sp>
        <p:nvSpPr>
          <p:cNvPr id="29" name="Text 27"/>
          <p:cNvSpPr/>
          <p:nvPr/>
        </p:nvSpPr>
        <p:spPr>
          <a:xfrm>
            <a:off x="6299767" y="1089027"/>
            <a:ext cx="5496184" cy="238225"/>
          </a:xfrm>
          <a:prstGeom prst="rect">
            <a:avLst/>
          </a:prstGeom>
          <a:noFill/>
          <a:ln/>
        </p:spPr>
        <p:txBody>
          <a:bodyPr wrap="square" lIns="0" tIns="0" rIns="0" bIns="0" rtlCol="0" anchor="ctr"/>
          <a:lstStyle/>
          <a:p>
            <a:pPr>
              <a:lnSpc>
                <a:spcPct val="120000"/>
              </a:lnSpc>
            </a:pPr>
            <a:r>
              <a:rPr lang="en-US" sz="1340" b="1" dirty="0">
                <a:solidFill>
                  <a:srgbClr val="F8F9FA"/>
                </a:solidFill>
                <a:latin typeface="MiSans" pitchFamily="34" charset="0"/>
                <a:ea typeface="MiSans" pitchFamily="34" charset="-122"/>
                <a:cs typeface="MiSans" pitchFamily="34" charset="-120"/>
              </a:rPr>
              <a:t>Submission Timeline and Validation</a:t>
            </a:r>
            <a:endParaRPr lang="en-US" sz="1600" dirty="0"/>
          </a:p>
        </p:txBody>
      </p:sp>
      <p:sp>
        <p:nvSpPr>
          <p:cNvPr id="30" name="Shape 28"/>
          <p:cNvSpPr/>
          <p:nvPr/>
        </p:nvSpPr>
        <p:spPr>
          <a:xfrm>
            <a:off x="6299767" y="1429348"/>
            <a:ext cx="5411104" cy="918867"/>
          </a:xfrm>
          <a:custGeom>
            <a:avLst/>
            <a:gdLst/>
            <a:ahLst/>
            <a:cxnLst/>
            <a:rect l="l" t="t" r="r" b="b"/>
            <a:pathLst>
              <a:path w="5411104" h="918867">
                <a:moveTo>
                  <a:pt x="0" y="0"/>
                </a:moveTo>
                <a:lnTo>
                  <a:pt x="5411104" y="0"/>
                </a:lnTo>
                <a:lnTo>
                  <a:pt x="5411104" y="918867"/>
                </a:lnTo>
                <a:lnTo>
                  <a:pt x="0" y="918867"/>
                </a:lnTo>
                <a:lnTo>
                  <a:pt x="0" y="0"/>
                </a:lnTo>
                <a:close/>
              </a:path>
            </a:pathLst>
          </a:custGeom>
          <a:solidFill>
            <a:srgbClr val="F8F9FA">
              <a:alpha val="10196"/>
            </a:srgbClr>
          </a:solidFill>
          <a:ln/>
        </p:spPr>
      </p:sp>
      <p:sp>
        <p:nvSpPr>
          <p:cNvPr id="31" name="Text 29"/>
          <p:cNvSpPr/>
          <p:nvPr/>
        </p:nvSpPr>
        <p:spPr>
          <a:xfrm>
            <a:off x="6401864" y="1531445"/>
            <a:ext cx="5274976" cy="204193"/>
          </a:xfrm>
          <a:prstGeom prst="rect">
            <a:avLst/>
          </a:prstGeom>
          <a:noFill/>
          <a:ln/>
        </p:spPr>
        <p:txBody>
          <a:bodyPr wrap="square" lIns="0" tIns="0" rIns="0" bIns="0" rtlCol="0" anchor="ctr"/>
          <a:lstStyle/>
          <a:p>
            <a:pPr>
              <a:lnSpc>
                <a:spcPct val="130000"/>
              </a:lnSpc>
            </a:pPr>
            <a:r>
              <a:rPr lang="en-US" sz="1072" b="1" dirty="0">
                <a:solidFill>
                  <a:srgbClr val="C49A2C"/>
                </a:solidFill>
                <a:latin typeface="MiSans" pitchFamily="34" charset="0"/>
                <a:ea typeface="MiSans" pitchFamily="34" charset="-122"/>
                <a:cs typeface="MiSans" pitchFamily="34" charset="-120"/>
              </a:rPr>
              <a:t>Submission Window</a:t>
            </a:r>
            <a:endParaRPr lang="en-US" sz="1600" dirty="0"/>
          </a:p>
        </p:txBody>
      </p:sp>
      <p:sp>
        <p:nvSpPr>
          <p:cNvPr id="32" name="Text 30"/>
          <p:cNvSpPr/>
          <p:nvPr/>
        </p:nvSpPr>
        <p:spPr>
          <a:xfrm>
            <a:off x="6401864" y="1803701"/>
            <a:ext cx="5274976" cy="442417"/>
          </a:xfrm>
          <a:prstGeom prst="rect">
            <a:avLst/>
          </a:prstGeom>
          <a:noFill/>
          <a:ln/>
        </p:spPr>
        <p:txBody>
          <a:bodyPr wrap="square" lIns="0" tIns="0" rIns="0" bIns="0" rtlCol="0" anchor="ctr"/>
          <a:lstStyle/>
          <a:p>
            <a:pPr>
              <a:lnSpc>
                <a:spcPct val="140000"/>
              </a:lnSpc>
            </a:pPr>
            <a:r>
              <a:rPr lang="en-US" sz="1072" dirty="0">
                <a:solidFill>
                  <a:srgbClr val="F8F9FA"/>
                </a:solidFill>
                <a:latin typeface="MiSans" pitchFamily="34" charset="0"/>
                <a:ea typeface="MiSans" pitchFamily="34" charset="-122"/>
                <a:cs typeface="MiSans" pitchFamily="34" charset="-120"/>
              </a:rPr>
              <a:t>Data must be submitted </a:t>
            </a:r>
            <a:pPr>
              <a:lnSpc>
                <a:spcPct val="140000"/>
              </a:lnSpc>
            </a:pPr>
            <a:r>
              <a:rPr lang="en-US" sz="1072" b="1" dirty="0">
                <a:solidFill>
                  <a:srgbClr val="F8F9FA"/>
                </a:solidFill>
                <a:latin typeface="MiSans" pitchFamily="34" charset="0"/>
                <a:ea typeface="MiSans" pitchFamily="34" charset="-122"/>
                <a:cs typeface="MiSans" pitchFamily="34" charset="-120"/>
              </a:rPr>
              <a:t>within six weeks of GCSE results day</a:t>
            </a:r>
            <a:pPr>
              <a:lnSpc>
                <a:spcPct val="140000"/>
              </a:lnSpc>
            </a:pPr>
            <a:r>
              <a:rPr lang="en-US" sz="1072" dirty="0">
                <a:solidFill>
                  <a:srgbClr val="F8F9FA"/>
                </a:solidFill>
                <a:latin typeface="MiSans" pitchFamily="34" charset="0"/>
                <a:ea typeface="MiSans" pitchFamily="34" charset="-122"/>
                <a:cs typeface="MiSans" pitchFamily="34" charset="-120"/>
              </a:rPr>
              <a:t>. Late submissions are flagged and may affect the school's data inclusion status.</a:t>
            </a:r>
            <a:endParaRPr lang="en-US" sz="1600" dirty="0"/>
          </a:p>
        </p:txBody>
      </p:sp>
      <p:sp>
        <p:nvSpPr>
          <p:cNvPr id="33" name="Shape 31"/>
          <p:cNvSpPr/>
          <p:nvPr/>
        </p:nvSpPr>
        <p:spPr>
          <a:xfrm>
            <a:off x="6299767" y="2450311"/>
            <a:ext cx="5411104" cy="1140075"/>
          </a:xfrm>
          <a:custGeom>
            <a:avLst/>
            <a:gdLst/>
            <a:ahLst/>
            <a:cxnLst/>
            <a:rect l="l" t="t" r="r" b="b"/>
            <a:pathLst>
              <a:path w="5411104" h="1140075">
                <a:moveTo>
                  <a:pt x="0" y="0"/>
                </a:moveTo>
                <a:lnTo>
                  <a:pt x="5411104" y="0"/>
                </a:lnTo>
                <a:lnTo>
                  <a:pt x="5411104" y="1140075"/>
                </a:lnTo>
                <a:lnTo>
                  <a:pt x="0" y="1140075"/>
                </a:lnTo>
                <a:lnTo>
                  <a:pt x="0" y="0"/>
                </a:lnTo>
                <a:close/>
              </a:path>
            </a:pathLst>
          </a:custGeom>
          <a:solidFill>
            <a:srgbClr val="F8F9FA">
              <a:alpha val="10196"/>
            </a:srgbClr>
          </a:solidFill>
          <a:ln/>
        </p:spPr>
      </p:sp>
      <p:sp>
        <p:nvSpPr>
          <p:cNvPr id="34" name="Text 32"/>
          <p:cNvSpPr/>
          <p:nvPr/>
        </p:nvSpPr>
        <p:spPr>
          <a:xfrm>
            <a:off x="6401864" y="2552408"/>
            <a:ext cx="5274976" cy="204193"/>
          </a:xfrm>
          <a:prstGeom prst="rect">
            <a:avLst/>
          </a:prstGeom>
          <a:noFill/>
          <a:ln/>
        </p:spPr>
        <p:txBody>
          <a:bodyPr wrap="square" lIns="0" tIns="0" rIns="0" bIns="0" rtlCol="0" anchor="ctr"/>
          <a:lstStyle/>
          <a:p>
            <a:pPr>
              <a:lnSpc>
                <a:spcPct val="130000"/>
              </a:lnSpc>
            </a:pPr>
            <a:r>
              <a:rPr lang="en-US" sz="1072" b="1" dirty="0">
                <a:solidFill>
                  <a:srgbClr val="C49A2C"/>
                </a:solidFill>
                <a:latin typeface="MiSans" pitchFamily="34" charset="0"/>
                <a:ea typeface="MiSans" pitchFamily="34" charset="-122"/>
                <a:cs typeface="MiSans" pitchFamily="34" charset="-120"/>
              </a:rPr>
              <a:t>Automated Validation</a:t>
            </a:r>
            <a:endParaRPr lang="en-US" sz="1600" dirty="0"/>
          </a:p>
        </p:txBody>
      </p:sp>
      <p:sp>
        <p:nvSpPr>
          <p:cNvPr id="35" name="Text 33"/>
          <p:cNvSpPr/>
          <p:nvPr/>
        </p:nvSpPr>
        <p:spPr>
          <a:xfrm>
            <a:off x="6401864" y="2824664"/>
            <a:ext cx="5274976" cy="663626"/>
          </a:xfrm>
          <a:prstGeom prst="rect">
            <a:avLst/>
          </a:prstGeom>
          <a:noFill/>
          <a:ln/>
        </p:spPr>
        <p:txBody>
          <a:bodyPr wrap="square" lIns="0" tIns="0" rIns="0" bIns="0" rtlCol="0" anchor="ctr"/>
          <a:lstStyle/>
          <a:p>
            <a:pPr>
              <a:lnSpc>
                <a:spcPct val="140000"/>
              </a:lnSpc>
            </a:pPr>
            <a:r>
              <a:rPr lang="en-US" sz="1072" dirty="0">
                <a:solidFill>
                  <a:srgbClr val="F8F9FA"/>
                </a:solidFill>
                <a:latin typeface="MiSans" pitchFamily="34" charset="0"/>
                <a:ea typeface="MiSans" pitchFamily="34" charset="-122"/>
                <a:cs typeface="MiSans" pitchFamily="34" charset="-120"/>
              </a:rPr>
              <a:t>All submissions are subject to </a:t>
            </a:r>
            <a:pPr>
              <a:lnSpc>
                <a:spcPct val="140000"/>
              </a:lnSpc>
            </a:pPr>
            <a:r>
              <a:rPr lang="en-US" sz="1072" b="1" dirty="0">
                <a:solidFill>
                  <a:srgbClr val="F8F9FA"/>
                </a:solidFill>
                <a:latin typeface="MiSans" pitchFamily="34" charset="0"/>
                <a:ea typeface="MiSans" pitchFamily="34" charset="-122"/>
                <a:cs typeface="MiSans" pitchFamily="34" charset="-120"/>
              </a:rPr>
              <a:t>automated validation</a:t>
            </a:r>
            <a:pPr>
              <a:lnSpc>
                <a:spcPct val="140000"/>
              </a:lnSpc>
            </a:pPr>
            <a:r>
              <a:rPr lang="en-US" sz="1072" dirty="0">
                <a:solidFill>
                  <a:srgbClr val="F8F9FA"/>
                </a:solidFill>
                <a:latin typeface="MiSans" pitchFamily="34" charset="0"/>
                <a:ea typeface="MiSans" pitchFamily="34" charset="-122"/>
                <a:cs typeface="MiSans" pitchFamily="34" charset="-120"/>
              </a:rPr>
              <a:t> before being added to the programme dataset. Submissions that fail validation are returned with a specific error report.</a:t>
            </a:r>
            <a:endParaRPr lang="en-US" sz="1600" dirty="0"/>
          </a:p>
        </p:txBody>
      </p:sp>
      <p:sp>
        <p:nvSpPr>
          <p:cNvPr id="36" name="Shape 34"/>
          <p:cNvSpPr/>
          <p:nvPr/>
        </p:nvSpPr>
        <p:spPr>
          <a:xfrm>
            <a:off x="6299767" y="3692483"/>
            <a:ext cx="5411104" cy="918867"/>
          </a:xfrm>
          <a:custGeom>
            <a:avLst/>
            <a:gdLst/>
            <a:ahLst/>
            <a:cxnLst/>
            <a:rect l="l" t="t" r="r" b="b"/>
            <a:pathLst>
              <a:path w="5411104" h="918867">
                <a:moveTo>
                  <a:pt x="0" y="0"/>
                </a:moveTo>
                <a:lnTo>
                  <a:pt x="5411104" y="0"/>
                </a:lnTo>
                <a:lnTo>
                  <a:pt x="5411104" y="918867"/>
                </a:lnTo>
                <a:lnTo>
                  <a:pt x="0" y="918867"/>
                </a:lnTo>
                <a:lnTo>
                  <a:pt x="0" y="0"/>
                </a:lnTo>
                <a:close/>
              </a:path>
            </a:pathLst>
          </a:custGeom>
          <a:solidFill>
            <a:srgbClr val="F8F9FA">
              <a:alpha val="10196"/>
            </a:srgbClr>
          </a:solidFill>
          <a:ln/>
        </p:spPr>
      </p:sp>
      <p:sp>
        <p:nvSpPr>
          <p:cNvPr id="37" name="Text 35"/>
          <p:cNvSpPr/>
          <p:nvPr/>
        </p:nvSpPr>
        <p:spPr>
          <a:xfrm>
            <a:off x="6401864" y="3794579"/>
            <a:ext cx="5274976" cy="204193"/>
          </a:xfrm>
          <a:prstGeom prst="rect">
            <a:avLst/>
          </a:prstGeom>
          <a:noFill/>
          <a:ln/>
        </p:spPr>
        <p:txBody>
          <a:bodyPr wrap="square" lIns="0" tIns="0" rIns="0" bIns="0" rtlCol="0" anchor="ctr"/>
          <a:lstStyle/>
          <a:p>
            <a:pPr>
              <a:lnSpc>
                <a:spcPct val="130000"/>
              </a:lnSpc>
            </a:pPr>
            <a:r>
              <a:rPr lang="en-US" sz="1072" b="1" dirty="0">
                <a:solidFill>
                  <a:srgbClr val="C49A2C"/>
                </a:solidFill>
                <a:latin typeface="MiSans" pitchFamily="34" charset="0"/>
                <a:ea typeface="MiSans" pitchFamily="34" charset="-122"/>
                <a:cs typeface="MiSans" pitchFamily="34" charset="-120"/>
              </a:rPr>
              <a:t>Resubmission Period</a:t>
            </a:r>
            <a:endParaRPr lang="en-US" sz="1600" dirty="0"/>
          </a:p>
        </p:txBody>
      </p:sp>
      <p:sp>
        <p:nvSpPr>
          <p:cNvPr id="38" name="Text 36"/>
          <p:cNvSpPr/>
          <p:nvPr/>
        </p:nvSpPr>
        <p:spPr>
          <a:xfrm>
            <a:off x="6401864" y="4066836"/>
            <a:ext cx="5274976" cy="442417"/>
          </a:xfrm>
          <a:prstGeom prst="rect">
            <a:avLst/>
          </a:prstGeom>
          <a:noFill/>
          <a:ln/>
        </p:spPr>
        <p:txBody>
          <a:bodyPr wrap="square" lIns="0" tIns="0" rIns="0" bIns="0" rtlCol="0" anchor="ctr"/>
          <a:lstStyle/>
          <a:p>
            <a:pPr>
              <a:lnSpc>
                <a:spcPct val="140000"/>
              </a:lnSpc>
            </a:pPr>
            <a:r>
              <a:rPr lang="en-US" sz="1072" dirty="0">
                <a:solidFill>
                  <a:srgbClr val="F8F9FA"/>
                </a:solidFill>
                <a:latin typeface="MiSans" pitchFamily="34" charset="0"/>
                <a:ea typeface="MiSans" pitchFamily="34" charset="-122"/>
                <a:cs typeface="MiSans" pitchFamily="34" charset="-120"/>
              </a:rPr>
              <a:t>Schools have </a:t>
            </a:r>
            <a:pPr>
              <a:lnSpc>
                <a:spcPct val="140000"/>
              </a:lnSpc>
            </a:pPr>
            <a:r>
              <a:rPr lang="en-US" sz="1072" b="1" dirty="0">
                <a:solidFill>
                  <a:srgbClr val="F8F9FA"/>
                </a:solidFill>
                <a:latin typeface="MiSans" pitchFamily="34" charset="0"/>
                <a:ea typeface="MiSans" pitchFamily="34" charset="-122"/>
                <a:cs typeface="MiSans" pitchFamily="34" charset="-120"/>
              </a:rPr>
              <a:t>fourteen days to resubmit</a:t>
            </a:r>
            <a:pPr>
              <a:lnSpc>
                <a:spcPct val="140000"/>
              </a:lnSpc>
            </a:pPr>
            <a:r>
              <a:rPr lang="en-US" sz="1072" dirty="0">
                <a:solidFill>
                  <a:srgbClr val="F8F9FA"/>
                </a:solidFill>
                <a:latin typeface="MiSans" pitchFamily="34" charset="0"/>
                <a:ea typeface="MiSans" pitchFamily="34" charset="-122"/>
                <a:cs typeface="MiSans" pitchFamily="34" charset="-120"/>
              </a:rPr>
              <a:t> corrected data. After fourteen days, the submission is marked as incomplete.</a:t>
            </a:r>
            <a:endParaRPr lang="en-US" sz="1600" dirty="0"/>
          </a:p>
        </p:txBody>
      </p:sp>
      <p:sp>
        <p:nvSpPr>
          <p:cNvPr id="39" name="Shape 37"/>
          <p:cNvSpPr/>
          <p:nvPr/>
        </p:nvSpPr>
        <p:spPr>
          <a:xfrm>
            <a:off x="6163639" y="4866590"/>
            <a:ext cx="5683361" cy="1259188"/>
          </a:xfrm>
          <a:custGeom>
            <a:avLst/>
            <a:gdLst/>
            <a:ahLst/>
            <a:cxnLst/>
            <a:rect l="l" t="t" r="r" b="b"/>
            <a:pathLst>
              <a:path w="5683361" h="1259188">
                <a:moveTo>
                  <a:pt x="0" y="0"/>
                </a:moveTo>
                <a:lnTo>
                  <a:pt x="5683361" y="0"/>
                </a:lnTo>
                <a:lnTo>
                  <a:pt x="5683361" y="1259188"/>
                </a:lnTo>
                <a:lnTo>
                  <a:pt x="0" y="1259188"/>
                </a:lnTo>
                <a:lnTo>
                  <a:pt x="0" y="0"/>
                </a:lnTo>
                <a:close/>
              </a:path>
            </a:pathLst>
          </a:custGeom>
          <a:solidFill>
            <a:srgbClr val="FFFFFF"/>
          </a:solidFill>
          <a:ln/>
        </p:spPr>
      </p:sp>
      <p:sp>
        <p:nvSpPr>
          <p:cNvPr id="40" name="Shape 38"/>
          <p:cNvSpPr/>
          <p:nvPr/>
        </p:nvSpPr>
        <p:spPr>
          <a:xfrm>
            <a:off x="6163639" y="4866590"/>
            <a:ext cx="5683361" cy="34032"/>
          </a:xfrm>
          <a:custGeom>
            <a:avLst/>
            <a:gdLst/>
            <a:ahLst/>
            <a:cxnLst/>
            <a:rect l="l" t="t" r="r" b="b"/>
            <a:pathLst>
              <a:path w="5683361" h="34032">
                <a:moveTo>
                  <a:pt x="0" y="0"/>
                </a:moveTo>
                <a:lnTo>
                  <a:pt x="5683361" y="0"/>
                </a:lnTo>
                <a:lnTo>
                  <a:pt x="5683361" y="34032"/>
                </a:lnTo>
                <a:lnTo>
                  <a:pt x="0" y="34032"/>
                </a:lnTo>
                <a:lnTo>
                  <a:pt x="0" y="0"/>
                </a:lnTo>
                <a:close/>
              </a:path>
            </a:pathLst>
          </a:custGeom>
          <a:solidFill>
            <a:srgbClr val="C49A2C"/>
          </a:solidFill>
          <a:ln/>
        </p:spPr>
      </p:sp>
      <p:sp>
        <p:nvSpPr>
          <p:cNvPr id="41" name="Text 39"/>
          <p:cNvSpPr/>
          <p:nvPr/>
        </p:nvSpPr>
        <p:spPr>
          <a:xfrm>
            <a:off x="6299767" y="5019735"/>
            <a:ext cx="5487676" cy="238225"/>
          </a:xfrm>
          <a:prstGeom prst="rect">
            <a:avLst/>
          </a:prstGeom>
          <a:noFill/>
          <a:ln/>
        </p:spPr>
        <p:txBody>
          <a:bodyPr wrap="square" lIns="0" tIns="0" rIns="0" bIns="0" rtlCol="0" anchor="ctr"/>
          <a:lstStyle/>
          <a:p>
            <a:pPr>
              <a:lnSpc>
                <a:spcPct val="130000"/>
              </a:lnSpc>
            </a:pPr>
            <a:r>
              <a:rPr lang="en-US" sz="1206" b="1" dirty="0">
                <a:solidFill>
                  <a:srgbClr val="1E3A5F"/>
                </a:solidFill>
                <a:latin typeface="MiSans" pitchFamily="34" charset="0"/>
                <a:ea typeface="MiSans" pitchFamily="34" charset="-122"/>
                <a:cs typeface="MiSans" pitchFamily="34" charset="-120"/>
              </a:rPr>
              <a:t>Incomplete Submissions</a:t>
            </a:r>
            <a:endParaRPr lang="en-US" sz="1600" dirty="0"/>
          </a:p>
        </p:txBody>
      </p:sp>
      <p:sp>
        <p:nvSpPr>
          <p:cNvPr id="42" name="Text 40"/>
          <p:cNvSpPr/>
          <p:nvPr/>
        </p:nvSpPr>
        <p:spPr>
          <a:xfrm>
            <a:off x="6299767" y="5326024"/>
            <a:ext cx="5479168" cy="663626"/>
          </a:xfrm>
          <a:prstGeom prst="rect">
            <a:avLst/>
          </a:prstGeom>
          <a:noFill/>
          <a:ln/>
        </p:spPr>
        <p:txBody>
          <a:bodyPr wrap="square" lIns="0" tIns="0" rIns="0" bIns="0" rtlCol="0" anchor="ctr"/>
          <a:lstStyle/>
          <a:p>
            <a:pPr>
              <a:lnSpc>
                <a:spcPct val="140000"/>
              </a:lnSpc>
            </a:pPr>
            <a:r>
              <a:rPr lang="en-US" sz="1072" dirty="0">
                <a:solidFill>
                  <a:srgbClr val="2D3436"/>
                </a:solidFill>
                <a:latin typeface="MiSans" pitchFamily="34" charset="0"/>
                <a:ea typeface="MiSans" pitchFamily="34" charset="-122"/>
                <a:cs typeface="MiSans" pitchFamily="34" charset="-120"/>
              </a:rPr>
              <a:t>Incomplete submissions do not </a:t>
            </a:r>
            <a:pPr>
              <a:lnSpc>
                <a:spcPct val="140000"/>
              </a:lnSpc>
            </a:pPr>
            <a:r>
              <a:rPr lang="en-US" sz="1072" b="1" dirty="0">
                <a:solidFill>
                  <a:srgbClr val="2D3436"/>
                </a:solidFill>
                <a:latin typeface="MiSans" pitchFamily="34" charset="0"/>
                <a:ea typeface="MiSans" pitchFamily="34" charset="-122"/>
                <a:cs typeface="MiSans" pitchFamily="34" charset="-120"/>
              </a:rPr>
              <a:t>automatically</a:t>
            </a:r>
            <a:pPr>
              <a:lnSpc>
                <a:spcPct val="140000"/>
              </a:lnSpc>
            </a:pPr>
            <a:r>
              <a:rPr lang="en-US" sz="1072" dirty="0">
                <a:solidFill>
                  <a:srgbClr val="2D3436"/>
                </a:solidFill>
                <a:latin typeface="MiSans" pitchFamily="34" charset="0"/>
                <a:ea typeface="MiSans" pitchFamily="34" charset="-122"/>
                <a:cs typeface="MiSans" pitchFamily="34" charset="-120"/>
              </a:rPr>
              <a:t> result in exclusion from analysis, but repeated incomplete submissions are a factor in </a:t>
            </a:r>
            <a:pPr>
              <a:lnSpc>
                <a:spcPct val="140000"/>
              </a:lnSpc>
            </a:pPr>
            <a:r>
              <a:rPr lang="en-US" sz="1072" b="1" dirty="0">
                <a:solidFill>
                  <a:srgbClr val="2D3436"/>
                </a:solidFill>
                <a:latin typeface="MiSans" pitchFamily="34" charset="0"/>
                <a:ea typeface="MiSans" pitchFamily="34" charset="-122"/>
                <a:cs typeface="MiSans" pitchFamily="34" charset="-120"/>
              </a:rPr>
              <a:t>programme fidelity assessment</a:t>
            </a:r>
            <a:pPr>
              <a:lnSpc>
                <a:spcPct val="140000"/>
              </a:lnSpc>
            </a:pPr>
            <a:r>
              <a:rPr lang="en-US" sz="1072" dirty="0">
                <a:solidFill>
                  <a:srgbClr val="2D3436"/>
                </a:solidFill>
                <a:latin typeface="MiSans" pitchFamily="34" charset="0"/>
                <a:ea typeface="MiSans" pitchFamily="34" charset="-122"/>
                <a:cs typeface="MiSans" pitchFamily="34" charset="-120"/>
              </a:rPr>
              <a:t> (Chapter 11).</a:t>
            </a:r>
            <a:endParaRPr lang="en-US" sz="1600" dirty="0"/>
          </a:p>
        </p:txBody>
      </p:sp>
      <p:sp>
        <p:nvSpPr>
          <p:cNvPr id="43" name="Shape 41"/>
          <p:cNvSpPr/>
          <p:nvPr/>
        </p:nvSpPr>
        <p:spPr>
          <a:xfrm>
            <a:off x="6180655" y="6227874"/>
            <a:ext cx="5666345" cy="408385"/>
          </a:xfrm>
          <a:custGeom>
            <a:avLst/>
            <a:gdLst/>
            <a:ahLst/>
            <a:cxnLst/>
            <a:rect l="l" t="t" r="r" b="b"/>
            <a:pathLst>
              <a:path w="5666345" h="408385">
                <a:moveTo>
                  <a:pt x="0" y="0"/>
                </a:moveTo>
                <a:lnTo>
                  <a:pt x="5666345" y="0"/>
                </a:lnTo>
                <a:lnTo>
                  <a:pt x="5666345" y="408385"/>
                </a:lnTo>
                <a:lnTo>
                  <a:pt x="0" y="408385"/>
                </a:lnTo>
                <a:lnTo>
                  <a:pt x="0" y="0"/>
                </a:lnTo>
                <a:close/>
              </a:path>
            </a:pathLst>
          </a:custGeom>
          <a:solidFill>
            <a:srgbClr val="C49A2C">
              <a:alpha val="10196"/>
            </a:srgbClr>
          </a:solidFill>
          <a:ln/>
        </p:spPr>
      </p:sp>
      <p:sp>
        <p:nvSpPr>
          <p:cNvPr id="44" name="Shape 42"/>
          <p:cNvSpPr/>
          <p:nvPr/>
        </p:nvSpPr>
        <p:spPr>
          <a:xfrm>
            <a:off x="6180655" y="6227874"/>
            <a:ext cx="34032" cy="408385"/>
          </a:xfrm>
          <a:custGeom>
            <a:avLst/>
            <a:gdLst/>
            <a:ahLst/>
            <a:cxnLst/>
            <a:rect l="l" t="t" r="r" b="b"/>
            <a:pathLst>
              <a:path w="34032" h="408385">
                <a:moveTo>
                  <a:pt x="0" y="0"/>
                </a:moveTo>
                <a:lnTo>
                  <a:pt x="34032" y="0"/>
                </a:lnTo>
                <a:lnTo>
                  <a:pt x="34032" y="408385"/>
                </a:lnTo>
                <a:lnTo>
                  <a:pt x="0" y="408385"/>
                </a:lnTo>
                <a:lnTo>
                  <a:pt x="0" y="0"/>
                </a:lnTo>
                <a:close/>
              </a:path>
            </a:pathLst>
          </a:custGeom>
          <a:solidFill>
            <a:srgbClr val="C49A2C"/>
          </a:solidFill>
          <a:ln/>
        </p:spPr>
      </p:sp>
      <p:sp>
        <p:nvSpPr>
          <p:cNvPr id="45" name="Shape 43"/>
          <p:cNvSpPr/>
          <p:nvPr/>
        </p:nvSpPr>
        <p:spPr>
          <a:xfrm>
            <a:off x="6325291" y="6368257"/>
            <a:ext cx="119112" cy="136128"/>
          </a:xfrm>
          <a:custGeom>
            <a:avLst/>
            <a:gdLst/>
            <a:ahLst/>
            <a:cxnLst/>
            <a:rect l="l" t="t" r="r" b="b"/>
            <a:pathLst>
              <a:path w="119112" h="136128">
                <a:moveTo>
                  <a:pt x="102096" y="136128"/>
                </a:moveTo>
                <a:lnTo>
                  <a:pt x="25524" y="136128"/>
                </a:lnTo>
                <a:cubicBezTo>
                  <a:pt x="11433" y="136128"/>
                  <a:pt x="0" y="124696"/>
                  <a:pt x="0" y="110604"/>
                </a:cubicBezTo>
                <a:lnTo>
                  <a:pt x="0" y="25524"/>
                </a:lnTo>
                <a:cubicBezTo>
                  <a:pt x="0" y="11433"/>
                  <a:pt x="11433" y="0"/>
                  <a:pt x="25524" y="0"/>
                </a:cubicBezTo>
                <a:lnTo>
                  <a:pt x="106350" y="0"/>
                </a:lnTo>
                <a:cubicBezTo>
                  <a:pt x="113396" y="0"/>
                  <a:pt x="119112" y="5716"/>
                  <a:pt x="119112" y="12762"/>
                </a:cubicBezTo>
                <a:lnTo>
                  <a:pt x="119112" y="89334"/>
                </a:lnTo>
                <a:cubicBezTo>
                  <a:pt x="119112" y="94891"/>
                  <a:pt x="115550" y="99624"/>
                  <a:pt x="110604" y="101378"/>
                </a:cubicBezTo>
                <a:lnTo>
                  <a:pt x="110604" y="119112"/>
                </a:lnTo>
                <a:cubicBezTo>
                  <a:pt x="115310" y="119112"/>
                  <a:pt x="119112" y="122914"/>
                  <a:pt x="119112" y="127620"/>
                </a:cubicBezTo>
                <a:cubicBezTo>
                  <a:pt x="119112" y="132326"/>
                  <a:pt x="115310" y="136128"/>
                  <a:pt x="110604" y="136128"/>
                </a:cubicBezTo>
                <a:lnTo>
                  <a:pt x="102096" y="136128"/>
                </a:lnTo>
                <a:close/>
                <a:moveTo>
                  <a:pt x="25524" y="102096"/>
                </a:moveTo>
                <a:cubicBezTo>
                  <a:pt x="20818" y="102096"/>
                  <a:pt x="17016" y="105898"/>
                  <a:pt x="17016" y="110604"/>
                </a:cubicBezTo>
                <a:cubicBezTo>
                  <a:pt x="17016" y="115310"/>
                  <a:pt x="20818" y="119112"/>
                  <a:pt x="25524" y="119112"/>
                </a:cubicBezTo>
                <a:lnTo>
                  <a:pt x="93588" y="119112"/>
                </a:lnTo>
                <a:lnTo>
                  <a:pt x="93588" y="102096"/>
                </a:lnTo>
                <a:lnTo>
                  <a:pt x="25524" y="102096"/>
                </a:lnTo>
                <a:close/>
                <a:moveTo>
                  <a:pt x="34032" y="40413"/>
                </a:moveTo>
                <a:cubicBezTo>
                  <a:pt x="34032" y="43949"/>
                  <a:pt x="36877" y="46794"/>
                  <a:pt x="40413" y="46794"/>
                </a:cubicBezTo>
                <a:lnTo>
                  <a:pt x="87207" y="46794"/>
                </a:lnTo>
                <a:cubicBezTo>
                  <a:pt x="90743" y="46794"/>
                  <a:pt x="93588" y="43949"/>
                  <a:pt x="93588" y="40413"/>
                </a:cubicBezTo>
                <a:cubicBezTo>
                  <a:pt x="93588" y="36877"/>
                  <a:pt x="90743" y="34032"/>
                  <a:pt x="87207" y="34032"/>
                </a:cubicBezTo>
                <a:lnTo>
                  <a:pt x="40413" y="34032"/>
                </a:lnTo>
                <a:cubicBezTo>
                  <a:pt x="36877" y="34032"/>
                  <a:pt x="34032" y="36877"/>
                  <a:pt x="34032" y="40413"/>
                </a:cubicBezTo>
                <a:close/>
                <a:moveTo>
                  <a:pt x="40413" y="59556"/>
                </a:moveTo>
                <a:cubicBezTo>
                  <a:pt x="36877" y="59556"/>
                  <a:pt x="34032" y="62401"/>
                  <a:pt x="34032" y="65937"/>
                </a:cubicBezTo>
                <a:cubicBezTo>
                  <a:pt x="34032" y="69473"/>
                  <a:pt x="36877" y="72318"/>
                  <a:pt x="40413" y="72318"/>
                </a:cubicBezTo>
                <a:lnTo>
                  <a:pt x="87207" y="72318"/>
                </a:lnTo>
                <a:cubicBezTo>
                  <a:pt x="90743" y="72318"/>
                  <a:pt x="93588" y="69473"/>
                  <a:pt x="93588" y="65937"/>
                </a:cubicBezTo>
                <a:cubicBezTo>
                  <a:pt x="93588" y="62401"/>
                  <a:pt x="90743" y="59556"/>
                  <a:pt x="87207" y="59556"/>
                </a:cubicBezTo>
                <a:lnTo>
                  <a:pt x="40413" y="59556"/>
                </a:lnTo>
                <a:close/>
              </a:path>
            </a:pathLst>
          </a:custGeom>
          <a:solidFill>
            <a:srgbClr val="C49A2C"/>
          </a:solidFill>
          <a:ln/>
        </p:spPr>
      </p:sp>
      <p:sp>
        <p:nvSpPr>
          <p:cNvPr id="46" name="Text 44"/>
          <p:cNvSpPr/>
          <p:nvPr/>
        </p:nvSpPr>
        <p:spPr>
          <a:xfrm>
            <a:off x="6515526" y="6329971"/>
            <a:ext cx="5297442" cy="204193"/>
          </a:xfrm>
          <a:prstGeom prst="rect">
            <a:avLst/>
          </a:prstGeom>
          <a:noFill/>
          <a:ln/>
        </p:spPr>
        <p:txBody>
          <a:bodyPr wrap="square" lIns="0" tIns="0" rIns="0" bIns="0" rtlCol="0" anchor="ctr"/>
          <a:lstStyle/>
          <a:p>
            <a:pPr>
              <a:lnSpc>
                <a:spcPct val="130000"/>
              </a:lnSpc>
            </a:pPr>
            <a:r>
              <a:rPr lang="en-US" sz="1072" b="1" dirty="0">
                <a:solidFill>
                  <a:srgbClr val="1E3A5F"/>
                </a:solidFill>
                <a:latin typeface="MiSans" pitchFamily="34" charset="0"/>
                <a:ea typeface="MiSans" pitchFamily="34" charset="-122"/>
                <a:cs typeface="MiSans" pitchFamily="34" charset="-120"/>
              </a:rPr>
              <a:t>Reference:</a:t>
            </a:r>
            <a:pPr>
              <a:lnSpc>
                <a:spcPct val="130000"/>
              </a:lnSpc>
            </a:pPr>
            <a:r>
              <a:rPr lang="en-US" sz="1072" dirty="0">
                <a:solidFill>
                  <a:srgbClr val="1E3A5F"/>
                </a:solidFill>
                <a:latin typeface="MiSans" pitchFamily="34" charset="0"/>
                <a:ea typeface="MiSans" pitchFamily="34" charset="-122"/>
                <a:cs typeface="MiSans" pitchFamily="34" charset="-120"/>
              </a:rPr>
              <a:t> MPI Technical Handbook, Ch. 5 — Data Collection Protocols</a:t>
            </a:r>
            <a:endParaRPr lang="en-US" sz="16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70578" y="370578"/>
            <a:ext cx="74116" cy="444693"/>
          </a:xfrm>
          <a:custGeom>
            <a:avLst/>
            <a:gdLst/>
            <a:ahLst/>
            <a:cxnLst/>
            <a:rect l="l" t="t" r="r" b="b"/>
            <a:pathLst>
              <a:path w="74116" h="444693">
                <a:moveTo>
                  <a:pt x="0" y="0"/>
                </a:moveTo>
                <a:lnTo>
                  <a:pt x="74116" y="0"/>
                </a:lnTo>
                <a:lnTo>
                  <a:pt x="74116" y="444693"/>
                </a:lnTo>
                <a:lnTo>
                  <a:pt x="0" y="444693"/>
                </a:lnTo>
                <a:lnTo>
                  <a:pt x="0" y="0"/>
                </a:lnTo>
                <a:close/>
              </a:path>
            </a:pathLst>
          </a:custGeom>
          <a:solidFill>
            <a:srgbClr val="1E3A5F"/>
          </a:solidFill>
          <a:ln/>
        </p:spPr>
      </p:sp>
      <p:sp>
        <p:nvSpPr>
          <p:cNvPr id="3" name="Text 1"/>
          <p:cNvSpPr/>
          <p:nvPr/>
        </p:nvSpPr>
        <p:spPr>
          <a:xfrm>
            <a:off x="555866" y="426164"/>
            <a:ext cx="5243672" cy="333520"/>
          </a:xfrm>
          <a:prstGeom prst="rect">
            <a:avLst/>
          </a:prstGeom>
          <a:noFill/>
          <a:ln/>
        </p:spPr>
        <p:txBody>
          <a:bodyPr wrap="square" lIns="0" tIns="0" rIns="0" bIns="0" rtlCol="0" anchor="ctr"/>
          <a:lstStyle/>
          <a:p>
            <a:pPr>
              <a:lnSpc>
                <a:spcPct val="100000"/>
              </a:lnSpc>
            </a:pPr>
            <a:r>
              <a:rPr lang="en-US" sz="2188" b="1" dirty="0">
                <a:solidFill>
                  <a:srgbClr val="1E3A5F"/>
                </a:solidFill>
                <a:latin typeface="MiSans" pitchFamily="34" charset="0"/>
                <a:ea typeface="MiSans" pitchFamily="34" charset="-122"/>
                <a:cs typeface="MiSans" pitchFamily="34" charset="-120"/>
              </a:rPr>
              <a:t>Data Validation and Quality Assurance</a:t>
            </a:r>
            <a:endParaRPr lang="en-US" sz="1600" dirty="0"/>
          </a:p>
        </p:txBody>
      </p:sp>
      <p:sp>
        <p:nvSpPr>
          <p:cNvPr id="4" name="Shape 2"/>
          <p:cNvSpPr/>
          <p:nvPr/>
        </p:nvSpPr>
        <p:spPr>
          <a:xfrm>
            <a:off x="370578" y="1056146"/>
            <a:ext cx="5651307" cy="3928122"/>
          </a:xfrm>
          <a:custGeom>
            <a:avLst/>
            <a:gdLst/>
            <a:ahLst/>
            <a:cxnLst/>
            <a:rect l="l" t="t" r="r" b="b"/>
            <a:pathLst>
              <a:path w="5651307" h="3928122">
                <a:moveTo>
                  <a:pt x="0" y="0"/>
                </a:moveTo>
                <a:lnTo>
                  <a:pt x="5651307" y="0"/>
                </a:lnTo>
                <a:lnTo>
                  <a:pt x="5651307" y="3928122"/>
                </a:lnTo>
                <a:lnTo>
                  <a:pt x="0" y="3928122"/>
                </a:lnTo>
                <a:lnTo>
                  <a:pt x="0" y="0"/>
                </a:lnTo>
                <a:close/>
              </a:path>
            </a:pathLst>
          </a:custGeom>
          <a:solidFill>
            <a:srgbClr val="FFFFFF"/>
          </a:solidFill>
          <a:ln/>
        </p:spPr>
      </p:sp>
      <p:sp>
        <p:nvSpPr>
          <p:cNvPr id="5" name="Shape 3"/>
          <p:cNvSpPr/>
          <p:nvPr/>
        </p:nvSpPr>
        <p:spPr>
          <a:xfrm>
            <a:off x="370578" y="1056146"/>
            <a:ext cx="5651307" cy="37058"/>
          </a:xfrm>
          <a:custGeom>
            <a:avLst/>
            <a:gdLst/>
            <a:ahLst/>
            <a:cxnLst/>
            <a:rect l="l" t="t" r="r" b="b"/>
            <a:pathLst>
              <a:path w="5651307" h="37058">
                <a:moveTo>
                  <a:pt x="0" y="0"/>
                </a:moveTo>
                <a:lnTo>
                  <a:pt x="5651307" y="0"/>
                </a:lnTo>
                <a:lnTo>
                  <a:pt x="5651307" y="37058"/>
                </a:lnTo>
                <a:lnTo>
                  <a:pt x="0" y="37058"/>
                </a:lnTo>
                <a:lnTo>
                  <a:pt x="0" y="0"/>
                </a:lnTo>
                <a:close/>
              </a:path>
            </a:pathLst>
          </a:custGeom>
          <a:solidFill>
            <a:srgbClr val="1E3A5F"/>
          </a:solidFill>
          <a:ln/>
        </p:spPr>
      </p:sp>
      <p:sp>
        <p:nvSpPr>
          <p:cNvPr id="6" name="Text 4"/>
          <p:cNvSpPr/>
          <p:nvPr/>
        </p:nvSpPr>
        <p:spPr>
          <a:xfrm>
            <a:off x="518809" y="1222906"/>
            <a:ext cx="5447489" cy="259404"/>
          </a:xfrm>
          <a:prstGeom prst="rect">
            <a:avLst/>
          </a:prstGeom>
          <a:noFill/>
          <a:ln/>
        </p:spPr>
        <p:txBody>
          <a:bodyPr wrap="square" lIns="0" tIns="0" rIns="0" bIns="0" rtlCol="0" anchor="ctr"/>
          <a:lstStyle/>
          <a:p>
            <a:pPr>
              <a:lnSpc>
                <a:spcPct val="120000"/>
              </a:lnSpc>
            </a:pPr>
            <a:r>
              <a:rPr lang="en-US" sz="1459" b="1" dirty="0">
                <a:solidFill>
                  <a:srgbClr val="1E3A5F"/>
                </a:solidFill>
                <a:latin typeface="MiSans" pitchFamily="34" charset="0"/>
                <a:ea typeface="MiSans" pitchFamily="34" charset="-122"/>
                <a:cs typeface="MiSans" pitchFamily="34" charset="-120"/>
              </a:rPr>
              <a:t>Two Levels of Validation</a:t>
            </a:r>
            <a:endParaRPr lang="en-US" sz="1600" dirty="0"/>
          </a:p>
        </p:txBody>
      </p:sp>
      <p:sp>
        <p:nvSpPr>
          <p:cNvPr id="7" name="Text 5"/>
          <p:cNvSpPr/>
          <p:nvPr/>
        </p:nvSpPr>
        <p:spPr>
          <a:xfrm>
            <a:off x="518809" y="1593483"/>
            <a:ext cx="5428960" cy="240875"/>
          </a:xfrm>
          <a:prstGeom prst="rect">
            <a:avLst/>
          </a:prstGeom>
          <a:noFill/>
          <a:ln/>
        </p:spPr>
        <p:txBody>
          <a:bodyPr wrap="square" lIns="0" tIns="0" rIns="0" bIns="0" rtlCol="0" anchor="ctr"/>
          <a:lstStyle/>
          <a:p>
            <a:pPr>
              <a:lnSpc>
                <a:spcPct val="140000"/>
              </a:lnSpc>
            </a:pPr>
            <a:r>
              <a:rPr lang="en-US" sz="1167" dirty="0">
                <a:solidFill>
                  <a:srgbClr val="2D3436"/>
                </a:solidFill>
                <a:latin typeface="MiSans" pitchFamily="34" charset="0"/>
                <a:ea typeface="MiSans" pitchFamily="34" charset="-122"/>
                <a:cs typeface="MiSans" pitchFamily="34" charset="-120"/>
              </a:rPr>
              <a:t>Data validation operates at </a:t>
            </a:r>
            <a:pPr>
              <a:lnSpc>
                <a:spcPct val="140000"/>
              </a:lnSpc>
            </a:pPr>
            <a:r>
              <a:rPr lang="en-US" sz="1167" b="1" dirty="0">
                <a:solidFill>
                  <a:srgbClr val="2D3436"/>
                </a:solidFill>
                <a:latin typeface="MiSans" pitchFamily="34" charset="0"/>
                <a:ea typeface="MiSans" pitchFamily="34" charset="-122"/>
                <a:cs typeface="MiSans" pitchFamily="34" charset="-120"/>
              </a:rPr>
              <a:t>two levels</a:t>
            </a:r>
            <a:pPr>
              <a:lnSpc>
                <a:spcPct val="140000"/>
              </a:lnSpc>
            </a:pPr>
            <a:r>
              <a:rPr lang="en-US" sz="1167" dirty="0">
                <a:solidFill>
                  <a:srgbClr val="2D3436"/>
                </a:solidFill>
                <a:latin typeface="MiSans" pitchFamily="34" charset="0"/>
                <a:ea typeface="MiSans" pitchFamily="34" charset="-122"/>
                <a:cs typeface="MiSans" pitchFamily="34" charset="-120"/>
              </a:rPr>
              <a:t>: automated and manual.</a:t>
            </a:r>
            <a:endParaRPr lang="en-US" sz="1600" dirty="0"/>
          </a:p>
        </p:txBody>
      </p:sp>
      <p:sp>
        <p:nvSpPr>
          <p:cNvPr id="8" name="Shape 6"/>
          <p:cNvSpPr/>
          <p:nvPr/>
        </p:nvSpPr>
        <p:spPr>
          <a:xfrm>
            <a:off x="537337" y="1945532"/>
            <a:ext cx="5336316" cy="1519368"/>
          </a:xfrm>
          <a:custGeom>
            <a:avLst/>
            <a:gdLst/>
            <a:ahLst/>
            <a:cxnLst/>
            <a:rect l="l" t="t" r="r" b="b"/>
            <a:pathLst>
              <a:path w="5336316" h="1519368">
                <a:moveTo>
                  <a:pt x="0" y="0"/>
                </a:moveTo>
                <a:lnTo>
                  <a:pt x="5336316" y="0"/>
                </a:lnTo>
                <a:lnTo>
                  <a:pt x="5336316" y="1519368"/>
                </a:lnTo>
                <a:lnTo>
                  <a:pt x="0" y="1519368"/>
                </a:lnTo>
                <a:lnTo>
                  <a:pt x="0" y="0"/>
                </a:lnTo>
                <a:close/>
              </a:path>
            </a:pathLst>
          </a:custGeom>
          <a:solidFill>
            <a:srgbClr val="F8F9FA"/>
          </a:solidFill>
          <a:ln/>
        </p:spPr>
      </p:sp>
      <p:sp>
        <p:nvSpPr>
          <p:cNvPr id="9" name="Shape 7"/>
          <p:cNvSpPr/>
          <p:nvPr/>
        </p:nvSpPr>
        <p:spPr>
          <a:xfrm>
            <a:off x="537337" y="1945532"/>
            <a:ext cx="37058" cy="1519368"/>
          </a:xfrm>
          <a:custGeom>
            <a:avLst/>
            <a:gdLst/>
            <a:ahLst/>
            <a:cxnLst/>
            <a:rect l="l" t="t" r="r" b="b"/>
            <a:pathLst>
              <a:path w="37058" h="1519368">
                <a:moveTo>
                  <a:pt x="0" y="0"/>
                </a:moveTo>
                <a:lnTo>
                  <a:pt x="37058" y="0"/>
                </a:lnTo>
                <a:lnTo>
                  <a:pt x="37058" y="1519368"/>
                </a:lnTo>
                <a:lnTo>
                  <a:pt x="0" y="1519368"/>
                </a:lnTo>
                <a:lnTo>
                  <a:pt x="0" y="0"/>
                </a:lnTo>
                <a:close/>
              </a:path>
            </a:pathLst>
          </a:custGeom>
          <a:solidFill>
            <a:srgbClr val="1E3A5F"/>
          </a:solidFill>
          <a:ln/>
        </p:spPr>
      </p:sp>
      <p:sp>
        <p:nvSpPr>
          <p:cNvPr id="10" name="Text 8"/>
          <p:cNvSpPr/>
          <p:nvPr/>
        </p:nvSpPr>
        <p:spPr>
          <a:xfrm>
            <a:off x="667040" y="2056705"/>
            <a:ext cx="5169556" cy="222347"/>
          </a:xfrm>
          <a:prstGeom prst="rect">
            <a:avLst/>
          </a:prstGeom>
          <a:noFill/>
          <a:ln/>
        </p:spPr>
        <p:txBody>
          <a:bodyPr wrap="square" lIns="0" tIns="0" rIns="0" bIns="0" rtlCol="0" anchor="ctr"/>
          <a:lstStyle/>
          <a:p>
            <a:pPr>
              <a:lnSpc>
                <a:spcPct val="130000"/>
              </a:lnSpc>
            </a:pPr>
            <a:r>
              <a:rPr lang="en-US" sz="1167" b="1" dirty="0">
                <a:solidFill>
                  <a:srgbClr val="1E3A5F"/>
                </a:solidFill>
                <a:latin typeface="MiSans" pitchFamily="34" charset="0"/>
                <a:ea typeface="MiSans" pitchFamily="34" charset="-122"/>
                <a:cs typeface="MiSans" pitchFamily="34" charset="-120"/>
              </a:rPr>
              <a:t>Automated Validation Checks:</a:t>
            </a:r>
            <a:endParaRPr lang="en-US" sz="1600" dirty="0"/>
          </a:p>
        </p:txBody>
      </p:sp>
      <p:sp>
        <p:nvSpPr>
          <p:cNvPr id="11" name="Shape 9"/>
          <p:cNvSpPr/>
          <p:nvPr/>
        </p:nvSpPr>
        <p:spPr>
          <a:xfrm>
            <a:off x="694833" y="2394857"/>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12" name="Text 10"/>
          <p:cNvSpPr/>
          <p:nvPr/>
        </p:nvSpPr>
        <p:spPr>
          <a:xfrm>
            <a:off x="906394" y="2353167"/>
            <a:ext cx="4930201" cy="222347"/>
          </a:xfrm>
          <a:prstGeom prst="rect">
            <a:avLst/>
          </a:prstGeom>
          <a:noFill/>
          <a:ln/>
        </p:spPr>
        <p:txBody>
          <a:bodyPr wrap="square" lIns="0" tIns="0" rIns="0" bIns="0" rtlCol="0" anchor="ctr"/>
          <a:lstStyle/>
          <a:p>
            <a:pPr>
              <a:lnSpc>
                <a:spcPct val="130000"/>
              </a:lnSpc>
            </a:pPr>
            <a:r>
              <a:rPr lang="en-US" sz="1167" b="1" dirty="0">
                <a:solidFill>
                  <a:srgbClr val="2D3436"/>
                </a:solidFill>
                <a:latin typeface="MiSans" pitchFamily="34" charset="0"/>
                <a:ea typeface="MiSans" pitchFamily="34" charset="-122"/>
                <a:cs typeface="MiSans" pitchFamily="34" charset="-120"/>
              </a:rPr>
              <a:t>Completeness:</a:t>
            </a:r>
            <a:pPr>
              <a:lnSpc>
                <a:spcPct val="130000"/>
              </a:lnSpc>
            </a:pPr>
            <a:r>
              <a:rPr lang="en-US" sz="1167" dirty="0">
                <a:solidFill>
                  <a:srgbClr val="2D3436"/>
                </a:solidFill>
                <a:latin typeface="MiSans" pitchFamily="34" charset="0"/>
                <a:ea typeface="MiSans" pitchFamily="34" charset="-122"/>
                <a:cs typeface="MiSans" pitchFamily="34" charset="-120"/>
              </a:rPr>
              <a:t> All required fields present</a:t>
            </a:r>
            <a:endParaRPr lang="en-US" sz="1600" dirty="0"/>
          </a:p>
        </p:txBody>
      </p:sp>
      <p:sp>
        <p:nvSpPr>
          <p:cNvPr id="13" name="Shape 11"/>
          <p:cNvSpPr/>
          <p:nvPr/>
        </p:nvSpPr>
        <p:spPr>
          <a:xfrm>
            <a:off x="694833" y="2654261"/>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14" name="Text 12"/>
          <p:cNvSpPr/>
          <p:nvPr/>
        </p:nvSpPr>
        <p:spPr>
          <a:xfrm>
            <a:off x="906394" y="2612571"/>
            <a:ext cx="4930201" cy="222347"/>
          </a:xfrm>
          <a:prstGeom prst="rect">
            <a:avLst/>
          </a:prstGeom>
          <a:noFill/>
          <a:ln/>
        </p:spPr>
        <p:txBody>
          <a:bodyPr wrap="square" lIns="0" tIns="0" rIns="0" bIns="0" rtlCol="0" anchor="ctr"/>
          <a:lstStyle/>
          <a:p>
            <a:pPr>
              <a:lnSpc>
                <a:spcPct val="130000"/>
              </a:lnSpc>
            </a:pPr>
            <a:r>
              <a:rPr lang="en-US" sz="1167" b="1" dirty="0">
                <a:solidFill>
                  <a:srgbClr val="2D3436"/>
                </a:solidFill>
                <a:latin typeface="MiSans" pitchFamily="34" charset="0"/>
                <a:ea typeface="MiSans" pitchFamily="34" charset="-122"/>
                <a:cs typeface="MiSans" pitchFamily="34" charset="-120"/>
              </a:rPr>
              <a:t>Range plausibility:</a:t>
            </a:r>
            <a:pPr>
              <a:lnSpc>
                <a:spcPct val="130000"/>
              </a:lnSpc>
            </a:pPr>
            <a:r>
              <a:rPr lang="en-US" sz="1167" dirty="0">
                <a:solidFill>
                  <a:srgbClr val="2D3436"/>
                </a:solidFill>
                <a:latin typeface="MiSans" pitchFamily="34" charset="0"/>
                <a:ea typeface="MiSans" pitchFamily="34" charset="-122"/>
                <a:cs typeface="MiSans" pitchFamily="34" charset="-120"/>
              </a:rPr>
              <a:t> No GCSE grades outside 1–9 scale</a:t>
            </a:r>
            <a:endParaRPr lang="en-US" sz="1600" dirty="0"/>
          </a:p>
        </p:txBody>
      </p:sp>
      <p:sp>
        <p:nvSpPr>
          <p:cNvPr id="15" name="Shape 13"/>
          <p:cNvSpPr/>
          <p:nvPr/>
        </p:nvSpPr>
        <p:spPr>
          <a:xfrm>
            <a:off x="694833" y="2913666"/>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16" name="Text 14"/>
          <p:cNvSpPr/>
          <p:nvPr/>
        </p:nvSpPr>
        <p:spPr>
          <a:xfrm>
            <a:off x="906394" y="2871976"/>
            <a:ext cx="4930201" cy="222347"/>
          </a:xfrm>
          <a:prstGeom prst="rect">
            <a:avLst/>
          </a:prstGeom>
          <a:noFill/>
          <a:ln/>
        </p:spPr>
        <p:txBody>
          <a:bodyPr wrap="square" lIns="0" tIns="0" rIns="0" bIns="0" rtlCol="0" anchor="ctr"/>
          <a:lstStyle/>
          <a:p>
            <a:pPr>
              <a:lnSpc>
                <a:spcPct val="130000"/>
              </a:lnSpc>
            </a:pPr>
            <a:r>
              <a:rPr lang="en-US" sz="1167" b="1" dirty="0">
                <a:solidFill>
                  <a:srgbClr val="2D3436"/>
                </a:solidFill>
                <a:latin typeface="MiSans" pitchFamily="34" charset="0"/>
                <a:ea typeface="MiSans" pitchFamily="34" charset="-122"/>
                <a:cs typeface="MiSans" pitchFamily="34" charset="-120"/>
              </a:rPr>
              <a:t>Internal consistency:</a:t>
            </a:r>
            <a:pPr>
              <a:lnSpc>
                <a:spcPct val="130000"/>
              </a:lnSpc>
            </a:pPr>
            <a:r>
              <a:rPr lang="en-US" sz="1167" dirty="0">
                <a:solidFill>
                  <a:srgbClr val="2D3436"/>
                </a:solidFill>
                <a:latin typeface="MiSans" pitchFamily="34" charset="0"/>
                <a:ea typeface="MiSans" pitchFamily="34" charset="-122"/>
                <a:cs typeface="MiSans" pitchFamily="34" charset="-120"/>
              </a:rPr>
              <a:t> KS2 averages consistent with composition data</a:t>
            </a:r>
            <a:endParaRPr lang="en-US" sz="1600" dirty="0"/>
          </a:p>
        </p:txBody>
      </p:sp>
      <p:sp>
        <p:nvSpPr>
          <p:cNvPr id="17" name="Shape 15"/>
          <p:cNvSpPr/>
          <p:nvPr/>
        </p:nvSpPr>
        <p:spPr>
          <a:xfrm>
            <a:off x="694833" y="3173070"/>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18" name="Text 16"/>
          <p:cNvSpPr/>
          <p:nvPr/>
        </p:nvSpPr>
        <p:spPr>
          <a:xfrm>
            <a:off x="906394" y="3131380"/>
            <a:ext cx="4930201" cy="222347"/>
          </a:xfrm>
          <a:prstGeom prst="rect">
            <a:avLst/>
          </a:prstGeom>
          <a:noFill/>
          <a:ln/>
        </p:spPr>
        <p:txBody>
          <a:bodyPr wrap="square" lIns="0" tIns="0" rIns="0" bIns="0" rtlCol="0" anchor="ctr"/>
          <a:lstStyle/>
          <a:p>
            <a:pPr>
              <a:lnSpc>
                <a:spcPct val="130000"/>
              </a:lnSpc>
            </a:pPr>
            <a:r>
              <a:rPr lang="en-US" sz="1167" b="1" dirty="0">
                <a:solidFill>
                  <a:srgbClr val="2D3436"/>
                </a:solidFill>
                <a:latin typeface="MiSans" pitchFamily="34" charset="0"/>
                <a:ea typeface="MiSans" pitchFamily="34" charset="-122"/>
                <a:cs typeface="MiSans" pitchFamily="34" charset="-120"/>
              </a:rPr>
              <a:t>Submission timeliness:</a:t>
            </a:r>
            <a:pPr>
              <a:lnSpc>
                <a:spcPct val="130000"/>
              </a:lnSpc>
            </a:pPr>
            <a:r>
              <a:rPr lang="en-US" sz="1167" dirty="0">
                <a:solidFill>
                  <a:srgbClr val="2D3436"/>
                </a:solidFill>
                <a:latin typeface="MiSans" pitchFamily="34" charset="0"/>
                <a:ea typeface="MiSans" pitchFamily="34" charset="-122"/>
                <a:cs typeface="MiSans" pitchFamily="34" charset="-120"/>
              </a:rPr>
              <a:t> Within specified window</a:t>
            </a:r>
            <a:endParaRPr lang="en-US" sz="1600" dirty="0"/>
          </a:p>
        </p:txBody>
      </p:sp>
      <p:sp>
        <p:nvSpPr>
          <p:cNvPr id="19" name="Shape 17"/>
          <p:cNvSpPr/>
          <p:nvPr/>
        </p:nvSpPr>
        <p:spPr>
          <a:xfrm>
            <a:off x="537337" y="3576073"/>
            <a:ext cx="5336316" cy="1259964"/>
          </a:xfrm>
          <a:custGeom>
            <a:avLst/>
            <a:gdLst/>
            <a:ahLst/>
            <a:cxnLst/>
            <a:rect l="l" t="t" r="r" b="b"/>
            <a:pathLst>
              <a:path w="5336316" h="1259964">
                <a:moveTo>
                  <a:pt x="0" y="0"/>
                </a:moveTo>
                <a:lnTo>
                  <a:pt x="5336316" y="0"/>
                </a:lnTo>
                <a:lnTo>
                  <a:pt x="5336316" y="1259964"/>
                </a:lnTo>
                <a:lnTo>
                  <a:pt x="0" y="1259964"/>
                </a:lnTo>
                <a:lnTo>
                  <a:pt x="0" y="0"/>
                </a:lnTo>
                <a:close/>
              </a:path>
            </a:pathLst>
          </a:custGeom>
          <a:solidFill>
            <a:srgbClr val="F8F9FA"/>
          </a:solidFill>
          <a:ln/>
        </p:spPr>
      </p:sp>
      <p:sp>
        <p:nvSpPr>
          <p:cNvPr id="20" name="Shape 18"/>
          <p:cNvSpPr/>
          <p:nvPr/>
        </p:nvSpPr>
        <p:spPr>
          <a:xfrm>
            <a:off x="537337" y="3576073"/>
            <a:ext cx="37058" cy="1259964"/>
          </a:xfrm>
          <a:custGeom>
            <a:avLst/>
            <a:gdLst/>
            <a:ahLst/>
            <a:cxnLst/>
            <a:rect l="l" t="t" r="r" b="b"/>
            <a:pathLst>
              <a:path w="37058" h="1259964">
                <a:moveTo>
                  <a:pt x="0" y="0"/>
                </a:moveTo>
                <a:lnTo>
                  <a:pt x="37058" y="0"/>
                </a:lnTo>
                <a:lnTo>
                  <a:pt x="37058" y="1259964"/>
                </a:lnTo>
                <a:lnTo>
                  <a:pt x="0" y="1259964"/>
                </a:lnTo>
                <a:lnTo>
                  <a:pt x="0" y="0"/>
                </a:lnTo>
                <a:close/>
              </a:path>
            </a:pathLst>
          </a:custGeom>
          <a:solidFill>
            <a:srgbClr val="C49A2C"/>
          </a:solidFill>
          <a:ln/>
        </p:spPr>
      </p:sp>
      <p:sp>
        <p:nvSpPr>
          <p:cNvPr id="21" name="Text 19"/>
          <p:cNvSpPr/>
          <p:nvPr/>
        </p:nvSpPr>
        <p:spPr>
          <a:xfrm>
            <a:off x="667040" y="3687246"/>
            <a:ext cx="5169556" cy="222347"/>
          </a:xfrm>
          <a:prstGeom prst="rect">
            <a:avLst/>
          </a:prstGeom>
          <a:noFill/>
          <a:ln/>
        </p:spPr>
        <p:txBody>
          <a:bodyPr wrap="square" lIns="0" tIns="0" rIns="0" bIns="0" rtlCol="0" anchor="ctr"/>
          <a:lstStyle/>
          <a:p>
            <a:pPr>
              <a:lnSpc>
                <a:spcPct val="130000"/>
              </a:lnSpc>
            </a:pPr>
            <a:r>
              <a:rPr lang="en-US" sz="1167" b="1" dirty="0">
                <a:solidFill>
                  <a:srgbClr val="1E3A5F"/>
                </a:solidFill>
                <a:latin typeface="MiSans" pitchFamily="34" charset="0"/>
                <a:ea typeface="MiSans" pitchFamily="34" charset="-122"/>
                <a:cs typeface="MiSans" pitchFamily="34" charset="-120"/>
              </a:rPr>
              <a:t>Manual Review Conducts:</a:t>
            </a:r>
            <a:endParaRPr lang="en-US" sz="1600" dirty="0"/>
          </a:p>
        </p:txBody>
      </p:sp>
      <p:sp>
        <p:nvSpPr>
          <p:cNvPr id="22" name="Shape 20"/>
          <p:cNvSpPr/>
          <p:nvPr/>
        </p:nvSpPr>
        <p:spPr>
          <a:xfrm>
            <a:off x="694833" y="4025398"/>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23" name="Text 21"/>
          <p:cNvSpPr/>
          <p:nvPr/>
        </p:nvSpPr>
        <p:spPr>
          <a:xfrm>
            <a:off x="906394" y="3983708"/>
            <a:ext cx="4930201" cy="222347"/>
          </a:xfrm>
          <a:prstGeom prst="rect">
            <a:avLst/>
          </a:prstGeom>
          <a:noFill/>
          <a:ln/>
        </p:spPr>
        <p:txBody>
          <a:bodyPr wrap="square" lIns="0" tIns="0" rIns="0" bIns="0" rtlCol="0" anchor="ctr"/>
          <a:lstStyle/>
          <a:p>
            <a:pPr>
              <a:lnSpc>
                <a:spcPct val="130000"/>
              </a:lnSpc>
            </a:pPr>
            <a:r>
              <a:rPr lang="en-US" sz="1167" b="1" dirty="0">
                <a:solidFill>
                  <a:srgbClr val="2D3436"/>
                </a:solidFill>
                <a:latin typeface="MiSans" pitchFamily="34" charset="0"/>
                <a:ea typeface="MiSans" pitchFamily="34" charset="-122"/>
                <a:cs typeface="MiSans" pitchFamily="34" charset="-120"/>
              </a:rPr>
              <a:t>Line-by-line checking</a:t>
            </a:r>
            <a:pPr>
              <a:lnSpc>
                <a:spcPct val="130000"/>
              </a:lnSpc>
            </a:pPr>
            <a:r>
              <a:rPr lang="en-US" sz="1167" dirty="0">
                <a:solidFill>
                  <a:srgbClr val="2D3436"/>
                </a:solidFill>
                <a:latin typeface="MiSans" pitchFamily="34" charset="0"/>
                <a:ea typeface="MiSans" pitchFamily="34" charset="-122"/>
                <a:cs typeface="MiSans" pitchFamily="34" charset="-120"/>
              </a:rPr>
              <a:t> of all school-level submissions</a:t>
            </a:r>
            <a:endParaRPr lang="en-US" sz="1600" dirty="0"/>
          </a:p>
        </p:txBody>
      </p:sp>
      <p:sp>
        <p:nvSpPr>
          <p:cNvPr id="24" name="Shape 22"/>
          <p:cNvSpPr/>
          <p:nvPr/>
        </p:nvSpPr>
        <p:spPr>
          <a:xfrm>
            <a:off x="694833" y="4284802"/>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25" name="Text 23"/>
          <p:cNvSpPr/>
          <p:nvPr/>
        </p:nvSpPr>
        <p:spPr>
          <a:xfrm>
            <a:off x="906394" y="4243112"/>
            <a:ext cx="4930201" cy="222347"/>
          </a:xfrm>
          <a:prstGeom prst="rect">
            <a:avLst/>
          </a:prstGeom>
          <a:noFill/>
          <a:ln/>
        </p:spPr>
        <p:txBody>
          <a:bodyPr wrap="square" lIns="0" tIns="0" rIns="0" bIns="0" rtlCol="0" anchor="ctr"/>
          <a:lstStyle/>
          <a:p>
            <a:pPr>
              <a:lnSpc>
                <a:spcPct val="130000"/>
              </a:lnSpc>
            </a:pPr>
            <a:r>
              <a:rPr lang="en-US" sz="1167" dirty="0">
                <a:solidFill>
                  <a:srgbClr val="2D3436"/>
                </a:solidFill>
                <a:latin typeface="MiSans" pitchFamily="34" charset="0"/>
                <a:ea typeface="MiSans" pitchFamily="34" charset="-122"/>
                <a:cs typeface="MiSans" pitchFamily="34" charset="-120"/>
              </a:rPr>
              <a:t>Review for </a:t>
            </a:r>
            <a:pPr>
              <a:lnSpc>
                <a:spcPct val="130000"/>
              </a:lnSpc>
            </a:pPr>
            <a:r>
              <a:rPr lang="en-US" sz="1167" b="1" dirty="0">
                <a:solidFill>
                  <a:srgbClr val="2D3436"/>
                </a:solidFill>
                <a:latin typeface="MiSans" pitchFamily="34" charset="0"/>
                <a:ea typeface="MiSans" pitchFamily="34" charset="-122"/>
                <a:cs typeface="MiSans" pitchFamily="34" charset="-120"/>
              </a:rPr>
              <a:t>consistency, plausibility, and compliance</a:t>
            </a:r>
            <a:endParaRPr lang="en-US" sz="1600" dirty="0"/>
          </a:p>
        </p:txBody>
      </p:sp>
      <p:sp>
        <p:nvSpPr>
          <p:cNvPr id="26" name="Shape 24"/>
          <p:cNvSpPr/>
          <p:nvPr/>
        </p:nvSpPr>
        <p:spPr>
          <a:xfrm>
            <a:off x="694833" y="4544207"/>
            <a:ext cx="129702" cy="148231"/>
          </a:xfrm>
          <a:custGeom>
            <a:avLst/>
            <a:gdLst/>
            <a:ahLst/>
            <a:cxn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C49A2C"/>
          </a:solidFill>
          <a:ln/>
        </p:spPr>
      </p:sp>
      <p:sp>
        <p:nvSpPr>
          <p:cNvPr id="27" name="Text 25"/>
          <p:cNvSpPr/>
          <p:nvPr/>
        </p:nvSpPr>
        <p:spPr>
          <a:xfrm>
            <a:off x="906394" y="4502517"/>
            <a:ext cx="4930201" cy="222347"/>
          </a:xfrm>
          <a:prstGeom prst="rect">
            <a:avLst/>
          </a:prstGeom>
          <a:noFill/>
          <a:ln/>
        </p:spPr>
        <p:txBody>
          <a:bodyPr wrap="square" lIns="0" tIns="0" rIns="0" bIns="0" rtlCol="0" anchor="ctr"/>
          <a:lstStyle/>
          <a:p>
            <a:pPr>
              <a:lnSpc>
                <a:spcPct val="130000"/>
              </a:lnSpc>
            </a:pPr>
            <a:r>
              <a:rPr lang="en-US" sz="1167" dirty="0">
                <a:solidFill>
                  <a:srgbClr val="2D3436"/>
                </a:solidFill>
                <a:latin typeface="MiSans" pitchFamily="34" charset="0"/>
                <a:ea typeface="MiSans" pitchFamily="34" charset="-122"/>
                <a:cs typeface="MiSans" pitchFamily="34" charset="-120"/>
              </a:rPr>
              <a:t>Contact with schools for </a:t>
            </a:r>
            <a:pPr>
              <a:lnSpc>
                <a:spcPct val="130000"/>
              </a:lnSpc>
            </a:pPr>
            <a:r>
              <a:rPr lang="en-US" sz="1167" b="1" dirty="0">
                <a:solidFill>
                  <a:srgbClr val="2D3436"/>
                </a:solidFill>
                <a:latin typeface="MiSans" pitchFamily="34" charset="0"/>
                <a:ea typeface="MiSans" pitchFamily="34" charset="-122"/>
                <a:cs typeface="MiSans" pitchFamily="34" charset="-120"/>
              </a:rPr>
              <a:t>clarification or resubmission</a:t>
            </a:r>
            <a:endParaRPr lang="en-US" sz="1600" dirty="0"/>
          </a:p>
        </p:txBody>
      </p:sp>
      <p:sp>
        <p:nvSpPr>
          <p:cNvPr id="28" name="Shape 26"/>
          <p:cNvSpPr/>
          <p:nvPr/>
        </p:nvSpPr>
        <p:spPr>
          <a:xfrm>
            <a:off x="370578" y="5095441"/>
            <a:ext cx="5651307" cy="1389666"/>
          </a:xfrm>
          <a:custGeom>
            <a:avLst/>
            <a:gdLst/>
            <a:ahLst/>
            <a:cxnLst/>
            <a:rect l="l" t="t" r="r" b="b"/>
            <a:pathLst>
              <a:path w="5651307" h="1389666">
                <a:moveTo>
                  <a:pt x="0" y="0"/>
                </a:moveTo>
                <a:lnTo>
                  <a:pt x="5651307" y="0"/>
                </a:lnTo>
                <a:lnTo>
                  <a:pt x="5651307" y="1389666"/>
                </a:lnTo>
                <a:lnTo>
                  <a:pt x="0" y="1389666"/>
                </a:lnTo>
                <a:lnTo>
                  <a:pt x="0" y="0"/>
                </a:lnTo>
                <a:close/>
              </a:path>
            </a:pathLst>
          </a:custGeom>
          <a:solidFill>
            <a:srgbClr val="1E3A5F"/>
          </a:solidFill>
          <a:ln/>
        </p:spPr>
      </p:sp>
      <p:sp>
        <p:nvSpPr>
          <p:cNvPr id="29" name="Text 27"/>
          <p:cNvSpPr/>
          <p:nvPr/>
        </p:nvSpPr>
        <p:spPr>
          <a:xfrm>
            <a:off x="518809" y="5243672"/>
            <a:ext cx="5447489" cy="259404"/>
          </a:xfrm>
          <a:prstGeom prst="rect">
            <a:avLst/>
          </a:prstGeom>
          <a:noFill/>
          <a:ln/>
        </p:spPr>
        <p:txBody>
          <a:bodyPr wrap="square" lIns="0" tIns="0" rIns="0" bIns="0" rtlCol="0" anchor="ctr"/>
          <a:lstStyle/>
          <a:p>
            <a:pPr>
              <a:lnSpc>
                <a:spcPct val="120000"/>
              </a:lnSpc>
            </a:pPr>
            <a:r>
              <a:rPr lang="en-US" sz="1459" b="1" dirty="0">
                <a:solidFill>
                  <a:srgbClr val="F8F9FA"/>
                </a:solidFill>
                <a:latin typeface="MiSans" pitchFamily="34" charset="0"/>
                <a:ea typeface="MiSans" pitchFamily="34" charset="-122"/>
                <a:cs typeface="MiSans" pitchFamily="34" charset="-120"/>
              </a:rPr>
              <a:t>Consequences of Failed Review</a:t>
            </a:r>
            <a:endParaRPr lang="en-US" sz="1600" dirty="0"/>
          </a:p>
        </p:txBody>
      </p:sp>
      <p:sp>
        <p:nvSpPr>
          <p:cNvPr id="30" name="Text 28"/>
          <p:cNvSpPr/>
          <p:nvPr/>
        </p:nvSpPr>
        <p:spPr>
          <a:xfrm>
            <a:off x="518809" y="5614249"/>
            <a:ext cx="5428960" cy="722626"/>
          </a:xfrm>
          <a:prstGeom prst="rect">
            <a:avLst/>
          </a:prstGeom>
          <a:noFill/>
          <a:ln/>
        </p:spPr>
        <p:txBody>
          <a:bodyPr wrap="square" lIns="0" tIns="0" rIns="0" bIns="0" rtlCol="0" anchor="ctr"/>
          <a:lstStyle/>
          <a:p>
            <a:pPr>
              <a:lnSpc>
                <a:spcPct val="140000"/>
              </a:lnSpc>
            </a:pPr>
            <a:r>
              <a:rPr lang="en-US" sz="1167" dirty="0">
                <a:solidFill>
                  <a:srgbClr val="F8F9FA"/>
                </a:solidFill>
                <a:latin typeface="MiSans" pitchFamily="34" charset="0"/>
                <a:ea typeface="MiSans" pitchFamily="34" charset="-122"/>
                <a:cs typeface="MiSans" pitchFamily="34" charset="-120"/>
              </a:rPr>
              <a:t>Schools that cannot provide adequate clarification may have their data </a:t>
            </a:r>
            <a:pPr>
              <a:lnSpc>
                <a:spcPct val="140000"/>
              </a:lnSpc>
            </a:pPr>
            <a:r>
              <a:rPr lang="en-US" sz="1167" b="1" dirty="0">
                <a:solidFill>
                  <a:srgbClr val="F8F9FA"/>
                </a:solidFill>
                <a:latin typeface="MiSans" pitchFamily="34" charset="0"/>
                <a:ea typeface="MiSans" pitchFamily="34" charset="-122"/>
                <a:cs typeface="MiSans" pitchFamily="34" charset="-120"/>
              </a:rPr>
              <a:t>excluded from that year's analysis</a:t>
            </a:r>
            <a:pPr>
              <a:lnSpc>
                <a:spcPct val="140000"/>
              </a:lnSpc>
            </a:pPr>
            <a:r>
              <a:rPr lang="en-US" sz="1167" dirty="0">
                <a:solidFill>
                  <a:srgbClr val="F8F9FA"/>
                </a:solidFill>
                <a:latin typeface="MiSans" pitchFamily="34" charset="0"/>
                <a:ea typeface="MiSans" pitchFamily="34" charset="-122"/>
                <a:cs typeface="MiSans" pitchFamily="34" charset="-120"/>
              </a:rPr>
              <a:t>. All quality assurance decisions are logged in the programme management system.</a:t>
            </a:r>
            <a:endParaRPr lang="en-US" sz="1600" dirty="0"/>
          </a:p>
        </p:txBody>
      </p:sp>
      <p:sp>
        <p:nvSpPr>
          <p:cNvPr id="31" name="Shape 29"/>
          <p:cNvSpPr/>
          <p:nvPr/>
        </p:nvSpPr>
        <p:spPr>
          <a:xfrm>
            <a:off x="6168108" y="1056146"/>
            <a:ext cx="5651307" cy="3001678"/>
          </a:xfrm>
          <a:custGeom>
            <a:avLst/>
            <a:gdLst/>
            <a:ahLst/>
            <a:cxnLst/>
            <a:rect l="l" t="t" r="r" b="b"/>
            <a:pathLst>
              <a:path w="5651307" h="3001678">
                <a:moveTo>
                  <a:pt x="0" y="0"/>
                </a:moveTo>
                <a:lnTo>
                  <a:pt x="5651307" y="0"/>
                </a:lnTo>
                <a:lnTo>
                  <a:pt x="5651307" y="3001678"/>
                </a:lnTo>
                <a:lnTo>
                  <a:pt x="0" y="3001678"/>
                </a:lnTo>
                <a:lnTo>
                  <a:pt x="0" y="0"/>
                </a:lnTo>
                <a:close/>
              </a:path>
            </a:pathLst>
          </a:custGeom>
          <a:solidFill>
            <a:srgbClr val="FFFFFF"/>
          </a:solidFill>
          <a:ln/>
        </p:spPr>
      </p:sp>
      <p:sp>
        <p:nvSpPr>
          <p:cNvPr id="32" name="Shape 30"/>
          <p:cNvSpPr/>
          <p:nvPr/>
        </p:nvSpPr>
        <p:spPr>
          <a:xfrm>
            <a:off x="6168108" y="1056146"/>
            <a:ext cx="5651307" cy="37058"/>
          </a:xfrm>
          <a:custGeom>
            <a:avLst/>
            <a:gdLst/>
            <a:ahLst/>
            <a:cxnLst/>
            <a:rect l="l" t="t" r="r" b="b"/>
            <a:pathLst>
              <a:path w="5651307" h="37058">
                <a:moveTo>
                  <a:pt x="0" y="0"/>
                </a:moveTo>
                <a:lnTo>
                  <a:pt x="5651307" y="0"/>
                </a:lnTo>
                <a:lnTo>
                  <a:pt x="5651307" y="37058"/>
                </a:lnTo>
                <a:lnTo>
                  <a:pt x="0" y="37058"/>
                </a:lnTo>
                <a:lnTo>
                  <a:pt x="0" y="0"/>
                </a:lnTo>
                <a:close/>
              </a:path>
            </a:pathLst>
          </a:custGeom>
          <a:solidFill>
            <a:srgbClr val="C49A2C"/>
          </a:solidFill>
          <a:ln/>
        </p:spPr>
      </p:sp>
      <p:sp>
        <p:nvSpPr>
          <p:cNvPr id="33" name="Text 31"/>
          <p:cNvSpPr/>
          <p:nvPr/>
        </p:nvSpPr>
        <p:spPr>
          <a:xfrm>
            <a:off x="6316339" y="1222906"/>
            <a:ext cx="5447489" cy="259404"/>
          </a:xfrm>
          <a:prstGeom prst="rect">
            <a:avLst/>
          </a:prstGeom>
          <a:noFill/>
          <a:ln/>
        </p:spPr>
        <p:txBody>
          <a:bodyPr wrap="square" lIns="0" tIns="0" rIns="0" bIns="0" rtlCol="0" anchor="ctr"/>
          <a:lstStyle/>
          <a:p>
            <a:pPr>
              <a:lnSpc>
                <a:spcPct val="120000"/>
              </a:lnSpc>
            </a:pPr>
            <a:r>
              <a:rPr lang="en-US" sz="1459" b="1" dirty="0">
                <a:solidFill>
                  <a:srgbClr val="1E3A5F"/>
                </a:solidFill>
                <a:latin typeface="MiSans" pitchFamily="34" charset="0"/>
                <a:ea typeface="MiSans" pitchFamily="34" charset="-122"/>
                <a:cs typeface="MiSans" pitchFamily="34" charset="-120"/>
              </a:rPr>
              <a:t>Why This Matters</a:t>
            </a:r>
            <a:endParaRPr lang="en-US" sz="1600" dirty="0"/>
          </a:p>
        </p:txBody>
      </p:sp>
      <p:sp>
        <p:nvSpPr>
          <p:cNvPr id="34" name="Text 32"/>
          <p:cNvSpPr/>
          <p:nvPr/>
        </p:nvSpPr>
        <p:spPr>
          <a:xfrm>
            <a:off x="6316339" y="1593483"/>
            <a:ext cx="5428960" cy="722626"/>
          </a:xfrm>
          <a:prstGeom prst="rect">
            <a:avLst/>
          </a:prstGeom>
          <a:noFill/>
          <a:ln/>
        </p:spPr>
        <p:txBody>
          <a:bodyPr wrap="square" lIns="0" tIns="0" rIns="0" bIns="0" rtlCol="0" anchor="ctr"/>
          <a:lstStyle/>
          <a:p>
            <a:pPr>
              <a:lnSpc>
                <a:spcPct val="140000"/>
              </a:lnSpc>
            </a:pPr>
            <a:r>
              <a:rPr lang="en-US" sz="1167" dirty="0">
                <a:solidFill>
                  <a:srgbClr val="2D3436"/>
                </a:solidFill>
                <a:latin typeface="MiSans" pitchFamily="34" charset="0"/>
                <a:ea typeface="MiSans" pitchFamily="34" charset="-122"/>
                <a:cs typeface="MiSans" pitchFamily="34" charset="-120"/>
              </a:rPr>
              <a:t>Data quality assurance is </a:t>
            </a:r>
            <a:pPr>
              <a:lnSpc>
                <a:spcPct val="140000"/>
              </a:lnSpc>
            </a:pPr>
            <a:r>
              <a:rPr lang="en-US" sz="1167" b="1" dirty="0">
                <a:solidFill>
                  <a:srgbClr val="2D3436"/>
                </a:solidFill>
                <a:latin typeface="MiSans" pitchFamily="34" charset="0"/>
                <a:ea typeface="MiSans" pitchFamily="34" charset="-122"/>
                <a:cs typeface="MiSans" pitchFamily="34" charset="-120"/>
              </a:rPr>
              <a:t>not a peripheral administrative function</a:t>
            </a:r>
            <a:pPr>
              <a:lnSpc>
                <a:spcPct val="140000"/>
              </a:lnSpc>
            </a:pPr>
            <a:r>
              <a:rPr lang="en-US" sz="1167" dirty="0">
                <a:solidFill>
                  <a:srgbClr val="2D3436"/>
                </a:solidFill>
                <a:latin typeface="MiSans" pitchFamily="34" charset="0"/>
                <a:ea typeface="MiSans" pitchFamily="34" charset="-122"/>
                <a:cs typeface="MiSans" pitchFamily="34" charset="-120"/>
              </a:rPr>
              <a:t>. It is </a:t>
            </a:r>
            <a:pPr>
              <a:lnSpc>
                <a:spcPct val="140000"/>
              </a:lnSpc>
            </a:pPr>
            <a:r>
              <a:rPr lang="en-US" sz="1167" dirty="0">
                <a:solidFill>
                  <a:srgbClr val="2D3436"/>
                </a:solidFill>
                <a:highlight>
                  <a:srgbClr val="C49A2C">
                    <a:alpha val="20000"/>
                  </a:srgbClr>
                </a:highlight>
                <a:latin typeface="MiSans" pitchFamily="34" charset="0"/>
                <a:ea typeface="MiSans" pitchFamily="34" charset="-122"/>
                <a:cs typeface="MiSans" pitchFamily="34" charset="-120"/>
              </a:rPr>
              <a:t>central to the credibility of the MPI's evidence base </a:t>
            </a:r>
            <a:pPr>
              <a:lnSpc>
                <a:spcPct val="140000"/>
              </a:lnSpc>
            </a:pPr>
            <a:r>
              <a:rPr lang="en-US" sz="1167" dirty="0">
                <a:solidFill>
                  <a:srgbClr val="2D3436"/>
                </a:solidFill>
                <a:latin typeface="MiSans" pitchFamily="34" charset="0"/>
                <a:ea typeface="MiSans" pitchFamily="34" charset="-122"/>
                <a:cs typeface="MiSans" pitchFamily="34" charset="-120"/>
              </a:rPr>
              <a:t>, and shortcuts in this area have consequences that extend beyond the immediate task.</a:t>
            </a:r>
            <a:endParaRPr lang="en-US" sz="1600" dirty="0"/>
          </a:p>
        </p:txBody>
      </p:sp>
      <p:sp>
        <p:nvSpPr>
          <p:cNvPr id="35" name="Shape 33"/>
          <p:cNvSpPr/>
          <p:nvPr/>
        </p:nvSpPr>
        <p:spPr>
          <a:xfrm>
            <a:off x="6334868" y="2427283"/>
            <a:ext cx="5336316" cy="444693"/>
          </a:xfrm>
          <a:custGeom>
            <a:avLst/>
            <a:gdLst/>
            <a:ahLst/>
            <a:cxnLst/>
            <a:rect l="l" t="t" r="r" b="b"/>
            <a:pathLst>
              <a:path w="5336316" h="444693">
                <a:moveTo>
                  <a:pt x="0" y="0"/>
                </a:moveTo>
                <a:lnTo>
                  <a:pt x="5336316" y="0"/>
                </a:lnTo>
                <a:lnTo>
                  <a:pt x="5336316" y="444693"/>
                </a:lnTo>
                <a:lnTo>
                  <a:pt x="0" y="444693"/>
                </a:lnTo>
                <a:lnTo>
                  <a:pt x="0" y="0"/>
                </a:lnTo>
                <a:close/>
              </a:path>
            </a:pathLst>
          </a:custGeom>
          <a:solidFill>
            <a:srgbClr val="FEF2F2"/>
          </a:solidFill>
          <a:ln/>
        </p:spPr>
      </p:sp>
      <p:sp>
        <p:nvSpPr>
          <p:cNvPr id="36" name="Shape 34"/>
          <p:cNvSpPr/>
          <p:nvPr/>
        </p:nvSpPr>
        <p:spPr>
          <a:xfrm>
            <a:off x="6334868" y="2427283"/>
            <a:ext cx="37058" cy="444693"/>
          </a:xfrm>
          <a:custGeom>
            <a:avLst/>
            <a:gdLst/>
            <a:ahLst/>
            <a:cxnLst/>
            <a:rect l="l" t="t" r="r" b="b"/>
            <a:pathLst>
              <a:path w="37058" h="444693">
                <a:moveTo>
                  <a:pt x="0" y="0"/>
                </a:moveTo>
                <a:lnTo>
                  <a:pt x="37058" y="0"/>
                </a:lnTo>
                <a:lnTo>
                  <a:pt x="37058" y="444693"/>
                </a:lnTo>
                <a:lnTo>
                  <a:pt x="0" y="444693"/>
                </a:lnTo>
                <a:lnTo>
                  <a:pt x="0" y="0"/>
                </a:lnTo>
                <a:close/>
              </a:path>
            </a:pathLst>
          </a:custGeom>
          <a:solidFill>
            <a:srgbClr val="E7000B"/>
          </a:solidFill>
          <a:ln/>
        </p:spPr>
      </p:sp>
      <p:sp>
        <p:nvSpPr>
          <p:cNvPr id="37" name="Shape 35"/>
          <p:cNvSpPr/>
          <p:nvPr/>
        </p:nvSpPr>
        <p:spPr>
          <a:xfrm>
            <a:off x="6501628" y="2580146"/>
            <a:ext cx="111173" cy="148231"/>
          </a:xfrm>
          <a:custGeom>
            <a:avLst/>
            <a:gdLst/>
            <a:ahLst/>
            <a:cxnLst/>
            <a:rect l="l" t="t" r="r" b="b"/>
            <a:pathLst>
              <a:path w="111173" h="148231">
                <a:moveTo>
                  <a:pt x="15952" y="21250"/>
                </a:moveTo>
                <a:cubicBezTo>
                  <a:pt x="12333" y="17631"/>
                  <a:pt x="6456" y="17631"/>
                  <a:pt x="2837" y="21250"/>
                </a:cubicBezTo>
                <a:cubicBezTo>
                  <a:pt x="-782" y="24869"/>
                  <a:pt x="-782" y="30746"/>
                  <a:pt x="2837" y="34365"/>
                </a:cubicBezTo>
                <a:lnTo>
                  <a:pt x="42616" y="74116"/>
                </a:lnTo>
                <a:lnTo>
                  <a:pt x="2866" y="113895"/>
                </a:lnTo>
                <a:cubicBezTo>
                  <a:pt x="-753" y="117514"/>
                  <a:pt x="-753" y="123391"/>
                  <a:pt x="2866" y="127010"/>
                </a:cubicBezTo>
                <a:cubicBezTo>
                  <a:pt x="6485" y="130629"/>
                  <a:pt x="12362" y="130629"/>
                  <a:pt x="15981" y="127010"/>
                </a:cubicBezTo>
                <a:lnTo>
                  <a:pt x="55731" y="87230"/>
                </a:lnTo>
                <a:lnTo>
                  <a:pt x="95511" y="126981"/>
                </a:lnTo>
                <a:cubicBezTo>
                  <a:pt x="99129" y="130600"/>
                  <a:pt x="105007" y="130600"/>
                  <a:pt x="108626" y="126981"/>
                </a:cubicBezTo>
                <a:cubicBezTo>
                  <a:pt x="112244" y="123362"/>
                  <a:pt x="112244" y="117485"/>
                  <a:pt x="108626" y="113866"/>
                </a:cubicBezTo>
                <a:lnTo>
                  <a:pt x="68846" y="74116"/>
                </a:lnTo>
                <a:lnTo>
                  <a:pt x="108597" y="34336"/>
                </a:lnTo>
                <a:cubicBezTo>
                  <a:pt x="112216" y="30717"/>
                  <a:pt x="112216" y="24840"/>
                  <a:pt x="108597" y="21221"/>
                </a:cubicBezTo>
                <a:cubicBezTo>
                  <a:pt x="104978" y="17602"/>
                  <a:pt x="99101" y="17602"/>
                  <a:pt x="95482" y="21221"/>
                </a:cubicBezTo>
                <a:lnTo>
                  <a:pt x="55731" y="61001"/>
                </a:lnTo>
                <a:lnTo>
                  <a:pt x="15952" y="21250"/>
                </a:lnTo>
                <a:close/>
              </a:path>
            </a:pathLst>
          </a:custGeom>
          <a:solidFill>
            <a:srgbClr val="E7000B"/>
          </a:solidFill>
          <a:ln/>
        </p:spPr>
      </p:sp>
      <p:sp>
        <p:nvSpPr>
          <p:cNvPr id="38" name="Text 36"/>
          <p:cNvSpPr/>
          <p:nvPr/>
        </p:nvSpPr>
        <p:spPr>
          <a:xfrm>
            <a:off x="6703925" y="2538456"/>
            <a:ext cx="4930201" cy="222347"/>
          </a:xfrm>
          <a:prstGeom prst="rect">
            <a:avLst/>
          </a:prstGeom>
          <a:noFill/>
          <a:ln/>
        </p:spPr>
        <p:txBody>
          <a:bodyPr wrap="square" lIns="0" tIns="0" rIns="0" bIns="0" rtlCol="0" anchor="ctr"/>
          <a:lstStyle/>
          <a:p>
            <a:pPr>
              <a:lnSpc>
                <a:spcPct val="130000"/>
              </a:lnSpc>
            </a:pPr>
            <a:r>
              <a:rPr lang="en-US" sz="1167" dirty="0">
                <a:solidFill>
                  <a:srgbClr val="2D3436"/>
                </a:solidFill>
                <a:latin typeface="MiSans" pitchFamily="34" charset="0"/>
                <a:ea typeface="MiSans" pitchFamily="34" charset="-122"/>
                <a:cs typeface="MiSans" pitchFamily="34" charset="-120"/>
              </a:rPr>
              <a:t>Poor data quality → </a:t>
            </a:r>
            <a:pPr>
              <a:lnSpc>
                <a:spcPct val="130000"/>
              </a:lnSpc>
            </a:pPr>
            <a:r>
              <a:rPr lang="en-US" sz="1167" b="1" dirty="0">
                <a:solidFill>
                  <a:srgbClr val="2D3436"/>
                </a:solidFill>
                <a:latin typeface="MiSans" pitchFamily="34" charset="0"/>
                <a:ea typeface="MiSans" pitchFamily="34" charset="-122"/>
                <a:cs typeface="MiSans" pitchFamily="34" charset="-120"/>
              </a:rPr>
              <a:t>unreliable effect size calculations</a:t>
            </a:r>
            <a:endParaRPr lang="en-US" sz="1600" dirty="0"/>
          </a:p>
        </p:txBody>
      </p:sp>
      <p:sp>
        <p:nvSpPr>
          <p:cNvPr id="39" name="Shape 37"/>
          <p:cNvSpPr/>
          <p:nvPr/>
        </p:nvSpPr>
        <p:spPr>
          <a:xfrm>
            <a:off x="6334868" y="2946091"/>
            <a:ext cx="5336316" cy="444693"/>
          </a:xfrm>
          <a:custGeom>
            <a:avLst/>
            <a:gdLst/>
            <a:ahLst/>
            <a:cxnLst/>
            <a:rect l="l" t="t" r="r" b="b"/>
            <a:pathLst>
              <a:path w="5336316" h="444693">
                <a:moveTo>
                  <a:pt x="0" y="0"/>
                </a:moveTo>
                <a:lnTo>
                  <a:pt x="5336316" y="0"/>
                </a:lnTo>
                <a:lnTo>
                  <a:pt x="5336316" y="444693"/>
                </a:lnTo>
                <a:lnTo>
                  <a:pt x="0" y="444693"/>
                </a:lnTo>
                <a:lnTo>
                  <a:pt x="0" y="0"/>
                </a:lnTo>
                <a:close/>
              </a:path>
            </a:pathLst>
          </a:custGeom>
          <a:solidFill>
            <a:srgbClr val="FEF2F2"/>
          </a:solidFill>
          <a:ln/>
        </p:spPr>
      </p:sp>
      <p:sp>
        <p:nvSpPr>
          <p:cNvPr id="40" name="Shape 38"/>
          <p:cNvSpPr/>
          <p:nvPr/>
        </p:nvSpPr>
        <p:spPr>
          <a:xfrm>
            <a:off x="6334868" y="2946091"/>
            <a:ext cx="37058" cy="444693"/>
          </a:xfrm>
          <a:custGeom>
            <a:avLst/>
            <a:gdLst/>
            <a:ahLst/>
            <a:cxnLst/>
            <a:rect l="l" t="t" r="r" b="b"/>
            <a:pathLst>
              <a:path w="37058" h="444693">
                <a:moveTo>
                  <a:pt x="0" y="0"/>
                </a:moveTo>
                <a:lnTo>
                  <a:pt x="37058" y="0"/>
                </a:lnTo>
                <a:lnTo>
                  <a:pt x="37058" y="444693"/>
                </a:lnTo>
                <a:lnTo>
                  <a:pt x="0" y="444693"/>
                </a:lnTo>
                <a:lnTo>
                  <a:pt x="0" y="0"/>
                </a:lnTo>
                <a:close/>
              </a:path>
            </a:pathLst>
          </a:custGeom>
          <a:solidFill>
            <a:srgbClr val="E7000B"/>
          </a:solidFill>
          <a:ln/>
        </p:spPr>
      </p:sp>
      <p:sp>
        <p:nvSpPr>
          <p:cNvPr id="41" name="Shape 39"/>
          <p:cNvSpPr/>
          <p:nvPr/>
        </p:nvSpPr>
        <p:spPr>
          <a:xfrm>
            <a:off x="6501628" y="3098954"/>
            <a:ext cx="111173" cy="148231"/>
          </a:xfrm>
          <a:custGeom>
            <a:avLst/>
            <a:gdLst/>
            <a:ahLst/>
            <a:cxnLst/>
            <a:rect l="l" t="t" r="r" b="b"/>
            <a:pathLst>
              <a:path w="111173" h="148231">
                <a:moveTo>
                  <a:pt x="15952" y="21250"/>
                </a:moveTo>
                <a:cubicBezTo>
                  <a:pt x="12333" y="17631"/>
                  <a:pt x="6456" y="17631"/>
                  <a:pt x="2837" y="21250"/>
                </a:cubicBezTo>
                <a:cubicBezTo>
                  <a:pt x="-782" y="24869"/>
                  <a:pt x="-782" y="30746"/>
                  <a:pt x="2837" y="34365"/>
                </a:cubicBezTo>
                <a:lnTo>
                  <a:pt x="42616" y="74116"/>
                </a:lnTo>
                <a:lnTo>
                  <a:pt x="2866" y="113895"/>
                </a:lnTo>
                <a:cubicBezTo>
                  <a:pt x="-753" y="117514"/>
                  <a:pt x="-753" y="123391"/>
                  <a:pt x="2866" y="127010"/>
                </a:cubicBezTo>
                <a:cubicBezTo>
                  <a:pt x="6485" y="130629"/>
                  <a:pt x="12362" y="130629"/>
                  <a:pt x="15981" y="127010"/>
                </a:cubicBezTo>
                <a:lnTo>
                  <a:pt x="55731" y="87230"/>
                </a:lnTo>
                <a:lnTo>
                  <a:pt x="95511" y="126981"/>
                </a:lnTo>
                <a:cubicBezTo>
                  <a:pt x="99129" y="130600"/>
                  <a:pt x="105007" y="130600"/>
                  <a:pt x="108626" y="126981"/>
                </a:cubicBezTo>
                <a:cubicBezTo>
                  <a:pt x="112244" y="123362"/>
                  <a:pt x="112244" y="117485"/>
                  <a:pt x="108626" y="113866"/>
                </a:cubicBezTo>
                <a:lnTo>
                  <a:pt x="68846" y="74116"/>
                </a:lnTo>
                <a:lnTo>
                  <a:pt x="108597" y="34336"/>
                </a:lnTo>
                <a:cubicBezTo>
                  <a:pt x="112216" y="30717"/>
                  <a:pt x="112216" y="24840"/>
                  <a:pt x="108597" y="21221"/>
                </a:cubicBezTo>
                <a:cubicBezTo>
                  <a:pt x="104978" y="17602"/>
                  <a:pt x="99101" y="17602"/>
                  <a:pt x="95482" y="21221"/>
                </a:cubicBezTo>
                <a:lnTo>
                  <a:pt x="55731" y="61001"/>
                </a:lnTo>
                <a:lnTo>
                  <a:pt x="15952" y="21250"/>
                </a:lnTo>
                <a:close/>
              </a:path>
            </a:pathLst>
          </a:custGeom>
          <a:solidFill>
            <a:srgbClr val="E7000B"/>
          </a:solidFill>
          <a:ln/>
        </p:spPr>
      </p:sp>
      <p:sp>
        <p:nvSpPr>
          <p:cNvPr id="42" name="Text 40"/>
          <p:cNvSpPr/>
          <p:nvPr/>
        </p:nvSpPr>
        <p:spPr>
          <a:xfrm>
            <a:off x="6703925" y="3057264"/>
            <a:ext cx="4930201" cy="222347"/>
          </a:xfrm>
          <a:prstGeom prst="rect">
            <a:avLst/>
          </a:prstGeom>
          <a:noFill/>
          <a:ln/>
        </p:spPr>
        <p:txBody>
          <a:bodyPr wrap="square" lIns="0" tIns="0" rIns="0" bIns="0" rtlCol="0" anchor="ctr"/>
          <a:lstStyle/>
          <a:p>
            <a:pPr>
              <a:lnSpc>
                <a:spcPct val="130000"/>
              </a:lnSpc>
            </a:pPr>
            <a:r>
              <a:rPr lang="en-US" sz="1167" dirty="0">
                <a:solidFill>
                  <a:srgbClr val="2D3436"/>
                </a:solidFill>
                <a:latin typeface="MiSans" pitchFamily="34" charset="0"/>
                <a:ea typeface="MiSans" pitchFamily="34" charset="-122"/>
                <a:cs typeface="MiSans" pitchFamily="34" charset="-120"/>
              </a:rPr>
              <a:t>Unreliable effect sizes → </a:t>
            </a:r>
            <a:pPr>
              <a:lnSpc>
                <a:spcPct val="130000"/>
              </a:lnSpc>
            </a:pPr>
            <a:r>
              <a:rPr lang="en-US" sz="1167" b="1" dirty="0">
                <a:solidFill>
                  <a:srgbClr val="2D3436"/>
                </a:solidFill>
                <a:latin typeface="MiSans" pitchFamily="34" charset="0"/>
                <a:ea typeface="MiSans" pitchFamily="34" charset="-122"/>
                <a:cs typeface="MiSans" pitchFamily="34" charset="-120"/>
              </a:rPr>
              <a:t>invalid impact claims</a:t>
            </a:r>
            <a:endParaRPr lang="en-US" sz="1600" dirty="0"/>
          </a:p>
        </p:txBody>
      </p:sp>
      <p:sp>
        <p:nvSpPr>
          <p:cNvPr id="43" name="Shape 41"/>
          <p:cNvSpPr/>
          <p:nvPr/>
        </p:nvSpPr>
        <p:spPr>
          <a:xfrm>
            <a:off x="6334868" y="3464900"/>
            <a:ext cx="5336316" cy="444693"/>
          </a:xfrm>
          <a:custGeom>
            <a:avLst/>
            <a:gdLst/>
            <a:ahLst/>
            <a:cxnLst/>
            <a:rect l="l" t="t" r="r" b="b"/>
            <a:pathLst>
              <a:path w="5336316" h="444693">
                <a:moveTo>
                  <a:pt x="0" y="0"/>
                </a:moveTo>
                <a:lnTo>
                  <a:pt x="5336316" y="0"/>
                </a:lnTo>
                <a:lnTo>
                  <a:pt x="5336316" y="444693"/>
                </a:lnTo>
                <a:lnTo>
                  <a:pt x="0" y="444693"/>
                </a:lnTo>
                <a:lnTo>
                  <a:pt x="0" y="0"/>
                </a:lnTo>
                <a:close/>
              </a:path>
            </a:pathLst>
          </a:custGeom>
          <a:solidFill>
            <a:srgbClr val="FEF2F2"/>
          </a:solidFill>
          <a:ln/>
        </p:spPr>
      </p:sp>
      <p:sp>
        <p:nvSpPr>
          <p:cNvPr id="44" name="Shape 42"/>
          <p:cNvSpPr/>
          <p:nvPr/>
        </p:nvSpPr>
        <p:spPr>
          <a:xfrm>
            <a:off x="6334868" y="3464900"/>
            <a:ext cx="37058" cy="444693"/>
          </a:xfrm>
          <a:custGeom>
            <a:avLst/>
            <a:gdLst/>
            <a:ahLst/>
            <a:cxnLst/>
            <a:rect l="l" t="t" r="r" b="b"/>
            <a:pathLst>
              <a:path w="37058" h="444693">
                <a:moveTo>
                  <a:pt x="0" y="0"/>
                </a:moveTo>
                <a:lnTo>
                  <a:pt x="37058" y="0"/>
                </a:lnTo>
                <a:lnTo>
                  <a:pt x="37058" y="444693"/>
                </a:lnTo>
                <a:lnTo>
                  <a:pt x="0" y="444693"/>
                </a:lnTo>
                <a:lnTo>
                  <a:pt x="0" y="0"/>
                </a:lnTo>
                <a:close/>
              </a:path>
            </a:pathLst>
          </a:custGeom>
          <a:solidFill>
            <a:srgbClr val="E7000B"/>
          </a:solidFill>
          <a:ln/>
        </p:spPr>
      </p:sp>
      <p:sp>
        <p:nvSpPr>
          <p:cNvPr id="45" name="Shape 43"/>
          <p:cNvSpPr/>
          <p:nvPr/>
        </p:nvSpPr>
        <p:spPr>
          <a:xfrm>
            <a:off x="6501628" y="3617763"/>
            <a:ext cx="111173" cy="148231"/>
          </a:xfrm>
          <a:custGeom>
            <a:avLst/>
            <a:gdLst/>
            <a:ahLst/>
            <a:cxnLst/>
            <a:rect l="l" t="t" r="r" b="b"/>
            <a:pathLst>
              <a:path w="111173" h="148231">
                <a:moveTo>
                  <a:pt x="15952" y="21250"/>
                </a:moveTo>
                <a:cubicBezTo>
                  <a:pt x="12333" y="17631"/>
                  <a:pt x="6456" y="17631"/>
                  <a:pt x="2837" y="21250"/>
                </a:cubicBezTo>
                <a:cubicBezTo>
                  <a:pt x="-782" y="24869"/>
                  <a:pt x="-782" y="30746"/>
                  <a:pt x="2837" y="34365"/>
                </a:cubicBezTo>
                <a:lnTo>
                  <a:pt x="42616" y="74116"/>
                </a:lnTo>
                <a:lnTo>
                  <a:pt x="2866" y="113895"/>
                </a:lnTo>
                <a:cubicBezTo>
                  <a:pt x="-753" y="117514"/>
                  <a:pt x="-753" y="123391"/>
                  <a:pt x="2866" y="127010"/>
                </a:cubicBezTo>
                <a:cubicBezTo>
                  <a:pt x="6485" y="130629"/>
                  <a:pt x="12362" y="130629"/>
                  <a:pt x="15981" y="127010"/>
                </a:cubicBezTo>
                <a:lnTo>
                  <a:pt x="55731" y="87230"/>
                </a:lnTo>
                <a:lnTo>
                  <a:pt x="95511" y="126981"/>
                </a:lnTo>
                <a:cubicBezTo>
                  <a:pt x="99129" y="130600"/>
                  <a:pt x="105007" y="130600"/>
                  <a:pt x="108626" y="126981"/>
                </a:cubicBezTo>
                <a:cubicBezTo>
                  <a:pt x="112244" y="123362"/>
                  <a:pt x="112244" y="117485"/>
                  <a:pt x="108626" y="113866"/>
                </a:cubicBezTo>
                <a:lnTo>
                  <a:pt x="68846" y="74116"/>
                </a:lnTo>
                <a:lnTo>
                  <a:pt x="108597" y="34336"/>
                </a:lnTo>
                <a:cubicBezTo>
                  <a:pt x="112216" y="30717"/>
                  <a:pt x="112216" y="24840"/>
                  <a:pt x="108597" y="21221"/>
                </a:cubicBezTo>
                <a:cubicBezTo>
                  <a:pt x="104978" y="17602"/>
                  <a:pt x="99101" y="17602"/>
                  <a:pt x="95482" y="21221"/>
                </a:cubicBezTo>
                <a:lnTo>
                  <a:pt x="55731" y="61001"/>
                </a:lnTo>
                <a:lnTo>
                  <a:pt x="15952" y="21250"/>
                </a:lnTo>
                <a:close/>
              </a:path>
            </a:pathLst>
          </a:custGeom>
          <a:solidFill>
            <a:srgbClr val="E7000B"/>
          </a:solidFill>
          <a:ln/>
        </p:spPr>
      </p:sp>
      <p:sp>
        <p:nvSpPr>
          <p:cNvPr id="46" name="Text 44"/>
          <p:cNvSpPr/>
          <p:nvPr/>
        </p:nvSpPr>
        <p:spPr>
          <a:xfrm>
            <a:off x="6703925" y="3576073"/>
            <a:ext cx="4930201" cy="222347"/>
          </a:xfrm>
          <a:prstGeom prst="rect">
            <a:avLst/>
          </a:prstGeom>
          <a:noFill/>
          <a:ln/>
        </p:spPr>
        <p:txBody>
          <a:bodyPr wrap="square" lIns="0" tIns="0" rIns="0" bIns="0" rtlCol="0" anchor="ctr"/>
          <a:lstStyle/>
          <a:p>
            <a:pPr>
              <a:lnSpc>
                <a:spcPct val="130000"/>
              </a:lnSpc>
            </a:pPr>
            <a:r>
              <a:rPr lang="en-US" sz="1167" dirty="0">
                <a:solidFill>
                  <a:srgbClr val="2D3436"/>
                </a:solidFill>
                <a:latin typeface="MiSans" pitchFamily="34" charset="0"/>
                <a:ea typeface="MiSans" pitchFamily="34" charset="-122"/>
                <a:cs typeface="MiSans" pitchFamily="34" charset="-120"/>
              </a:rPr>
              <a:t>Invalid impact claims → </a:t>
            </a:r>
            <a:pPr>
              <a:lnSpc>
                <a:spcPct val="130000"/>
              </a:lnSpc>
            </a:pPr>
            <a:r>
              <a:rPr lang="en-US" sz="1167" b="1" dirty="0">
                <a:solidFill>
                  <a:srgbClr val="2D3436"/>
                </a:solidFill>
                <a:latin typeface="MiSans" pitchFamily="34" charset="0"/>
                <a:ea typeface="MiSans" pitchFamily="34" charset="-122"/>
                <a:cs typeface="MiSans" pitchFamily="34" charset="-120"/>
              </a:rPr>
              <a:t>reputational damage and commercial risk</a:t>
            </a:r>
            <a:endParaRPr lang="en-US" sz="1600" dirty="0"/>
          </a:p>
        </p:txBody>
      </p:sp>
      <p:sp>
        <p:nvSpPr>
          <p:cNvPr id="47" name="Shape 45"/>
          <p:cNvSpPr/>
          <p:nvPr/>
        </p:nvSpPr>
        <p:spPr>
          <a:xfrm>
            <a:off x="6168108" y="4168997"/>
            <a:ext cx="5651307" cy="1630541"/>
          </a:xfrm>
          <a:custGeom>
            <a:avLst/>
            <a:gdLst/>
            <a:ahLst/>
            <a:cxnLst/>
            <a:rect l="l" t="t" r="r" b="b"/>
            <a:pathLst>
              <a:path w="5651307" h="1630541">
                <a:moveTo>
                  <a:pt x="0" y="0"/>
                </a:moveTo>
                <a:lnTo>
                  <a:pt x="5651307" y="0"/>
                </a:lnTo>
                <a:lnTo>
                  <a:pt x="5651307" y="1630541"/>
                </a:lnTo>
                <a:lnTo>
                  <a:pt x="0" y="1630541"/>
                </a:lnTo>
                <a:lnTo>
                  <a:pt x="0" y="0"/>
                </a:lnTo>
                <a:close/>
              </a:path>
            </a:pathLst>
          </a:custGeom>
          <a:solidFill>
            <a:srgbClr val="C49A2C"/>
          </a:solidFill>
          <a:ln/>
        </p:spPr>
      </p:sp>
      <p:sp>
        <p:nvSpPr>
          <p:cNvPr id="48" name="Text 46"/>
          <p:cNvSpPr/>
          <p:nvPr/>
        </p:nvSpPr>
        <p:spPr>
          <a:xfrm>
            <a:off x="6316339" y="4317228"/>
            <a:ext cx="5447489" cy="259404"/>
          </a:xfrm>
          <a:prstGeom prst="rect">
            <a:avLst/>
          </a:prstGeom>
          <a:noFill/>
          <a:ln/>
        </p:spPr>
        <p:txBody>
          <a:bodyPr wrap="square" lIns="0" tIns="0" rIns="0" bIns="0" rtlCol="0" anchor="ctr"/>
          <a:lstStyle/>
          <a:p>
            <a:pPr>
              <a:lnSpc>
                <a:spcPct val="120000"/>
              </a:lnSpc>
            </a:pPr>
            <a:r>
              <a:rPr lang="en-US" sz="1459" b="1" dirty="0">
                <a:solidFill>
                  <a:srgbClr val="F8F9FA"/>
                </a:solidFill>
                <a:latin typeface="MiSans" pitchFamily="34" charset="0"/>
                <a:ea typeface="MiSans" pitchFamily="34" charset="-122"/>
                <a:cs typeface="MiSans" pitchFamily="34" charset="-120"/>
              </a:rPr>
              <a:t>The QA Log</a:t>
            </a:r>
            <a:endParaRPr lang="en-US" sz="1600" dirty="0"/>
          </a:p>
        </p:txBody>
      </p:sp>
      <p:sp>
        <p:nvSpPr>
          <p:cNvPr id="49" name="Text 47"/>
          <p:cNvSpPr/>
          <p:nvPr/>
        </p:nvSpPr>
        <p:spPr>
          <a:xfrm>
            <a:off x="6316339" y="4687805"/>
            <a:ext cx="5428960" cy="963502"/>
          </a:xfrm>
          <a:prstGeom prst="rect">
            <a:avLst/>
          </a:prstGeom>
          <a:noFill/>
          <a:ln/>
        </p:spPr>
        <p:txBody>
          <a:bodyPr wrap="square" lIns="0" tIns="0" rIns="0" bIns="0" rtlCol="0" anchor="ctr"/>
          <a:lstStyle/>
          <a:p>
            <a:pPr>
              <a:lnSpc>
                <a:spcPct val="140000"/>
              </a:lnSpc>
            </a:pPr>
            <a:r>
              <a:rPr lang="en-US" sz="1167" dirty="0">
                <a:solidFill>
                  <a:srgbClr val="F8F9FA"/>
                </a:solidFill>
                <a:latin typeface="MiSans" pitchFamily="34" charset="0"/>
                <a:ea typeface="MiSans" pitchFamily="34" charset="-122"/>
                <a:cs typeface="MiSans" pitchFamily="34" charset="-120"/>
              </a:rPr>
              <a:t>All QA decisions are </a:t>
            </a:r>
            <a:pPr>
              <a:lnSpc>
                <a:spcPct val="140000"/>
              </a:lnSpc>
            </a:pPr>
            <a:r>
              <a:rPr lang="en-US" sz="1167" b="1" dirty="0">
                <a:solidFill>
                  <a:srgbClr val="F8F9FA"/>
                </a:solidFill>
                <a:latin typeface="MiSans" pitchFamily="34" charset="0"/>
                <a:ea typeface="MiSans" pitchFamily="34" charset="-122"/>
                <a:cs typeface="MiSans" pitchFamily="34" charset="-120"/>
              </a:rPr>
              <a:t>logged in the programme management system</a:t>
            </a:r>
            <a:pPr>
              <a:lnSpc>
                <a:spcPct val="140000"/>
              </a:lnSpc>
            </a:pPr>
            <a:r>
              <a:rPr lang="en-US" sz="1167" dirty="0">
                <a:solidFill>
                  <a:srgbClr val="F8F9FA"/>
                </a:solidFill>
                <a:latin typeface="MiSans" pitchFamily="34" charset="0"/>
                <a:ea typeface="MiSans" pitchFamily="34" charset="-122"/>
                <a:cs typeface="MiSans" pitchFamily="34" charset="-120"/>
              </a:rPr>
              <a:t>. The log is maintained by the Outcomes &amp; Impact lead and is available to senior staff on request. This log provides an audit trail for all data inclusion and exclusion decisions.</a:t>
            </a:r>
            <a:endParaRPr lang="en-US" sz="1600" dirty="0"/>
          </a:p>
        </p:txBody>
      </p:sp>
      <p:sp>
        <p:nvSpPr>
          <p:cNvPr id="50" name="Shape 48"/>
          <p:cNvSpPr/>
          <p:nvPr/>
        </p:nvSpPr>
        <p:spPr>
          <a:xfrm>
            <a:off x="6186637" y="5910711"/>
            <a:ext cx="5632778" cy="944973"/>
          </a:xfrm>
          <a:custGeom>
            <a:avLst/>
            <a:gdLst/>
            <a:ahLst/>
            <a:cxnLst/>
            <a:rect l="l" t="t" r="r" b="b"/>
            <a:pathLst>
              <a:path w="5632778" h="944973">
                <a:moveTo>
                  <a:pt x="0" y="0"/>
                </a:moveTo>
                <a:lnTo>
                  <a:pt x="5632778" y="0"/>
                </a:lnTo>
                <a:lnTo>
                  <a:pt x="5632778" y="944973"/>
                </a:lnTo>
                <a:lnTo>
                  <a:pt x="0" y="944973"/>
                </a:lnTo>
                <a:lnTo>
                  <a:pt x="0" y="0"/>
                </a:lnTo>
                <a:close/>
              </a:path>
            </a:pathLst>
          </a:custGeom>
          <a:solidFill>
            <a:srgbClr val="C49A2C">
              <a:alpha val="10196"/>
            </a:srgbClr>
          </a:solidFill>
          <a:ln/>
        </p:spPr>
      </p:sp>
      <p:sp>
        <p:nvSpPr>
          <p:cNvPr id="51" name="Shape 49"/>
          <p:cNvSpPr/>
          <p:nvPr/>
        </p:nvSpPr>
        <p:spPr>
          <a:xfrm>
            <a:off x="6186637" y="5910711"/>
            <a:ext cx="37058" cy="944973"/>
          </a:xfrm>
          <a:custGeom>
            <a:avLst/>
            <a:gdLst/>
            <a:ahLst/>
            <a:cxnLst/>
            <a:rect l="l" t="t" r="r" b="b"/>
            <a:pathLst>
              <a:path w="37058" h="944973">
                <a:moveTo>
                  <a:pt x="0" y="0"/>
                </a:moveTo>
                <a:lnTo>
                  <a:pt x="37058" y="0"/>
                </a:lnTo>
                <a:lnTo>
                  <a:pt x="37058" y="944973"/>
                </a:lnTo>
                <a:lnTo>
                  <a:pt x="0" y="944973"/>
                </a:lnTo>
                <a:lnTo>
                  <a:pt x="0" y="0"/>
                </a:lnTo>
                <a:close/>
              </a:path>
            </a:pathLst>
          </a:custGeom>
          <a:solidFill>
            <a:srgbClr val="C49A2C"/>
          </a:solidFill>
          <a:ln/>
        </p:spPr>
      </p:sp>
      <p:sp>
        <p:nvSpPr>
          <p:cNvPr id="52" name="Shape 50"/>
          <p:cNvSpPr/>
          <p:nvPr/>
        </p:nvSpPr>
        <p:spPr>
          <a:xfrm>
            <a:off x="6334868" y="6072839"/>
            <a:ext cx="148231" cy="148231"/>
          </a:xfrm>
          <a:custGeom>
            <a:avLst/>
            <a:gdLst/>
            <a:ahLst/>
            <a:cxnLst/>
            <a:rect l="l" t="t" r="r" b="b"/>
            <a:pathLst>
              <a:path w="148231" h="148231">
                <a:moveTo>
                  <a:pt x="74116" y="0"/>
                </a:moveTo>
                <a:cubicBezTo>
                  <a:pt x="75447" y="0"/>
                  <a:pt x="76779" y="290"/>
                  <a:pt x="77995" y="840"/>
                </a:cubicBezTo>
                <a:lnTo>
                  <a:pt x="132539" y="23972"/>
                </a:lnTo>
                <a:cubicBezTo>
                  <a:pt x="138909" y="26664"/>
                  <a:pt x="143657" y="32947"/>
                  <a:pt x="143628" y="40532"/>
                </a:cubicBezTo>
                <a:cubicBezTo>
                  <a:pt x="143483" y="69252"/>
                  <a:pt x="131671" y="121798"/>
                  <a:pt x="81788" y="145683"/>
                </a:cubicBezTo>
                <a:cubicBezTo>
                  <a:pt x="76953" y="147999"/>
                  <a:pt x="71336" y="147999"/>
                  <a:pt x="66501" y="145683"/>
                </a:cubicBezTo>
                <a:cubicBezTo>
                  <a:pt x="16589" y="121798"/>
                  <a:pt x="4806" y="69252"/>
                  <a:pt x="4661" y="40532"/>
                </a:cubicBezTo>
                <a:cubicBezTo>
                  <a:pt x="4632" y="32947"/>
                  <a:pt x="9380" y="26664"/>
                  <a:pt x="15750" y="23972"/>
                </a:cubicBezTo>
                <a:lnTo>
                  <a:pt x="70265" y="840"/>
                </a:lnTo>
                <a:cubicBezTo>
                  <a:pt x="71481" y="290"/>
                  <a:pt x="72784" y="0"/>
                  <a:pt x="74116" y="0"/>
                </a:cubicBezTo>
                <a:close/>
                <a:moveTo>
                  <a:pt x="74116" y="19340"/>
                </a:moveTo>
                <a:lnTo>
                  <a:pt x="74116" y="128805"/>
                </a:lnTo>
                <a:cubicBezTo>
                  <a:pt x="114068" y="109465"/>
                  <a:pt x="124809" y="66617"/>
                  <a:pt x="125070" y="40966"/>
                </a:cubicBezTo>
                <a:lnTo>
                  <a:pt x="74116" y="19368"/>
                </a:lnTo>
                <a:lnTo>
                  <a:pt x="74116" y="19368"/>
                </a:lnTo>
                <a:close/>
              </a:path>
            </a:pathLst>
          </a:custGeom>
          <a:solidFill>
            <a:srgbClr val="C49A2C"/>
          </a:solidFill>
          <a:ln/>
        </p:spPr>
      </p:sp>
      <p:sp>
        <p:nvSpPr>
          <p:cNvPr id="53" name="Text 51"/>
          <p:cNvSpPr/>
          <p:nvPr/>
        </p:nvSpPr>
        <p:spPr>
          <a:xfrm>
            <a:off x="6555694" y="6021884"/>
            <a:ext cx="5226663" cy="722626"/>
          </a:xfrm>
          <a:prstGeom prst="rect">
            <a:avLst/>
          </a:prstGeom>
          <a:noFill/>
          <a:ln/>
        </p:spPr>
        <p:txBody>
          <a:bodyPr wrap="square" lIns="0" tIns="0" rIns="0" bIns="0" rtlCol="0" anchor="ctr"/>
          <a:lstStyle/>
          <a:p>
            <a:pPr>
              <a:lnSpc>
                <a:spcPct val="140000"/>
              </a:lnSpc>
            </a:pPr>
            <a:r>
              <a:rPr lang="en-US" sz="1167" b="1" dirty="0">
                <a:solidFill>
                  <a:srgbClr val="1E3A5F"/>
                </a:solidFill>
                <a:latin typeface="MiSans" pitchFamily="34" charset="0"/>
                <a:ea typeface="MiSans" pitchFamily="34" charset="-122"/>
                <a:cs typeface="MiSans" pitchFamily="34" charset="-120"/>
              </a:rPr>
              <a:t>Professional Obligation:</a:t>
            </a:r>
            <a:pPr>
              <a:lnSpc>
                <a:spcPct val="140000"/>
              </a:lnSpc>
            </a:pPr>
            <a:r>
              <a:rPr lang="en-US" sz="1167" dirty="0">
                <a:solidFill>
                  <a:srgbClr val="1E3A5F"/>
                </a:solidFill>
                <a:latin typeface="MiSans" pitchFamily="34" charset="0"/>
                <a:ea typeface="MiSans" pitchFamily="34" charset="-122"/>
                <a:cs typeface="MiSans" pitchFamily="34" charset="-120"/>
              </a:rPr>
              <a:t> Staff should understand that data quality assurance is central to the credibility of the MPI's evidence base. </a:t>
            </a:r>
            <a:pPr>
              <a:lnSpc>
                <a:spcPct val="140000"/>
              </a:lnSpc>
            </a:pPr>
            <a:r>
              <a:rPr lang="en-US" sz="1167" b="1" dirty="0">
                <a:solidFill>
                  <a:srgbClr val="1E3A5F"/>
                </a:solidFill>
                <a:latin typeface="MiSans" pitchFamily="34" charset="0"/>
                <a:ea typeface="MiSans" pitchFamily="34" charset="-122"/>
                <a:cs typeface="MiSans" pitchFamily="34" charset="-120"/>
              </a:rPr>
              <a:t>Shortcuts in this area have consequences that extend beyond the immediate task.</a:t>
            </a:r>
            <a:endParaRPr lang="en-US" sz="16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5667375"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The MPI_Current Dataset: Structure and Content</a:t>
            </a:r>
            <a:endParaRPr lang="en-US" sz="1600" dirty="0"/>
          </a:p>
        </p:txBody>
      </p:sp>
      <p:sp>
        <p:nvSpPr>
          <p:cNvPr id="4" name="Shape 2"/>
          <p:cNvSpPr/>
          <p:nvPr/>
        </p:nvSpPr>
        <p:spPr>
          <a:xfrm>
            <a:off x="317500" y="904875"/>
            <a:ext cx="5715000" cy="3508375"/>
          </a:xfrm>
          <a:custGeom>
            <a:avLst/>
            <a:gdLst/>
            <a:ahLst/>
            <a:cxnLst/>
            <a:rect l="l" t="t" r="r" b="b"/>
            <a:pathLst>
              <a:path w="5715000" h="3508375">
                <a:moveTo>
                  <a:pt x="0" y="0"/>
                </a:moveTo>
                <a:lnTo>
                  <a:pt x="5715000" y="0"/>
                </a:lnTo>
                <a:lnTo>
                  <a:pt x="5715000" y="3508375"/>
                </a:lnTo>
                <a:lnTo>
                  <a:pt x="0" y="3508375"/>
                </a:lnTo>
                <a:lnTo>
                  <a:pt x="0" y="0"/>
                </a:lnTo>
                <a:close/>
              </a:path>
            </a:pathLst>
          </a:custGeom>
          <a:solidFill>
            <a:srgbClr val="FFFFFF"/>
          </a:solidFill>
          <a:ln/>
        </p:spPr>
      </p:sp>
      <p:sp>
        <p:nvSpPr>
          <p:cNvPr id="5" name="Shape 3"/>
          <p:cNvSpPr/>
          <p:nvPr/>
        </p:nvSpPr>
        <p:spPr>
          <a:xfrm>
            <a:off x="317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6" name="Text 4"/>
          <p:cNvSpPr/>
          <p:nvPr/>
        </p:nvSpPr>
        <p:spPr>
          <a:xfrm>
            <a:off x="444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Dataset Location and Structure</a:t>
            </a:r>
            <a:endParaRPr lang="en-US" sz="1600" dirty="0"/>
          </a:p>
        </p:txBody>
      </p:sp>
      <p:sp>
        <p:nvSpPr>
          <p:cNvPr id="7" name="Text 5"/>
          <p:cNvSpPr/>
          <p:nvPr/>
        </p:nvSpPr>
        <p:spPr>
          <a:xfrm>
            <a:off x="444500" y="136525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MPI_Current dataset is the </a:t>
            </a:r>
            <a:pPr>
              <a:lnSpc>
                <a:spcPct val="140000"/>
              </a:lnSpc>
            </a:pPr>
            <a:r>
              <a:rPr lang="en-US" sz="1000" b="1" dirty="0">
                <a:solidFill>
                  <a:srgbClr val="2D3436"/>
                </a:solidFill>
                <a:latin typeface="MiSans" pitchFamily="34" charset="0"/>
                <a:ea typeface="MiSans" pitchFamily="34" charset="-122"/>
                <a:cs typeface="MiSans" pitchFamily="34" charset="-120"/>
              </a:rPr>
              <a:t>active programme dataset</a:t>
            </a:r>
            <a:pPr>
              <a:lnSpc>
                <a:spcPct val="140000"/>
              </a:lnSpc>
            </a:pPr>
            <a:r>
              <a:rPr lang="en-US" sz="1000" dirty="0">
                <a:solidFill>
                  <a:srgbClr val="2D3436"/>
                </a:solidFill>
                <a:latin typeface="MiSans" pitchFamily="34" charset="0"/>
                <a:ea typeface="MiSans" pitchFamily="34" charset="-122"/>
                <a:cs typeface="MiSans" pitchFamily="34" charset="-120"/>
              </a:rPr>
              <a:t>, containing school-level outcome summaries for all schools currently included in programme analysis.</a:t>
            </a:r>
            <a:endParaRPr lang="en-US" sz="1600" dirty="0"/>
          </a:p>
        </p:txBody>
      </p:sp>
      <p:sp>
        <p:nvSpPr>
          <p:cNvPr id="8" name="Shape 6"/>
          <p:cNvSpPr/>
          <p:nvPr/>
        </p:nvSpPr>
        <p:spPr>
          <a:xfrm>
            <a:off x="444500" y="1873250"/>
            <a:ext cx="5461000" cy="635000"/>
          </a:xfrm>
          <a:custGeom>
            <a:avLst/>
            <a:gdLst/>
            <a:ahLst/>
            <a:cxnLst/>
            <a:rect l="l" t="t" r="r" b="b"/>
            <a:pathLst>
              <a:path w="5461000" h="635000">
                <a:moveTo>
                  <a:pt x="0" y="0"/>
                </a:moveTo>
                <a:lnTo>
                  <a:pt x="5461000" y="0"/>
                </a:lnTo>
                <a:lnTo>
                  <a:pt x="5461000" y="635000"/>
                </a:lnTo>
                <a:lnTo>
                  <a:pt x="0" y="635000"/>
                </a:lnTo>
                <a:lnTo>
                  <a:pt x="0" y="0"/>
                </a:lnTo>
                <a:close/>
              </a:path>
            </a:pathLst>
          </a:custGeom>
          <a:solidFill>
            <a:srgbClr val="F8F9FA"/>
          </a:solidFill>
          <a:ln/>
        </p:spPr>
      </p:sp>
      <p:sp>
        <p:nvSpPr>
          <p:cNvPr id="9" name="Text 7"/>
          <p:cNvSpPr/>
          <p:nvPr/>
        </p:nvSpPr>
        <p:spPr>
          <a:xfrm>
            <a:off x="539750" y="1968500"/>
            <a:ext cx="533400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Storage Location:</a:t>
            </a:r>
            <a:endParaRPr lang="en-US" sz="1600" dirty="0"/>
          </a:p>
        </p:txBody>
      </p:sp>
      <p:sp>
        <p:nvSpPr>
          <p:cNvPr id="10" name="Text 8"/>
          <p:cNvSpPr/>
          <p:nvPr/>
        </p:nvSpPr>
        <p:spPr>
          <a:xfrm>
            <a:off x="539750" y="2222500"/>
            <a:ext cx="5334000" cy="190500"/>
          </a:xfrm>
          <a:prstGeom prst="rect">
            <a:avLst/>
          </a:prstGeom>
          <a:noFill/>
          <a:ln/>
        </p:spPr>
        <p:txBody>
          <a:bodyPr wrap="square" lIns="0" tIns="0" rIns="0" bIns="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SynergyDrive: </a:t>
            </a:r>
            <a:pPr>
              <a:lnSpc>
                <a:spcPct val="130000"/>
              </a:lnSpc>
            </a:pPr>
            <a:r>
              <a:rPr lang="en-US" sz="1000" b="1" dirty="0">
                <a:solidFill>
                  <a:srgbClr val="2D3436"/>
                </a:solidFill>
                <a:latin typeface="MiSans" pitchFamily="34" charset="0"/>
                <a:ea typeface="MiSans" pitchFamily="34" charset="-122"/>
                <a:cs typeface="MiSans" pitchFamily="34" charset="-120"/>
              </a:rPr>
              <a:t>/Shared/Impact_Data/MPI_Current/</a:t>
            </a:r>
            <a:endParaRPr lang="en-US" sz="1600" dirty="0"/>
          </a:p>
        </p:txBody>
      </p:sp>
      <p:sp>
        <p:nvSpPr>
          <p:cNvPr id="11" name="Text 9"/>
          <p:cNvSpPr/>
          <p:nvPr/>
        </p:nvSpPr>
        <p:spPr>
          <a:xfrm>
            <a:off x="444500" y="260350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dataset contains </a:t>
            </a:r>
            <a:pPr>
              <a:lnSpc>
                <a:spcPct val="140000"/>
              </a:lnSpc>
            </a:pPr>
            <a:r>
              <a:rPr lang="en-US" sz="1000" b="1" dirty="0">
                <a:solidFill>
                  <a:srgbClr val="2D3436"/>
                </a:solidFill>
                <a:latin typeface="MiSans" pitchFamily="34" charset="0"/>
                <a:ea typeface="MiSans" pitchFamily="34" charset="-122"/>
                <a:cs typeface="MiSans" pitchFamily="34" charset="-120"/>
              </a:rPr>
              <a:t>three Excel files</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12" name="Shape 10"/>
          <p:cNvSpPr/>
          <p:nvPr/>
        </p:nvSpPr>
        <p:spPr>
          <a:xfrm>
            <a:off x="444500" y="2905125"/>
            <a:ext cx="5461000" cy="317500"/>
          </a:xfrm>
          <a:custGeom>
            <a:avLst/>
            <a:gdLst/>
            <a:ahLst/>
            <a:cxnLst/>
            <a:rect l="l" t="t" r="r" b="b"/>
            <a:pathLst>
              <a:path w="5461000" h="317500">
                <a:moveTo>
                  <a:pt x="0" y="0"/>
                </a:moveTo>
                <a:lnTo>
                  <a:pt x="5461000" y="0"/>
                </a:lnTo>
                <a:lnTo>
                  <a:pt x="5461000" y="317500"/>
                </a:lnTo>
                <a:lnTo>
                  <a:pt x="0" y="317500"/>
                </a:lnTo>
                <a:lnTo>
                  <a:pt x="0" y="0"/>
                </a:lnTo>
                <a:close/>
              </a:path>
            </a:pathLst>
          </a:custGeom>
          <a:solidFill>
            <a:srgbClr val="F8F9FA"/>
          </a:solidFill>
          <a:ln/>
        </p:spPr>
      </p:sp>
      <p:sp>
        <p:nvSpPr>
          <p:cNvPr id="13" name="Text 11"/>
          <p:cNvSpPr/>
          <p:nvPr/>
        </p:nvSpPr>
        <p:spPr>
          <a:xfrm>
            <a:off x="508000" y="2980531"/>
            <a:ext cx="1689629" cy="166688"/>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MPI_Harrowfield_2022.xlsx</a:t>
            </a:r>
            <a:endParaRPr lang="en-US" sz="1600" dirty="0"/>
          </a:p>
        </p:txBody>
      </p:sp>
      <p:sp>
        <p:nvSpPr>
          <p:cNvPr id="14" name="Shape 12"/>
          <p:cNvSpPr/>
          <p:nvPr/>
        </p:nvSpPr>
        <p:spPr>
          <a:xfrm>
            <a:off x="444500" y="3286125"/>
            <a:ext cx="5461000" cy="317500"/>
          </a:xfrm>
          <a:custGeom>
            <a:avLst/>
            <a:gdLst/>
            <a:ahLst/>
            <a:cxnLst/>
            <a:rect l="l" t="t" r="r" b="b"/>
            <a:pathLst>
              <a:path w="5461000" h="317500">
                <a:moveTo>
                  <a:pt x="0" y="0"/>
                </a:moveTo>
                <a:lnTo>
                  <a:pt x="5461000" y="0"/>
                </a:lnTo>
                <a:lnTo>
                  <a:pt x="5461000" y="317500"/>
                </a:lnTo>
                <a:lnTo>
                  <a:pt x="0" y="317500"/>
                </a:lnTo>
                <a:lnTo>
                  <a:pt x="0" y="0"/>
                </a:lnTo>
                <a:close/>
              </a:path>
            </a:pathLst>
          </a:custGeom>
          <a:solidFill>
            <a:srgbClr val="F8F9FA"/>
          </a:solidFill>
          <a:ln/>
        </p:spPr>
      </p:sp>
      <p:sp>
        <p:nvSpPr>
          <p:cNvPr id="15" name="Text 13"/>
          <p:cNvSpPr/>
          <p:nvPr/>
        </p:nvSpPr>
        <p:spPr>
          <a:xfrm>
            <a:off x="508000" y="3361531"/>
            <a:ext cx="1692804" cy="166688"/>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MPI_Harrowfield_2023.xlsx</a:t>
            </a:r>
            <a:endParaRPr lang="en-US" sz="1600" dirty="0"/>
          </a:p>
        </p:txBody>
      </p:sp>
      <p:sp>
        <p:nvSpPr>
          <p:cNvPr id="16" name="Shape 14"/>
          <p:cNvSpPr/>
          <p:nvPr/>
        </p:nvSpPr>
        <p:spPr>
          <a:xfrm>
            <a:off x="444500" y="3667125"/>
            <a:ext cx="5461000" cy="317500"/>
          </a:xfrm>
          <a:custGeom>
            <a:avLst/>
            <a:gdLst/>
            <a:ahLst/>
            <a:cxnLst/>
            <a:rect l="l" t="t" r="r" b="b"/>
            <a:pathLst>
              <a:path w="5461000" h="317500">
                <a:moveTo>
                  <a:pt x="0" y="0"/>
                </a:moveTo>
                <a:lnTo>
                  <a:pt x="5461000" y="0"/>
                </a:lnTo>
                <a:lnTo>
                  <a:pt x="5461000" y="317500"/>
                </a:lnTo>
                <a:lnTo>
                  <a:pt x="0" y="317500"/>
                </a:lnTo>
                <a:lnTo>
                  <a:pt x="0" y="0"/>
                </a:lnTo>
                <a:close/>
              </a:path>
            </a:pathLst>
          </a:custGeom>
          <a:solidFill>
            <a:srgbClr val="F8F9FA"/>
          </a:solidFill>
          <a:ln/>
        </p:spPr>
      </p:sp>
      <p:sp>
        <p:nvSpPr>
          <p:cNvPr id="17" name="Text 15"/>
          <p:cNvSpPr/>
          <p:nvPr/>
        </p:nvSpPr>
        <p:spPr>
          <a:xfrm>
            <a:off x="508000" y="3742531"/>
            <a:ext cx="1692672" cy="166688"/>
          </a:xfrm>
          <a:prstGeom prst="rect">
            <a:avLst/>
          </a:prstGeom>
          <a:noFill/>
          <a:ln/>
        </p:spPr>
        <p:txBody>
          <a:bodyPr wrap="square" lIns="0" tIns="0" rIns="0" bIns="0" rtlCol="0" anchor="ctr"/>
          <a:lstStyle/>
          <a:p>
            <a:pPr>
              <a:lnSpc>
                <a:spcPct val="130000"/>
              </a:lnSpc>
            </a:pPr>
            <a:r>
              <a:rPr lang="en-US" sz="1000" b="1" dirty="0">
                <a:solidFill>
                  <a:srgbClr val="2D3436"/>
                </a:solidFill>
                <a:latin typeface="MiSans" pitchFamily="34" charset="0"/>
                <a:ea typeface="MiSans" pitchFamily="34" charset="-122"/>
                <a:cs typeface="MiSans" pitchFamily="34" charset="-120"/>
              </a:rPr>
              <a:t>MPI_Harrowfield_2024.xlsx</a:t>
            </a:r>
            <a:endParaRPr lang="en-US" sz="1600" dirty="0"/>
          </a:p>
        </p:txBody>
      </p:sp>
      <p:sp>
        <p:nvSpPr>
          <p:cNvPr id="18" name="Text 16"/>
          <p:cNvSpPr/>
          <p:nvPr/>
        </p:nvSpPr>
        <p:spPr>
          <a:xfrm>
            <a:off x="444500" y="4079875"/>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Each file contains data for </a:t>
            </a:r>
            <a:pPr>
              <a:lnSpc>
                <a:spcPct val="140000"/>
              </a:lnSpc>
            </a:pPr>
            <a:r>
              <a:rPr lang="en-US" sz="1000" b="1" dirty="0">
                <a:solidFill>
                  <a:srgbClr val="2D3436"/>
                </a:solidFill>
                <a:latin typeface="MiSans" pitchFamily="34" charset="0"/>
                <a:ea typeface="MiSans" pitchFamily="34" charset="-122"/>
                <a:cs typeface="MiSans" pitchFamily="34" charset="-120"/>
              </a:rPr>
              <a:t>31 schools</a:t>
            </a:r>
            <a:pPr>
              <a:lnSpc>
                <a:spcPct val="140000"/>
              </a:lnSpc>
            </a:pPr>
            <a:r>
              <a:rPr lang="en-US" sz="1000" dirty="0">
                <a:solidFill>
                  <a:srgbClr val="2D3436"/>
                </a:solidFill>
                <a:latin typeface="MiSans" pitchFamily="34" charset="0"/>
                <a:ea typeface="MiSans" pitchFamily="34" charset="-122"/>
                <a:cs typeface="MiSans" pitchFamily="34" charset="-120"/>
              </a:rPr>
              <a:t>.</a:t>
            </a:r>
            <a:endParaRPr lang="en-US" sz="1600" dirty="0"/>
          </a:p>
        </p:txBody>
      </p:sp>
      <p:sp>
        <p:nvSpPr>
          <p:cNvPr id="19" name="Shape 17"/>
          <p:cNvSpPr/>
          <p:nvPr/>
        </p:nvSpPr>
        <p:spPr>
          <a:xfrm>
            <a:off x="317500" y="4508500"/>
            <a:ext cx="5715000" cy="2460625"/>
          </a:xfrm>
          <a:custGeom>
            <a:avLst/>
            <a:gdLst/>
            <a:ahLst/>
            <a:cxnLst/>
            <a:rect l="l" t="t" r="r" b="b"/>
            <a:pathLst>
              <a:path w="5715000" h="2460625">
                <a:moveTo>
                  <a:pt x="0" y="0"/>
                </a:moveTo>
                <a:lnTo>
                  <a:pt x="5715000" y="0"/>
                </a:lnTo>
                <a:lnTo>
                  <a:pt x="5715000" y="2460625"/>
                </a:lnTo>
                <a:lnTo>
                  <a:pt x="0" y="2460625"/>
                </a:lnTo>
                <a:lnTo>
                  <a:pt x="0" y="0"/>
                </a:lnTo>
                <a:close/>
              </a:path>
            </a:pathLst>
          </a:custGeom>
          <a:solidFill>
            <a:srgbClr val="C49A2C"/>
          </a:solidFill>
          <a:ln/>
        </p:spPr>
      </p:sp>
      <p:sp>
        <p:nvSpPr>
          <p:cNvPr id="20" name="Text 18"/>
          <p:cNvSpPr/>
          <p:nvPr/>
        </p:nvSpPr>
        <p:spPr>
          <a:xfrm>
            <a:off x="444500" y="4635500"/>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Important Note on Column Headers</a:t>
            </a:r>
            <a:endParaRPr lang="en-US" sz="1600" dirty="0"/>
          </a:p>
        </p:txBody>
      </p:sp>
      <p:sp>
        <p:nvSpPr>
          <p:cNvPr id="21" name="Text 19"/>
          <p:cNvSpPr/>
          <p:nvPr/>
        </p:nvSpPr>
        <p:spPr>
          <a:xfrm>
            <a:off x="444500" y="4953000"/>
            <a:ext cx="5524500" cy="20637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Column headers are </a:t>
            </a:r>
            <a:pPr>
              <a:lnSpc>
                <a:spcPct val="140000"/>
              </a:lnSpc>
            </a:pPr>
            <a:r>
              <a:rPr lang="en-US" sz="1000" b="1" dirty="0">
                <a:solidFill>
                  <a:srgbClr val="F8F9FA"/>
                </a:solidFill>
                <a:latin typeface="MiSans" pitchFamily="34" charset="0"/>
                <a:ea typeface="MiSans" pitchFamily="34" charset="-122"/>
                <a:cs typeface="MiSans" pitchFamily="34" charset="-120"/>
              </a:rPr>
              <a:t>not fully consistent</a:t>
            </a:r>
            <a:pPr>
              <a:lnSpc>
                <a:spcPct val="140000"/>
              </a:lnSpc>
            </a:pPr>
            <a:r>
              <a:rPr lang="en-US" sz="1000" dirty="0">
                <a:solidFill>
                  <a:srgbClr val="F8F9FA"/>
                </a:solidFill>
                <a:latin typeface="MiSans" pitchFamily="34" charset="0"/>
                <a:ea typeface="MiSans" pitchFamily="34" charset="-122"/>
                <a:cs typeface="MiSans" pitchFamily="34" charset="-120"/>
              </a:rPr>
              <a:t> across the three files:</a:t>
            </a:r>
            <a:endParaRPr lang="en-US" sz="1600" dirty="0"/>
          </a:p>
        </p:txBody>
      </p:sp>
      <p:sp>
        <p:nvSpPr>
          <p:cNvPr id="22" name="Shape 20"/>
          <p:cNvSpPr/>
          <p:nvPr/>
        </p:nvSpPr>
        <p:spPr>
          <a:xfrm>
            <a:off x="444500" y="5254625"/>
            <a:ext cx="5461000" cy="317500"/>
          </a:xfrm>
          <a:custGeom>
            <a:avLst/>
            <a:gdLst/>
            <a:ahLst/>
            <a:cxnLst/>
            <a:rect l="l" t="t" r="r" b="b"/>
            <a:pathLst>
              <a:path w="5461000" h="317500">
                <a:moveTo>
                  <a:pt x="0" y="0"/>
                </a:moveTo>
                <a:lnTo>
                  <a:pt x="5461000" y="0"/>
                </a:lnTo>
                <a:lnTo>
                  <a:pt x="5461000" y="317500"/>
                </a:lnTo>
                <a:lnTo>
                  <a:pt x="0" y="317500"/>
                </a:lnTo>
                <a:lnTo>
                  <a:pt x="0" y="0"/>
                </a:lnTo>
                <a:close/>
              </a:path>
            </a:pathLst>
          </a:custGeom>
          <a:solidFill>
            <a:srgbClr val="F8F9FA">
              <a:alpha val="20000"/>
            </a:srgbClr>
          </a:solidFill>
          <a:ln/>
        </p:spPr>
      </p:sp>
      <p:sp>
        <p:nvSpPr>
          <p:cNvPr id="23" name="Text 21"/>
          <p:cNvSpPr/>
          <p:nvPr/>
        </p:nvSpPr>
        <p:spPr>
          <a:xfrm>
            <a:off x="508000" y="5318125"/>
            <a:ext cx="5397500"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2022:</a:t>
            </a:r>
            <a:pPr>
              <a:lnSpc>
                <a:spcPct val="130000"/>
              </a:lnSpc>
            </a:pPr>
            <a:r>
              <a:rPr lang="en-US" sz="1000" dirty="0">
                <a:solidFill>
                  <a:srgbClr val="F8F9FA"/>
                </a:solidFill>
                <a:latin typeface="MiSans" pitchFamily="34" charset="0"/>
                <a:ea typeface="MiSans" pitchFamily="34" charset="-122"/>
                <a:cs typeface="MiSans" pitchFamily="34" charset="-120"/>
              </a:rPr>
              <a:t> "Avg_Progress_Score"</a:t>
            </a:r>
            <a:endParaRPr lang="en-US" sz="1600" dirty="0"/>
          </a:p>
        </p:txBody>
      </p:sp>
      <p:sp>
        <p:nvSpPr>
          <p:cNvPr id="24" name="Shape 22"/>
          <p:cNvSpPr/>
          <p:nvPr/>
        </p:nvSpPr>
        <p:spPr>
          <a:xfrm>
            <a:off x="444500" y="5635625"/>
            <a:ext cx="5461000" cy="317500"/>
          </a:xfrm>
          <a:custGeom>
            <a:avLst/>
            <a:gdLst/>
            <a:ahLst/>
            <a:cxnLst/>
            <a:rect l="l" t="t" r="r" b="b"/>
            <a:pathLst>
              <a:path w="5461000" h="317500">
                <a:moveTo>
                  <a:pt x="0" y="0"/>
                </a:moveTo>
                <a:lnTo>
                  <a:pt x="5461000" y="0"/>
                </a:lnTo>
                <a:lnTo>
                  <a:pt x="5461000" y="317500"/>
                </a:lnTo>
                <a:lnTo>
                  <a:pt x="0" y="317500"/>
                </a:lnTo>
                <a:lnTo>
                  <a:pt x="0" y="0"/>
                </a:lnTo>
                <a:close/>
              </a:path>
            </a:pathLst>
          </a:custGeom>
          <a:solidFill>
            <a:srgbClr val="F8F9FA">
              <a:alpha val="20000"/>
            </a:srgbClr>
          </a:solidFill>
          <a:ln/>
        </p:spPr>
      </p:sp>
      <p:sp>
        <p:nvSpPr>
          <p:cNvPr id="25" name="Text 23"/>
          <p:cNvSpPr/>
          <p:nvPr/>
        </p:nvSpPr>
        <p:spPr>
          <a:xfrm>
            <a:off x="508000" y="5699125"/>
            <a:ext cx="5397500"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2023:</a:t>
            </a:r>
            <a:pPr>
              <a:lnSpc>
                <a:spcPct val="130000"/>
              </a:lnSpc>
            </a:pPr>
            <a:r>
              <a:rPr lang="en-US" sz="1000" dirty="0">
                <a:solidFill>
                  <a:srgbClr val="F8F9FA"/>
                </a:solidFill>
                <a:latin typeface="MiSans" pitchFamily="34" charset="0"/>
                <a:ea typeface="MiSans" pitchFamily="34" charset="-122"/>
                <a:cs typeface="MiSans" pitchFamily="34" charset="-120"/>
              </a:rPr>
              <a:t> "Avg Progress Score"</a:t>
            </a:r>
            <a:endParaRPr lang="en-US" sz="1600" dirty="0"/>
          </a:p>
        </p:txBody>
      </p:sp>
      <p:sp>
        <p:nvSpPr>
          <p:cNvPr id="26" name="Shape 24"/>
          <p:cNvSpPr/>
          <p:nvPr/>
        </p:nvSpPr>
        <p:spPr>
          <a:xfrm>
            <a:off x="444500" y="6016625"/>
            <a:ext cx="5461000" cy="317500"/>
          </a:xfrm>
          <a:custGeom>
            <a:avLst/>
            <a:gdLst/>
            <a:ahLst/>
            <a:cxnLst/>
            <a:rect l="l" t="t" r="r" b="b"/>
            <a:pathLst>
              <a:path w="5461000" h="317500">
                <a:moveTo>
                  <a:pt x="0" y="0"/>
                </a:moveTo>
                <a:lnTo>
                  <a:pt x="5461000" y="0"/>
                </a:lnTo>
                <a:lnTo>
                  <a:pt x="5461000" y="317500"/>
                </a:lnTo>
                <a:lnTo>
                  <a:pt x="0" y="317500"/>
                </a:lnTo>
                <a:lnTo>
                  <a:pt x="0" y="0"/>
                </a:lnTo>
                <a:close/>
              </a:path>
            </a:pathLst>
          </a:custGeom>
          <a:solidFill>
            <a:srgbClr val="F8F9FA">
              <a:alpha val="20000"/>
            </a:srgbClr>
          </a:solidFill>
          <a:ln/>
        </p:spPr>
      </p:sp>
      <p:sp>
        <p:nvSpPr>
          <p:cNvPr id="27" name="Text 25"/>
          <p:cNvSpPr/>
          <p:nvPr/>
        </p:nvSpPr>
        <p:spPr>
          <a:xfrm>
            <a:off x="508000" y="6080125"/>
            <a:ext cx="5397500" cy="190500"/>
          </a:xfrm>
          <a:prstGeom prst="rect">
            <a:avLst/>
          </a:prstGeom>
          <a:noFill/>
          <a:ln/>
        </p:spPr>
        <p:txBody>
          <a:bodyPr wrap="square" lIns="0" tIns="0" rIns="0" bIns="0" rtlCol="0" anchor="ctr"/>
          <a:lstStyle/>
          <a:p>
            <a:pPr>
              <a:lnSpc>
                <a:spcPct val="130000"/>
              </a:lnSpc>
            </a:pPr>
            <a:r>
              <a:rPr lang="en-US" sz="1000" b="1" dirty="0">
                <a:solidFill>
                  <a:srgbClr val="F8F9FA"/>
                </a:solidFill>
                <a:latin typeface="MiSans" pitchFamily="34" charset="0"/>
                <a:ea typeface="MiSans" pitchFamily="34" charset="-122"/>
                <a:cs typeface="MiSans" pitchFamily="34" charset="-120"/>
              </a:rPr>
              <a:t>2024:</a:t>
            </a:r>
            <a:pPr>
              <a:lnSpc>
                <a:spcPct val="130000"/>
              </a:lnSpc>
            </a:pPr>
            <a:r>
              <a:rPr lang="en-US" sz="1000" dirty="0">
                <a:solidFill>
                  <a:srgbClr val="F8F9FA"/>
                </a:solidFill>
                <a:latin typeface="MiSans" pitchFamily="34" charset="0"/>
                <a:ea typeface="MiSans" pitchFamily="34" charset="-122"/>
                <a:cs typeface="MiSans" pitchFamily="34" charset="-120"/>
              </a:rPr>
              <a:t> "AvgProgScore"</a:t>
            </a:r>
            <a:endParaRPr lang="en-US" sz="1600" dirty="0"/>
          </a:p>
        </p:txBody>
      </p:sp>
      <p:sp>
        <p:nvSpPr>
          <p:cNvPr id="28" name="Text 26"/>
          <p:cNvSpPr/>
          <p:nvPr/>
        </p:nvSpPr>
        <p:spPr>
          <a:xfrm>
            <a:off x="444500" y="6429375"/>
            <a:ext cx="5524500" cy="412750"/>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These refer to the </a:t>
            </a:r>
            <a:pPr>
              <a:lnSpc>
                <a:spcPct val="140000"/>
              </a:lnSpc>
            </a:pPr>
            <a:r>
              <a:rPr lang="en-US" sz="1000" b="1" dirty="0">
                <a:solidFill>
                  <a:srgbClr val="F8F9FA"/>
                </a:solidFill>
                <a:latin typeface="MiSans" pitchFamily="34" charset="0"/>
                <a:ea typeface="MiSans" pitchFamily="34" charset="-122"/>
                <a:cs typeface="MiSans" pitchFamily="34" charset="-120"/>
              </a:rPr>
              <a:t>same metric</a:t>
            </a:r>
            <a:pPr>
              <a:lnSpc>
                <a:spcPct val="140000"/>
              </a:lnSpc>
            </a:pPr>
            <a:r>
              <a:rPr lang="en-US" sz="1000" dirty="0">
                <a:solidFill>
                  <a:srgbClr val="F8F9FA"/>
                </a:solidFill>
                <a:latin typeface="MiSans" pitchFamily="34" charset="0"/>
                <a:ea typeface="MiSans" pitchFamily="34" charset="-122"/>
                <a:cs typeface="MiSans" pitchFamily="34" charset="-120"/>
              </a:rPr>
              <a:t>. This inconsistency is a legacy of system updates and does not affect data validity, but staff should be aware of it when compiling cross-year analyses.</a:t>
            </a:r>
            <a:endParaRPr lang="en-US" sz="1600" dirty="0"/>
          </a:p>
        </p:txBody>
      </p:sp>
      <p:sp>
        <p:nvSpPr>
          <p:cNvPr id="29" name="Shape 27"/>
          <p:cNvSpPr/>
          <p:nvPr/>
        </p:nvSpPr>
        <p:spPr>
          <a:xfrm>
            <a:off x="6159500" y="904875"/>
            <a:ext cx="5715000" cy="2730500"/>
          </a:xfrm>
          <a:custGeom>
            <a:avLst/>
            <a:gdLst/>
            <a:ahLst/>
            <a:cxnLst/>
            <a:rect l="l" t="t" r="r" b="b"/>
            <a:pathLst>
              <a:path w="5715000" h="2730500">
                <a:moveTo>
                  <a:pt x="0" y="0"/>
                </a:moveTo>
                <a:lnTo>
                  <a:pt x="5715000" y="0"/>
                </a:lnTo>
                <a:lnTo>
                  <a:pt x="5715000" y="2730500"/>
                </a:lnTo>
                <a:lnTo>
                  <a:pt x="0" y="2730500"/>
                </a:lnTo>
                <a:lnTo>
                  <a:pt x="0" y="0"/>
                </a:lnTo>
                <a:close/>
              </a:path>
            </a:pathLst>
          </a:custGeom>
          <a:solidFill>
            <a:srgbClr val="FFFFFF"/>
          </a:solidFill>
          <a:ln/>
        </p:spPr>
      </p:sp>
      <p:sp>
        <p:nvSpPr>
          <p:cNvPr id="30" name="Shape 28"/>
          <p:cNvSpPr/>
          <p:nvPr/>
        </p:nvSpPr>
        <p:spPr>
          <a:xfrm>
            <a:off x="6159500" y="9048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31" name="Text 29"/>
          <p:cNvSpPr/>
          <p:nvPr/>
        </p:nvSpPr>
        <p:spPr>
          <a:xfrm>
            <a:off x="6286500" y="1047750"/>
            <a:ext cx="5540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Dataset Variables</a:t>
            </a:r>
            <a:endParaRPr lang="en-US" sz="1600" dirty="0"/>
          </a:p>
        </p:txBody>
      </p:sp>
      <p:sp>
        <p:nvSpPr>
          <p:cNvPr id="32" name="Text 30"/>
          <p:cNvSpPr/>
          <p:nvPr/>
        </p:nvSpPr>
        <p:spPr>
          <a:xfrm>
            <a:off x="6286500" y="136525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dataset includes the following variables for each school:</a:t>
            </a:r>
            <a:endParaRPr lang="en-US" sz="1600" dirty="0"/>
          </a:p>
        </p:txBody>
      </p:sp>
      <p:sp>
        <p:nvSpPr>
          <p:cNvPr id="33" name="Shape 31"/>
          <p:cNvSpPr/>
          <p:nvPr/>
        </p:nvSpPr>
        <p:spPr>
          <a:xfrm>
            <a:off x="6286500" y="1666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34" name="Shape 32"/>
          <p:cNvSpPr/>
          <p:nvPr/>
        </p:nvSpPr>
        <p:spPr>
          <a:xfrm>
            <a:off x="6357938" y="1766094"/>
            <a:ext cx="142875" cy="127000"/>
          </a:xfrm>
          <a:custGeom>
            <a:avLst/>
            <a:gdLst/>
            <a:ahLst/>
            <a:cxnLst/>
            <a:rect l="l" t="t" r="r" b="b"/>
            <a:pathLst>
              <a:path w="142875" h="127000">
                <a:moveTo>
                  <a:pt x="0" y="47625"/>
                </a:moveTo>
                <a:cubicBezTo>
                  <a:pt x="0" y="38869"/>
                  <a:pt x="7119" y="31750"/>
                  <a:pt x="15875" y="31750"/>
                </a:cubicBezTo>
                <a:lnTo>
                  <a:pt x="31750" y="31750"/>
                </a:lnTo>
                <a:lnTo>
                  <a:pt x="63475" y="3200"/>
                </a:lnTo>
                <a:cubicBezTo>
                  <a:pt x="68014" y="-868"/>
                  <a:pt x="74885" y="-868"/>
                  <a:pt x="79400" y="3200"/>
                </a:cubicBezTo>
                <a:lnTo>
                  <a:pt x="111125" y="31750"/>
                </a:lnTo>
                <a:lnTo>
                  <a:pt x="127000" y="31750"/>
                </a:lnTo>
                <a:cubicBezTo>
                  <a:pt x="135756" y="31750"/>
                  <a:pt x="142875" y="38869"/>
                  <a:pt x="142875" y="47625"/>
                </a:cubicBezTo>
                <a:lnTo>
                  <a:pt x="142875" y="111125"/>
                </a:lnTo>
                <a:cubicBezTo>
                  <a:pt x="142875" y="119881"/>
                  <a:pt x="135756" y="127000"/>
                  <a:pt x="127000" y="127000"/>
                </a:cubicBezTo>
                <a:lnTo>
                  <a:pt x="15875" y="127000"/>
                </a:lnTo>
                <a:cubicBezTo>
                  <a:pt x="7119" y="127000"/>
                  <a:pt x="0" y="119881"/>
                  <a:pt x="0" y="111125"/>
                </a:cubicBezTo>
                <a:lnTo>
                  <a:pt x="0" y="47625"/>
                </a:lnTo>
                <a:close/>
                <a:moveTo>
                  <a:pt x="55563" y="93266"/>
                </a:moveTo>
                <a:lnTo>
                  <a:pt x="55563" y="115094"/>
                </a:lnTo>
                <a:lnTo>
                  <a:pt x="87313" y="115094"/>
                </a:lnTo>
                <a:lnTo>
                  <a:pt x="87313" y="93266"/>
                </a:lnTo>
                <a:cubicBezTo>
                  <a:pt x="87313" y="87784"/>
                  <a:pt x="82872" y="83344"/>
                  <a:pt x="77391" y="83344"/>
                </a:cubicBezTo>
                <a:lnTo>
                  <a:pt x="65484" y="83344"/>
                </a:lnTo>
                <a:cubicBezTo>
                  <a:pt x="60003" y="83344"/>
                  <a:pt x="55563" y="87784"/>
                  <a:pt x="55563" y="93266"/>
                </a:cubicBezTo>
                <a:close/>
                <a:moveTo>
                  <a:pt x="27781" y="95250"/>
                </a:moveTo>
                <a:cubicBezTo>
                  <a:pt x="29964" y="95250"/>
                  <a:pt x="31750" y="93464"/>
                  <a:pt x="31750" y="91281"/>
                </a:cubicBezTo>
                <a:lnTo>
                  <a:pt x="31750" y="83344"/>
                </a:lnTo>
                <a:cubicBezTo>
                  <a:pt x="31750" y="81161"/>
                  <a:pt x="29964" y="79375"/>
                  <a:pt x="27781" y="79375"/>
                </a:cubicBezTo>
                <a:lnTo>
                  <a:pt x="19844" y="79375"/>
                </a:lnTo>
                <a:cubicBezTo>
                  <a:pt x="17661" y="79375"/>
                  <a:pt x="15875" y="81161"/>
                  <a:pt x="15875" y="83344"/>
                </a:cubicBezTo>
                <a:lnTo>
                  <a:pt x="15875" y="91281"/>
                </a:lnTo>
                <a:cubicBezTo>
                  <a:pt x="15875" y="93464"/>
                  <a:pt x="17661" y="95250"/>
                  <a:pt x="19844" y="95250"/>
                </a:cubicBezTo>
                <a:lnTo>
                  <a:pt x="27781" y="95250"/>
                </a:lnTo>
                <a:close/>
                <a:moveTo>
                  <a:pt x="31750" y="59531"/>
                </a:moveTo>
                <a:lnTo>
                  <a:pt x="31750" y="51594"/>
                </a:lnTo>
                <a:cubicBezTo>
                  <a:pt x="31750" y="49411"/>
                  <a:pt x="29964" y="47625"/>
                  <a:pt x="27781" y="47625"/>
                </a:cubicBezTo>
                <a:lnTo>
                  <a:pt x="19844" y="47625"/>
                </a:lnTo>
                <a:cubicBezTo>
                  <a:pt x="17661" y="47625"/>
                  <a:pt x="15875" y="49411"/>
                  <a:pt x="15875" y="51594"/>
                </a:cubicBezTo>
                <a:lnTo>
                  <a:pt x="15875" y="59531"/>
                </a:lnTo>
                <a:cubicBezTo>
                  <a:pt x="15875" y="61714"/>
                  <a:pt x="17661" y="63500"/>
                  <a:pt x="19844" y="63500"/>
                </a:cubicBezTo>
                <a:lnTo>
                  <a:pt x="27781" y="63500"/>
                </a:lnTo>
                <a:cubicBezTo>
                  <a:pt x="29964" y="63500"/>
                  <a:pt x="31750" y="61714"/>
                  <a:pt x="31750" y="59531"/>
                </a:cubicBezTo>
                <a:close/>
                <a:moveTo>
                  <a:pt x="123031" y="95250"/>
                </a:moveTo>
                <a:cubicBezTo>
                  <a:pt x="125214" y="95250"/>
                  <a:pt x="127000" y="93464"/>
                  <a:pt x="127000" y="91281"/>
                </a:cubicBezTo>
                <a:lnTo>
                  <a:pt x="127000" y="83344"/>
                </a:lnTo>
                <a:cubicBezTo>
                  <a:pt x="127000" y="81161"/>
                  <a:pt x="125214" y="79375"/>
                  <a:pt x="123031" y="79375"/>
                </a:cubicBezTo>
                <a:lnTo>
                  <a:pt x="115094" y="79375"/>
                </a:lnTo>
                <a:cubicBezTo>
                  <a:pt x="112911" y="79375"/>
                  <a:pt x="111125" y="81161"/>
                  <a:pt x="111125" y="83344"/>
                </a:cubicBezTo>
                <a:lnTo>
                  <a:pt x="111125" y="91281"/>
                </a:lnTo>
                <a:cubicBezTo>
                  <a:pt x="111125" y="93464"/>
                  <a:pt x="112911" y="95250"/>
                  <a:pt x="115094" y="95250"/>
                </a:cubicBezTo>
                <a:lnTo>
                  <a:pt x="123031" y="95250"/>
                </a:lnTo>
                <a:close/>
                <a:moveTo>
                  <a:pt x="127000" y="59531"/>
                </a:moveTo>
                <a:lnTo>
                  <a:pt x="127000" y="51594"/>
                </a:lnTo>
                <a:cubicBezTo>
                  <a:pt x="127000" y="49411"/>
                  <a:pt x="125214" y="47625"/>
                  <a:pt x="123031" y="47625"/>
                </a:cubicBezTo>
                <a:lnTo>
                  <a:pt x="115094" y="47625"/>
                </a:lnTo>
                <a:cubicBezTo>
                  <a:pt x="112911" y="47625"/>
                  <a:pt x="111125" y="49411"/>
                  <a:pt x="111125" y="51594"/>
                </a:cubicBezTo>
                <a:lnTo>
                  <a:pt x="111125" y="59531"/>
                </a:lnTo>
                <a:cubicBezTo>
                  <a:pt x="111125" y="61714"/>
                  <a:pt x="112911" y="63500"/>
                  <a:pt x="115094" y="63500"/>
                </a:cubicBezTo>
                <a:lnTo>
                  <a:pt x="123031" y="63500"/>
                </a:lnTo>
                <a:cubicBezTo>
                  <a:pt x="125214" y="63500"/>
                  <a:pt x="127000" y="61714"/>
                  <a:pt x="127000" y="59531"/>
                </a:cubicBezTo>
                <a:close/>
                <a:moveTo>
                  <a:pt x="71438" y="63500"/>
                </a:moveTo>
                <a:cubicBezTo>
                  <a:pt x="80199" y="63500"/>
                  <a:pt x="87313" y="56387"/>
                  <a:pt x="87313" y="47625"/>
                </a:cubicBezTo>
                <a:cubicBezTo>
                  <a:pt x="87313" y="38863"/>
                  <a:pt x="80199" y="31750"/>
                  <a:pt x="71438" y="31750"/>
                </a:cubicBezTo>
                <a:cubicBezTo>
                  <a:pt x="62676" y="31750"/>
                  <a:pt x="55563" y="38863"/>
                  <a:pt x="55563" y="47625"/>
                </a:cubicBezTo>
                <a:cubicBezTo>
                  <a:pt x="55563" y="56387"/>
                  <a:pt x="62676" y="63500"/>
                  <a:pt x="71438" y="63500"/>
                </a:cubicBezTo>
                <a:close/>
              </a:path>
            </a:pathLst>
          </a:custGeom>
          <a:solidFill>
            <a:srgbClr val="1E3A5F"/>
          </a:solidFill>
          <a:ln/>
        </p:spPr>
      </p:sp>
      <p:sp>
        <p:nvSpPr>
          <p:cNvPr id="35" name="Text 33"/>
          <p:cNvSpPr/>
          <p:nvPr/>
        </p:nvSpPr>
        <p:spPr>
          <a:xfrm>
            <a:off x="6484938" y="1666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School name</a:t>
            </a:r>
            <a:endParaRPr lang="en-US" sz="1600" dirty="0"/>
          </a:p>
        </p:txBody>
      </p:sp>
      <p:sp>
        <p:nvSpPr>
          <p:cNvPr id="36" name="Shape 34"/>
          <p:cNvSpPr/>
          <p:nvPr/>
        </p:nvSpPr>
        <p:spPr>
          <a:xfrm>
            <a:off x="9048750" y="1666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37" name="Shape 35"/>
          <p:cNvSpPr/>
          <p:nvPr/>
        </p:nvSpPr>
        <p:spPr>
          <a:xfrm>
            <a:off x="9128125" y="1766094"/>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1E3A5F"/>
          </a:solidFill>
          <a:ln/>
        </p:spPr>
      </p:sp>
      <p:sp>
        <p:nvSpPr>
          <p:cNvPr id="38" name="Text 36"/>
          <p:cNvSpPr/>
          <p:nvPr/>
        </p:nvSpPr>
        <p:spPr>
          <a:xfrm>
            <a:off x="9247188" y="1666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Calibrated progress delta</a:t>
            </a:r>
            <a:endParaRPr lang="en-US" sz="1600" dirty="0"/>
          </a:p>
        </p:txBody>
      </p:sp>
      <p:sp>
        <p:nvSpPr>
          <p:cNvPr id="39" name="Shape 37"/>
          <p:cNvSpPr/>
          <p:nvPr/>
        </p:nvSpPr>
        <p:spPr>
          <a:xfrm>
            <a:off x="6286500" y="2047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40" name="Shape 38"/>
          <p:cNvSpPr/>
          <p:nvPr/>
        </p:nvSpPr>
        <p:spPr>
          <a:xfrm>
            <a:off x="6381750" y="2147094"/>
            <a:ext cx="95250" cy="127000"/>
          </a:xfrm>
          <a:custGeom>
            <a:avLst/>
            <a:gdLst/>
            <a:ahLst/>
            <a:cxnLst/>
            <a:rect l="l" t="t" r="r" b="b"/>
            <a:pathLst>
              <a:path w="95250" h="127000">
                <a:moveTo>
                  <a:pt x="77242" y="7938"/>
                </a:moveTo>
                <a:lnTo>
                  <a:pt x="79375" y="7938"/>
                </a:lnTo>
                <a:cubicBezTo>
                  <a:pt x="88131" y="7938"/>
                  <a:pt x="95250" y="15056"/>
                  <a:pt x="95250" y="23812"/>
                </a:cubicBezTo>
                <a:lnTo>
                  <a:pt x="95250" y="111125"/>
                </a:lnTo>
                <a:cubicBezTo>
                  <a:pt x="95250" y="119881"/>
                  <a:pt x="88131" y="127000"/>
                  <a:pt x="79375" y="127000"/>
                </a:cubicBezTo>
                <a:lnTo>
                  <a:pt x="15875" y="127000"/>
                </a:lnTo>
                <a:cubicBezTo>
                  <a:pt x="7119" y="127000"/>
                  <a:pt x="0" y="119881"/>
                  <a:pt x="0" y="111125"/>
                </a:cubicBezTo>
                <a:lnTo>
                  <a:pt x="0" y="23812"/>
                </a:lnTo>
                <a:cubicBezTo>
                  <a:pt x="0" y="15056"/>
                  <a:pt x="7119" y="7938"/>
                  <a:pt x="15875" y="7938"/>
                </a:cubicBezTo>
                <a:lnTo>
                  <a:pt x="18008" y="7938"/>
                </a:lnTo>
                <a:cubicBezTo>
                  <a:pt x="20737" y="3200"/>
                  <a:pt x="25871" y="0"/>
                  <a:pt x="31750" y="0"/>
                </a:cubicBezTo>
                <a:lnTo>
                  <a:pt x="63500" y="0"/>
                </a:lnTo>
                <a:cubicBezTo>
                  <a:pt x="69379" y="0"/>
                  <a:pt x="74513" y="3200"/>
                  <a:pt x="77242" y="7938"/>
                </a:cubicBezTo>
                <a:close/>
                <a:moveTo>
                  <a:pt x="61516" y="27781"/>
                </a:moveTo>
                <a:cubicBezTo>
                  <a:pt x="64815" y="27781"/>
                  <a:pt x="67469" y="25127"/>
                  <a:pt x="67469" y="21828"/>
                </a:cubicBezTo>
                <a:cubicBezTo>
                  <a:pt x="67469" y="18529"/>
                  <a:pt x="64815" y="15875"/>
                  <a:pt x="61516" y="15875"/>
                </a:cubicBezTo>
                <a:lnTo>
                  <a:pt x="33734" y="15875"/>
                </a:lnTo>
                <a:cubicBezTo>
                  <a:pt x="30435" y="15875"/>
                  <a:pt x="27781" y="18529"/>
                  <a:pt x="27781" y="21828"/>
                </a:cubicBezTo>
                <a:cubicBezTo>
                  <a:pt x="27781" y="25127"/>
                  <a:pt x="30435" y="27781"/>
                  <a:pt x="33734" y="27781"/>
                </a:cubicBezTo>
                <a:lnTo>
                  <a:pt x="61516" y="27781"/>
                </a:lnTo>
                <a:close/>
                <a:moveTo>
                  <a:pt x="68560" y="64666"/>
                </a:moveTo>
                <a:cubicBezTo>
                  <a:pt x="70296" y="61888"/>
                  <a:pt x="69453" y="58217"/>
                  <a:pt x="66675" y="56455"/>
                </a:cubicBezTo>
                <a:cubicBezTo>
                  <a:pt x="63897" y="54694"/>
                  <a:pt x="60226" y="55563"/>
                  <a:pt x="58465" y="58341"/>
                </a:cubicBezTo>
                <a:lnTo>
                  <a:pt x="43235" y="82724"/>
                </a:lnTo>
                <a:lnTo>
                  <a:pt x="36537" y="73794"/>
                </a:lnTo>
                <a:cubicBezTo>
                  <a:pt x="34553" y="71165"/>
                  <a:pt x="30832" y="70619"/>
                  <a:pt x="28203" y="72603"/>
                </a:cubicBezTo>
                <a:cubicBezTo>
                  <a:pt x="25574" y="74588"/>
                  <a:pt x="25028" y="78308"/>
                  <a:pt x="27012" y="80938"/>
                </a:cubicBezTo>
                <a:lnTo>
                  <a:pt x="38919" y="96813"/>
                </a:lnTo>
                <a:cubicBezTo>
                  <a:pt x="40084" y="98375"/>
                  <a:pt x="41970" y="99268"/>
                  <a:pt x="43929" y="99194"/>
                </a:cubicBezTo>
                <a:cubicBezTo>
                  <a:pt x="45889" y="99120"/>
                  <a:pt x="47675" y="98078"/>
                  <a:pt x="48716" y="96391"/>
                </a:cubicBezTo>
                <a:lnTo>
                  <a:pt x="68560" y="64641"/>
                </a:lnTo>
                <a:close/>
              </a:path>
            </a:pathLst>
          </a:custGeom>
          <a:solidFill>
            <a:srgbClr val="1E3A5F"/>
          </a:solidFill>
          <a:ln/>
        </p:spPr>
      </p:sp>
      <p:sp>
        <p:nvSpPr>
          <p:cNvPr id="41" name="Text 39"/>
          <p:cNvSpPr/>
          <p:nvPr/>
        </p:nvSpPr>
        <p:spPr>
          <a:xfrm>
            <a:off x="6484938" y="2047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Implementation quality score</a:t>
            </a:r>
            <a:endParaRPr lang="en-US" sz="1600" dirty="0"/>
          </a:p>
        </p:txBody>
      </p:sp>
      <p:sp>
        <p:nvSpPr>
          <p:cNvPr id="42" name="Shape 40"/>
          <p:cNvSpPr/>
          <p:nvPr/>
        </p:nvSpPr>
        <p:spPr>
          <a:xfrm>
            <a:off x="9048750" y="2047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43" name="Shape 41"/>
          <p:cNvSpPr/>
          <p:nvPr/>
        </p:nvSpPr>
        <p:spPr>
          <a:xfrm>
            <a:off x="9136063" y="2147094"/>
            <a:ext cx="111125" cy="127000"/>
          </a:xfrm>
          <a:custGeom>
            <a:avLst/>
            <a:gdLst/>
            <a:ahLst/>
            <a:cxnLst/>
            <a:rect l="l" t="t" r="r" b="b"/>
            <a:pathLst>
              <a:path w="111125" h="127000">
                <a:moveTo>
                  <a:pt x="31750" y="0"/>
                </a:moveTo>
                <a:cubicBezTo>
                  <a:pt x="27360" y="0"/>
                  <a:pt x="23812" y="3547"/>
                  <a:pt x="23812" y="7938"/>
                </a:cubicBezTo>
                <a:lnTo>
                  <a:pt x="23812" y="15875"/>
                </a:lnTo>
                <a:lnTo>
                  <a:pt x="15875" y="15875"/>
                </a:lnTo>
                <a:cubicBezTo>
                  <a:pt x="7119" y="15875"/>
                  <a:pt x="0" y="22994"/>
                  <a:pt x="0" y="31750"/>
                </a:cubicBezTo>
                <a:lnTo>
                  <a:pt x="0" y="43656"/>
                </a:lnTo>
                <a:lnTo>
                  <a:pt x="111125" y="43656"/>
                </a:lnTo>
                <a:lnTo>
                  <a:pt x="111125" y="31750"/>
                </a:lnTo>
                <a:cubicBezTo>
                  <a:pt x="111125" y="22994"/>
                  <a:pt x="104006" y="15875"/>
                  <a:pt x="95250" y="15875"/>
                </a:cubicBezTo>
                <a:lnTo>
                  <a:pt x="87313" y="15875"/>
                </a:lnTo>
                <a:lnTo>
                  <a:pt x="87313" y="7938"/>
                </a:lnTo>
                <a:cubicBezTo>
                  <a:pt x="87313" y="3547"/>
                  <a:pt x="83765" y="0"/>
                  <a:pt x="79375" y="0"/>
                </a:cubicBezTo>
                <a:cubicBezTo>
                  <a:pt x="74985" y="0"/>
                  <a:pt x="71438" y="3547"/>
                  <a:pt x="71438" y="7938"/>
                </a:cubicBezTo>
                <a:lnTo>
                  <a:pt x="71438" y="15875"/>
                </a:lnTo>
                <a:lnTo>
                  <a:pt x="39688" y="15875"/>
                </a:lnTo>
                <a:lnTo>
                  <a:pt x="39688" y="7938"/>
                </a:lnTo>
                <a:cubicBezTo>
                  <a:pt x="39688" y="3547"/>
                  <a:pt x="36140" y="0"/>
                  <a:pt x="31750" y="0"/>
                </a:cubicBezTo>
                <a:close/>
                <a:moveTo>
                  <a:pt x="0" y="55563"/>
                </a:moveTo>
                <a:lnTo>
                  <a:pt x="0" y="103188"/>
                </a:lnTo>
                <a:cubicBezTo>
                  <a:pt x="0" y="111944"/>
                  <a:pt x="7119" y="119063"/>
                  <a:pt x="15875" y="119063"/>
                </a:cubicBezTo>
                <a:lnTo>
                  <a:pt x="95250" y="119063"/>
                </a:lnTo>
                <a:cubicBezTo>
                  <a:pt x="104006" y="119063"/>
                  <a:pt x="111125" y="111944"/>
                  <a:pt x="111125" y="103188"/>
                </a:cubicBezTo>
                <a:lnTo>
                  <a:pt x="111125" y="55563"/>
                </a:lnTo>
                <a:lnTo>
                  <a:pt x="0" y="55563"/>
                </a:lnTo>
                <a:close/>
              </a:path>
            </a:pathLst>
          </a:custGeom>
          <a:solidFill>
            <a:srgbClr val="1E3A5F"/>
          </a:solidFill>
          <a:ln/>
        </p:spPr>
      </p:sp>
      <p:sp>
        <p:nvSpPr>
          <p:cNvPr id="44" name="Text 42"/>
          <p:cNvSpPr/>
          <p:nvPr/>
        </p:nvSpPr>
        <p:spPr>
          <a:xfrm>
            <a:off x="9247188" y="2047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Programme tenure</a:t>
            </a:r>
            <a:endParaRPr lang="en-US" sz="1600" dirty="0"/>
          </a:p>
        </p:txBody>
      </p:sp>
      <p:sp>
        <p:nvSpPr>
          <p:cNvPr id="45" name="Shape 43"/>
          <p:cNvSpPr/>
          <p:nvPr/>
        </p:nvSpPr>
        <p:spPr>
          <a:xfrm>
            <a:off x="6286500" y="2428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46" name="Shape 44"/>
          <p:cNvSpPr/>
          <p:nvPr/>
        </p:nvSpPr>
        <p:spPr>
          <a:xfrm>
            <a:off x="6350000" y="2528094"/>
            <a:ext cx="158750" cy="127000"/>
          </a:xfrm>
          <a:custGeom>
            <a:avLst/>
            <a:gdLst/>
            <a:ahLst/>
            <a:cxnLst/>
            <a:rect l="l" t="t" r="r" b="b"/>
            <a:pathLst>
              <a:path w="158750" h="127000">
                <a:moveTo>
                  <a:pt x="79375" y="3969"/>
                </a:moveTo>
                <a:cubicBezTo>
                  <a:pt x="93613" y="3969"/>
                  <a:pt x="105172" y="15528"/>
                  <a:pt x="105172" y="29766"/>
                </a:cubicBezTo>
                <a:cubicBezTo>
                  <a:pt x="105172" y="44003"/>
                  <a:pt x="93613" y="55563"/>
                  <a:pt x="79375" y="55563"/>
                </a:cubicBezTo>
                <a:cubicBezTo>
                  <a:pt x="65137" y="55563"/>
                  <a:pt x="53578" y="44003"/>
                  <a:pt x="53578" y="29766"/>
                </a:cubicBezTo>
                <a:cubicBezTo>
                  <a:pt x="53578" y="15528"/>
                  <a:pt x="65137" y="3969"/>
                  <a:pt x="79375" y="3969"/>
                </a:cubicBezTo>
                <a:close/>
                <a:moveTo>
                  <a:pt x="23812" y="21828"/>
                </a:moveTo>
                <a:cubicBezTo>
                  <a:pt x="33669" y="21828"/>
                  <a:pt x="41672" y="29831"/>
                  <a:pt x="41672" y="39688"/>
                </a:cubicBezTo>
                <a:cubicBezTo>
                  <a:pt x="41672" y="49544"/>
                  <a:pt x="33669" y="57547"/>
                  <a:pt x="23812" y="57547"/>
                </a:cubicBezTo>
                <a:cubicBezTo>
                  <a:pt x="13956" y="57547"/>
                  <a:pt x="5953" y="49544"/>
                  <a:pt x="5953" y="39688"/>
                </a:cubicBezTo>
                <a:cubicBezTo>
                  <a:pt x="5953" y="29831"/>
                  <a:pt x="13956" y="21828"/>
                  <a:pt x="23812" y="21828"/>
                </a:cubicBezTo>
                <a:close/>
                <a:moveTo>
                  <a:pt x="0" y="103188"/>
                </a:moveTo>
                <a:cubicBezTo>
                  <a:pt x="0" y="85651"/>
                  <a:pt x="14213" y="71438"/>
                  <a:pt x="31750" y="71438"/>
                </a:cubicBezTo>
                <a:cubicBezTo>
                  <a:pt x="34925" y="71438"/>
                  <a:pt x="38001" y="71909"/>
                  <a:pt x="40903" y="72777"/>
                </a:cubicBezTo>
                <a:cubicBezTo>
                  <a:pt x="32742" y="81905"/>
                  <a:pt x="27781" y="93960"/>
                  <a:pt x="27781" y="107156"/>
                </a:cubicBezTo>
                <a:lnTo>
                  <a:pt x="27781" y="111125"/>
                </a:lnTo>
                <a:cubicBezTo>
                  <a:pt x="27781" y="113953"/>
                  <a:pt x="28377" y="116632"/>
                  <a:pt x="29443" y="119063"/>
                </a:cubicBezTo>
                <a:lnTo>
                  <a:pt x="7938" y="119063"/>
                </a:lnTo>
                <a:cubicBezTo>
                  <a:pt x="3547" y="119063"/>
                  <a:pt x="0" y="115515"/>
                  <a:pt x="0" y="111125"/>
                </a:cubicBezTo>
                <a:lnTo>
                  <a:pt x="0" y="103188"/>
                </a:lnTo>
                <a:close/>
                <a:moveTo>
                  <a:pt x="129307" y="119063"/>
                </a:moveTo>
                <a:cubicBezTo>
                  <a:pt x="130373" y="116632"/>
                  <a:pt x="130969" y="113953"/>
                  <a:pt x="130969" y="111125"/>
                </a:cubicBezTo>
                <a:lnTo>
                  <a:pt x="130969" y="107156"/>
                </a:lnTo>
                <a:cubicBezTo>
                  <a:pt x="130969" y="93960"/>
                  <a:pt x="126008" y="81905"/>
                  <a:pt x="117847" y="72777"/>
                </a:cubicBezTo>
                <a:cubicBezTo>
                  <a:pt x="120749" y="71909"/>
                  <a:pt x="123825" y="71438"/>
                  <a:pt x="127000" y="71438"/>
                </a:cubicBezTo>
                <a:cubicBezTo>
                  <a:pt x="144537" y="71438"/>
                  <a:pt x="158750" y="85651"/>
                  <a:pt x="158750" y="103188"/>
                </a:cubicBezTo>
                <a:lnTo>
                  <a:pt x="158750" y="111125"/>
                </a:lnTo>
                <a:cubicBezTo>
                  <a:pt x="158750" y="115515"/>
                  <a:pt x="155203" y="119063"/>
                  <a:pt x="150813" y="119063"/>
                </a:cubicBezTo>
                <a:lnTo>
                  <a:pt x="129307" y="119063"/>
                </a:lnTo>
                <a:close/>
                <a:moveTo>
                  <a:pt x="117078" y="39688"/>
                </a:moveTo>
                <a:cubicBezTo>
                  <a:pt x="117078" y="29831"/>
                  <a:pt x="125081" y="21828"/>
                  <a:pt x="134938" y="21828"/>
                </a:cubicBezTo>
                <a:cubicBezTo>
                  <a:pt x="144794" y="21828"/>
                  <a:pt x="152797" y="29831"/>
                  <a:pt x="152797" y="39687"/>
                </a:cubicBezTo>
                <a:cubicBezTo>
                  <a:pt x="152797" y="49544"/>
                  <a:pt x="144794" y="57547"/>
                  <a:pt x="134938" y="57547"/>
                </a:cubicBezTo>
                <a:cubicBezTo>
                  <a:pt x="125081" y="57547"/>
                  <a:pt x="117078" y="49544"/>
                  <a:pt x="117078" y="39688"/>
                </a:cubicBezTo>
                <a:close/>
                <a:moveTo>
                  <a:pt x="39688" y="107156"/>
                </a:moveTo>
                <a:cubicBezTo>
                  <a:pt x="39688" y="85229"/>
                  <a:pt x="57448" y="67469"/>
                  <a:pt x="79375" y="67469"/>
                </a:cubicBezTo>
                <a:cubicBezTo>
                  <a:pt x="101302" y="67469"/>
                  <a:pt x="119063" y="85229"/>
                  <a:pt x="119063" y="107156"/>
                </a:cubicBezTo>
                <a:lnTo>
                  <a:pt x="119063" y="111125"/>
                </a:lnTo>
                <a:cubicBezTo>
                  <a:pt x="119063" y="115515"/>
                  <a:pt x="115515" y="119063"/>
                  <a:pt x="111125" y="119063"/>
                </a:cubicBezTo>
                <a:lnTo>
                  <a:pt x="47625" y="119063"/>
                </a:lnTo>
                <a:cubicBezTo>
                  <a:pt x="43235" y="119063"/>
                  <a:pt x="39688" y="115515"/>
                  <a:pt x="39688" y="111125"/>
                </a:cubicBezTo>
                <a:lnTo>
                  <a:pt x="39688" y="107156"/>
                </a:lnTo>
                <a:close/>
              </a:path>
            </a:pathLst>
          </a:custGeom>
          <a:solidFill>
            <a:srgbClr val="1E3A5F"/>
          </a:solidFill>
          <a:ln/>
        </p:spPr>
      </p:sp>
      <p:sp>
        <p:nvSpPr>
          <p:cNvPr id="47" name="Text 45"/>
          <p:cNvSpPr/>
          <p:nvPr/>
        </p:nvSpPr>
        <p:spPr>
          <a:xfrm>
            <a:off x="6484938" y="2428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Cohort size</a:t>
            </a:r>
            <a:endParaRPr lang="en-US" sz="1600" dirty="0"/>
          </a:p>
        </p:txBody>
      </p:sp>
      <p:sp>
        <p:nvSpPr>
          <p:cNvPr id="48" name="Shape 46"/>
          <p:cNvSpPr/>
          <p:nvPr/>
        </p:nvSpPr>
        <p:spPr>
          <a:xfrm>
            <a:off x="9048750" y="2428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49" name="Shape 47"/>
          <p:cNvSpPr/>
          <p:nvPr/>
        </p:nvSpPr>
        <p:spPr>
          <a:xfrm>
            <a:off x="9136063" y="2528094"/>
            <a:ext cx="111125" cy="127000"/>
          </a:xfrm>
          <a:custGeom>
            <a:avLst/>
            <a:gdLst/>
            <a:ahLst/>
            <a:cxnLst/>
            <a:rect l="l" t="t" r="r" b="b"/>
            <a:pathLst>
              <a:path w="111125" h="127000">
                <a:moveTo>
                  <a:pt x="47625" y="31750"/>
                </a:moveTo>
                <a:cubicBezTo>
                  <a:pt x="47625" y="18608"/>
                  <a:pt x="36955" y="7938"/>
                  <a:pt x="23812" y="7938"/>
                </a:cubicBezTo>
                <a:cubicBezTo>
                  <a:pt x="10670" y="7938"/>
                  <a:pt x="0" y="18608"/>
                  <a:pt x="0" y="31750"/>
                </a:cubicBezTo>
                <a:cubicBezTo>
                  <a:pt x="0" y="44892"/>
                  <a:pt x="10670" y="55563"/>
                  <a:pt x="23812" y="55563"/>
                </a:cubicBezTo>
                <a:cubicBezTo>
                  <a:pt x="36955" y="55563"/>
                  <a:pt x="47625" y="44892"/>
                  <a:pt x="47625" y="31750"/>
                </a:cubicBezTo>
                <a:close/>
                <a:moveTo>
                  <a:pt x="111125" y="95250"/>
                </a:moveTo>
                <a:cubicBezTo>
                  <a:pt x="111125" y="82108"/>
                  <a:pt x="100455" y="71438"/>
                  <a:pt x="87313" y="71438"/>
                </a:cubicBezTo>
                <a:cubicBezTo>
                  <a:pt x="74170" y="71438"/>
                  <a:pt x="63500" y="82108"/>
                  <a:pt x="63500" y="95250"/>
                </a:cubicBezTo>
                <a:cubicBezTo>
                  <a:pt x="63500" y="108392"/>
                  <a:pt x="74170" y="119063"/>
                  <a:pt x="87313" y="119063"/>
                </a:cubicBezTo>
                <a:cubicBezTo>
                  <a:pt x="100455" y="119063"/>
                  <a:pt x="111125" y="108392"/>
                  <a:pt x="111125" y="95250"/>
                </a:cubicBezTo>
                <a:close/>
                <a:moveTo>
                  <a:pt x="108793" y="21481"/>
                </a:moveTo>
                <a:cubicBezTo>
                  <a:pt x="111894" y="18380"/>
                  <a:pt x="111894" y="13345"/>
                  <a:pt x="108793" y="10244"/>
                </a:cubicBezTo>
                <a:cubicBezTo>
                  <a:pt x="105693" y="7144"/>
                  <a:pt x="100657" y="7144"/>
                  <a:pt x="97557" y="10244"/>
                </a:cubicBezTo>
                <a:lnTo>
                  <a:pt x="2307" y="105494"/>
                </a:lnTo>
                <a:cubicBezTo>
                  <a:pt x="-794" y="108595"/>
                  <a:pt x="-794" y="113630"/>
                  <a:pt x="2307" y="116731"/>
                </a:cubicBezTo>
                <a:cubicBezTo>
                  <a:pt x="5407" y="119831"/>
                  <a:pt x="10443" y="119831"/>
                  <a:pt x="13543" y="116731"/>
                </a:cubicBezTo>
                <a:lnTo>
                  <a:pt x="108793" y="21481"/>
                </a:lnTo>
                <a:close/>
              </a:path>
            </a:pathLst>
          </a:custGeom>
          <a:solidFill>
            <a:srgbClr val="1E3A5F"/>
          </a:solidFill>
          <a:ln/>
        </p:spPr>
      </p:sp>
      <p:sp>
        <p:nvSpPr>
          <p:cNvPr id="50" name="Text 48"/>
          <p:cNvSpPr/>
          <p:nvPr/>
        </p:nvSpPr>
        <p:spPr>
          <a:xfrm>
            <a:off x="9247188" y="2428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FSM percentage</a:t>
            </a:r>
            <a:endParaRPr lang="en-US" sz="1600" dirty="0"/>
          </a:p>
        </p:txBody>
      </p:sp>
      <p:sp>
        <p:nvSpPr>
          <p:cNvPr id="51" name="Shape 49"/>
          <p:cNvSpPr/>
          <p:nvPr/>
        </p:nvSpPr>
        <p:spPr>
          <a:xfrm>
            <a:off x="6286500" y="2809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52" name="Shape 50"/>
          <p:cNvSpPr/>
          <p:nvPr/>
        </p:nvSpPr>
        <p:spPr>
          <a:xfrm>
            <a:off x="6373813" y="2909094"/>
            <a:ext cx="111125" cy="127000"/>
          </a:xfrm>
          <a:custGeom>
            <a:avLst/>
            <a:gdLst/>
            <a:ahLst/>
            <a:cxnLst/>
            <a:rect l="l" t="t" r="r" b="b"/>
            <a:pathLst>
              <a:path w="111125" h="127000">
                <a:moveTo>
                  <a:pt x="47625" y="31750"/>
                </a:moveTo>
                <a:cubicBezTo>
                  <a:pt x="47625" y="18608"/>
                  <a:pt x="36955" y="7938"/>
                  <a:pt x="23812" y="7938"/>
                </a:cubicBezTo>
                <a:cubicBezTo>
                  <a:pt x="10670" y="7938"/>
                  <a:pt x="0" y="18608"/>
                  <a:pt x="0" y="31750"/>
                </a:cubicBezTo>
                <a:cubicBezTo>
                  <a:pt x="0" y="44892"/>
                  <a:pt x="10670" y="55563"/>
                  <a:pt x="23812" y="55563"/>
                </a:cubicBezTo>
                <a:cubicBezTo>
                  <a:pt x="36955" y="55563"/>
                  <a:pt x="47625" y="44892"/>
                  <a:pt x="47625" y="31750"/>
                </a:cubicBezTo>
                <a:close/>
                <a:moveTo>
                  <a:pt x="111125" y="95250"/>
                </a:moveTo>
                <a:cubicBezTo>
                  <a:pt x="111125" y="82108"/>
                  <a:pt x="100455" y="71438"/>
                  <a:pt x="87313" y="71438"/>
                </a:cubicBezTo>
                <a:cubicBezTo>
                  <a:pt x="74170" y="71438"/>
                  <a:pt x="63500" y="82108"/>
                  <a:pt x="63500" y="95250"/>
                </a:cubicBezTo>
                <a:cubicBezTo>
                  <a:pt x="63500" y="108392"/>
                  <a:pt x="74170" y="119063"/>
                  <a:pt x="87313" y="119063"/>
                </a:cubicBezTo>
                <a:cubicBezTo>
                  <a:pt x="100455" y="119063"/>
                  <a:pt x="111125" y="108392"/>
                  <a:pt x="111125" y="95250"/>
                </a:cubicBezTo>
                <a:close/>
                <a:moveTo>
                  <a:pt x="108793" y="21481"/>
                </a:moveTo>
                <a:cubicBezTo>
                  <a:pt x="111894" y="18380"/>
                  <a:pt x="111894" y="13345"/>
                  <a:pt x="108793" y="10244"/>
                </a:cubicBezTo>
                <a:cubicBezTo>
                  <a:pt x="105693" y="7144"/>
                  <a:pt x="100657" y="7144"/>
                  <a:pt x="97557" y="10244"/>
                </a:cubicBezTo>
                <a:lnTo>
                  <a:pt x="2307" y="105494"/>
                </a:lnTo>
                <a:cubicBezTo>
                  <a:pt x="-794" y="108595"/>
                  <a:pt x="-794" y="113630"/>
                  <a:pt x="2307" y="116731"/>
                </a:cubicBezTo>
                <a:cubicBezTo>
                  <a:pt x="5407" y="119831"/>
                  <a:pt x="10443" y="119831"/>
                  <a:pt x="13543" y="116731"/>
                </a:cubicBezTo>
                <a:lnTo>
                  <a:pt x="108793" y="21481"/>
                </a:lnTo>
                <a:close/>
              </a:path>
            </a:pathLst>
          </a:custGeom>
          <a:solidFill>
            <a:srgbClr val="1E3A5F"/>
          </a:solidFill>
          <a:ln/>
        </p:spPr>
      </p:sp>
      <p:sp>
        <p:nvSpPr>
          <p:cNvPr id="53" name="Text 51"/>
          <p:cNvSpPr/>
          <p:nvPr/>
        </p:nvSpPr>
        <p:spPr>
          <a:xfrm>
            <a:off x="6484938" y="2809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SEN percentage</a:t>
            </a:r>
            <a:endParaRPr lang="en-US" sz="1600" dirty="0"/>
          </a:p>
        </p:txBody>
      </p:sp>
      <p:sp>
        <p:nvSpPr>
          <p:cNvPr id="54" name="Shape 52"/>
          <p:cNvSpPr/>
          <p:nvPr/>
        </p:nvSpPr>
        <p:spPr>
          <a:xfrm>
            <a:off x="9048750" y="2809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55" name="Shape 53"/>
          <p:cNvSpPr/>
          <p:nvPr/>
        </p:nvSpPr>
        <p:spPr>
          <a:xfrm>
            <a:off x="9136063" y="2909094"/>
            <a:ext cx="111125" cy="127000"/>
          </a:xfrm>
          <a:custGeom>
            <a:avLst/>
            <a:gdLst/>
            <a:ahLst/>
            <a:cxnLst/>
            <a:rect l="l" t="t" r="r" b="b"/>
            <a:pathLst>
              <a:path w="111125" h="127000">
                <a:moveTo>
                  <a:pt x="47625" y="31750"/>
                </a:moveTo>
                <a:cubicBezTo>
                  <a:pt x="47625" y="18608"/>
                  <a:pt x="36955" y="7938"/>
                  <a:pt x="23812" y="7938"/>
                </a:cubicBezTo>
                <a:cubicBezTo>
                  <a:pt x="10670" y="7938"/>
                  <a:pt x="0" y="18608"/>
                  <a:pt x="0" y="31750"/>
                </a:cubicBezTo>
                <a:cubicBezTo>
                  <a:pt x="0" y="44892"/>
                  <a:pt x="10670" y="55563"/>
                  <a:pt x="23812" y="55563"/>
                </a:cubicBezTo>
                <a:cubicBezTo>
                  <a:pt x="36955" y="55563"/>
                  <a:pt x="47625" y="44892"/>
                  <a:pt x="47625" y="31750"/>
                </a:cubicBezTo>
                <a:close/>
                <a:moveTo>
                  <a:pt x="111125" y="95250"/>
                </a:moveTo>
                <a:cubicBezTo>
                  <a:pt x="111125" y="82108"/>
                  <a:pt x="100455" y="71438"/>
                  <a:pt x="87313" y="71438"/>
                </a:cubicBezTo>
                <a:cubicBezTo>
                  <a:pt x="74170" y="71438"/>
                  <a:pt x="63500" y="82108"/>
                  <a:pt x="63500" y="95250"/>
                </a:cubicBezTo>
                <a:cubicBezTo>
                  <a:pt x="63500" y="108392"/>
                  <a:pt x="74170" y="119063"/>
                  <a:pt x="87313" y="119063"/>
                </a:cubicBezTo>
                <a:cubicBezTo>
                  <a:pt x="100455" y="119063"/>
                  <a:pt x="111125" y="108392"/>
                  <a:pt x="111125" y="95250"/>
                </a:cubicBezTo>
                <a:close/>
                <a:moveTo>
                  <a:pt x="108793" y="21481"/>
                </a:moveTo>
                <a:cubicBezTo>
                  <a:pt x="111894" y="18380"/>
                  <a:pt x="111894" y="13345"/>
                  <a:pt x="108793" y="10244"/>
                </a:cubicBezTo>
                <a:cubicBezTo>
                  <a:pt x="105693" y="7144"/>
                  <a:pt x="100657" y="7144"/>
                  <a:pt x="97557" y="10244"/>
                </a:cubicBezTo>
                <a:lnTo>
                  <a:pt x="2307" y="105494"/>
                </a:lnTo>
                <a:cubicBezTo>
                  <a:pt x="-794" y="108595"/>
                  <a:pt x="-794" y="113630"/>
                  <a:pt x="2307" y="116731"/>
                </a:cubicBezTo>
                <a:cubicBezTo>
                  <a:pt x="5407" y="119831"/>
                  <a:pt x="10443" y="119831"/>
                  <a:pt x="13543" y="116731"/>
                </a:cubicBezTo>
                <a:lnTo>
                  <a:pt x="108793" y="21481"/>
                </a:lnTo>
                <a:close/>
              </a:path>
            </a:pathLst>
          </a:custGeom>
          <a:solidFill>
            <a:srgbClr val="1E3A5F"/>
          </a:solidFill>
          <a:ln/>
        </p:spPr>
      </p:sp>
      <p:sp>
        <p:nvSpPr>
          <p:cNvPr id="56" name="Text 54"/>
          <p:cNvSpPr/>
          <p:nvPr/>
        </p:nvSpPr>
        <p:spPr>
          <a:xfrm>
            <a:off x="9247188" y="2809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EAL percentage</a:t>
            </a:r>
            <a:endParaRPr lang="en-US" sz="1600" dirty="0"/>
          </a:p>
        </p:txBody>
      </p:sp>
      <p:sp>
        <p:nvSpPr>
          <p:cNvPr id="57" name="Shape 55"/>
          <p:cNvSpPr/>
          <p:nvPr/>
        </p:nvSpPr>
        <p:spPr>
          <a:xfrm>
            <a:off x="6286500" y="3190875"/>
            <a:ext cx="2698750" cy="317500"/>
          </a:xfrm>
          <a:custGeom>
            <a:avLst/>
            <a:gdLst/>
            <a:ahLst/>
            <a:cxnLst/>
            <a:rect l="l" t="t" r="r" b="b"/>
            <a:pathLst>
              <a:path w="2698750" h="317500">
                <a:moveTo>
                  <a:pt x="0" y="0"/>
                </a:moveTo>
                <a:lnTo>
                  <a:pt x="2698750" y="0"/>
                </a:lnTo>
                <a:lnTo>
                  <a:pt x="2698750" y="317500"/>
                </a:lnTo>
                <a:lnTo>
                  <a:pt x="0" y="317500"/>
                </a:lnTo>
                <a:lnTo>
                  <a:pt x="0" y="0"/>
                </a:lnTo>
                <a:close/>
              </a:path>
            </a:pathLst>
          </a:custGeom>
          <a:solidFill>
            <a:srgbClr val="F8F9FA"/>
          </a:solidFill>
          <a:ln/>
        </p:spPr>
      </p:sp>
      <p:sp>
        <p:nvSpPr>
          <p:cNvPr id="58" name="Shape 56"/>
          <p:cNvSpPr/>
          <p:nvPr/>
        </p:nvSpPr>
        <p:spPr>
          <a:xfrm>
            <a:off x="6381750" y="3290094"/>
            <a:ext cx="95250" cy="127000"/>
          </a:xfrm>
          <a:custGeom>
            <a:avLst/>
            <a:gdLst/>
            <a:ahLst/>
            <a:cxnLst/>
            <a:rect l="l" t="t" r="r" b="b"/>
            <a:pathLst>
              <a:path w="95250" h="127000">
                <a:moveTo>
                  <a:pt x="0" y="46782"/>
                </a:moveTo>
                <a:cubicBezTo>
                  <a:pt x="0" y="20935"/>
                  <a:pt x="21332" y="0"/>
                  <a:pt x="47625" y="0"/>
                </a:cubicBezTo>
                <a:cubicBezTo>
                  <a:pt x="73918" y="0"/>
                  <a:pt x="95250" y="20935"/>
                  <a:pt x="95250" y="46782"/>
                </a:cubicBezTo>
                <a:cubicBezTo>
                  <a:pt x="95250" y="76374"/>
                  <a:pt x="65435" y="111844"/>
                  <a:pt x="52983" y="125363"/>
                </a:cubicBezTo>
                <a:cubicBezTo>
                  <a:pt x="50056" y="128538"/>
                  <a:pt x="45169" y="128538"/>
                  <a:pt x="42242" y="125363"/>
                </a:cubicBezTo>
                <a:cubicBezTo>
                  <a:pt x="29790" y="111844"/>
                  <a:pt x="-25" y="76374"/>
                  <a:pt x="-25" y="46782"/>
                </a:cubicBezTo>
                <a:close/>
                <a:moveTo>
                  <a:pt x="47625" y="63500"/>
                </a:moveTo>
                <a:cubicBezTo>
                  <a:pt x="56387" y="63500"/>
                  <a:pt x="63500" y="56387"/>
                  <a:pt x="63500" y="47625"/>
                </a:cubicBezTo>
                <a:cubicBezTo>
                  <a:pt x="63500" y="38863"/>
                  <a:pt x="56387" y="31750"/>
                  <a:pt x="47625" y="31750"/>
                </a:cubicBezTo>
                <a:cubicBezTo>
                  <a:pt x="38863" y="31750"/>
                  <a:pt x="31750" y="38863"/>
                  <a:pt x="31750" y="47625"/>
                </a:cubicBezTo>
                <a:cubicBezTo>
                  <a:pt x="31750" y="56387"/>
                  <a:pt x="38863" y="63500"/>
                  <a:pt x="47625" y="63500"/>
                </a:cubicBezTo>
                <a:close/>
              </a:path>
            </a:pathLst>
          </a:custGeom>
          <a:solidFill>
            <a:srgbClr val="1E3A5F"/>
          </a:solidFill>
          <a:ln/>
        </p:spPr>
      </p:sp>
      <p:sp>
        <p:nvSpPr>
          <p:cNvPr id="59" name="Text 57"/>
          <p:cNvSpPr/>
          <p:nvPr/>
        </p:nvSpPr>
        <p:spPr>
          <a:xfrm>
            <a:off x="6484938" y="3190875"/>
            <a:ext cx="2563813" cy="317500"/>
          </a:xfrm>
          <a:prstGeom prst="rect">
            <a:avLst/>
          </a:prstGeom>
          <a:noFill/>
          <a:ln/>
        </p:spPr>
        <p:txBody>
          <a:bodyPr wrap="square" lIns="63500" tIns="63500" rIns="63500" bIns="63500" rtlCol="0" anchor="ctr"/>
          <a:lstStyle/>
          <a:p>
            <a:pPr>
              <a:lnSpc>
                <a:spcPct val="130000"/>
              </a:lnSpc>
            </a:pPr>
            <a:r>
              <a:rPr lang="en-US" sz="1000" dirty="0">
                <a:solidFill>
                  <a:srgbClr val="2D3436"/>
                </a:solidFill>
                <a:latin typeface="MiSans" pitchFamily="34" charset="0"/>
                <a:ea typeface="MiSans" pitchFamily="34" charset="-122"/>
                <a:cs typeface="MiSans" pitchFamily="34" charset="-120"/>
              </a:rPr>
              <a:t>Region</a:t>
            </a:r>
            <a:endParaRPr lang="en-US" sz="1600" dirty="0"/>
          </a:p>
        </p:txBody>
      </p:sp>
      <p:sp>
        <p:nvSpPr>
          <p:cNvPr id="60" name="Shape 58"/>
          <p:cNvSpPr/>
          <p:nvPr/>
        </p:nvSpPr>
        <p:spPr>
          <a:xfrm>
            <a:off x="6159500" y="3730625"/>
            <a:ext cx="5715000" cy="1190625"/>
          </a:xfrm>
          <a:custGeom>
            <a:avLst/>
            <a:gdLst/>
            <a:ahLst/>
            <a:cxnLst/>
            <a:rect l="l" t="t" r="r" b="b"/>
            <a:pathLst>
              <a:path w="5715000" h="1190625">
                <a:moveTo>
                  <a:pt x="0" y="0"/>
                </a:moveTo>
                <a:lnTo>
                  <a:pt x="5715000" y="0"/>
                </a:lnTo>
                <a:lnTo>
                  <a:pt x="5715000" y="1190625"/>
                </a:lnTo>
                <a:lnTo>
                  <a:pt x="0" y="1190625"/>
                </a:lnTo>
                <a:lnTo>
                  <a:pt x="0" y="0"/>
                </a:lnTo>
                <a:close/>
              </a:path>
            </a:pathLst>
          </a:custGeom>
          <a:solidFill>
            <a:srgbClr val="1E3A5F"/>
          </a:solidFill>
          <a:ln/>
        </p:spPr>
      </p:sp>
      <p:sp>
        <p:nvSpPr>
          <p:cNvPr id="61" name="Text 59"/>
          <p:cNvSpPr/>
          <p:nvPr/>
        </p:nvSpPr>
        <p:spPr>
          <a:xfrm>
            <a:off x="6286500" y="3857625"/>
            <a:ext cx="5540375" cy="222250"/>
          </a:xfrm>
          <a:prstGeom prst="rect">
            <a:avLst/>
          </a:prstGeom>
          <a:noFill/>
          <a:ln/>
        </p:spPr>
        <p:txBody>
          <a:bodyPr wrap="square" lIns="0" tIns="0" rIns="0" bIns="0" rtlCol="0" anchor="ctr"/>
          <a:lstStyle/>
          <a:p>
            <a:pPr>
              <a:lnSpc>
                <a:spcPct val="120000"/>
              </a:lnSpc>
            </a:pPr>
            <a:r>
              <a:rPr lang="en-US" sz="1250" b="1" dirty="0">
                <a:solidFill>
                  <a:srgbClr val="F8F9FA"/>
                </a:solidFill>
                <a:latin typeface="MiSans" pitchFamily="34" charset="0"/>
                <a:ea typeface="MiSans" pitchFamily="34" charset="-122"/>
                <a:cs typeface="MiSans" pitchFamily="34" charset="-120"/>
              </a:rPr>
              <a:t>Critical Instruction</a:t>
            </a:r>
            <a:endParaRPr lang="en-US" sz="1600" dirty="0"/>
          </a:p>
        </p:txBody>
      </p:sp>
      <p:sp>
        <p:nvSpPr>
          <p:cNvPr id="62" name="Text 60"/>
          <p:cNvSpPr/>
          <p:nvPr/>
        </p:nvSpPr>
        <p:spPr>
          <a:xfrm>
            <a:off x="6286500" y="4175125"/>
            <a:ext cx="5524500" cy="61912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Staff should use the </a:t>
            </a:r>
            <a:pPr>
              <a:lnSpc>
                <a:spcPct val="140000"/>
              </a:lnSpc>
            </a:pPr>
            <a:r>
              <a:rPr lang="en-US" sz="1000" b="1" dirty="0">
                <a:solidFill>
                  <a:srgbClr val="F8F9FA"/>
                </a:solidFill>
                <a:latin typeface="MiSans" pitchFamily="34" charset="0"/>
                <a:ea typeface="MiSans" pitchFamily="34" charset="-122"/>
                <a:cs typeface="MiSans" pitchFamily="34" charset="-120"/>
              </a:rPr>
              <a:t>calibrated progress delta figures</a:t>
            </a:r>
            <a:pPr>
              <a:lnSpc>
                <a:spcPct val="140000"/>
              </a:lnSpc>
            </a:pPr>
            <a:r>
              <a:rPr lang="en-US" sz="1000" dirty="0">
                <a:solidFill>
                  <a:srgbClr val="F8F9FA"/>
                </a:solidFill>
                <a:latin typeface="MiSans" pitchFamily="34" charset="0"/>
                <a:ea typeface="MiSans" pitchFamily="34" charset="-122"/>
                <a:cs typeface="MiSans" pitchFamily="34" charset="-120"/>
              </a:rPr>
              <a:t>, not raw progress data, in all programme-level impact calculations. Using uncalibrated data will produce results that are </a:t>
            </a:r>
            <a:pPr>
              <a:lnSpc>
                <a:spcPct val="140000"/>
              </a:lnSpc>
            </a:pPr>
            <a:r>
              <a:rPr lang="en-US" sz="1000" b="1" dirty="0">
                <a:solidFill>
                  <a:srgbClr val="F8F9FA"/>
                </a:solidFill>
                <a:latin typeface="MiSans" pitchFamily="34" charset="0"/>
                <a:ea typeface="MiSans" pitchFamily="34" charset="-122"/>
                <a:cs typeface="MiSans" pitchFamily="34" charset="-120"/>
              </a:rPr>
              <a:t>not comparable</a:t>
            </a:r>
            <a:pPr>
              <a:lnSpc>
                <a:spcPct val="140000"/>
              </a:lnSpc>
            </a:pPr>
            <a:r>
              <a:rPr lang="en-US" sz="1000" dirty="0">
                <a:solidFill>
                  <a:srgbClr val="F8F9FA"/>
                </a:solidFill>
                <a:latin typeface="MiSans" pitchFamily="34" charset="0"/>
                <a:ea typeface="MiSans" pitchFamily="34" charset="-122"/>
                <a:cs typeface="MiSans" pitchFamily="34" charset="-120"/>
              </a:rPr>
              <a:t> to previously published MPI impact statistics and will require correction.</a:t>
            </a:r>
            <a:endParaRPr lang="en-US" sz="1600" dirty="0"/>
          </a:p>
        </p:txBody>
      </p:sp>
      <p:sp>
        <p:nvSpPr>
          <p:cNvPr id="63" name="Shape 61"/>
          <p:cNvSpPr/>
          <p:nvPr/>
        </p:nvSpPr>
        <p:spPr>
          <a:xfrm>
            <a:off x="6175375" y="5016500"/>
            <a:ext cx="5699125" cy="381000"/>
          </a:xfrm>
          <a:custGeom>
            <a:avLst/>
            <a:gdLst/>
            <a:ahLst/>
            <a:cxnLst/>
            <a:rect l="l" t="t" r="r" b="b"/>
            <a:pathLst>
              <a:path w="5699125" h="381000">
                <a:moveTo>
                  <a:pt x="0" y="0"/>
                </a:moveTo>
                <a:lnTo>
                  <a:pt x="5699125" y="0"/>
                </a:lnTo>
                <a:lnTo>
                  <a:pt x="5699125" y="381000"/>
                </a:lnTo>
                <a:lnTo>
                  <a:pt x="0" y="381000"/>
                </a:lnTo>
                <a:lnTo>
                  <a:pt x="0" y="0"/>
                </a:lnTo>
                <a:close/>
              </a:path>
            </a:pathLst>
          </a:custGeom>
          <a:solidFill>
            <a:srgbClr val="C49A2C">
              <a:alpha val="10196"/>
            </a:srgbClr>
          </a:solidFill>
          <a:ln/>
        </p:spPr>
      </p:sp>
      <p:sp>
        <p:nvSpPr>
          <p:cNvPr id="64" name="Shape 62"/>
          <p:cNvSpPr/>
          <p:nvPr/>
        </p:nvSpPr>
        <p:spPr>
          <a:xfrm>
            <a:off x="6175375" y="5016500"/>
            <a:ext cx="31750" cy="381000"/>
          </a:xfrm>
          <a:custGeom>
            <a:avLst/>
            <a:gdLst/>
            <a:ahLst/>
            <a:cxnLst/>
            <a:rect l="l" t="t" r="r" b="b"/>
            <a:pathLst>
              <a:path w="31750" h="381000">
                <a:moveTo>
                  <a:pt x="0" y="0"/>
                </a:moveTo>
                <a:lnTo>
                  <a:pt x="31750" y="0"/>
                </a:lnTo>
                <a:lnTo>
                  <a:pt x="31750" y="381000"/>
                </a:lnTo>
                <a:lnTo>
                  <a:pt x="0" y="381000"/>
                </a:lnTo>
                <a:lnTo>
                  <a:pt x="0" y="0"/>
                </a:lnTo>
                <a:close/>
              </a:path>
            </a:pathLst>
          </a:custGeom>
          <a:solidFill>
            <a:srgbClr val="C49A2C"/>
          </a:solidFill>
          <a:ln/>
        </p:spPr>
      </p:sp>
      <p:sp>
        <p:nvSpPr>
          <p:cNvPr id="65" name="Shape 63"/>
          <p:cNvSpPr/>
          <p:nvPr/>
        </p:nvSpPr>
        <p:spPr>
          <a:xfrm>
            <a:off x="6310313" y="5147469"/>
            <a:ext cx="111125" cy="127000"/>
          </a:xfrm>
          <a:custGeom>
            <a:avLst/>
            <a:gdLst/>
            <a:ahLst/>
            <a:cxnLst/>
            <a:rect l="l" t="t" r="r" b="b"/>
            <a:pathLst>
              <a:path w="111125" h="127000">
                <a:moveTo>
                  <a:pt x="95250" y="127000"/>
                </a:moveTo>
                <a:lnTo>
                  <a:pt x="23812" y="127000"/>
                </a:lnTo>
                <a:cubicBezTo>
                  <a:pt x="10666" y="127000"/>
                  <a:pt x="0" y="116334"/>
                  <a:pt x="0" y="103188"/>
                </a:cubicBezTo>
                <a:lnTo>
                  <a:pt x="0" y="23812"/>
                </a:lnTo>
                <a:cubicBezTo>
                  <a:pt x="0" y="10666"/>
                  <a:pt x="10666" y="0"/>
                  <a:pt x="23812" y="0"/>
                </a:cubicBezTo>
                <a:lnTo>
                  <a:pt x="99219" y="0"/>
                </a:lnTo>
                <a:cubicBezTo>
                  <a:pt x="105792" y="0"/>
                  <a:pt x="111125" y="5333"/>
                  <a:pt x="111125" y="11906"/>
                </a:cubicBezTo>
                <a:lnTo>
                  <a:pt x="111125" y="83344"/>
                </a:lnTo>
                <a:cubicBezTo>
                  <a:pt x="111125" y="88528"/>
                  <a:pt x="107801" y="92943"/>
                  <a:pt x="103188" y="94580"/>
                </a:cubicBezTo>
                <a:lnTo>
                  <a:pt x="103188" y="111125"/>
                </a:lnTo>
                <a:cubicBezTo>
                  <a:pt x="107578" y="111125"/>
                  <a:pt x="111125" y="114672"/>
                  <a:pt x="111125" y="119063"/>
                </a:cubicBezTo>
                <a:cubicBezTo>
                  <a:pt x="111125" y="123453"/>
                  <a:pt x="107578" y="127000"/>
                  <a:pt x="103188" y="127000"/>
                </a:cubicBezTo>
                <a:lnTo>
                  <a:pt x="95250" y="127000"/>
                </a:lnTo>
                <a:close/>
                <a:moveTo>
                  <a:pt x="23812" y="95250"/>
                </a:moveTo>
                <a:cubicBezTo>
                  <a:pt x="19422" y="95250"/>
                  <a:pt x="15875" y="98797"/>
                  <a:pt x="15875" y="103188"/>
                </a:cubicBezTo>
                <a:cubicBezTo>
                  <a:pt x="15875" y="107578"/>
                  <a:pt x="19422" y="111125"/>
                  <a:pt x="23812" y="111125"/>
                </a:cubicBezTo>
                <a:lnTo>
                  <a:pt x="87313" y="111125"/>
                </a:lnTo>
                <a:lnTo>
                  <a:pt x="87313" y="95250"/>
                </a:lnTo>
                <a:lnTo>
                  <a:pt x="23812" y="95250"/>
                </a:lnTo>
                <a:close/>
                <a:moveTo>
                  <a:pt x="31750" y="37703"/>
                </a:moveTo>
                <a:cubicBezTo>
                  <a:pt x="31750" y="41002"/>
                  <a:pt x="34404" y="43656"/>
                  <a:pt x="37703" y="43656"/>
                </a:cubicBezTo>
                <a:lnTo>
                  <a:pt x="81359" y="43656"/>
                </a:lnTo>
                <a:cubicBezTo>
                  <a:pt x="84658" y="43656"/>
                  <a:pt x="87313" y="41002"/>
                  <a:pt x="87313" y="37703"/>
                </a:cubicBezTo>
                <a:cubicBezTo>
                  <a:pt x="87313" y="34404"/>
                  <a:pt x="84658" y="31750"/>
                  <a:pt x="81359" y="31750"/>
                </a:cubicBezTo>
                <a:lnTo>
                  <a:pt x="37703" y="31750"/>
                </a:lnTo>
                <a:cubicBezTo>
                  <a:pt x="34404" y="31750"/>
                  <a:pt x="31750" y="34404"/>
                  <a:pt x="31750" y="37703"/>
                </a:cubicBezTo>
                <a:close/>
                <a:moveTo>
                  <a:pt x="37703" y="55563"/>
                </a:moveTo>
                <a:cubicBezTo>
                  <a:pt x="34404" y="55563"/>
                  <a:pt x="31750" y="58217"/>
                  <a:pt x="31750" y="61516"/>
                </a:cubicBezTo>
                <a:cubicBezTo>
                  <a:pt x="31750" y="64815"/>
                  <a:pt x="34404" y="67469"/>
                  <a:pt x="37703" y="67469"/>
                </a:cubicBezTo>
                <a:lnTo>
                  <a:pt x="81359" y="67469"/>
                </a:lnTo>
                <a:cubicBezTo>
                  <a:pt x="84658" y="67469"/>
                  <a:pt x="87313" y="64815"/>
                  <a:pt x="87313" y="61516"/>
                </a:cubicBezTo>
                <a:cubicBezTo>
                  <a:pt x="87313" y="58217"/>
                  <a:pt x="84658" y="55563"/>
                  <a:pt x="81359" y="55563"/>
                </a:cubicBezTo>
                <a:lnTo>
                  <a:pt x="37703" y="55563"/>
                </a:lnTo>
                <a:close/>
              </a:path>
            </a:pathLst>
          </a:custGeom>
          <a:solidFill>
            <a:srgbClr val="C49A2C"/>
          </a:solidFill>
          <a:ln/>
        </p:spPr>
      </p:sp>
      <p:sp>
        <p:nvSpPr>
          <p:cNvPr id="66" name="Text 64"/>
          <p:cNvSpPr/>
          <p:nvPr/>
        </p:nvSpPr>
        <p:spPr>
          <a:xfrm>
            <a:off x="6484938" y="5111750"/>
            <a:ext cx="5357813"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Reference:</a:t>
            </a:r>
            <a:pPr>
              <a:lnSpc>
                <a:spcPct val="130000"/>
              </a:lnSpc>
            </a:pPr>
            <a:r>
              <a:rPr lang="en-US" sz="1000" dirty="0">
                <a:solidFill>
                  <a:srgbClr val="1E3A5F"/>
                </a:solidFill>
                <a:latin typeface="MiSans" pitchFamily="34" charset="0"/>
                <a:ea typeface="MiSans" pitchFamily="34" charset="-122"/>
                <a:cs typeface="MiSans" pitchFamily="34" charset="-120"/>
              </a:rPr>
              <a:t> MPI Technical Handbook, Ch. 3 — The MPI Measurement Framework</a:t>
            </a:r>
            <a:endParaRPr lang="en-US" sz="16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6270625"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Reference: MPI Technical Handbook Chapters 3 and 6</a:t>
            </a:r>
            <a:endParaRPr lang="en-US" sz="1600" dirty="0"/>
          </a:p>
        </p:txBody>
      </p:sp>
      <p:sp>
        <p:nvSpPr>
          <p:cNvPr id="4" name="Text 2"/>
          <p:cNvSpPr/>
          <p:nvPr/>
        </p:nvSpPr>
        <p:spPr>
          <a:xfrm>
            <a:off x="476250" y="762000"/>
            <a:ext cx="11461750" cy="190500"/>
          </a:xfrm>
          <a:prstGeom prst="rect">
            <a:avLst/>
          </a:prstGeom>
          <a:noFill/>
          <a:ln/>
        </p:spPr>
        <p:txBody>
          <a:bodyPr wrap="square" lIns="0" tIns="0" rIns="0" bIns="0" rtlCol="0" anchor="ctr"/>
          <a:lstStyle/>
          <a:p>
            <a:pPr>
              <a:lnSpc>
                <a:spcPct val="130000"/>
              </a:lnSpc>
            </a:pPr>
            <a:r>
              <a:rPr lang="en-US" sz="1000" dirty="0">
                <a:solidFill>
                  <a:srgbClr val="6C757D"/>
                </a:solidFill>
                <a:latin typeface="MiSans" pitchFamily="34" charset="0"/>
                <a:ea typeface="MiSans" pitchFamily="34" charset="-122"/>
                <a:cs typeface="MiSans" pitchFamily="34" charset="-120"/>
              </a:rPr>
              <a:t>Essential reading for staff working with MPI outcome data</a:t>
            </a:r>
            <a:endParaRPr lang="en-US" sz="1600" dirty="0"/>
          </a:p>
        </p:txBody>
      </p:sp>
      <p:sp>
        <p:nvSpPr>
          <p:cNvPr id="5" name="Shape 3"/>
          <p:cNvSpPr/>
          <p:nvPr/>
        </p:nvSpPr>
        <p:spPr>
          <a:xfrm>
            <a:off x="317500" y="1095375"/>
            <a:ext cx="5715000" cy="4127500"/>
          </a:xfrm>
          <a:custGeom>
            <a:avLst/>
            <a:gdLst/>
            <a:ahLst/>
            <a:cxnLst/>
            <a:rect l="l" t="t" r="r" b="b"/>
            <a:pathLst>
              <a:path w="5715000" h="4127500">
                <a:moveTo>
                  <a:pt x="0" y="0"/>
                </a:moveTo>
                <a:lnTo>
                  <a:pt x="5715000" y="0"/>
                </a:lnTo>
                <a:lnTo>
                  <a:pt x="5715000" y="4127500"/>
                </a:lnTo>
                <a:lnTo>
                  <a:pt x="0" y="4127500"/>
                </a:lnTo>
                <a:lnTo>
                  <a:pt x="0" y="0"/>
                </a:lnTo>
                <a:close/>
              </a:path>
            </a:pathLst>
          </a:custGeom>
          <a:solidFill>
            <a:srgbClr val="FFFFFF"/>
          </a:solidFill>
          <a:ln/>
        </p:spPr>
      </p:sp>
      <p:sp>
        <p:nvSpPr>
          <p:cNvPr id="6" name="Shape 4"/>
          <p:cNvSpPr/>
          <p:nvPr/>
        </p:nvSpPr>
        <p:spPr>
          <a:xfrm>
            <a:off x="317500" y="10953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7" name="Shape 5"/>
          <p:cNvSpPr/>
          <p:nvPr/>
        </p:nvSpPr>
        <p:spPr>
          <a:xfrm>
            <a:off x="44450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8" name="Text 6"/>
          <p:cNvSpPr/>
          <p:nvPr/>
        </p:nvSpPr>
        <p:spPr>
          <a:xfrm>
            <a:off x="396875" y="1238250"/>
            <a:ext cx="476250" cy="381000"/>
          </a:xfrm>
          <a:prstGeom prst="rect">
            <a:avLst/>
          </a:prstGeom>
          <a:noFill/>
          <a:ln/>
        </p:spPr>
        <p:txBody>
          <a:bodyPr wrap="square" lIns="0" tIns="0" rIns="0" bIns="0" rtlCol="0" anchor="ctr"/>
          <a:lstStyle/>
          <a:p>
            <a:pPr algn="ctr">
              <a:lnSpc>
                <a:spcPct val="110000"/>
              </a:lnSpc>
            </a:pPr>
            <a:r>
              <a:rPr lang="en-US" sz="1500" b="1" dirty="0">
                <a:solidFill>
                  <a:srgbClr val="F8F9FA"/>
                </a:solidFill>
                <a:latin typeface="MiSans" pitchFamily="34" charset="0"/>
                <a:ea typeface="MiSans" pitchFamily="34" charset="-122"/>
                <a:cs typeface="MiSans" pitchFamily="34" charset="-120"/>
              </a:rPr>
              <a:t>3</a:t>
            </a:r>
            <a:endParaRPr lang="en-US" sz="1600" dirty="0"/>
          </a:p>
        </p:txBody>
      </p:sp>
      <p:sp>
        <p:nvSpPr>
          <p:cNvPr id="9" name="Text 7"/>
          <p:cNvSpPr/>
          <p:nvPr/>
        </p:nvSpPr>
        <p:spPr>
          <a:xfrm>
            <a:off x="920750" y="1317625"/>
            <a:ext cx="26828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The MPI Measurement Framework</a:t>
            </a:r>
            <a:endParaRPr lang="en-US" sz="1600" dirty="0"/>
          </a:p>
        </p:txBody>
      </p:sp>
      <p:sp>
        <p:nvSpPr>
          <p:cNvPr id="10" name="Text 8"/>
          <p:cNvSpPr/>
          <p:nvPr/>
        </p:nvSpPr>
        <p:spPr>
          <a:xfrm>
            <a:off x="444500" y="1714500"/>
            <a:ext cx="552450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chapter is </a:t>
            </a:r>
            <a:pPr>
              <a:lnSpc>
                <a:spcPct val="140000"/>
              </a:lnSpc>
            </a:pPr>
            <a:r>
              <a:rPr lang="en-US" sz="1000" b="1" dirty="0">
                <a:solidFill>
                  <a:srgbClr val="2D3436"/>
                </a:solidFill>
                <a:latin typeface="MiSans" pitchFamily="34" charset="0"/>
                <a:ea typeface="MiSans" pitchFamily="34" charset="-122"/>
                <a:cs typeface="MiSans" pitchFamily="34" charset="-120"/>
              </a:rPr>
              <a:t>essential reading</a:t>
            </a:r>
            <a:pPr>
              <a:lnSpc>
                <a:spcPct val="140000"/>
              </a:lnSpc>
            </a:pPr>
            <a:r>
              <a:rPr lang="en-US" sz="1000" dirty="0">
                <a:solidFill>
                  <a:srgbClr val="2D3436"/>
                </a:solidFill>
                <a:latin typeface="MiSans" pitchFamily="34" charset="0"/>
                <a:ea typeface="MiSans" pitchFamily="34" charset="-122"/>
                <a:cs typeface="MiSans" pitchFamily="34" charset="-120"/>
              </a:rPr>
              <a:t> for anyone working with MPI outcome data. It covers:</a:t>
            </a:r>
            <a:endParaRPr lang="en-US" sz="1600" dirty="0"/>
          </a:p>
        </p:txBody>
      </p:sp>
      <p:sp>
        <p:nvSpPr>
          <p:cNvPr id="11" name="Shape 9"/>
          <p:cNvSpPr/>
          <p:nvPr/>
        </p:nvSpPr>
        <p:spPr>
          <a:xfrm>
            <a:off x="460375" y="2016125"/>
            <a:ext cx="5445125" cy="619125"/>
          </a:xfrm>
          <a:custGeom>
            <a:avLst/>
            <a:gdLst/>
            <a:ahLst/>
            <a:cxnLst/>
            <a:rect l="l" t="t" r="r" b="b"/>
            <a:pathLst>
              <a:path w="5445125" h="619125">
                <a:moveTo>
                  <a:pt x="0" y="0"/>
                </a:moveTo>
                <a:lnTo>
                  <a:pt x="5445125" y="0"/>
                </a:lnTo>
                <a:lnTo>
                  <a:pt x="5445125" y="619125"/>
                </a:lnTo>
                <a:lnTo>
                  <a:pt x="0" y="619125"/>
                </a:lnTo>
                <a:lnTo>
                  <a:pt x="0" y="0"/>
                </a:lnTo>
                <a:close/>
              </a:path>
            </a:pathLst>
          </a:custGeom>
          <a:solidFill>
            <a:srgbClr val="F8F9FA"/>
          </a:solidFill>
          <a:ln/>
        </p:spPr>
      </p:sp>
      <p:sp>
        <p:nvSpPr>
          <p:cNvPr id="12" name="Shape 10"/>
          <p:cNvSpPr/>
          <p:nvPr/>
        </p:nvSpPr>
        <p:spPr>
          <a:xfrm>
            <a:off x="460375" y="2016125"/>
            <a:ext cx="31750" cy="619125"/>
          </a:xfrm>
          <a:custGeom>
            <a:avLst/>
            <a:gdLst/>
            <a:ahLst/>
            <a:cxnLst/>
            <a:rect l="l" t="t" r="r" b="b"/>
            <a:pathLst>
              <a:path w="31750" h="619125">
                <a:moveTo>
                  <a:pt x="0" y="0"/>
                </a:moveTo>
                <a:lnTo>
                  <a:pt x="31750" y="0"/>
                </a:lnTo>
                <a:lnTo>
                  <a:pt x="31750" y="619125"/>
                </a:lnTo>
                <a:lnTo>
                  <a:pt x="0" y="619125"/>
                </a:lnTo>
                <a:lnTo>
                  <a:pt x="0" y="0"/>
                </a:lnTo>
                <a:close/>
              </a:path>
            </a:pathLst>
          </a:custGeom>
          <a:solidFill>
            <a:srgbClr val="1E3A5F"/>
          </a:solidFill>
          <a:ln/>
        </p:spPr>
      </p:sp>
      <p:sp>
        <p:nvSpPr>
          <p:cNvPr id="13" name="Text 11"/>
          <p:cNvSpPr/>
          <p:nvPr/>
        </p:nvSpPr>
        <p:spPr>
          <a:xfrm>
            <a:off x="571500" y="2111375"/>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Baseline Assessment Protocol</a:t>
            </a:r>
            <a:endParaRPr lang="en-US" sz="1600" dirty="0"/>
          </a:p>
        </p:txBody>
      </p:sp>
      <p:sp>
        <p:nvSpPr>
          <p:cNvPr id="14" name="Text 12"/>
          <p:cNvSpPr/>
          <p:nvPr/>
        </p:nvSpPr>
        <p:spPr>
          <a:xfrm>
            <a:off x="571500" y="2333625"/>
            <a:ext cx="530225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KS2 data + Entry Assessment Tool → </a:t>
            </a:r>
            <a:pPr>
              <a:lnSpc>
                <a:spcPct val="140000"/>
              </a:lnSpc>
            </a:pPr>
            <a:r>
              <a:rPr lang="en-US" sz="1000" b="1" dirty="0">
                <a:solidFill>
                  <a:srgbClr val="2D3436"/>
                </a:solidFill>
                <a:latin typeface="MiSans" pitchFamily="34" charset="0"/>
                <a:ea typeface="MiSans" pitchFamily="34" charset="-122"/>
                <a:cs typeface="MiSans" pitchFamily="34" charset="-120"/>
              </a:rPr>
              <a:t>composite baseline score</a:t>
            </a:r>
            <a:pPr>
              <a:lnSpc>
                <a:spcPct val="140000"/>
              </a:lnSpc>
            </a:pPr>
            <a:r>
              <a:rPr lang="en-US" sz="1000" dirty="0">
                <a:solidFill>
                  <a:srgbClr val="2D3436"/>
                </a:solidFill>
                <a:latin typeface="MiSans" pitchFamily="34" charset="0"/>
                <a:ea typeface="MiSans" pitchFamily="34" charset="-122"/>
                <a:cs typeface="MiSans" pitchFamily="34" charset="-120"/>
              </a:rPr>
              <a:t> (mean 100, SD 15)</a:t>
            </a:r>
            <a:endParaRPr lang="en-US" sz="1600" dirty="0"/>
          </a:p>
        </p:txBody>
      </p:sp>
      <p:sp>
        <p:nvSpPr>
          <p:cNvPr id="15" name="Shape 13"/>
          <p:cNvSpPr/>
          <p:nvPr/>
        </p:nvSpPr>
        <p:spPr>
          <a:xfrm>
            <a:off x="460375" y="269875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16" name="Shape 14"/>
          <p:cNvSpPr/>
          <p:nvPr/>
        </p:nvSpPr>
        <p:spPr>
          <a:xfrm>
            <a:off x="460375" y="269875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C49A2C"/>
          </a:solidFill>
          <a:ln/>
        </p:spPr>
      </p:sp>
      <p:sp>
        <p:nvSpPr>
          <p:cNvPr id="17" name="Text 15"/>
          <p:cNvSpPr/>
          <p:nvPr/>
        </p:nvSpPr>
        <p:spPr>
          <a:xfrm>
            <a:off x="571500" y="27940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Progress Fidelity Scoring</a:t>
            </a:r>
            <a:endParaRPr lang="en-US" sz="1600" dirty="0"/>
          </a:p>
        </p:txBody>
      </p:sp>
      <p:sp>
        <p:nvSpPr>
          <p:cNvPr id="18" name="Text 16"/>
          <p:cNvSpPr/>
          <p:nvPr/>
        </p:nvSpPr>
        <p:spPr>
          <a:xfrm>
            <a:off x="571500" y="3016250"/>
            <a:ext cx="5302250" cy="412750"/>
          </a:xfrm>
          <a:prstGeom prst="rect">
            <a:avLst/>
          </a:prstGeom>
          <a:noFill/>
          <a:ln/>
        </p:spPr>
        <p:txBody>
          <a:bodyPr wrap="square" lIns="0" tIns="0" rIns="0" bIns="0" rtlCol="0" anchor="ctr"/>
          <a:lstStyle/>
          <a:p>
            <a:pPr>
              <a:lnSpc>
                <a:spcPct val="140000"/>
              </a:lnSpc>
            </a:pPr>
            <a:r>
              <a:rPr lang="en-US" sz="1000" b="1" dirty="0">
                <a:solidFill>
                  <a:srgbClr val="2D3436"/>
                </a:solidFill>
                <a:latin typeface="MiSans" pitchFamily="34" charset="0"/>
                <a:ea typeface="MiSans" pitchFamily="34" charset="-122"/>
                <a:cs typeface="MiSans" pitchFamily="34" charset="-120"/>
              </a:rPr>
              <a:t>0–100 scale</a:t>
            </a:r>
            <a:pPr>
              <a:lnSpc>
                <a:spcPct val="140000"/>
              </a:lnSpc>
            </a:pPr>
            <a:r>
              <a:rPr lang="en-US" sz="1000" dirty="0">
                <a:solidFill>
                  <a:srgbClr val="2D3436"/>
                </a:solidFill>
                <a:latin typeface="MiSans" pitchFamily="34" charset="0"/>
                <a:ea typeface="MiSans" pitchFamily="34" charset="-122"/>
                <a:cs typeface="MiSans" pitchFamily="34" charset="-120"/>
              </a:rPr>
              <a:t>, scores &gt;70 = strong programme alignment, 50–70 = adequate, &lt;50 = insufficient</a:t>
            </a:r>
            <a:endParaRPr lang="en-US" sz="1600" dirty="0"/>
          </a:p>
        </p:txBody>
      </p:sp>
      <p:sp>
        <p:nvSpPr>
          <p:cNvPr id="19" name="Shape 17"/>
          <p:cNvSpPr/>
          <p:nvPr/>
        </p:nvSpPr>
        <p:spPr>
          <a:xfrm>
            <a:off x="460375" y="358775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20" name="Shape 18"/>
          <p:cNvSpPr/>
          <p:nvPr/>
        </p:nvSpPr>
        <p:spPr>
          <a:xfrm>
            <a:off x="460375" y="358775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1E3A5F"/>
          </a:solidFill>
          <a:ln/>
        </p:spPr>
      </p:sp>
      <p:sp>
        <p:nvSpPr>
          <p:cNvPr id="21" name="Text 19"/>
          <p:cNvSpPr/>
          <p:nvPr/>
        </p:nvSpPr>
        <p:spPr>
          <a:xfrm>
            <a:off x="571500" y="36830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Cohort Calibration Methodology</a:t>
            </a:r>
            <a:endParaRPr lang="en-US" sz="1600" dirty="0"/>
          </a:p>
        </p:txBody>
      </p:sp>
      <p:sp>
        <p:nvSpPr>
          <p:cNvPr id="22" name="Text 20"/>
          <p:cNvSpPr/>
          <p:nvPr/>
        </p:nvSpPr>
        <p:spPr>
          <a:xfrm>
            <a:off x="571500" y="390525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Rolling three-year window → </a:t>
            </a:r>
            <a:pPr>
              <a:lnSpc>
                <a:spcPct val="140000"/>
              </a:lnSpc>
            </a:pPr>
            <a:r>
              <a:rPr lang="en-US" sz="1000" b="1" dirty="0">
                <a:solidFill>
                  <a:srgbClr val="2D3436"/>
                </a:solidFill>
                <a:latin typeface="MiSans" pitchFamily="34" charset="0"/>
                <a:ea typeface="MiSans" pitchFamily="34" charset="-122"/>
                <a:cs typeface="MiSans" pitchFamily="34" charset="-120"/>
              </a:rPr>
              <a:t>calibrated progress delta</a:t>
            </a:r>
            <a:pPr>
              <a:lnSpc>
                <a:spcPct val="140000"/>
              </a:lnSpc>
            </a:pPr>
            <a:r>
              <a:rPr lang="en-US" sz="1000" dirty="0">
                <a:solidFill>
                  <a:srgbClr val="2D3436"/>
                </a:solidFill>
                <a:latin typeface="MiSans" pitchFamily="34" charset="0"/>
                <a:ea typeface="MiSans" pitchFamily="34" charset="-122"/>
                <a:cs typeface="MiSans" pitchFamily="34" charset="-120"/>
              </a:rPr>
              <a:t> (the figure used in all impact statements)</a:t>
            </a:r>
            <a:endParaRPr lang="en-US" sz="1600" dirty="0"/>
          </a:p>
        </p:txBody>
      </p:sp>
      <p:sp>
        <p:nvSpPr>
          <p:cNvPr id="23" name="Shape 21"/>
          <p:cNvSpPr/>
          <p:nvPr/>
        </p:nvSpPr>
        <p:spPr>
          <a:xfrm>
            <a:off x="460375" y="4476750"/>
            <a:ext cx="5445125" cy="619125"/>
          </a:xfrm>
          <a:custGeom>
            <a:avLst/>
            <a:gdLst/>
            <a:ahLst/>
            <a:cxnLst/>
            <a:rect l="l" t="t" r="r" b="b"/>
            <a:pathLst>
              <a:path w="5445125" h="619125">
                <a:moveTo>
                  <a:pt x="0" y="0"/>
                </a:moveTo>
                <a:lnTo>
                  <a:pt x="5445125" y="0"/>
                </a:lnTo>
                <a:lnTo>
                  <a:pt x="5445125" y="619125"/>
                </a:lnTo>
                <a:lnTo>
                  <a:pt x="0" y="619125"/>
                </a:lnTo>
                <a:lnTo>
                  <a:pt x="0" y="0"/>
                </a:lnTo>
                <a:close/>
              </a:path>
            </a:pathLst>
          </a:custGeom>
          <a:solidFill>
            <a:srgbClr val="F8F9FA"/>
          </a:solidFill>
          <a:ln/>
        </p:spPr>
      </p:sp>
      <p:sp>
        <p:nvSpPr>
          <p:cNvPr id="24" name="Shape 22"/>
          <p:cNvSpPr/>
          <p:nvPr/>
        </p:nvSpPr>
        <p:spPr>
          <a:xfrm>
            <a:off x="460375" y="4476750"/>
            <a:ext cx="31750" cy="619125"/>
          </a:xfrm>
          <a:custGeom>
            <a:avLst/>
            <a:gdLst/>
            <a:ahLst/>
            <a:cxnLst/>
            <a:rect l="l" t="t" r="r" b="b"/>
            <a:pathLst>
              <a:path w="31750" h="619125">
                <a:moveTo>
                  <a:pt x="0" y="0"/>
                </a:moveTo>
                <a:lnTo>
                  <a:pt x="31750" y="0"/>
                </a:lnTo>
                <a:lnTo>
                  <a:pt x="31750" y="619125"/>
                </a:lnTo>
                <a:lnTo>
                  <a:pt x="0" y="619125"/>
                </a:lnTo>
                <a:lnTo>
                  <a:pt x="0" y="0"/>
                </a:lnTo>
                <a:close/>
              </a:path>
            </a:pathLst>
          </a:custGeom>
          <a:solidFill>
            <a:srgbClr val="C49A2C"/>
          </a:solidFill>
          <a:ln/>
        </p:spPr>
      </p:sp>
      <p:sp>
        <p:nvSpPr>
          <p:cNvPr id="25" name="Text 23"/>
          <p:cNvSpPr/>
          <p:nvPr/>
        </p:nvSpPr>
        <p:spPr>
          <a:xfrm>
            <a:off x="571500" y="45720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Annual Impact Calculation</a:t>
            </a:r>
            <a:endParaRPr lang="en-US" sz="1600" dirty="0"/>
          </a:p>
        </p:txBody>
      </p:sp>
      <p:sp>
        <p:nvSpPr>
          <p:cNvPr id="26" name="Text 24"/>
          <p:cNvSpPr/>
          <p:nvPr/>
        </p:nvSpPr>
        <p:spPr>
          <a:xfrm>
            <a:off x="571500" y="4794250"/>
            <a:ext cx="530225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Weighted average → </a:t>
            </a:r>
            <a:pPr>
              <a:lnSpc>
                <a:spcPct val="140000"/>
              </a:lnSpc>
            </a:pPr>
            <a:r>
              <a:rPr lang="en-US" sz="1000" b="1" dirty="0">
                <a:solidFill>
                  <a:srgbClr val="2D3436"/>
                </a:solidFill>
                <a:latin typeface="MiSans" pitchFamily="34" charset="0"/>
                <a:ea typeface="MiSans" pitchFamily="34" charset="-122"/>
                <a:cs typeface="MiSans" pitchFamily="34" charset="-120"/>
              </a:rPr>
              <a:t>headline effect size figure</a:t>
            </a:r>
            <a:pPr>
              <a:lnSpc>
                <a:spcPct val="140000"/>
              </a:lnSpc>
            </a:pPr>
            <a:r>
              <a:rPr lang="en-US" sz="1000" dirty="0">
                <a:solidFill>
                  <a:srgbClr val="2D3436"/>
                </a:solidFill>
                <a:latin typeface="MiSans" pitchFamily="34" charset="0"/>
                <a:ea typeface="MiSans" pitchFamily="34" charset="-122"/>
                <a:cs typeface="MiSans" pitchFamily="34" charset="-120"/>
              </a:rPr>
              <a:t> (currently 0.61)</a:t>
            </a:r>
            <a:endParaRPr lang="en-US" sz="1600" dirty="0"/>
          </a:p>
        </p:txBody>
      </p:sp>
      <p:sp>
        <p:nvSpPr>
          <p:cNvPr id="27" name="Shape 25"/>
          <p:cNvSpPr/>
          <p:nvPr/>
        </p:nvSpPr>
        <p:spPr>
          <a:xfrm>
            <a:off x="6159500" y="1095375"/>
            <a:ext cx="5715000" cy="3238500"/>
          </a:xfrm>
          <a:custGeom>
            <a:avLst/>
            <a:gdLst/>
            <a:ahLst/>
            <a:cxnLst/>
            <a:rect l="l" t="t" r="r" b="b"/>
            <a:pathLst>
              <a:path w="5715000" h="3238500">
                <a:moveTo>
                  <a:pt x="0" y="0"/>
                </a:moveTo>
                <a:lnTo>
                  <a:pt x="5715000" y="0"/>
                </a:lnTo>
                <a:lnTo>
                  <a:pt x="5715000" y="3238500"/>
                </a:lnTo>
                <a:lnTo>
                  <a:pt x="0" y="3238500"/>
                </a:lnTo>
                <a:lnTo>
                  <a:pt x="0" y="0"/>
                </a:lnTo>
                <a:close/>
              </a:path>
            </a:pathLst>
          </a:custGeom>
          <a:solidFill>
            <a:srgbClr val="FFFFFF"/>
          </a:solidFill>
          <a:ln/>
        </p:spPr>
      </p:sp>
      <p:sp>
        <p:nvSpPr>
          <p:cNvPr id="28" name="Shape 26"/>
          <p:cNvSpPr/>
          <p:nvPr/>
        </p:nvSpPr>
        <p:spPr>
          <a:xfrm>
            <a:off x="6159500" y="10953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C49A2C"/>
          </a:solidFill>
          <a:ln/>
        </p:spPr>
      </p:sp>
      <p:sp>
        <p:nvSpPr>
          <p:cNvPr id="29" name="Shape 27"/>
          <p:cNvSpPr/>
          <p:nvPr/>
        </p:nvSpPr>
        <p:spPr>
          <a:xfrm>
            <a:off x="628650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C49A2C"/>
          </a:solidFill>
          <a:ln/>
        </p:spPr>
      </p:sp>
      <p:sp>
        <p:nvSpPr>
          <p:cNvPr id="30" name="Text 28"/>
          <p:cNvSpPr/>
          <p:nvPr/>
        </p:nvSpPr>
        <p:spPr>
          <a:xfrm>
            <a:off x="6238875" y="1238250"/>
            <a:ext cx="476250" cy="381000"/>
          </a:xfrm>
          <a:prstGeom prst="rect">
            <a:avLst/>
          </a:prstGeom>
          <a:noFill/>
          <a:ln/>
        </p:spPr>
        <p:txBody>
          <a:bodyPr wrap="square" lIns="0" tIns="0" rIns="0" bIns="0" rtlCol="0" anchor="ctr"/>
          <a:lstStyle/>
          <a:p>
            <a:pPr algn="ctr">
              <a:lnSpc>
                <a:spcPct val="110000"/>
              </a:lnSpc>
            </a:pPr>
            <a:r>
              <a:rPr lang="en-US" sz="1500" b="1" dirty="0">
                <a:solidFill>
                  <a:srgbClr val="F8F9FA"/>
                </a:solidFill>
                <a:latin typeface="MiSans" pitchFamily="34" charset="0"/>
                <a:ea typeface="MiSans" pitchFamily="34" charset="-122"/>
                <a:cs typeface="MiSans" pitchFamily="34" charset="-120"/>
              </a:rPr>
              <a:t>6</a:t>
            </a:r>
            <a:endParaRPr lang="en-US" sz="1600" dirty="0"/>
          </a:p>
        </p:txBody>
      </p:sp>
      <p:sp>
        <p:nvSpPr>
          <p:cNvPr id="31" name="Text 29"/>
          <p:cNvSpPr/>
          <p:nvPr/>
        </p:nvSpPr>
        <p:spPr>
          <a:xfrm>
            <a:off x="6762750" y="1317625"/>
            <a:ext cx="2667000"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Evidence Base and Outcome Data</a:t>
            </a:r>
            <a:endParaRPr lang="en-US" sz="1600" dirty="0"/>
          </a:p>
        </p:txBody>
      </p:sp>
      <p:sp>
        <p:nvSpPr>
          <p:cNvPr id="32" name="Text 30"/>
          <p:cNvSpPr/>
          <p:nvPr/>
        </p:nvSpPr>
        <p:spPr>
          <a:xfrm>
            <a:off x="6286500" y="171450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chapter provides the </a:t>
            </a:r>
            <a:pPr>
              <a:lnSpc>
                <a:spcPct val="140000"/>
              </a:lnSpc>
            </a:pPr>
            <a:r>
              <a:rPr lang="en-US" sz="1000" b="1" dirty="0">
                <a:solidFill>
                  <a:srgbClr val="2D3436"/>
                </a:solidFill>
                <a:latin typeface="MiSans" pitchFamily="34" charset="0"/>
                <a:ea typeface="MiSans" pitchFamily="34" charset="-122"/>
                <a:cs typeface="MiSans" pitchFamily="34" charset="-120"/>
              </a:rPr>
              <a:t>context necessary for interpreting the MPI_Current dataset</a:t>
            </a:r>
            <a:pPr>
              <a:lnSpc>
                <a:spcPct val="140000"/>
              </a:lnSpc>
            </a:pPr>
            <a:r>
              <a:rPr lang="en-US" sz="1000" dirty="0">
                <a:solidFill>
                  <a:srgbClr val="2D3436"/>
                </a:solidFill>
                <a:latin typeface="MiSans" pitchFamily="34" charset="0"/>
                <a:ea typeface="MiSans" pitchFamily="34" charset="-122"/>
                <a:cs typeface="MiSans" pitchFamily="34" charset="-120"/>
              </a:rPr>
              <a:t> and for communicating findings accurately to clients. It covers:</a:t>
            </a:r>
            <a:endParaRPr lang="en-US" sz="1600" dirty="0"/>
          </a:p>
        </p:txBody>
      </p:sp>
      <p:sp>
        <p:nvSpPr>
          <p:cNvPr id="33" name="Shape 31"/>
          <p:cNvSpPr/>
          <p:nvPr/>
        </p:nvSpPr>
        <p:spPr>
          <a:xfrm>
            <a:off x="6302375" y="2222500"/>
            <a:ext cx="5445125" cy="619125"/>
          </a:xfrm>
          <a:custGeom>
            <a:avLst/>
            <a:gdLst/>
            <a:ahLst/>
            <a:cxnLst/>
            <a:rect l="l" t="t" r="r" b="b"/>
            <a:pathLst>
              <a:path w="5445125" h="619125">
                <a:moveTo>
                  <a:pt x="0" y="0"/>
                </a:moveTo>
                <a:lnTo>
                  <a:pt x="5445125" y="0"/>
                </a:lnTo>
                <a:lnTo>
                  <a:pt x="5445125" y="619125"/>
                </a:lnTo>
                <a:lnTo>
                  <a:pt x="0" y="619125"/>
                </a:lnTo>
                <a:lnTo>
                  <a:pt x="0" y="0"/>
                </a:lnTo>
                <a:close/>
              </a:path>
            </a:pathLst>
          </a:custGeom>
          <a:solidFill>
            <a:srgbClr val="F8F9FA"/>
          </a:solidFill>
          <a:ln/>
        </p:spPr>
      </p:sp>
      <p:sp>
        <p:nvSpPr>
          <p:cNvPr id="34" name="Shape 32"/>
          <p:cNvSpPr/>
          <p:nvPr/>
        </p:nvSpPr>
        <p:spPr>
          <a:xfrm>
            <a:off x="6302375" y="2222500"/>
            <a:ext cx="31750" cy="619125"/>
          </a:xfrm>
          <a:custGeom>
            <a:avLst/>
            <a:gdLst/>
            <a:ahLst/>
            <a:cxnLst/>
            <a:rect l="l" t="t" r="r" b="b"/>
            <a:pathLst>
              <a:path w="31750" h="619125">
                <a:moveTo>
                  <a:pt x="0" y="0"/>
                </a:moveTo>
                <a:lnTo>
                  <a:pt x="31750" y="0"/>
                </a:lnTo>
                <a:lnTo>
                  <a:pt x="31750" y="619125"/>
                </a:lnTo>
                <a:lnTo>
                  <a:pt x="0" y="619125"/>
                </a:lnTo>
                <a:lnTo>
                  <a:pt x="0" y="0"/>
                </a:lnTo>
                <a:close/>
              </a:path>
            </a:pathLst>
          </a:custGeom>
          <a:solidFill>
            <a:srgbClr val="C49A2C"/>
          </a:solidFill>
          <a:ln/>
        </p:spPr>
      </p:sp>
      <p:sp>
        <p:nvSpPr>
          <p:cNvPr id="35" name="Text 33"/>
          <p:cNvSpPr/>
          <p:nvPr/>
        </p:nvSpPr>
        <p:spPr>
          <a:xfrm>
            <a:off x="6413500" y="231775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Published Effect Size</a:t>
            </a:r>
            <a:endParaRPr lang="en-US" sz="1600" dirty="0"/>
          </a:p>
        </p:txBody>
      </p:sp>
      <p:sp>
        <p:nvSpPr>
          <p:cNvPr id="36" name="Text 34"/>
          <p:cNvSpPr/>
          <p:nvPr/>
        </p:nvSpPr>
        <p:spPr>
          <a:xfrm>
            <a:off x="6413500" y="2540000"/>
            <a:ext cx="530225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The 0.61 figure: what it means, how it was calculated, and what it does not mean</a:t>
            </a:r>
            <a:endParaRPr lang="en-US" sz="1600" dirty="0"/>
          </a:p>
        </p:txBody>
      </p:sp>
      <p:sp>
        <p:nvSpPr>
          <p:cNvPr id="37" name="Shape 35"/>
          <p:cNvSpPr/>
          <p:nvPr/>
        </p:nvSpPr>
        <p:spPr>
          <a:xfrm>
            <a:off x="6302375" y="2905125"/>
            <a:ext cx="5445125" cy="619125"/>
          </a:xfrm>
          <a:custGeom>
            <a:avLst/>
            <a:gdLst/>
            <a:ahLst/>
            <a:cxnLst/>
            <a:rect l="l" t="t" r="r" b="b"/>
            <a:pathLst>
              <a:path w="5445125" h="619125">
                <a:moveTo>
                  <a:pt x="0" y="0"/>
                </a:moveTo>
                <a:lnTo>
                  <a:pt x="5445125" y="0"/>
                </a:lnTo>
                <a:lnTo>
                  <a:pt x="5445125" y="619125"/>
                </a:lnTo>
                <a:lnTo>
                  <a:pt x="0" y="619125"/>
                </a:lnTo>
                <a:lnTo>
                  <a:pt x="0" y="0"/>
                </a:lnTo>
                <a:close/>
              </a:path>
            </a:pathLst>
          </a:custGeom>
          <a:solidFill>
            <a:srgbClr val="F8F9FA"/>
          </a:solidFill>
          <a:ln/>
        </p:spPr>
      </p:sp>
      <p:sp>
        <p:nvSpPr>
          <p:cNvPr id="38" name="Shape 36"/>
          <p:cNvSpPr/>
          <p:nvPr/>
        </p:nvSpPr>
        <p:spPr>
          <a:xfrm>
            <a:off x="6302375" y="2905125"/>
            <a:ext cx="31750" cy="619125"/>
          </a:xfrm>
          <a:custGeom>
            <a:avLst/>
            <a:gdLst/>
            <a:ahLst/>
            <a:cxnLst/>
            <a:rect l="l" t="t" r="r" b="b"/>
            <a:pathLst>
              <a:path w="31750" h="619125">
                <a:moveTo>
                  <a:pt x="0" y="0"/>
                </a:moveTo>
                <a:lnTo>
                  <a:pt x="31750" y="0"/>
                </a:lnTo>
                <a:lnTo>
                  <a:pt x="31750" y="619125"/>
                </a:lnTo>
                <a:lnTo>
                  <a:pt x="0" y="619125"/>
                </a:lnTo>
                <a:lnTo>
                  <a:pt x="0" y="0"/>
                </a:lnTo>
                <a:close/>
              </a:path>
            </a:pathLst>
          </a:custGeom>
          <a:solidFill>
            <a:srgbClr val="1E3A5F"/>
          </a:solidFill>
          <a:ln/>
        </p:spPr>
      </p:sp>
      <p:sp>
        <p:nvSpPr>
          <p:cNvPr id="39" name="Text 37"/>
          <p:cNvSpPr/>
          <p:nvPr/>
        </p:nvSpPr>
        <p:spPr>
          <a:xfrm>
            <a:off x="6413500" y="3000375"/>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School-Level Variation</a:t>
            </a:r>
            <a:endParaRPr lang="en-US" sz="1600" dirty="0"/>
          </a:p>
        </p:txBody>
      </p:sp>
      <p:sp>
        <p:nvSpPr>
          <p:cNvPr id="40" name="Text 38"/>
          <p:cNvSpPr/>
          <p:nvPr/>
        </p:nvSpPr>
        <p:spPr>
          <a:xfrm>
            <a:off x="6413500" y="3222625"/>
            <a:ext cx="530225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Range (0.3–1.1), distribution, and correlations with tenure, IQS, and school size</a:t>
            </a:r>
            <a:endParaRPr lang="en-US" sz="1600" dirty="0"/>
          </a:p>
        </p:txBody>
      </p:sp>
      <p:sp>
        <p:nvSpPr>
          <p:cNvPr id="41" name="Shape 39"/>
          <p:cNvSpPr/>
          <p:nvPr/>
        </p:nvSpPr>
        <p:spPr>
          <a:xfrm>
            <a:off x="6302375" y="3587750"/>
            <a:ext cx="5445125" cy="619125"/>
          </a:xfrm>
          <a:custGeom>
            <a:avLst/>
            <a:gdLst/>
            <a:ahLst/>
            <a:cxnLst/>
            <a:rect l="l" t="t" r="r" b="b"/>
            <a:pathLst>
              <a:path w="5445125" h="619125">
                <a:moveTo>
                  <a:pt x="0" y="0"/>
                </a:moveTo>
                <a:lnTo>
                  <a:pt x="5445125" y="0"/>
                </a:lnTo>
                <a:lnTo>
                  <a:pt x="5445125" y="619125"/>
                </a:lnTo>
                <a:lnTo>
                  <a:pt x="0" y="619125"/>
                </a:lnTo>
                <a:lnTo>
                  <a:pt x="0" y="0"/>
                </a:lnTo>
                <a:close/>
              </a:path>
            </a:pathLst>
          </a:custGeom>
          <a:solidFill>
            <a:srgbClr val="F8F9FA"/>
          </a:solidFill>
          <a:ln/>
        </p:spPr>
      </p:sp>
      <p:sp>
        <p:nvSpPr>
          <p:cNvPr id="42" name="Shape 40"/>
          <p:cNvSpPr/>
          <p:nvPr/>
        </p:nvSpPr>
        <p:spPr>
          <a:xfrm>
            <a:off x="6302375" y="3587750"/>
            <a:ext cx="31750" cy="619125"/>
          </a:xfrm>
          <a:custGeom>
            <a:avLst/>
            <a:gdLst/>
            <a:ahLst/>
            <a:cxnLst/>
            <a:rect l="l" t="t" r="r" b="b"/>
            <a:pathLst>
              <a:path w="31750" h="619125">
                <a:moveTo>
                  <a:pt x="0" y="0"/>
                </a:moveTo>
                <a:lnTo>
                  <a:pt x="31750" y="0"/>
                </a:lnTo>
                <a:lnTo>
                  <a:pt x="31750" y="619125"/>
                </a:lnTo>
                <a:lnTo>
                  <a:pt x="0" y="619125"/>
                </a:lnTo>
                <a:lnTo>
                  <a:pt x="0" y="0"/>
                </a:lnTo>
                <a:close/>
              </a:path>
            </a:pathLst>
          </a:custGeom>
          <a:solidFill>
            <a:srgbClr val="C49A2C"/>
          </a:solidFill>
          <a:ln/>
        </p:spPr>
      </p:sp>
      <p:sp>
        <p:nvSpPr>
          <p:cNvPr id="43" name="Text 41"/>
          <p:cNvSpPr/>
          <p:nvPr/>
        </p:nvSpPr>
        <p:spPr>
          <a:xfrm>
            <a:off x="6413500" y="368300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Subject-Level Outcomes</a:t>
            </a:r>
            <a:endParaRPr lang="en-US" sz="1600" dirty="0"/>
          </a:p>
        </p:txBody>
      </p:sp>
      <p:sp>
        <p:nvSpPr>
          <p:cNvPr id="44" name="Text 42"/>
          <p:cNvSpPr/>
          <p:nvPr/>
        </p:nvSpPr>
        <p:spPr>
          <a:xfrm>
            <a:off x="6413500" y="3905250"/>
            <a:ext cx="5302250" cy="206375"/>
          </a:xfrm>
          <a:prstGeom prst="rect">
            <a:avLst/>
          </a:prstGeom>
          <a:noFill/>
          <a:ln/>
        </p:spPr>
        <p:txBody>
          <a:bodyPr wrap="square" lIns="0" tIns="0" rIns="0" bIns="0" rtlCol="0" anchor="ctr"/>
          <a:lstStyle/>
          <a:p>
            <a:pPr>
              <a:lnSpc>
                <a:spcPct val="140000"/>
              </a:lnSpc>
            </a:pPr>
            <a:r>
              <a:rPr lang="en-US" sz="1000" b="1" dirty="0">
                <a:solidFill>
                  <a:srgbClr val="2D3436"/>
                </a:solidFill>
                <a:latin typeface="MiSans" pitchFamily="34" charset="0"/>
                <a:ea typeface="MiSans" pitchFamily="34" charset="-122"/>
                <a:cs typeface="MiSans" pitchFamily="34" charset="-120"/>
              </a:rPr>
              <a:t>Strongest in English and mathematics</a:t>
            </a:r>
            <a:pPr>
              <a:lnSpc>
                <a:spcPct val="140000"/>
              </a:lnSpc>
            </a:pPr>
            <a:r>
              <a:rPr lang="en-US" sz="1000" dirty="0">
                <a:solidFill>
                  <a:srgbClr val="2D3436"/>
                </a:solidFill>
                <a:latin typeface="MiSans" pitchFamily="34" charset="0"/>
                <a:ea typeface="MiSans" pitchFamily="34" charset="-122"/>
                <a:cs typeface="MiSans" pitchFamily="34" charset="-120"/>
              </a:rPr>
              <a:t>, moderate in science, variable in humanities</a:t>
            </a:r>
            <a:endParaRPr lang="en-US" sz="1600" dirty="0"/>
          </a:p>
        </p:txBody>
      </p:sp>
      <p:sp>
        <p:nvSpPr>
          <p:cNvPr id="45" name="Shape 43"/>
          <p:cNvSpPr/>
          <p:nvPr/>
        </p:nvSpPr>
        <p:spPr>
          <a:xfrm>
            <a:off x="6159500" y="4429125"/>
            <a:ext cx="5715000" cy="1158875"/>
          </a:xfrm>
          <a:custGeom>
            <a:avLst/>
            <a:gdLst/>
            <a:ahLst/>
            <a:cxnLst/>
            <a:rect l="l" t="t" r="r" b="b"/>
            <a:pathLst>
              <a:path w="5715000" h="1158875">
                <a:moveTo>
                  <a:pt x="0" y="0"/>
                </a:moveTo>
                <a:lnTo>
                  <a:pt x="5715000" y="0"/>
                </a:lnTo>
                <a:lnTo>
                  <a:pt x="5715000" y="1158875"/>
                </a:lnTo>
                <a:lnTo>
                  <a:pt x="0" y="1158875"/>
                </a:lnTo>
                <a:lnTo>
                  <a:pt x="0" y="0"/>
                </a:lnTo>
                <a:close/>
              </a:path>
            </a:pathLst>
          </a:custGeom>
          <a:solidFill>
            <a:srgbClr val="1E3A5F"/>
          </a:solidFill>
          <a:ln/>
        </p:spPr>
      </p:sp>
      <p:sp>
        <p:nvSpPr>
          <p:cNvPr id="46" name="Text 44"/>
          <p:cNvSpPr/>
          <p:nvPr/>
        </p:nvSpPr>
        <p:spPr>
          <a:xfrm>
            <a:off x="6286500" y="4556125"/>
            <a:ext cx="5532438" cy="222250"/>
          </a:xfrm>
          <a:prstGeom prst="rect">
            <a:avLst/>
          </a:prstGeom>
          <a:noFill/>
          <a:ln/>
        </p:spPr>
        <p:txBody>
          <a:bodyPr wrap="square" lIns="0" tIns="0" rIns="0" bIns="0" rtlCol="0" anchor="ctr"/>
          <a:lstStyle/>
          <a:p>
            <a:pPr>
              <a:lnSpc>
                <a:spcPct val="130000"/>
              </a:lnSpc>
            </a:pPr>
            <a:r>
              <a:rPr lang="en-US" sz="1125" b="1" dirty="0">
                <a:solidFill>
                  <a:srgbClr val="F8F9FA"/>
                </a:solidFill>
                <a:latin typeface="MiSans" pitchFamily="34" charset="0"/>
                <a:ea typeface="MiSans" pitchFamily="34" charset="-122"/>
                <a:cs typeface="MiSans" pitchFamily="34" charset="-120"/>
              </a:rPr>
              <a:t>Subject-Level Note</a:t>
            </a:r>
            <a:endParaRPr lang="en-US" sz="1600" dirty="0"/>
          </a:p>
        </p:txBody>
      </p:sp>
      <p:sp>
        <p:nvSpPr>
          <p:cNvPr id="47" name="Text 45"/>
          <p:cNvSpPr/>
          <p:nvPr/>
        </p:nvSpPr>
        <p:spPr>
          <a:xfrm>
            <a:off x="6286500" y="4841875"/>
            <a:ext cx="5524500" cy="619125"/>
          </a:xfrm>
          <a:prstGeom prst="rect">
            <a:avLst/>
          </a:prstGeom>
          <a:noFill/>
          <a:ln/>
        </p:spPr>
        <p:txBody>
          <a:bodyPr wrap="square" lIns="0" tIns="0" rIns="0" bIns="0" rtlCol="0" anchor="ctr"/>
          <a:lstStyle/>
          <a:p>
            <a:pPr>
              <a:lnSpc>
                <a:spcPct val="140000"/>
              </a:lnSpc>
            </a:pPr>
            <a:r>
              <a:rPr lang="en-US" sz="1000" dirty="0">
                <a:solidFill>
                  <a:srgbClr val="F8F9FA"/>
                </a:solidFill>
                <a:latin typeface="MiSans" pitchFamily="34" charset="0"/>
                <a:ea typeface="MiSans" pitchFamily="34" charset="-122"/>
                <a:cs typeface="MiSans" pitchFamily="34" charset="-120"/>
              </a:rPr>
              <a:t>Staff should pay particular attention to </a:t>
            </a:r>
            <a:pPr>
              <a:lnSpc>
                <a:spcPct val="140000"/>
              </a:lnSpc>
            </a:pPr>
            <a:r>
              <a:rPr lang="en-US" sz="1000" b="1" dirty="0">
                <a:solidFill>
                  <a:srgbClr val="F8F9FA"/>
                </a:solidFill>
                <a:latin typeface="MiSans" pitchFamily="34" charset="0"/>
                <a:ea typeface="MiSans" pitchFamily="34" charset="-122"/>
                <a:cs typeface="MiSans" pitchFamily="34" charset="-120"/>
              </a:rPr>
              <a:t>section 6.3 on subject-level outcomes</a:t>
            </a:r>
            <a:pPr>
              <a:lnSpc>
                <a:spcPct val="140000"/>
              </a:lnSpc>
            </a:pPr>
            <a:r>
              <a:rPr lang="en-US" sz="1000" dirty="0">
                <a:solidFill>
                  <a:srgbClr val="F8F9FA"/>
                </a:solidFill>
                <a:latin typeface="MiSans" pitchFamily="34" charset="0"/>
                <a:ea typeface="MiSans" pitchFamily="34" charset="-122"/>
                <a:cs typeface="MiSans" pitchFamily="34" charset="-120"/>
              </a:rPr>
              <a:t>, which notes that MPI effects are strongest in English and mathematics and more variable in other subjects. No Year 11 subject-level breakdown is currently included in the MPI_Current dataset.</a:t>
            </a:r>
            <a:endParaRPr lang="en-US" sz="1600" dirty="0"/>
          </a:p>
        </p:txBody>
      </p:sp>
      <p:sp>
        <p:nvSpPr>
          <p:cNvPr id="48" name="Shape 46"/>
          <p:cNvSpPr/>
          <p:nvPr/>
        </p:nvSpPr>
        <p:spPr>
          <a:xfrm>
            <a:off x="6175375" y="5683250"/>
            <a:ext cx="5699125" cy="381000"/>
          </a:xfrm>
          <a:custGeom>
            <a:avLst/>
            <a:gdLst/>
            <a:ahLst/>
            <a:cxnLst/>
            <a:rect l="l" t="t" r="r" b="b"/>
            <a:pathLst>
              <a:path w="5699125" h="381000">
                <a:moveTo>
                  <a:pt x="0" y="0"/>
                </a:moveTo>
                <a:lnTo>
                  <a:pt x="5699125" y="0"/>
                </a:lnTo>
                <a:lnTo>
                  <a:pt x="5699125" y="381000"/>
                </a:lnTo>
                <a:lnTo>
                  <a:pt x="0" y="381000"/>
                </a:lnTo>
                <a:lnTo>
                  <a:pt x="0" y="0"/>
                </a:lnTo>
                <a:close/>
              </a:path>
            </a:pathLst>
          </a:custGeom>
          <a:solidFill>
            <a:srgbClr val="C49A2C">
              <a:alpha val="10196"/>
            </a:srgbClr>
          </a:solidFill>
          <a:ln/>
        </p:spPr>
      </p:sp>
      <p:sp>
        <p:nvSpPr>
          <p:cNvPr id="49" name="Shape 47"/>
          <p:cNvSpPr/>
          <p:nvPr/>
        </p:nvSpPr>
        <p:spPr>
          <a:xfrm>
            <a:off x="6175375" y="5683250"/>
            <a:ext cx="31750" cy="381000"/>
          </a:xfrm>
          <a:custGeom>
            <a:avLst/>
            <a:gdLst/>
            <a:ahLst/>
            <a:cxnLst/>
            <a:rect l="l" t="t" r="r" b="b"/>
            <a:pathLst>
              <a:path w="31750" h="381000">
                <a:moveTo>
                  <a:pt x="0" y="0"/>
                </a:moveTo>
                <a:lnTo>
                  <a:pt x="31750" y="0"/>
                </a:lnTo>
                <a:lnTo>
                  <a:pt x="31750" y="381000"/>
                </a:lnTo>
                <a:lnTo>
                  <a:pt x="0" y="381000"/>
                </a:lnTo>
                <a:lnTo>
                  <a:pt x="0" y="0"/>
                </a:lnTo>
                <a:close/>
              </a:path>
            </a:pathLst>
          </a:custGeom>
          <a:solidFill>
            <a:srgbClr val="C49A2C"/>
          </a:solidFill>
          <a:ln/>
        </p:spPr>
      </p:sp>
      <p:sp>
        <p:nvSpPr>
          <p:cNvPr id="50" name="Shape 48"/>
          <p:cNvSpPr/>
          <p:nvPr/>
        </p:nvSpPr>
        <p:spPr>
          <a:xfrm>
            <a:off x="6310313" y="5814219"/>
            <a:ext cx="111125" cy="127000"/>
          </a:xfrm>
          <a:custGeom>
            <a:avLst/>
            <a:gdLst/>
            <a:ahLst/>
            <a:cxnLst/>
            <a:rect l="l" t="t" r="r" b="b"/>
            <a:pathLst>
              <a:path w="111125" h="127000">
                <a:moveTo>
                  <a:pt x="95250" y="127000"/>
                </a:moveTo>
                <a:lnTo>
                  <a:pt x="23812" y="127000"/>
                </a:lnTo>
                <a:cubicBezTo>
                  <a:pt x="10666" y="127000"/>
                  <a:pt x="0" y="116334"/>
                  <a:pt x="0" y="103188"/>
                </a:cubicBezTo>
                <a:lnTo>
                  <a:pt x="0" y="23812"/>
                </a:lnTo>
                <a:cubicBezTo>
                  <a:pt x="0" y="10666"/>
                  <a:pt x="10666" y="0"/>
                  <a:pt x="23812" y="0"/>
                </a:cubicBezTo>
                <a:lnTo>
                  <a:pt x="99219" y="0"/>
                </a:lnTo>
                <a:cubicBezTo>
                  <a:pt x="105792" y="0"/>
                  <a:pt x="111125" y="5333"/>
                  <a:pt x="111125" y="11906"/>
                </a:cubicBezTo>
                <a:lnTo>
                  <a:pt x="111125" y="83344"/>
                </a:lnTo>
                <a:cubicBezTo>
                  <a:pt x="111125" y="88528"/>
                  <a:pt x="107801" y="92943"/>
                  <a:pt x="103188" y="94580"/>
                </a:cubicBezTo>
                <a:lnTo>
                  <a:pt x="103188" y="111125"/>
                </a:lnTo>
                <a:cubicBezTo>
                  <a:pt x="107578" y="111125"/>
                  <a:pt x="111125" y="114672"/>
                  <a:pt x="111125" y="119063"/>
                </a:cubicBezTo>
                <a:cubicBezTo>
                  <a:pt x="111125" y="123453"/>
                  <a:pt x="107578" y="127000"/>
                  <a:pt x="103188" y="127000"/>
                </a:cubicBezTo>
                <a:lnTo>
                  <a:pt x="95250" y="127000"/>
                </a:lnTo>
                <a:close/>
                <a:moveTo>
                  <a:pt x="23812" y="95250"/>
                </a:moveTo>
                <a:cubicBezTo>
                  <a:pt x="19422" y="95250"/>
                  <a:pt x="15875" y="98797"/>
                  <a:pt x="15875" y="103188"/>
                </a:cubicBezTo>
                <a:cubicBezTo>
                  <a:pt x="15875" y="107578"/>
                  <a:pt x="19422" y="111125"/>
                  <a:pt x="23812" y="111125"/>
                </a:cubicBezTo>
                <a:lnTo>
                  <a:pt x="87313" y="111125"/>
                </a:lnTo>
                <a:lnTo>
                  <a:pt x="87313" y="95250"/>
                </a:lnTo>
                <a:lnTo>
                  <a:pt x="23812" y="95250"/>
                </a:lnTo>
                <a:close/>
                <a:moveTo>
                  <a:pt x="31750" y="37703"/>
                </a:moveTo>
                <a:cubicBezTo>
                  <a:pt x="31750" y="41002"/>
                  <a:pt x="34404" y="43656"/>
                  <a:pt x="37703" y="43656"/>
                </a:cubicBezTo>
                <a:lnTo>
                  <a:pt x="81359" y="43656"/>
                </a:lnTo>
                <a:cubicBezTo>
                  <a:pt x="84658" y="43656"/>
                  <a:pt x="87313" y="41002"/>
                  <a:pt x="87313" y="37703"/>
                </a:cubicBezTo>
                <a:cubicBezTo>
                  <a:pt x="87313" y="34404"/>
                  <a:pt x="84658" y="31750"/>
                  <a:pt x="81359" y="31750"/>
                </a:cubicBezTo>
                <a:lnTo>
                  <a:pt x="37703" y="31750"/>
                </a:lnTo>
                <a:cubicBezTo>
                  <a:pt x="34404" y="31750"/>
                  <a:pt x="31750" y="34404"/>
                  <a:pt x="31750" y="37703"/>
                </a:cubicBezTo>
                <a:close/>
                <a:moveTo>
                  <a:pt x="37703" y="55563"/>
                </a:moveTo>
                <a:cubicBezTo>
                  <a:pt x="34404" y="55563"/>
                  <a:pt x="31750" y="58217"/>
                  <a:pt x="31750" y="61516"/>
                </a:cubicBezTo>
                <a:cubicBezTo>
                  <a:pt x="31750" y="64815"/>
                  <a:pt x="34404" y="67469"/>
                  <a:pt x="37703" y="67469"/>
                </a:cubicBezTo>
                <a:lnTo>
                  <a:pt x="81359" y="67469"/>
                </a:lnTo>
                <a:cubicBezTo>
                  <a:pt x="84658" y="67469"/>
                  <a:pt x="87313" y="64815"/>
                  <a:pt x="87313" y="61516"/>
                </a:cubicBezTo>
                <a:cubicBezTo>
                  <a:pt x="87313" y="58217"/>
                  <a:pt x="84658" y="55563"/>
                  <a:pt x="81359" y="55563"/>
                </a:cubicBezTo>
                <a:lnTo>
                  <a:pt x="37703" y="55563"/>
                </a:lnTo>
                <a:close/>
              </a:path>
            </a:pathLst>
          </a:custGeom>
          <a:solidFill>
            <a:srgbClr val="C49A2C"/>
          </a:solidFill>
          <a:ln/>
        </p:spPr>
      </p:sp>
      <p:sp>
        <p:nvSpPr>
          <p:cNvPr id="51" name="Text 49"/>
          <p:cNvSpPr/>
          <p:nvPr/>
        </p:nvSpPr>
        <p:spPr>
          <a:xfrm>
            <a:off x="6484938" y="5778500"/>
            <a:ext cx="5357813"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Location:</a:t>
            </a:r>
            <a:pPr>
              <a:lnSpc>
                <a:spcPct val="130000"/>
              </a:lnSpc>
            </a:pPr>
            <a:r>
              <a:rPr lang="en-US" sz="1000" dirty="0">
                <a:solidFill>
                  <a:srgbClr val="1E3A5F"/>
                </a:solidFill>
                <a:latin typeface="MiSans" pitchFamily="34" charset="0"/>
                <a:ea typeface="MiSans" pitchFamily="34" charset="-122"/>
                <a:cs typeface="MiSans" pitchFamily="34" charset="-120"/>
              </a:rPr>
              <a:t> SynergyDrive — Paul's Files &gt; Reading &gt; Essential &gt; Sub-subfolder: Essential</a:t>
            </a:r>
            <a:endParaRPr lang="en-US" sz="1600" dirty="0"/>
          </a:p>
        </p:txBody>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17500" y="317500"/>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1E3A5F"/>
          </a:solidFill>
          <a:ln/>
        </p:spPr>
      </p:sp>
      <p:sp>
        <p:nvSpPr>
          <p:cNvPr id="3" name="Text 1"/>
          <p:cNvSpPr/>
          <p:nvPr/>
        </p:nvSpPr>
        <p:spPr>
          <a:xfrm>
            <a:off x="476250" y="365125"/>
            <a:ext cx="6326188" cy="285750"/>
          </a:xfrm>
          <a:prstGeom prst="rect">
            <a:avLst/>
          </a:prstGeom>
          <a:noFill/>
          <a:ln/>
        </p:spPr>
        <p:txBody>
          <a:bodyPr wrap="square" lIns="0" tIns="0" rIns="0" bIns="0" rtlCol="0" anchor="ctr"/>
          <a:lstStyle/>
          <a:p>
            <a:pPr>
              <a:lnSpc>
                <a:spcPct val="100000"/>
              </a:lnSpc>
            </a:pPr>
            <a:r>
              <a:rPr lang="en-US" sz="1875" b="1" dirty="0">
                <a:solidFill>
                  <a:srgbClr val="1E3A5F"/>
                </a:solidFill>
                <a:latin typeface="MiSans" pitchFamily="34" charset="0"/>
                <a:ea typeface="MiSans" pitchFamily="34" charset="-122"/>
                <a:cs typeface="MiSans" pitchFamily="34" charset="-120"/>
              </a:rPr>
              <a:t>Reference: MPI Technical Handbook Chapters 9 and 11</a:t>
            </a:r>
            <a:endParaRPr lang="en-US" sz="1600" dirty="0"/>
          </a:p>
        </p:txBody>
      </p:sp>
      <p:sp>
        <p:nvSpPr>
          <p:cNvPr id="4" name="Text 2"/>
          <p:cNvSpPr/>
          <p:nvPr/>
        </p:nvSpPr>
        <p:spPr>
          <a:xfrm>
            <a:off x="476250" y="762000"/>
            <a:ext cx="11461750" cy="190500"/>
          </a:xfrm>
          <a:prstGeom prst="rect">
            <a:avLst/>
          </a:prstGeom>
          <a:noFill/>
          <a:ln/>
        </p:spPr>
        <p:txBody>
          <a:bodyPr wrap="square" lIns="0" tIns="0" rIns="0" bIns="0" rtlCol="0" anchor="ctr"/>
          <a:lstStyle/>
          <a:p>
            <a:pPr>
              <a:lnSpc>
                <a:spcPct val="130000"/>
              </a:lnSpc>
            </a:pPr>
            <a:r>
              <a:rPr lang="en-US" sz="1000" dirty="0">
                <a:solidFill>
                  <a:srgbClr val="6C757D"/>
                </a:solidFill>
                <a:latin typeface="MiSans" pitchFamily="34" charset="0"/>
                <a:ea typeface="MiSans" pitchFamily="34" charset="-122"/>
                <a:cs typeface="MiSans" pitchFamily="34" charset="-120"/>
              </a:rPr>
              <a:t>Essential for staff involved in client management, renewal, or impact assessment</a:t>
            </a:r>
            <a:endParaRPr lang="en-US" sz="1600" dirty="0"/>
          </a:p>
        </p:txBody>
      </p:sp>
      <p:sp>
        <p:nvSpPr>
          <p:cNvPr id="5" name="Shape 3"/>
          <p:cNvSpPr/>
          <p:nvPr/>
        </p:nvSpPr>
        <p:spPr>
          <a:xfrm>
            <a:off x="317500" y="1095375"/>
            <a:ext cx="5715000" cy="4540250"/>
          </a:xfrm>
          <a:custGeom>
            <a:avLst/>
            <a:gdLst/>
            <a:ahLst/>
            <a:cxnLst/>
            <a:rect l="l" t="t" r="r" b="b"/>
            <a:pathLst>
              <a:path w="5715000" h="4540250">
                <a:moveTo>
                  <a:pt x="0" y="0"/>
                </a:moveTo>
                <a:lnTo>
                  <a:pt x="5715000" y="0"/>
                </a:lnTo>
                <a:lnTo>
                  <a:pt x="5715000" y="4540250"/>
                </a:lnTo>
                <a:lnTo>
                  <a:pt x="0" y="4540250"/>
                </a:lnTo>
                <a:lnTo>
                  <a:pt x="0" y="0"/>
                </a:lnTo>
                <a:close/>
              </a:path>
            </a:pathLst>
          </a:custGeom>
          <a:solidFill>
            <a:srgbClr val="FFFFFF"/>
          </a:solidFill>
          <a:ln/>
        </p:spPr>
      </p:sp>
      <p:sp>
        <p:nvSpPr>
          <p:cNvPr id="6" name="Shape 4"/>
          <p:cNvSpPr/>
          <p:nvPr/>
        </p:nvSpPr>
        <p:spPr>
          <a:xfrm>
            <a:off x="317500" y="10953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1E3A5F"/>
          </a:solidFill>
          <a:ln/>
        </p:spPr>
      </p:sp>
      <p:sp>
        <p:nvSpPr>
          <p:cNvPr id="7" name="Shape 5"/>
          <p:cNvSpPr/>
          <p:nvPr/>
        </p:nvSpPr>
        <p:spPr>
          <a:xfrm>
            <a:off x="44450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8" name="Text 6"/>
          <p:cNvSpPr/>
          <p:nvPr/>
        </p:nvSpPr>
        <p:spPr>
          <a:xfrm>
            <a:off x="396875" y="1238250"/>
            <a:ext cx="476250" cy="381000"/>
          </a:xfrm>
          <a:prstGeom prst="rect">
            <a:avLst/>
          </a:prstGeom>
          <a:noFill/>
          <a:ln/>
        </p:spPr>
        <p:txBody>
          <a:bodyPr wrap="square" lIns="0" tIns="0" rIns="0" bIns="0" rtlCol="0" anchor="ctr"/>
          <a:lstStyle/>
          <a:p>
            <a:pPr algn="ctr">
              <a:lnSpc>
                <a:spcPct val="110000"/>
              </a:lnSpc>
            </a:pPr>
            <a:r>
              <a:rPr lang="en-US" sz="1500" b="1" dirty="0">
                <a:solidFill>
                  <a:srgbClr val="F8F9FA"/>
                </a:solidFill>
                <a:latin typeface="MiSans" pitchFamily="34" charset="0"/>
                <a:ea typeface="MiSans" pitchFamily="34" charset="-122"/>
                <a:cs typeface="MiSans" pitchFamily="34" charset="-120"/>
              </a:rPr>
              <a:t>9</a:t>
            </a:r>
            <a:endParaRPr lang="en-US" sz="1600" dirty="0"/>
          </a:p>
        </p:txBody>
      </p:sp>
      <p:sp>
        <p:nvSpPr>
          <p:cNvPr id="9" name="Text 7"/>
          <p:cNvSpPr/>
          <p:nvPr/>
        </p:nvSpPr>
        <p:spPr>
          <a:xfrm>
            <a:off x="920750" y="1317625"/>
            <a:ext cx="2619375" cy="222250"/>
          </a:xfrm>
          <a:prstGeom prst="rect">
            <a:avLst/>
          </a:prstGeom>
          <a:noFill/>
          <a:ln/>
        </p:spPr>
        <p:txBody>
          <a:bodyPr wrap="square" lIns="0" tIns="0" rIns="0" bIns="0" rtlCol="0" anchor="ctr"/>
          <a:lstStyle/>
          <a:p>
            <a:pPr>
              <a:lnSpc>
                <a:spcPct val="120000"/>
              </a:lnSpc>
            </a:pPr>
            <a:r>
              <a:rPr lang="en-US" sz="1250" b="1" dirty="0">
                <a:solidFill>
                  <a:srgbClr val="1E3A5F"/>
                </a:solidFill>
                <a:latin typeface="MiSans" pitchFamily="34" charset="0"/>
                <a:ea typeface="MiSans" pitchFamily="34" charset="-122"/>
                <a:cs typeface="MiSans" pitchFamily="34" charset="-120"/>
              </a:rPr>
              <a:t>School Partnership Requirements</a:t>
            </a:r>
            <a:endParaRPr lang="en-US" sz="1600" dirty="0"/>
          </a:p>
        </p:txBody>
      </p:sp>
      <p:sp>
        <p:nvSpPr>
          <p:cNvPr id="10" name="Text 8"/>
          <p:cNvSpPr/>
          <p:nvPr/>
        </p:nvSpPr>
        <p:spPr>
          <a:xfrm>
            <a:off x="444500" y="1714500"/>
            <a:ext cx="552450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chapter is the </a:t>
            </a:r>
            <a:pPr>
              <a:lnSpc>
                <a:spcPct val="140000"/>
              </a:lnSpc>
            </a:pPr>
            <a:r>
              <a:rPr lang="en-US" sz="1000" b="1" dirty="0">
                <a:solidFill>
                  <a:srgbClr val="2D3436"/>
                </a:solidFill>
                <a:latin typeface="MiSans" pitchFamily="34" charset="0"/>
                <a:ea typeface="MiSans" pitchFamily="34" charset="-122"/>
                <a:cs typeface="MiSans" pitchFamily="34" charset="-120"/>
              </a:rPr>
              <a:t>most relevant for understanding why some schools' data is treated differently from others</a:t>
            </a:r>
            <a:pPr>
              <a:lnSpc>
                <a:spcPct val="140000"/>
              </a:lnSpc>
            </a:pPr>
            <a:r>
              <a:rPr lang="en-US" sz="1000" dirty="0">
                <a:solidFill>
                  <a:srgbClr val="2D3436"/>
                </a:solidFill>
                <a:latin typeface="MiSans" pitchFamily="34" charset="0"/>
                <a:ea typeface="MiSans" pitchFamily="34" charset="-122"/>
                <a:cs typeface="MiSans" pitchFamily="34" charset="-120"/>
              </a:rPr>
              <a:t> in programme analysis. It covers:</a:t>
            </a:r>
            <a:endParaRPr lang="en-US" sz="1600" dirty="0"/>
          </a:p>
        </p:txBody>
      </p:sp>
      <p:sp>
        <p:nvSpPr>
          <p:cNvPr id="11" name="Shape 9"/>
          <p:cNvSpPr/>
          <p:nvPr/>
        </p:nvSpPr>
        <p:spPr>
          <a:xfrm>
            <a:off x="460375" y="222250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12" name="Shape 10"/>
          <p:cNvSpPr/>
          <p:nvPr/>
        </p:nvSpPr>
        <p:spPr>
          <a:xfrm>
            <a:off x="460375" y="222250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1E3A5F"/>
          </a:solidFill>
          <a:ln/>
        </p:spPr>
      </p:sp>
      <p:sp>
        <p:nvSpPr>
          <p:cNvPr id="13" name="Text 11"/>
          <p:cNvSpPr/>
          <p:nvPr/>
        </p:nvSpPr>
        <p:spPr>
          <a:xfrm>
            <a:off x="571500" y="231775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The Annual MPI Audit</a:t>
            </a:r>
            <a:endParaRPr lang="en-US" sz="1600" dirty="0"/>
          </a:p>
        </p:txBody>
      </p:sp>
      <p:sp>
        <p:nvSpPr>
          <p:cNvPr id="14" name="Text 12"/>
          <p:cNvSpPr/>
          <p:nvPr/>
        </p:nvSpPr>
        <p:spPr>
          <a:xfrm>
            <a:off x="571500" y="254000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Half-day school visit, structured interview, documentation review, sample review of formative assessment records</a:t>
            </a:r>
            <a:endParaRPr lang="en-US" sz="1600" dirty="0"/>
          </a:p>
        </p:txBody>
      </p:sp>
      <p:sp>
        <p:nvSpPr>
          <p:cNvPr id="15" name="Shape 13"/>
          <p:cNvSpPr/>
          <p:nvPr/>
        </p:nvSpPr>
        <p:spPr>
          <a:xfrm>
            <a:off x="460375" y="311150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16" name="Shape 14"/>
          <p:cNvSpPr/>
          <p:nvPr/>
        </p:nvSpPr>
        <p:spPr>
          <a:xfrm>
            <a:off x="460375" y="311150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C49A2C"/>
          </a:solidFill>
          <a:ln/>
        </p:spPr>
      </p:sp>
      <p:sp>
        <p:nvSpPr>
          <p:cNvPr id="17" name="Text 15"/>
          <p:cNvSpPr/>
          <p:nvPr/>
        </p:nvSpPr>
        <p:spPr>
          <a:xfrm>
            <a:off x="571500" y="320675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Implementation Quality Score</a:t>
            </a:r>
            <a:endParaRPr lang="en-US" sz="1600" dirty="0"/>
          </a:p>
        </p:txBody>
      </p:sp>
      <p:sp>
        <p:nvSpPr>
          <p:cNvPr id="18" name="Text 16"/>
          <p:cNvSpPr/>
          <p:nvPr/>
        </p:nvSpPr>
        <p:spPr>
          <a:xfrm>
            <a:off x="571500" y="342900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Scored across </a:t>
            </a:r>
            <a:pPr>
              <a:lnSpc>
                <a:spcPct val="140000"/>
              </a:lnSpc>
            </a:pPr>
            <a:r>
              <a:rPr lang="en-US" sz="1000" b="1" dirty="0">
                <a:solidFill>
                  <a:srgbClr val="2D3436"/>
                </a:solidFill>
                <a:latin typeface="MiSans" pitchFamily="34" charset="0"/>
                <a:ea typeface="MiSans" pitchFamily="34" charset="-122"/>
                <a:cs typeface="MiSans" pitchFamily="34" charset="-120"/>
              </a:rPr>
              <a:t>eight dimensions</a:t>
            </a:r>
            <a:pPr>
              <a:lnSpc>
                <a:spcPct val="140000"/>
              </a:lnSpc>
            </a:pPr>
            <a:r>
              <a:rPr lang="en-US" sz="1000" dirty="0">
                <a:solidFill>
                  <a:srgbClr val="2D3436"/>
                </a:solidFill>
                <a:latin typeface="MiSans" pitchFamily="34" charset="0"/>
                <a:ea typeface="MiSans" pitchFamily="34" charset="-122"/>
                <a:cs typeface="MiSans" pitchFamily="34" charset="-120"/>
              </a:rPr>
              <a:t>, with curriculum coverage and assessment integration carrying </a:t>
            </a:r>
            <a:pPr>
              <a:lnSpc>
                <a:spcPct val="140000"/>
              </a:lnSpc>
            </a:pPr>
            <a:r>
              <a:rPr lang="en-US" sz="1000" b="1" dirty="0">
                <a:solidFill>
                  <a:srgbClr val="2D3436"/>
                </a:solidFill>
                <a:latin typeface="MiSans" pitchFamily="34" charset="0"/>
                <a:ea typeface="MiSans" pitchFamily="34" charset="-122"/>
                <a:cs typeface="MiSans" pitchFamily="34" charset="-120"/>
              </a:rPr>
              <a:t>double weighting</a:t>
            </a:r>
            <a:endParaRPr lang="en-US" sz="1600" dirty="0"/>
          </a:p>
        </p:txBody>
      </p:sp>
      <p:sp>
        <p:nvSpPr>
          <p:cNvPr id="19" name="Shape 17"/>
          <p:cNvSpPr/>
          <p:nvPr/>
        </p:nvSpPr>
        <p:spPr>
          <a:xfrm>
            <a:off x="460375" y="4000500"/>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8F9FA"/>
          </a:solidFill>
          <a:ln/>
        </p:spPr>
      </p:sp>
      <p:sp>
        <p:nvSpPr>
          <p:cNvPr id="20" name="Shape 18"/>
          <p:cNvSpPr/>
          <p:nvPr/>
        </p:nvSpPr>
        <p:spPr>
          <a:xfrm>
            <a:off x="460375" y="4000500"/>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1E3A5F"/>
          </a:solidFill>
          <a:ln/>
        </p:spPr>
      </p:sp>
      <p:sp>
        <p:nvSpPr>
          <p:cNvPr id="21" name="Text 19"/>
          <p:cNvSpPr/>
          <p:nvPr/>
        </p:nvSpPr>
        <p:spPr>
          <a:xfrm>
            <a:off x="571500" y="409575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Coordinator Responsibilities</a:t>
            </a:r>
            <a:endParaRPr lang="en-US" sz="1600" dirty="0"/>
          </a:p>
        </p:txBody>
      </p:sp>
      <p:sp>
        <p:nvSpPr>
          <p:cNvPr id="22" name="Text 20"/>
          <p:cNvSpPr/>
          <p:nvPr/>
        </p:nvSpPr>
        <p:spPr>
          <a:xfrm>
            <a:off x="571500" y="4318000"/>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Primary point of contact, implementation group chair, curriculum sequencing records, data submission</a:t>
            </a:r>
            <a:endParaRPr lang="en-US" sz="1600" dirty="0"/>
          </a:p>
        </p:txBody>
      </p:sp>
      <p:sp>
        <p:nvSpPr>
          <p:cNvPr id="23" name="Shape 21"/>
          <p:cNvSpPr/>
          <p:nvPr/>
        </p:nvSpPr>
        <p:spPr>
          <a:xfrm>
            <a:off x="460375" y="4889500"/>
            <a:ext cx="5445125" cy="619125"/>
          </a:xfrm>
          <a:custGeom>
            <a:avLst/>
            <a:gdLst/>
            <a:ahLst/>
            <a:cxnLst/>
            <a:rect l="l" t="t" r="r" b="b"/>
            <a:pathLst>
              <a:path w="5445125" h="619125">
                <a:moveTo>
                  <a:pt x="0" y="0"/>
                </a:moveTo>
                <a:lnTo>
                  <a:pt x="5445125" y="0"/>
                </a:lnTo>
                <a:lnTo>
                  <a:pt x="5445125" y="619125"/>
                </a:lnTo>
                <a:lnTo>
                  <a:pt x="0" y="619125"/>
                </a:lnTo>
                <a:lnTo>
                  <a:pt x="0" y="0"/>
                </a:lnTo>
                <a:close/>
              </a:path>
            </a:pathLst>
          </a:custGeom>
          <a:solidFill>
            <a:srgbClr val="F8F9FA"/>
          </a:solidFill>
          <a:ln/>
        </p:spPr>
      </p:sp>
      <p:sp>
        <p:nvSpPr>
          <p:cNvPr id="24" name="Shape 22"/>
          <p:cNvSpPr/>
          <p:nvPr/>
        </p:nvSpPr>
        <p:spPr>
          <a:xfrm>
            <a:off x="460375" y="4889500"/>
            <a:ext cx="31750" cy="619125"/>
          </a:xfrm>
          <a:custGeom>
            <a:avLst/>
            <a:gdLst/>
            <a:ahLst/>
            <a:cxnLst/>
            <a:rect l="l" t="t" r="r" b="b"/>
            <a:pathLst>
              <a:path w="31750" h="619125">
                <a:moveTo>
                  <a:pt x="0" y="0"/>
                </a:moveTo>
                <a:lnTo>
                  <a:pt x="31750" y="0"/>
                </a:lnTo>
                <a:lnTo>
                  <a:pt x="31750" y="619125"/>
                </a:lnTo>
                <a:lnTo>
                  <a:pt x="0" y="619125"/>
                </a:lnTo>
                <a:lnTo>
                  <a:pt x="0" y="0"/>
                </a:lnTo>
                <a:close/>
              </a:path>
            </a:pathLst>
          </a:custGeom>
          <a:solidFill>
            <a:srgbClr val="C49A2C"/>
          </a:solidFill>
          <a:ln/>
        </p:spPr>
      </p:sp>
      <p:sp>
        <p:nvSpPr>
          <p:cNvPr id="25" name="Text 23"/>
          <p:cNvSpPr/>
          <p:nvPr/>
        </p:nvSpPr>
        <p:spPr>
          <a:xfrm>
            <a:off x="571500" y="4984750"/>
            <a:ext cx="5302250" cy="190500"/>
          </a:xfrm>
          <a:prstGeom prst="rect">
            <a:avLst/>
          </a:prstGeom>
          <a:noFill/>
          <a:ln/>
        </p:spPr>
        <p:txBody>
          <a:bodyPr wrap="square" lIns="0" tIns="0" rIns="0" bIns="0" rtlCol="0" anchor="ctr"/>
          <a:lstStyle/>
          <a:p>
            <a:pPr>
              <a:lnSpc>
                <a:spcPct val="130000"/>
              </a:lnSpc>
            </a:pPr>
            <a:r>
              <a:rPr lang="en-US" sz="1000" b="1" dirty="0">
                <a:solidFill>
                  <a:srgbClr val="1E3A5F"/>
                </a:solidFill>
                <a:latin typeface="MiSans" pitchFamily="34" charset="0"/>
                <a:ea typeface="MiSans" pitchFamily="34" charset="-122"/>
                <a:cs typeface="MiSans" pitchFamily="34" charset="-120"/>
              </a:rPr>
              <a:t>Leadership Engagement</a:t>
            </a:r>
            <a:endParaRPr lang="en-US" sz="1600" dirty="0"/>
          </a:p>
        </p:txBody>
      </p:sp>
      <p:sp>
        <p:nvSpPr>
          <p:cNvPr id="26" name="Text 24"/>
          <p:cNvSpPr/>
          <p:nvPr/>
        </p:nvSpPr>
        <p:spPr>
          <a:xfrm>
            <a:off x="571500" y="5207000"/>
            <a:ext cx="5302250" cy="20637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Annual strategic review requirement, scored as one of eight IQS dimensions</a:t>
            </a:r>
            <a:endParaRPr lang="en-US" sz="1600" dirty="0"/>
          </a:p>
        </p:txBody>
      </p:sp>
      <p:sp>
        <p:nvSpPr>
          <p:cNvPr id="27" name="Shape 25"/>
          <p:cNvSpPr/>
          <p:nvPr/>
        </p:nvSpPr>
        <p:spPr>
          <a:xfrm>
            <a:off x="6159500" y="1095375"/>
            <a:ext cx="5715000" cy="4064000"/>
          </a:xfrm>
          <a:custGeom>
            <a:avLst/>
            <a:gdLst/>
            <a:ahLst/>
            <a:cxnLst/>
            <a:rect l="l" t="t" r="r" b="b"/>
            <a:pathLst>
              <a:path w="5715000" h="4064000">
                <a:moveTo>
                  <a:pt x="0" y="0"/>
                </a:moveTo>
                <a:lnTo>
                  <a:pt x="5715000" y="0"/>
                </a:lnTo>
                <a:lnTo>
                  <a:pt x="5715000" y="4064000"/>
                </a:lnTo>
                <a:lnTo>
                  <a:pt x="0" y="4064000"/>
                </a:lnTo>
                <a:lnTo>
                  <a:pt x="0" y="0"/>
                </a:lnTo>
                <a:close/>
              </a:path>
            </a:pathLst>
          </a:custGeom>
          <a:solidFill>
            <a:srgbClr val="FFFFFF"/>
          </a:solidFill>
          <a:ln/>
        </p:spPr>
      </p:sp>
      <p:sp>
        <p:nvSpPr>
          <p:cNvPr id="28" name="Shape 26"/>
          <p:cNvSpPr/>
          <p:nvPr/>
        </p:nvSpPr>
        <p:spPr>
          <a:xfrm>
            <a:off x="6159500" y="1095375"/>
            <a:ext cx="5715000" cy="31750"/>
          </a:xfrm>
          <a:custGeom>
            <a:avLst/>
            <a:gdLst/>
            <a:ahLst/>
            <a:cxnLst/>
            <a:rect l="l" t="t" r="r" b="b"/>
            <a:pathLst>
              <a:path w="5715000" h="31750">
                <a:moveTo>
                  <a:pt x="0" y="0"/>
                </a:moveTo>
                <a:lnTo>
                  <a:pt x="5715000" y="0"/>
                </a:lnTo>
                <a:lnTo>
                  <a:pt x="5715000" y="31750"/>
                </a:lnTo>
                <a:lnTo>
                  <a:pt x="0" y="31750"/>
                </a:lnTo>
                <a:lnTo>
                  <a:pt x="0" y="0"/>
                </a:lnTo>
                <a:close/>
              </a:path>
            </a:pathLst>
          </a:custGeom>
          <a:solidFill>
            <a:srgbClr val="E7000B"/>
          </a:solidFill>
          <a:ln/>
        </p:spPr>
      </p:sp>
      <p:sp>
        <p:nvSpPr>
          <p:cNvPr id="29" name="Shape 27"/>
          <p:cNvSpPr/>
          <p:nvPr/>
        </p:nvSpPr>
        <p:spPr>
          <a:xfrm>
            <a:off x="628650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E7000B"/>
          </a:solidFill>
          <a:ln/>
        </p:spPr>
      </p:sp>
      <p:sp>
        <p:nvSpPr>
          <p:cNvPr id="30" name="Text 28"/>
          <p:cNvSpPr/>
          <p:nvPr/>
        </p:nvSpPr>
        <p:spPr>
          <a:xfrm>
            <a:off x="6238875" y="1238250"/>
            <a:ext cx="476250" cy="381000"/>
          </a:xfrm>
          <a:prstGeom prst="rect">
            <a:avLst/>
          </a:prstGeom>
          <a:noFill/>
          <a:ln/>
        </p:spPr>
        <p:txBody>
          <a:bodyPr wrap="square" lIns="0" tIns="0" rIns="0" bIns="0" rtlCol="0" anchor="ctr"/>
          <a:lstStyle/>
          <a:p>
            <a:pPr algn="ctr">
              <a:lnSpc>
                <a:spcPct val="110000"/>
              </a:lnSpc>
            </a:pPr>
            <a:r>
              <a:rPr lang="en-US" sz="1500" b="1" dirty="0">
                <a:solidFill>
                  <a:srgbClr val="F8F9FA"/>
                </a:solidFill>
                <a:latin typeface="MiSans" pitchFamily="34" charset="0"/>
                <a:ea typeface="MiSans" pitchFamily="34" charset="-122"/>
                <a:cs typeface="MiSans" pitchFamily="34" charset="-120"/>
              </a:rPr>
              <a:t>11</a:t>
            </a:r>
            <a:endParaRPr lang="en-US" sz="1600" dirty="0"/>
          </a:p>
        </p:txBody>
      </p:sp>
      <p:sp>
        <p:nvSpPr>
          <p:cNvPr id="31" name="Text 29"/>
          <p:cNvSpPr/>
          <p:nvPr/>
        </p:nvSpPr>
        <p:spPr>
          <a:xfrm>
            <a:off x="6762750" y="1317625"/>
            <a:ext cx="2722563" cy="222250"/>
          </a:xfrm>
          <a:prstGeom prst="rect">
            <a:avLst/>
          </a:prstGeom>
          <a:noFill/>
          <a:ln/>
        </p:spPr>
        <p:txBody>
          <a:bodyPr wrap="square" lIns="0" tIns="0" rIns="0" bIns="0" rtlCol="0" anchor="ctr"/>
          <a:lstStyle/>
          <a:p>
            <a:pPr>
              <a:lnSpc>
                <a:spcPct val="120000"/>
              </a:lnSpc>
            </a:pPr>
            <a:r>
              <a:rPr lang="en-US" sz="1250" b="1" dirty="0">
                <a:solidFill>
                  <a:srgbClr val="C10007"/>
                </a:solidFill>
                <a:latin typeface="MiSans" pitchFamily="34" charset="0"/>
                <a:ea typeface="MiSans" pitchFamily="34" charset="-122"/>
                <a:cs typeface="MiSans" pitchFamily="34" charset="-120"/>
              </a:rPr>
              <a:t>Compliance and Fidelity Standards</a:t>
            </a:r>
            <a:endParaRPr lang="en-US" sz="1600" dirty="0"/>
          </a:p>
        </p:txBody>
      </p:sp>
      <p:sp>
        <p:nvSpPr>
          <p:cNvPr id="32" name="Text 30"/>
          <p:cNvSpPr/>
          <p:nvPr/>
        </p:nvSpPr>
        <p:spPr>
          <a:xfrm>
            <a:off x="6286500" y="1714500"/>
            <a:ext cx="5524500" cy="619125"/>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This is </a:t>
            </a:r>
            <a:pPr>
              <a:lnSpc>
                <a:spcPct val="140000"/>
              </a:lnSpc>
            </a:pPr>
            <a:r>
              <a:rPr lang="en-US" sz="1000" b="1" dirty="0">
                <a:solidFill>
                  <a:srgbClr val="2D3436"/>
                </a:solidFill>
                <a:latin typeface="MiSans" pitchFamily="34" charset="0"/>
                <a:ea typeface="MiSans" pitchFamily="34" charset="-122"/>
                <a:cs typeface="MiSans" pitchFamily="34" charset="-120"/>
              </a:rPr>
              <a:t>the most consequential chapter in the handbook</a:t>
            </a:r>
            <a:pPr>
              <a:lnSpc>
                <a:spcPct val="140000"/>
              </a:lnSpc>
            </a:pPr>
            <a:r>
              <a:rPr lang="en-US" sz="1000" dirty="0">
                <a:solidFill>
                  <a:srgbClr val="2D3436"/>
                </a:solidFill>
                <a:latin typeface="MiSans" pitchFamily="34" charset="0"/>
                <a:ea typeface="MiSans" pitchFamily="34" charset="-122"/>
                <a:cs typeface="MiSans" pitchFamily="34" charset="-120"/>
              </a:rPr>
              <a:t> for staff involved in data work. It sets out the standards by which Meridian determines whether a partner school's data is suitable for inclusion in programme-level impact analysis.</a:t>
            </a:r>
            <a:endParaRPr lang="en-US" sz="1600" dirty="0"/>
          </a:p>
        </p:txBody>
      </p:sp>
      <p:sp>
        <p:nvSpPr>
          <p:cNvPr id="33" name="Shape 31"/>
          <p:cNvSpPr/>
          <p:nvPr/>
        </p:nvSpPr>
        <p:spPr>
          <a:xfrm>
            <a:off x="6302375" y="2428875"/>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EF2F2"/>
          </a:solidFill>
          <a:ln/>
        </p:spPr>
      </p:sp>
      <p:sp>
        <p:nvSpPr>
          <p:cNvPr id="34" name="Shape 32"/>
          <p:cNvSpPr/>
          <p:nvPr/>
        </p:nvSpPr>
        <p:spPr>
          <a:xfrm>
            <a:off x="6302375" y="2428875"/>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E7000B"/>
          </a:solidFill>
          <a:ln/>
        </p:spPr>
      </p:sp>
      <p:sp>
        <p:nvSpPr>
          <p:cNvPr id="35" name="Text 33"/>
          <p:cNvSpPr/>
          <p:nvPr/>
        </p:nvSpPr>
        <p:spPr>
          <a:xfrm>
            <a:off x="6413500" y="2524125"/>
            <a:ext cx="5302250" cy="190500"/>
          </a:xfrm>
          <a:prstGeom prst="rect">
            <a:avLst/>
          </a:prstGeom>
          <a:noFill/>
          <a:ln/>
        </p:spPr>
        <p:txBody>
          <a:bodyPr wrap="square" lIns="0" tIns="0" rIns="0" bIns="0" rtlCol="0" anchor="ctr"/>
          <a:lstStyle/>
          <a:p>
            <a:pPr>
              <a:lnSpc>
                <a:spcPct val="130000"/>
              </a:lnSpc>
            </a:pPr>
            <a:r>
              <a:rPr lang="en-US" sz="1000" b="1" dirty="0">
                <a:solidFill>
                  <a:srgbClr val="C10007"/>
                </a:solidFill>
                <a:latin typeface="MiSans" pitchFamily="34" charset="0"/>
                <a:ea typeface="MiSans" pitchFamily="34" charset="-122"/>
                <a:cs typeface="MiSans" pitchFamily="34" charset="-120"/>
              </a:rPr>
              <a:t>Why Fidelity Standards Exist</a:t>
            </a:r>
            <a:endParaRPr lang="en-US" sz="1600" dirty="0"/>
          </a:p>
        </p:txBody>
      </p:sp>
      <p:sp>
        <p:nvSpPr>
          <p:cNvPr id="36" name="Text 34"/>
          <p:cNvSpPr/>
          <p:nvPr/>
        </p:nvSpPr>
        <p:spPr>
          <a:xfrm>
            <a:off x="6413500" y="2746375"/>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A programme's impact cannot be measured in schools where the programme was not properly implemented. </a:t>
            </a:r>
            <a:pPr>
              <a:lnSpc>
                <a:spcPct val="140000"/>
              </a:lnSpc>
            </a:pPr>
            <a:r>
              <a:rPr lang="en-US" sz="1000" b="1" dirty="0">
                <a:solidFill>
                  <a:srgbClr val="2D3436"/>
                </a:solidFill>
                <a:latin typeface="MiSans" pitchFamily="34" charset="0"/>
                <a:ea typeface="MiSans" pitchFamily="34" charset="-122"/>
                <a:cs typeface="MiSans" pitchFamily="34" charset="-120"/>
              </a:rPr>
              <a:t>This is a logical necessity, not a methodological preference.</a:t>
            </a:r>
            <a:endParaRPr lang="en-US" sz="1600" dirty="0"/>
          </a:p>
        </p:txBody>
      </p:sp>
      <p:sp>
        <p:nvSpPr>
          <p:cNvPr id="37" name="Shape 35"/>
          <p:cNvSpPr/>
          <p:nvPr/>
        </p:nvSpPr>
        <p:spPr>
          <a:xfrm>
            <a:off x="6302375" y="3317875"/>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EF2F2"/>
          </a:solidFill>
          <a:ln/>
        </p:spPr>
      </p:sp>
      <p:sp>
        <p:nvSpPr>
          <p:cNvPr id="38" name="Shape 36"/>
          <p:cNvSpPr/>
          <p:nvPr/>
        </p:nvSpPr>
        <p:spPr>
          <a:xfrm>
            <a:off x="6302375" y="3317875"/>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E7000B"/>
          </a:solidFill>
          <a:ln/>
        </p:spPr>
      </p:sp>
      <p:sp>
        <p:nvSpPr>
          <p:cNvPr id="39" name="Text 37"/>
          <p:cNvSpPr/>
          <p:nvPr/>
        </p:nvSpPr>
        <p:spPr>
          <a:xfrm>
            <a:off x="6413500" y="3413125"/>
            <a:ext cx="5302250" cy="190500"/>
          </a:xfrm>
          <a:prstGeom prst="rect">
            <a:avLst/>
          </a:prstGeom>
          <a:noFill/>
          <a:ln/>
        </p:spPr>
        <p:txBody>
          <a:bodyPr wrap="square" lIns="0" tIns="0" rIns="0" bIns="0" rtlCol="0" anchor="ctr"/>
          <a:lstStyle/>
          <a:p>
            <a:pPr>
              <a:lnSpc>
                <a:spcPct val="130000"/>
              </a:lnSpc>
            </a:pPr>
            <a:r>
              <a:rPr lang="en-US" sz="1000" b="1" dirty="0">
                <a:solidFill>
                  <a:srgbClr val="C10007"/>
                </a:solidFill>
                <a:latin typeface="MiSans" pitchFamily="34" charset="0"/>
                <a:ea typeface="MiSans" pitchFamily="34" charset="-122"/>
                <a:cs typeface="MiSans" pitchFamily="34" charset="-120"/>
              </a:rPr>
              <a:t>Definition of Compliant Implementation</a:t>
            </a:r>
            <a:endParaRPr lang="en-US" sz="1600" dirty="0"/>
          </a:p>
        </p:txBody>
      </p:sp>
      <p:sp>
        <p:nvSpPr>
          <p:cNvPr id="40" name="Text 38"/>
          <p:cNvSpPr/>
          <p:nvPr/>
        </p:nvSpPr>
        <p:spPr>
          <a:xfrm>
            <a:off x="6413500" y="3635375"/>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Five criteria: coordinator certification, all three strands deployed, IQS ≥50, data submission complete, no adverse audit finding</a:t>
            </a:r>
            <a:endParaRPr lang="en-US" sz="1600" dirty="0"/>
          </a:p>
        </p:txBody>
      </p:sp>
      <p:sp>
        <p:nvSpPr>
          <p:cNvPr id="41" name="Shape 39"/>
          <p:cNvSpPr/>
          <p:nvPr/>
        </p:nvSpPr>
        <p:spPr>
          <a:xfrm>
            <a:off x="6302375" y="4206875"/>
            <a:ext cx="5445125" cy="825500"/>
          </a:xfrm>
          <a:custGeom>
            <a:avLst/>
            <a:gdLst/>
            <a:ahLst/>
            <a:cxnLst/>
            <a:rect l="l" t="t" r="r" b="b"/>
            <a:pathLst>
              <a:path w="5445125" h="825500">
                <a:moveTo>
                  <a:pt x="0" y="0"/>
                </a:moveTo>
                <a:lnTo>
                  <a:pt x="5445125" y="0"/>
                </a:lnTo>
                <a:lnTo>
                  <a:pt x="5445125" y="825500"/>
                </a:lnTo>
                <a:lnTo>
                  <a:pt x="0" y="825500"/>
                </a:lnTo>
                <a:lnTo>
                  <a:pt x="0" y="0"/>
                </a:lnTo>
                <a:close/>
              </a:path>
            </a:pathLst>
          </a:custGeom>
          <a:solidFill>
            <a:srgbClr val="FEF2F2"/>
          </a:solidFill>
          <a:ln/>
        </p:spPr>
      </p:sp>
      <p:sp>
        <p:nvSpPr>
          <p:cNvPr id="42" name="Shape 40"/>
          <p:cNvSpPr/>
          <p:nvPr/>
        </p:nvSpPr>
        <p:spPr>
          <a:xfrm>
            <a:off x="6302375" y="4206875"/>
            <a:ext cx="31750" cy="825500"/>
          </a:xfrm>
          <a:custGeom>
            <a:avLst/>
            <a:gdLst/>
            <a:ahLst/>
            <a:cxnLst/>
            <a:rect l="l" t="t" r="r" b="b"/>
            <a:pathLst>
              <a:path w="31750" h="825500">
                <a:moveTo>
                  <a:pt x="0" y="0"/>
                </a:moveTo>
                <a:lnTo>
                  <a:pt x="31750" y="0"/>
                </a:lnTo>
                <a:lnTo>
                  <a:pt x="31750" y="825500"/>
                </a:lnTo>
                <a:lnTo>
                  <a:pt x="0" y="825500"/>
                </a:lnTo>
                <a:lnTo>
                  <a:pt x="0" y="0"/>
                </a:lnTo>
                <a:close/>
              </a:path>
            </a:pathLst>
          </a:custGeom>
          <a:solidFill>
            <a:srgbClr val="E7000B"/>
          </a:solidFill>
          <a:ln/>
        </p:spPr>
      </p:sp>
      <p:sp>
        <p:nvSpPr>
          <p:cNvPr id="43" name="Text 41"/>
          <p:cNvSpPr/>
          <p:nvPr/>
        </p:nvSpPr>
        <p:spPr>
          <a:xfrm>
            <a:off x="6413500" y="4302125"/>
            <a:ext cx="5302250" cy="190500"/>
          </a:xfrm>
          <a:prstGeom prst="rect">
            <a:avLst/>
          </a:prstGeom>
          <a:noFill/>
          <a:ln/>
        </p:spPr>
        <p:txBody>
          <a:bodyPr wrap="square" lIns="0" tIns="0" rIns="0" bIns="0" rtlCol="0" anchor="ctr"/>
          <a:lstStyle/>
          <a:p>
            <a:pPr>
              <a:lnSpc>
                <a:spcPct val="130000"/>
              </a:lnSpc>
            </a:pPr>
            <a:r>
              <a:rPr lang="en-US" sz="1000" b="1" dirty="0">
                <a:solidFill>
                  <a:srgbClr val="C10007"/>
                </a:solidFill>
                <a:latin typeface="MiSans" pitchFamily="34" charset="0"/>
                <a:ea typeface="MiSans" pitchFamily="34" charset="-122"/>
                <a:cs typeface="MiSans" pitchFamily="34" charset="-120"/>
              </a:rPr>
              <a:t>Non-Compliant Implementation</a:t>
            </a:r>
            <a:endParaRPr lang="en-US" sz="1600" dirty="0"/>
          </a:p>
        </p:txBody>
      </p:sp>
      <p:sp>
        <p:nvSpPr>
          <p:cNvPr id="44" name="Text 42"/>
          <p:cNvSpPr/>
          <p:nvPr/>
        </p:nvSpPr>
        <p:spPr>
          <a:xfrm>
            <a:off x="6413500" y="4524375"/>
            <a:ext cx="5302250" cy="412750"/>
          </a:xfrm>
          <a:prstGeom prst="rect">
            <a:avLst/>
          </a:prstGeom>
          <a:noFill/>
          <a:ln/>
        </p:spPr>
        <p:txBody>
          <a:bodyPr wrap="square" lIns="0" tIns="0" rIns="0" bIns="0" rtlCol="0" anchor="ctr"/>
          <a:lstStyle/>
          <a:p>
            <a:pPr>
              <a:lnSpc>
                <a:spcPct val="140000"/>
              </a:lnSpc>
            </a:pPr>
            <a:r>
              <a:rPr lang="en-US" sz="1000" dirty="0">
                <a:solidFill>
                  <a:srgbClr val="2D3436"/>
                </a:solidFill>
                <a:latin typeface="MiSans" pitchFamily="34" charset="0"/>
                <a:ea typeface="MiSans" pitchFamily="34" charset="-122"/>
                <a:cs typeface="MiSans" pitchFamily="34" charset="-120"/>
              </a:rPr>
              <a:t>Data moved to archive, not included in impact calculations. School remains a partner. </a:t>
            </a:r>
            <a:pPr>
              <a:lnSpc>
                <a:spcPct val="140000"/>
              </a:lnSpc>
            </a:pPr>
            <a:r>
              <a:rPr lang="en-US" sz="1000" b="1" dirty="0">
                <a:solidFill>
                  <a:srgbClr val="2D3436"/>
                </a:solidFill>
                <a:latin typeface="MiSans" pitchFamily="34" charset="0"/>
                <a:ea typeface="MiSans" pitchFamily="34" charset="-122"/>
                <a:cs typeface="MiSans" pitchFamily="34" charset="-120"/>
              </a:rPr>
              <a:t>The classification is about implementation, not outcomes.</a:t>
            </a:r>
            <a:endParaRPr lang="en-US" sz="1600" dirty="0"/>
          </a:p>
        </p:txBody>
      </p:sp>
      <p:sp>
        <p:nvSpPr>
          <p:cNvPr id="45" name="Shape 43"/>
          <p:cNvSpPr/>
          <p:nvPr/>
        </p:nvSpPr>
        <p:spPr>
          <a:xfrm>
            <a:off x="6175375" y="5254625"/>
            <a:ext cx="5699125" cy="809625"/>
          </a:xfrm>
          <a:custGeom>
            <a:avLst/>
            <a:gdLst/>
            <a:ahLst/>
            <a:cxnLst/>
            <a:rect l="l" t="t" r="r" b="b"/>
            <a:pathLst>
              <a:path w="5699125" h="809625">
                <a:moveTo>
                  <a:pt x="0" y="0"/>
                </a:moveTo>
                <a:lnTo>
                  <a:pt x="5699125" y="0"/>
                </a:lnTo>
                <a:lnTo>
                  <a:pt x="5699125" y="809625"/>
                </a:lnTo>
                <a:lnTo>
                  <a:pt x="0" y="809625"/>
                </a:lnTo>
                <a:lnTo>
                  <a:pt x="0" y="0"/>
                </a:lnTo>
                <a:close/>
              </a:path>
            </a:pathLst>
          </a:custGeom>
          <a:solidFill>
            <a:srgbClr val="C49A2C">
              <a:alpha val="10196"/>
            </a:srgbClr>
          </a:solidFill>
          <a:ln/>
        </p:spPr>
      </p:sp>
      <p:sp>
        <p:nvSpPr>
          <p:cNvPr id="46" name="Shape 44"/>
          <p:cNvSpPr/>
          <p:nvPr/>
        </p:nvSpPr>
        <p:spPr>
          <a:xfrm>
            <a:off x="6175375" y="5254625"/>
            <a:ext cx="31750" cy="809625"/>
          </a:xfrm>
          <a:custGeom>
            <a:avLst/>
            <a:gdLst/>
            <a:ahLst/>
            <a:cxnLst/>
            <a:rect l="l" t="t" r="r" b="b"/>
            <a:pathLst>
              <a:path w="31750" h="809625">
                <a:moveTo>
                  <a:pt x="0" y="0"/>
                </a:moveTo>
                <a:lnTo>
                  <a:pt x="31750" y="0"/>
                </a:lnTo>
                <a:lnTo>
                  <a:pt x="31750" y="809625"/>
                </a:lnTo>
                <a:lnTo>
                  <a:pt x="0" y="809625"/>
                </a:lnTo>
                <a:lnTo>
                  <a:pt x="0" y="0"/>
                </a:lnTo>
                <a:close/>
              </a:path>
            </a:pathLst>
          </a:custGeom>
          <a:solidFill>
            <a:srgbClr val="C49A2C"/>
          </a:solidFill>
          <a:ln/>
        </p:spPr>
      </p:sp>
      <p:sp>
        <p:nvSpPr>
          <p:cNvPr id="47" name="Shape 45"/>
          <p:cNvSpPr/>
          <p:nvPr/>
        </p:nvSpPr>
        <p:spPr>
          <a:xfrm>
            <a:off x="6302375" y="5393531"/>
            <a:ext cx="127000" cy="127000"/>
          </a:xfrm>
          <a:custGeom>
            <a:avLst/>
            <a:gdLst/>
            <a:ahLst/>
            <a:cxnLst/>
            <a:rect l="l" t="t" r="r" b="b"/>
            <a:pathLst>
              <a:path w="127000" h="127000">
                <a:moveTo>
                  <a:pt x="63500" y="0"/>
                </a:moveTo>
                <a:cubicBezTo>
                  <a:pt x="67146" y="0"/>
                  <a:pt x="70495" y="2009"/>
                  <a:pt x="72231" y="5209"/>
                </a:cubicBezTo>
                <a:lnTo>
                  <a:pt x="125809" y="104428"/>
                </a:lnTo>
                <a:cubicBezTo>
                  <a:pt x="127471" y="107504"/>
                  <a:pt x="127397" y="111224"/>
                  <a:pt x="125611" y="114226"/>
                </a:cubicBezTo>
                <a:cubicBezTo>
                  <a:pt x="123825" y="117227"/>
                  <a:pt x="120576" y="119063"/>
                  <a:pt x="117078" y="119063"/>
                </a:cubicBezTo>
                <a:lnTo>
                  <a:pt x="9922" y="119063"/>
                </a:lnTo>
                <a:cubicBezTo>
                  <a:pt x="6424" y="119063"/>
                  <a:pt x="3200" y="117227"/>
                  <a:pt x="1389" y="114226"/>
                </a:cubicBezTo>
                <a:cubicBezTo>
                  <a:pt x="-422" y="111224"/>
                  <a:pt x="-471" y="107504"/>
                  <a:pt x="1191" y="104428"/>
                </a:cubicBezTo>
                <a:lnTo>
                  <a:pt x="54769" y="5209"/>
                </a:lnTo>
                <a:cubicBezTo>
                  <a:pt x="56505" y="2009"/>
                  <a:pt x="59854" y="0"/>
                  <a:pt x="63500" y="0"/>
                </a:cubicBezTo>
                <a:close/>
                <a:moveTo>
                  <a:pt x="63500" y="41672"/>
                </a:moveTo>
                <a:cubicBezTo>
                  <a:pt x="60201" y="41672"/>
                  <a:pt x="57547" y="44326"/>
                  <a:pt x="57547" y="47625"/>
                </a:cubicBezTo>
                <a:lnTo>
                  <a:pt x="57547" y="75406"/>
                </a:lnTo>
                <a:cubicBezTo>
                  <a:pt x="57547" y="78705"/>
                  <a:pt x="60201" y="81359"/>
                  <a:pt x="63500" y="81359"/>
                </a:cubicBezTo>
                <a:cubicBezTo>
                  <a:pt x="66799" y="81359"/>
                  <a:pt x="69453" y="78705"/>
                  <a:pt x="69453" y="75406"/>
                </a:cubicBezTo>
                <a:lnTo>
                  <a:pt x="69453" y="47625"/>
                </a:lnTo>
                <a:cubicBezTo>
                  <a:pt x="69453" y="44326"/>
                  <a:pt x="66799" y="41672"/>
                  <a:pt x="63500" y="41672"/>
                </a:cubicBezTo>
                <a:close/>
                <a:moveTo>
                  <a:pt x="70123" y="95250"/>
                </a:moveTo>
                <a:cubicBezTo>
                  <a:pt x="70274" y="92792"/>
                  <a:pt x="69048" y="90453"/>
                  <a:pt x="66940" y="89178"/>
                </a:cubicBezTo>
                <a:cubicBezTo>
                  <a:pt x="64833" y="87903"/>
                  <a:pt x="62192" y="87903"/>
                  <a:pt x="60085" y="89178"/>
                </a:cubicBezTo>
                <a:cubicBezTo>
                  <a:pt x="57977" y="90453"/>
                  <a:pt x="56751" y="92792"/>
                  <a:pt x="56902" y="95250"/>
                </a:cubicBezTo>
                <a:cubicBezTo>
                  <a:pt x="56751" y="97708"/>
                  <a:pt x="57977" y="100047"/>
                  <a:pt x="60085" y="101322"/>
                </a:cubicBezTo>
                <a:cubicBezTo>
                  <a:pt x="62192" y="102597"/>
                  <a:pt x="64833" y="102597"/>
                  <a:pt x="66940" y="101322"/>
                </a:cubicBezTo>
                <a:cubicBezTo>
                  <a:pt x="69048" y="100047"/>
                  <a:pt x="70274" y="97708"/>
                  <a:pt x="70123" y="95250"/>
                </a:cubicBezTo>
                <a:close/>
              </a:path>
            </a:pathLst>
          </a:custGeom>
          <a:solidFill>
            <a:srgbClr val="C49A2C"/>
          </a:solidFill>
          <a:ln/>
        </p:spPr>
      </p:sp>
      <p:sp>
        <p:nvSpPr>
          <p:cNvPr id="48" name="Text 46"/>
          <p:cNvSpPr/>
          <p:nvPr/>
        </p:nvSpPr>
        <p:spPr>
          <a:xfrm>
            <a:off x="6484938" y="5349875"/>
            <a:ext cx="5357813" cy="619125"/>
          </a:xfrm>
          <a:prstGeom prst="rect">
            <a:avLst/>
          </a:prstGeom>
          <a:noFill/>
          <a:ln/>
        </p:spPr>
        <p:txBody>
          <a:bodyPr wrap="square" lIns="0" tIns="0" rIns="0" bIns="0" rtlCol="0" anchor="ctr"/>
          <a:lstStyle/>
          <a:p>
            <a:pPr>
              <a:lnSpc>
                <a:spcPct val="140000"/>
              </a:lnSpc>
            </a:pPr>
            <a:r>
              <a:rPr lang="en-US" sz="1000" b="1" dirty="0">
                <a:solidFill>
                  <a:srgbClr val="1E3A5F"/>
                </a:solidFill>
                <a:latin typeface="MiSans" pitchFamily="34" charset="0"/>
                <a:ea typeface="MiSans" pitchFamily="34" charset="-122"/>
                <a:cs typeface="MiSans" pitchFamily="34" charset="-120"/>
              </a:rPr>
              <a:t>Critical Note:</a:t>
            </a:r>
            <a:pPr>
              <a:lnSpc>
                <a:spcPct val="140000"/>
              </a:lnSpc>
            </a:pPr>
            <a:r>
              <a:rPr lang="en-US" sz="1000" dirty="0">
                <a:solidFill>
                  <a:srgbClr val="1E3A5F"/>
                </a:solidFill>
                <a:latin typeface="MiSans" pitchFamily="34" charset="0"/>
                <a:ea typeface="MiSans" pitchFamily="34" charset="-122"/>
                <a:cs typeface="MiSans" pitchFamily="34" charset="-120"/>
              </a:rPr>
              <a:t> This chapter is sometimes described loosely as "the criteria for excluding schools." That description is not wrong, but it is incomplete. The standards are also </a:t>
            </a:r>
            <a:pPr>
              <a:lnSpc>
                <a:spcPct val="140000"/>
              </a:lnSpc>
            </a:pPr>
            <a:r>
              <a:rPr lang="en-US" sz="1000" b="1" dirty="0">
                <a:solidFill>
                  <a:srgbClr val="1E3A5F"/>
                </a:solidFill>
                <a:latin typeface="MiSans" pitchFamily="34" charset="0"/>
                <a:ea typeface="MiSans" pitchFamily="34" charset="-122"/>
                <a:cs typeface="MiSans" pitchFamily="34" charset="-120"/>
              </a:rPr>
              <a:t>the criteria for inclusion</a:t>
            </a:r>
            <a:pPr>
              <a:lnSpc>
                <a:spcPct val="140000"/>
              </a:lnSpc>
            </a:pPr>
            <a:r>
              <a:rPr lang="en-US" sz="1000" dirty="0">
                <a:solidFill>
                  <a:srgbClr val="1E3A5F"/>
                </a:solidFill>
                <a:latin typeface="MiSans" pitchFamily="34" charset="0"/>
                <a:ea typeface="MiSans" pitchFamily="34" charset="-122"/>
                <a:cs typeface="MiSans" pitchFamily="34" charset="-120"/>
              </a:rPr>
              <a:t> — they define what a valid programme school looks like.</a:t>
            </a:r>
            <a:endParaRPr lang="en-US" sz="1600" dirty="0"/>
          </a:p>
        </p:txBody>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58062" y="358062"/>
            <a:ext cx="71612" cy="429674"/>
          </a:xfrm>
          <a:custGeom>
            <a:avLst/>
            <a:gdLst/>
            <a:ahLst/>
            <a:cxnLst/>
            <a:rect l="l" t="t" r="r" b="b"/>
            <a:pathLst>
              <a:path w="71612" h="429674">
                <a:moveTo>
                  <a:pt x="0" y="0"/>
                </a:moveTo>
                <a:lnTo>
                  <a:pt x="71612" y="0"/>
                </a:lnTo>
                <a:lnTo>
                  <a:pt x="71612" y="429674"/>
                </a:lnTo>
                <a:lnTo>
                  <a:pt x="0" y="429674"/>
                </a:lnTo>
                <a:lnTo>
                  <a:pt x="0" y="0"/>
                </a:lnTo>
                <a:close/>
              </a:path>
            </a:pathLst>
          </a:custGeom>
          <a:solidFill>
            <a:srgbClr val="1E3A5F"/>
          </a:solidFill>
          <a:ln/>
        </p:spPr>
      </p:sp>
      <p:sp>
        <p:nvSpPr>
          <p:cNvPr id="3" name="Text 1"/>
          <p:cNvSpPr/>
          <p:nvPr/>
        </p:nvSpPr>
        <p:spPr>
          <a:xfrm>
            <a:off x="537093" y="411771"/>
            <a:ext cx="9058960" cy="322256"/>
          </a:xfrm>
          <a:prstGeom prst="rect">
            <a:avLst/>
          </a:prstGeom>
          <a:noFill/>
          <a:ln/>
        </p:spPr>
        <p:txBody>
          <a:bodyPr wrap="square" lIns="0" tIns="0" rIns="0" bIns="0" rtlCol="0" anchor="ctr"/>
          <a:lstStyle/>
          <a:p>
            <a:pPr>
              <a:lnSpc>
                <a:spcPct val="100000"/>
              </a:lnSpc>
            </a:pPr>
            <a:r>
              <a:rPr lang="en-US" sz="2115" b="1" dirty="0">
                <a:solidFill>
                  <a:srgbClr val="1E3A5F"/>
                </a:solidFill>
                <a:latin typeface="MiSans" pitchFamily="34" charset="0"/>
                <a:ea typeface="MiSans" pitchFamily="34" charset="-122"/>
                <a:cs typeface="MiSans" pitchFamily="34" charset="-120"/>
              </a:rPr>
              <a:t>Reference: MPI Technical Handbook Chapter 7 (Reporting Guidelines)</a:t>
            </a:r>
            <a:endParaRPr lang="en-US" sz="1600" dirty="0"/>
          </a:p>
        </p:txBody>
      </p:sp>
      <p:sp>
        <p:nvSpPr>
          <p:cNvPr id="4" name="Shape 2"/>
          <p:cNvSpPr/>
          <p:nvPr/>
        </p:nvSpPr>
        <p:spPr>
          <a:xfrm>
            <a:off x="358062" y="1020476"/>
            <a:ext cx="5666326" cy="2166273"/>
          </a:xfrm>
          <a:custGeom>
            <a:avLst/>
            <a:gdLst/>
            <a:ahLst/>
            <a:cxnLst/>
            <a:rect l="l" t="t" r="r" b="b"/>
            <a:pathLst>
              <a:path w="5666326" h="2166273">
                <a:moveTo>
                  <a:pt x="0" y="0"/>
                </a:moveTo>
                <a:lnTo>
                  <a:pt x="5666326" y="0"/>
                </a:lnTo>
                <a:lnTo>
                  <a:pt x="5666326" y="2166273"/>
                </a:lnTo>
                <a:lnTo>
                  <a:pt x="0" y="2166273"/>
                </a:lnTo>
                <a:lnTo>
                  <a:pt x="0" y="0"/>
                </a:lnTo>
                <a:close/>
              </a:path>
            </a:pathLst>
          </a:custGeom>
          <a:solidFill>
            <a:srgbClr val="FFFFFF"/>
          </a:solidFill>
          <a:ln/>
        </p:spPr>
      </p:sp>
      <p:sp>
        <p:nvSpPr>
          <p:cNvPr id="5" name="Shape 3"/>
          <p:cNvSpPr/>
          <p:nvPr/>
        </p:nvSpPr>
        <p:spPr>
          <a:xfrm>
            <a:off x="358062" y="1020476"/>
            <a:ext cx="5666326" cy="35806"/>
          </a:xfrm>
          <a:custGeom>
            <a:avLst/>
            <a:gdLst/>
            <a:ahLst/>
            <a:cxnLst/>
            <a:rect l="l" t="t" r="r" b="b"/>
            <a:pathLst>
              <a:path w="5666326" h="35806">
                <a:moveTo>
                  <a:pt x="0" y="0"/>
                </a:moveTo>
                <a:lnTo>
                  <a:pt x="5666326" y="0"/>
                </a:lnTo>
                <a:lnTo>
                  <a:pt x="5666326" y="35806"/>
                </a:lnTo>
                <a:lnTo>
                  <a:pt x="0" y="35806"/>
                </a:lnTo>
                <a:lnTo>
                  <a:pt x="0" y="0"/>
                </a:lnTo>
                <a:close/>
              </a:path>
            </a:pathLst>
          </a:custGeom>
          <a:solidFill>
            <a:srgbClr val="1E3A5F"/>
          </a:solidFill>
          <a:ln/>
        </p:spPr>
      </p:sp>
      <p:sp>
        <p:nvSpPr>
          <p:cNvPr id="6" name="Text 4"/>
          <p:cNvSpPr/>
          <p:nvPr/>
        </p:nvSpPr>
        <p:spPr>
          <a:xfrm>
            <a:off x="501286" y="1181604"/>
            <a:ext cx="5469392" cy="250643"/>
          </a:xfrm>
          <a:prstGeom prst="rect">
            <a:avLst/>
          </a:prstGeom>
          <a:noFill/>
          <a:ln/>
        </p:spPr>
        <p:txBody>
          <a:bodyPr wrap="square" lIns="0" tIns="0" rIns="0" bIns="0" rtlCol="0" anchor="ctr"/>
          <a:lstStyle/>
          <a:p>
            <a:pPr>
              <a:lnSpc>
                <a:spcPct val="120000"/>
              </a:lnSpc>
            </a:pPr>
            <a:r>
              <a:rPr lang="en-US" sz="1410" b="1" dirty="0">
                <a:solidFill>
                  <a:srgbClr val="1E3A5F"/>
                </a:solidFill>
                <a:latin typeface="MiSans" pitchFamily="34" charset="0"/>
                <a:ea typeface="MiSans" pitchFamily="34" charset="-122"/>
                <a:cs typeface="MiSans" pitchFamily="34" charset="-120"/>
              </a:rPr>
              <a:t>Data Citation Standards</a:t>
            </a:r>
            <a:endParaRPr lang="en-US" sz="1600" dirty="0"/>
          </a:p>
        </p:txBody>
      </p:sp>
      <p:sp>
        <p:nvSpPr>
          <p:cNvPr id="7" name="Text 5"/>
          <p:cNvSpPr/>
          <p:nvPr/>
        </p:nvSpPr>
        <p:spPr>
          <a:xfrm>
            <a:off x="501286" y="1539665"/>
            <a:ext cx="5451489" cy="465480"/>
          </a:xfrm>
          <a:prstGeom prst="rect">
            <a:avLst/>
          </a:prstGeom>
          <a:noFill/>
          <a:ln/>
        </p:spPr>
        <p:txBody>
          <a:bodyPr wrap="square" lIns="0" tIns="0" rIns="0" bIns="0" rtlCol="0" anchor="ctr"/>
          <a:lstStyle/>
          <a:p>
            <a:pPr>
              <a:lnSpc>
                <a:spcPct val="140000"/>
              </a:lnSpc>
            </a:pPr>
            <a:r>
              <a:rPr lang="en-US" sz="1128" dirty="0">
                <a:solidFill>
                  <a:srgbClr val="2D3436"/>
                </a:solidFill>
                <a:latin typeface="MiSans" pitchFamily="34" charset="0"/>
                <a:ea typeface="MiSans" pitchFamily="34" charset="-122"/>
                <a:cs typeface="MiSans" pitchFamily="34" charset="-120"/>
              </a:rPr>
              <a:t>All quantitative claims in Meridian documents must be </a:t>
            </a:r>
            <a:pPr>
              <a:lnSpc>
                <a:spcPct val="140000"/>
              </a:lnSpc>
            </a:pPr>
            <a:r>
              <a:rPr lang="en-US" sz="1128" b="1" dirty="0">
                <a:solidFill>
                  <a:srgbClr val="2D3436"/>
                </a:solidFill>
                <a:latin typeface="MiSans" pitchFamily="34" charset="0"/>
                <a:ea typeface="MiSans" pitchFamily="34" charset="-122"/>
                <a:cs typeface="MiSans" pitchFamily="34" charset="-120"/>
              </a:rPr>
              <a:t>traceable to a specific data source</a:t>
            </a:r>
            <a:pPr>
              <a:lnSpc>
                <a:spcPct val="140000"/>
              </a:lnSpc>
            </a:pPr>
            <a:r>
              <a:rPr lang="en-US" sz="1128" dirty="0">
                <a:solidFill>
                  <a:srgbClr val="2D3436"/>
                </a:solidFill>
                <a:latin typeface="MiSans" pitchFamily="34" charset="0"/>
                <a:ea typeface="MiSans" pitchFamily="34" charset="-122"/>
                <a:cs typeface="MiSans" pitchFamily="34" charset="-120"/>
              </a:rPr>
              <a:t>.</a:t>
            </a:r>
            <a:endParaRPr lang="en-US" sz="1600" dirty="0"/>
          </a:p>
        </p:txBody>
      </p:sp>
      <p:sp>
        <p:nvSpPr>
          <p:cNvPr id="8" name="Shape 6"/>
          <p:cNvSpPr/>
          <p:nvPr/>
        </p:nvSpPr>
        <p:spPr>
          <a:xfrm>
            <a:off x="519189" y="2112564"/>
            <a:ext cx="5361974" cy="429674"/>
          </a:xfrm>
          <a:custGeom>
            <a:avLst/>
            <a:gdLst/>
            <a:ahLst/>
            <a:cxnLst/>
            <a:rect l="l" t="t" r="r" b="b"/>
            <a:pathLst>
              <a:path w="5361974" h="429674">
                <a:moveTo>
                  <a:pt x="0" y="0"/>
                </a:moveTo>
                <a:lnTo>
                  <a:pt x="5361974" y="0"/>
                </a:lnTo>
                <a:lnTo>
                  <a:pt x="5361974" y="429674"/>
                </a:lnTo>
                <a:lnTo>
                  <a:pt x="0" y="429674"/>
                </a:lnTo>
                <a:lnTo>
                  <a:pt x="0" y="0"/>
                </a:lnTo>
                <a:close/>
              </a:path>
            </a:pathLst>
          </a:custGeom>
          <a:solidFill>
            <a:srgbClr val="FEF2F2"/>
          </a:solidFill>
          <a:ln/>
        </p:spPr>
      </p:sp>
      <p:sp>
        <p:nvSpPr>
          <p:cNvPr id="9" name="Shape 7"/>
          <p:cNvSpPr/>
          <p:nvPr/>
        </p:nvSpPr>
        <p:spPr>
          <a:xfrm>
            <a:off x="519189" y="2112564"/>
            <a:ext cx="35806" cy="429674"/>
          </a:xfrm>
          <a:custGeom>
            <a:avLst/>
            <a:gdLst/>
            <a:ahLst/>
            <a:cxnLst/>
            <a:rect l="l" t="t" r="r" b="b"/>
            <a:pathLst>
              <a:path w="35806" h="429674">
                <a:moveTo>
                  <a:pt x="0" y="0"/>
                </a:moveTo>
                <a:lnTo>
                  <a:pt x="35806" y="0"/>
                </a:lnTo>
                <a:lnTo>
                  <a:pt x="35806" y="429674"/>
                </a:lnTo>
                <a:lnTo>
                  <a:pt x="0" y="429674"/>
                </a:lnTo>
                <a:lnTo>
                  <a:pt x="0" y="0"/>
                </a:lnTo>
                <a:close/>
              </a:path>
            </a:pathLst>
          </a:custGeom>
          <a:solidFill>
            <a:srgbClr val="E7000B"/>
          </a:solidFill>
          <a:ln/>
        </p:spPr>
      </p:sp>
      <p:sp>
        <p:nvSpPr>
          <p:cNvPr id="10" name="Shape 8"/>
          <p:cNvSpPr/>
          <p:nvPr/>
        </p:nvSpPr>
        <p:spPr>
          <a:xfrm>
            <a:off x="680317" y="2260264"/>
            <a:ext cx="107419" cy="143225"/>
          </a:xfrm>
          <a:custGeom>
            <a:avLst/>
            <a:gdLst/>
            <a:ahLst/>
            <a:cxnLst/>
            <a:rect l="l" t="t" r="r" b="b"/>
            <a:pathLst>
              <a:path w="107419" h="143225">
                <a:moveTo>
                  <a:pt x="15413" y="20533"/>
                </a:moveTo>
                <a:cubicBezTo>
                  <a:pt x="11917" y="17036"/>
                  <a:pt x="6238" y="17036"/>
                  <a:pt x="2741" y="20533"/>
                </a:cubicBezTo>
                <a:cubicBezTo>
                  <a:pt x="-755" y="24029"/>
                  <a:pt x="-755" y="29708"/>
                  <a:pt x="2741" y="33205"/>
                </a:cubicBezTo>
                <a:lnTo>
                  <a:pt x="41177" y="71612"/>
                </a:lnTo>
                <a:lnTo>
                  <a:pt x="2769" y="110048"/>
                </a:lnTo>
                <a:cubicBezTo>
                  <a:pt x="-727" y="113545"/>
                  <a:pt x="-727" y="119223"/>
                  <a:pt x="2769" y="122720"/>
                </a:cubicBezTo>
                <a:cubicBezTo>
                  <a:pt x="6266" y="126217"/>
                  <a:pt x="11945" y="126217"/>
                  <a:pt x="15441" y="122720"/>
                </a:cubicBezTo>
                <a:lnTo>
                  <a:pt x="53849" y="84284"/>
                </a:lnTo>
                <a:lnTo>
                  <a:pt x="92285" y="122692"/>
                </a:lnTo>
                <a:cubicBezTo>
                  <a:pt x="95781" y="126189"/>
                  <a:pt x="101460" y="126189"/>
                  <a:pt x="104957" y="122692"/>
                </a:cubicBezTo>
                <a:cubicBezTo>
                  <a:pt x="108454" y="119195"/>
                  <a:pt x="108454" y="113517"/>
                  <a:pt x="104957" y="110020"/>
                </a:cubicBezTo>
                <a:lnTo>
                  <a:pt x="66521" y="71612"/>
                </a:lnTo>
                <a:lnTo>
                  <a:pt x="104929" y="33177"/>
                </a:lnTo>
                <a:cubicBezTo>
                  <a:pt x="108426" y="29680"/>
                  <a:pt x="108426" y="24001"/>
                  <a:pt x="104929" y="20505"/>
                </a:cubicBezTo>
                <a:cubicBezTo>
                  <a:pt x="101432" y="17008"/>
                  <a:pt x="95754" y="17008"/>
                  <a:pt x="92257" y="20505"/>
                </a:cubicBezTo>
                <a:lnTo>
                  <a:pt x="53849" y="58940"/>
                </a:lnTo>
                <a:lnTo>
                  <a:pt x="15413" y="20533"/>
                </a:lnTo>
                <a:close/>
              </a:path>
            </a:pathLst>
          </a:custGeom>
          <a:solidFill>
            <a:srgbClr val="C10007"/>
          </a:solidFill>
          <a:ln/>
        </p:spPr>
      </p:sp>
      <p:sp>
        <p:nvSpPr>
          <p:cNvPr id="11" name="Text 9"/>
          <p:cNvSpPr/>
          <p:nvPr/>
        </p:nvSpPr>
        <p:spPr>
          <a:xfrm>
            <a:off x="874018" y="2219982"/>
            <a:ext cx="4971339" cy="214837"/>
          </a:xfrm>
          <a:prstGeom prst="rect">
            <a:avLst/>
          </a:prstGeom>
          <a:noFill/>
          <a:ln/>
        </p:spPr>
        <p:txBody>
          <a:bodyPr wrap="square" lIns="0" tIns="0" rIns="0" bIns="0" rtlCol="0" anchor="ctr"/>
          <a:lstStyle/>
          <a:p>
            <a:pPr>
              <a:lnSpc>
                <a:spcPct val="130000"/>
              </a:lnSpc>
            </a:pPr>
            <a:r>
              <a:rPr lang="en-US" sz="1128" b="1" dirty="0">
                <a:solidFill>
                  <a:srgbClr val="C10007"/>
                </a:solidFill>
                <a:latin typeface="MiSans" pitchFamily="34" charset="0"/>
                <a:ea typeface="MiSans" pitchFamily="34" charset="-122"/>
                <a:cs typeface="MiSans" pitchFamily="34" charset="-120"/>
              </a:rPr>
              <a:t>Not acceptable:</a:t>
            </a:r>
            <a:pPr>
              <a:lnSpc>
                <a:spcPct val="130000"/>
              </a:lnSpc>
            </a:pPr>
            <a:r>
              <a:rPr lang="en-US" sz="1128" dirty="0">
                <a:solidFill>
                  <a:srgbClr val="C10007"/>
                </a:solidFill>
                <a:latin typeface="MiSans" pitchFamily="34" charset="0"/>
                <a:ea typeface="MiSans" pitchFamily="34" charset="-122"/>
                <a:cs typeface="MiSans" pitchFamily="34" charset="-120"/>
              </a:rPr>
              <a:t> "Data shows..."</a:t>
            </a:r>
            <a:endParaRPr lang="en-US" sz="1600" dirty="0"/>
          </a:p>
        </p:txBody>
      </p:sp>
      <p:sp>
        <p:nvSpPr>
          <p:cNvPr id="12" name="Shape 10"/>
          <p:cNvSpPr/>
          <p:nvPr/>
        </p:nvSpPr>
        <p:spPr>
          <a:xfrm>
            <a:off x="519189" y="2613850"/>
            <a:ext cx="5361974" cy="429674"/>
          </a:xfrm>
          <a:custGeom>
            <a:avLst/>
            <a:gdLst/>
            <a:ahLst/>
            <a:cxnLst/>
            <a:rect l="l" t="t" r="r" b="b"/>
            <a:pathLst>
              <a:path w="5361974" h="429674">
                <a:moveTo>
                  <a:pt x="0" y="0"/>
                </a:moveTo>
                <a:lnTo>
                  <a:pt x="5361974" y="0"/>
                </a:lnTo>
                <a:lnTo>
                  <a:pt x="5361974" y="429674"/>
                </a:lnTo>
                <a:lnTo>
                  <a:pt x="0" y="429674"/>
                </a:lnTo>
                <a:lnTo>
                  <a:pt x="0" y="0"/>
                </a:lnTo>
                <a:close/>
              </a:path>
            </a:pathLst>
          </a:custGeom>
          <a:solidFill>
            <a:srgbClr val="F0FDF4"/>
          </a:solidFill>
          <a:ln/>
        </p:spPr>
      </p:sp>
      <p:sp>
        <p:nvSpPr>
          <p:cNvPr id="13" name="Shape 11"/>
          <p:cNvSpPr/>
          <p:nvPr/>
        </p:nvSpPr>
        <p:spPr>
          <a:xfrm>
            <a:off x="519189" y="2613850"/>
            <a:ext cx="35806" cy="429674"/>
          </a:xfrm>
          <a:custGeom>
            <a:avLst/>
            <a:gdLst/>
            <a:ahLst/>
            <a:cxnLst/>
            <a:rect l="l" t="t" r="r" b="b"/>
            <a:pathLst>
              <a:path w="35806" h="429674">
                <a:moveTo>
                  <a:pt x="0" y="0"/>
                </a:moveTo>
                <a:lnTo>
                  <a:pt x="35806" y="0"/>
                </a:lnTo>
                <a:lnTo>
                  <a:pt x="35806" y="429674"/>
                </a:lnTo>
                <a:lnTo>
                  <a:pt x="0" y="429674"/>
                </a:lnTo>
                <a:lnTo>
                  <a:pt x="0" y="0"/>
                </a:lnTo>
                <a:close/>
              </a:path>
            </a:pathLst>
          </a:custGeom>
          <a:solidFill>
            <a:srgbClr val="00A63E"/>
          </a:solidFill>
          <a:ln/>
        </p:spPr>
      </p:sp>
      <p:sp>
        <p:nvSpPr>
          <p:cNvPr id="14" name="Shape 12"/>
          <p:cNvSpPr/>
          <p:nvPr/>
        </p:nvSpPr>
        <p:spPr>
          <a:xfrm>
            <a:off x="671366" y="2761551"/>
            <a:ext cx="125322" cy="143225"/>
          </a:xfrm>
          <a:custGeom>
            <a:avLst/>
            <a:gdLst/>
            <a:ahLst/>
            <a:cxnLst/>
            <a:rect l="l" t="t" r="r" b="b"/>
            <a:pathLst>
              <a:path w="125322" h="143225">
                <a:moveTo>
                  <a:pt x="121629" y="19609"/>
                </a:moveTo>
                <a:cubicBezTo>
                  <a:pt x="125629" y="22519"/>
                  <a:pt x="126524" y="28113"/>
                  <a:pt x="123615" y="32114"/>
                </a:cubicBezTo>
                <a:lnTo>
                  <a:pt x="52003" y="130581"/>
                </a:lnTo>
                <a:cubicBezTo>
                  <a:pt x="50464" y="132707"/>
                  <a:pt x="48087" y="134021"/>
                  <a:pt x="45457" y="134245"/>
                </a:cubicBezTo>
                <a:cubicBezTo>
                  <a:pt x="42828" y="134469"/>
                  <a:pt x="40282" y="133490"/>
                  <a:pt x="38436" y="131644"/>
                </a:cubicBezTo>
                <a:lnTo>
                  <a:pt x="2630" y="95837"/>
                </a:lnTo>
                <a:cubicBezTo>
                  <a:pt x="-867" y="92341"/>
                  <a:pt x="-867" y="86662"/>
                  <a:pt x="2630" y="83165"/>
                </a:cubicBezTo>
                <a:cubicBezTo>
                  <a:pt x="6126" y="79669"/>
                  <a:pt x="11805" y="79669"/>
                  <a:pt x="15302" y="83165"/>
                </a:cubicBezTo>
                <a:lnTo>
                  <a:pt x="43695" y="111559"/>
                </a:lnTo>
                <a:lnTo>
                  <a:pt x="109153" y="21568"/>
                </a:lnTo>
                <a:cubicBezTo>
                  <a:pt x="112062" y="17567"/>
                  <a:pt x="117657" y="16672"/>
                  <a:pt x="121657" y="19581"/>
                </a:cubicBezTo>
                <a:close/>
              </a:path>
            </a:pathLst>
          </a:custGeom>
          <a:solidFill>
            <a:srgbClr val="008236"/>
          </a:solidFill>
          <a:ln/>
        </p:spPr>
      </p:sp>
      <p:sp>
        <p:nvSpPr>
          <p:cNvPr id="15" name="Text 13"/>
          <p:cNvSpPr/>
          <p:nvPr/>
        </p:nvSpPr>
        <p:spPr>
          <a:xfrm>
            <a:off x="874018" y="2721269"/>
            <a:ext cx="4971339" cy="214837"/>
          </a:xfrm>
          <a:prstGeom prst="rect">
            <a:avLst/>
          </a:prstGeom>
          <a:noFill/>
          <a:ln/>
        </p:spPr>
        <p:txBody>
          <a:bodyPr wrap="square" lIns="0" tIns="0" rIns="0" bIns="0" rtlCol="0" anchor="ctr"/>
          <a:lstStyle/>
          <a:p>
            <a:pPr>
              <a:lnSpc>
                <a:spcPct val="130000"/>
              </a:lnSpc>
            </a:pPr>
            <a:r>
              <a:rPr lang="en-US" sz="1128" b="1" dirty="0">
                <a:solidFill>
                  <a:srgbClr val="008236"/>
                </a:solidFill>
                <a:latin typeface="MiSans" pitchFamily="34" charset="0"/>
                <a:ea typeface="MiSans" pitchFamily="34" charset="-122"/>
                <a:cs typeface="MiSans" pitchFamily="34" charset="-120"/>
              </a:rPr>
              <a:t>Acceptable:</a:t>
            </a:r>
            <a:pPr>
              <a:lnSpc>
                <a:spcPct val="130000"/>
              </a:lnSpc>
            </a:pPr>
            <a:r>
              <a:rPr lang="en-US" sz="1128" dirty="0">
                <a:solidFill>
                  <a:srgbClr val="008236"/>
                </a:solidFill>
                <a:latin typeface="MiSans" pitchFamily="34" charset="0"/>
                <a:ea typeface="MiSans" pitchFamily="34" charset="-122"/>
                <a:cs typeface="MiSans" pitchFamily="34" charset="-120"/>
              </a:rPr>
              <a:t> "MPI_Current dataset, 2022–2024, calibrated progress delta"</a:t>
            </a:r>
            <a:endParaRPr lang="en-US" sz="1600" dirty="0"/>
          </a:p>
        </p:txBody>
      </p:sp>
      <p:sp>
        <p:nvSpPr>
          <p:cNvPr id="16" name="Shape 14"/>
          <p:cNvSpPr/>
          <p:nvPr/>
        </p:nvSpPr>
        <p:spPr>
          <a:xfrm>
            <a:off x="358062" y="3294167"/>
            <a:ext cx="5666326" cy="3079330"/>
          </a:xfrm>
          <a:custGeom>
            <a:avLst/>
            <a:gdLst/>
            <a:ahLst/>
            <a:cxnLst/>
            <a:rect l="l" t="t" r="r" b="b"/>
            <a:pathLst>
              <a:path w="5666326" h="3079330">
                <a:moveTo>
                  <a:pt x="0" y="0"/>
                </a:moveTo>
                <a:lnTo>
                  <a:pt x="5666326" y="0"/>
                </a:lnTo>
                <a:lnTo>
                  <a:pt x="5666326" y="3079330"/>
                </a:lnTo>
                <a:lnTo>
                  <a:pt x="0" y="3079330"/>
                </a:lnTo>
                <a:lnTo>
                  <a:pt x="0" y="0"/>
                </a:lnTo>
                <a:close/>
              </a:path>
            </a:pathLst>
          </a:custGeom>
          <a:solidFill>
            <a:srgbClr val="1E3A5F"/>
          </a:solidFill>
          <a:ln/>
        </p:spPr>
      </p:sp>
      <p:sp>
        <p:nvSpPr>
          <p:cNvPr id="17" name="Text 15"/>
          <p:cNvSpPr/>
          <p:nvPr/>
        </p:nvSpPr>
        <p:spPr>
          <a:xfrm>
            <a:off x="501286" y="3437392"/>
            <a:ext cx="5469392" cy="250643"/>
          </a:xfrm>
          <a:prstGeom prst="rect">
            <a:avLst/>
          </a:prstGeom>
          <a:noFill/>
          <a:ln/>
        </p:spPr>
        <p:txBody>
          <a:bodyPr wrap="square" lIns="0" tIns="0" rIns="0" bIns="0" rtlCol="0" anchor="ctr"/>
          <a:lstStyle/>
          <a:p>
            <a:pPr>
              <a:lnSpc>
                <a:spcPct val="120000"/>
              </a:lnSpc>
            </a:pPr>
            <a:r>
              <a:rPr lang="en-US" sz="1410" b="1" dirty="0">
                <a:solidFill>
                  <a:srgbClr val="F8F9FA"/>
                </a:solidFill>
                <a:latin typeface="MiSans" pitchFamily="34" charset="0"/>
                <a:ea typeface="MiSans" pitchFamily="34" charset="-122"/>
                <a:cs typeface="MiSans" pitchFamily="34" charset="-120"/>
              </a:rPr>
              <a:t>Five Key Provisions</a:t>
            </a:r>
            <a:endParaRPr lang="en-US" sz="1600" dirty="0"/>
          </a:p>
        </p:txBody>
      </p:sp>
      <p:sp>
        <p:nvSpPr>
          <p:cNvPr id="18" name="Shape 16"/>
          <p:cNvSpPr/>
          <p:nvPr/>
        </p:nvSpPr>
        <p:spPr>
          <a:xfrm>
            <a:off x="501286" y="3795454"/>
            <a:ext cx="5379877" cy="429674"/>
          </a:xfrm>
          <a:custGeom>
            <a:avLst/>
            <a:gdLst/>
            <a:ahLst/>
            <a:cxnLst/>
            <a:rect l="l" t="t" r="r" b="b"/>
            <a:pathLst>
              <a:path w="5379877" h="429674">
                <a:moveTo>
                  <a:pt x="0" y="0"/>
                </a:moveTo>
                <a:lnTo>
                  <a:pt x="5379877" y="0"/>
                </a:lnTo>
                <a:lnTo>
                  <a:pt x="5379877" y="429674"/>
                </a:lnTo>
                <a:lnTo>
                  <a:pt x="0" y="429674"/>
                </a:lnTo>
                <a:lnTo>
                  <a:pt x="0" y="0"/>
                </a:lnTo>
                <a:close/>
              </a:path>
            </a:pathLst>
          </a:custGeom>
          <a:solidFill>
            <a:srgbClr val="F8F9FA">
              <a:alpha val="10196"/>
            </a:srgbClr>
          </a:solidFill>
          <a:ln/>
        </p:spPr>
      </p:sp>
      <p:sp>
        <p:nvSpPr>
          <p:cNvPr id="19" name="Text 17"/>
          <p:cNvSpPr/>
          <p:nvPr/>
        </p:nvSpPr>
        <p:spPr>
          <a:xfrm>
            <a:off x="608705" y="3902872"/>
            <a:ext cx="5236652" cy="214837"/>
          </a:xfrm>
          <a:prstGeom prst="rect">
            <a:avLst/>
          </a:prstGeom>
          <a:noFill/>
          <a:ln/>
        </p:spPr>
        <p:txBody>
          <a:bodyPr wrap="square" lIns="0" tIns="0" rIns="0" bIns="0" rtlCol="0" anchor="ctr"/>
          <a:lstStyle/>
          <a:p>
            <a:pPr>
              <a:lnSpc>
                <a:spcPct val="130000"/>
              </a:lnSpc>
            </a:pPr>
            <a:r>
              <a:rPr lang="en-US" sz="1128" b="1" dirty="0">
                <a:solidFill>
                  <a:srgbClr val="F8F9FA"/>
                </a:solidFill>
                <a:latin typeface="MiSans" pitchFamily="34" charset="0"/>
                <a:ea typeface="MiSans" pitchFamily="34" charset="-122"/>
                <a:cs typeface="MiSans" pitchFamily="34" charset="-120"/>
              </a:rPr>
              <a:t>1.</a:t>
            </a:r>
            <a:pPr>
              <a:lnSpc>
                <a:spcPct val="130000"/>
              </a:lnSpc>
            </a:pPr>
            <a:r>
              <a:rPr lang="en-US" sz="1128" dirty="0">
                <a:solidFill>
                  <a:srgbClr val="F8F9FA"/>
                </a:solidFill>
                <a:latin typeface="MiSans" pitchFamily="34" charset="0"/>
                <a:ea typeface="MiSans" pitchFamily="34" charset="-122"/>
                <a:cs typeface="MiSans" pitchFamily="34" charset="-120"/>
              </a:rPr>
              <a:t> All quantitative claims must comply with citation standards</a:t>
            </a:r>
            <a:endParaRPr lang="en-US" sz="1600" dirty="0"/>
          </a:p>
        </p:txBody>
      </p:sp>
      <p:sp>
        <p:nvSpPr>
          <p:cNvPr id="20" name="Shape 18"/>
          <p:cNvSpPr/>
          <p:nvPr/>
        </p:nvSpPr>
        <p:spPr>
          <a:xfrm>
            <a:off x="501286" y="4296740"/>
            <a:ext cx="5379877" cy="429674"/>
          </a:xfrm>
          <a:custGeom>
            <a:avLst/>
            <a:gdLst/>
            <a:ahLst/>
            <a:cxnLst/>
            <a:rect l="l" t="t" r="r" b="b"/>
            <a:pathLst>
              <a:path w="5379877" h="429674">
                <a:moveTo>
                  <a:pt x="0" y="0"/>
                </a:moveTo>
                <a:lnTo>
                  <a:pt x="5379877" y="0"/>
                </a:lnTo>
                <a:lnTo>
                  <a:pt x="5379877" y="429674"/>
                </a:lnTo>
                <a:lnTo>
                  <a:pt x="0" y="429674"/>
                </a:lnTo>
                <a:lnTo>
                  <a:pt x="0" y="0"/>
                </a:lnTo>
                <a:close/>
              </a:path>
            </a:pathLst>
          </a:custGeom>
          <a:solidFill>
            <a:srgbClr val="F8F9FA">
              <a:alpha val="10196"/>
            </a:srgbClr>
          </a:solidFill>
          <a:ln/>
        </p:spPr>
      </p:sp>
      <p:sp>
        <p:nvSpPr>
          <p:cNvPr id="21" name="Text 19"/>
          <p:cNvSpPr/>
          <p:nvPr/>
        </p:nvSpPr>
        <p:spPr>
          <a:xfrm>
            <a:off x="608705" y="4404159"/>
            <a:ext cx="5236652" cy="214837"/>
          </a:xfrm>
          <a:prstGeom prst="rect">
            <a:avLst/>
          </a:prstGeom>
          <a:noFill/>
          <a:ln/>
        </p:spPr>
        <p:txBody>
          <a:bodyPr wrap="square" lIns="0" tIns="0" rIns="0" bIns="0" rtlCol="0" anchor="ctr"/>
          <a:lstStyle/>
          <a:p>
            <a:pPr>
              <a:lnSpc>
                <a:spcPct val="130000"/>
              </a:lnSpc>
            </a:pPr>
            <a:r>
              <a:rPr lang="en-US" sz="1128" b="1" dirty="0">
                <a:solidFill>
                  <a:srgbClr val="F8F9FA"/>
                </a:solidFill>
                <a:latin typeface="MiSans" pitchFamily="34" charset="0"/>
                <a:ea typeface="MiSans" pitchFamily="34" charset="-122"/>
                <a:cs typeface="MiSans" pitchFamily="34" charset="-120"/>
              </a:rPr>
              <a:t>2.</a:t>
            </a:r>
            <a:pPr>
              <a:lnSpc>
                <a:spcPct val="130000"/>
              </a:lnSpc>
            </a:pPr>
            <a:r>
              <a:rPr lang="en-US" sz="1128" dirty="0">
                <a:solidFill>
                  <a:srgbClr val="F8F9FA"/>
                </a:solidFill>
                <a:latin typeface="MiSans" pitchFamily="34" charset="0"/>
                <a:ea typeface="MiSans" pitchFamily="34" charset="-122"/>
                <a:cs typeface="MiSans" pitchFamily="34" charset="-120"/>
              </a:rPr>
              <a:t> Comparative analysis must be accompanied by a methodology statement</a:t>
            </a:r>
            <a:endParaRPr lang="en-US" sz="1600" dirty="0"/>
          </a:p>
        </p:txBody>
      </p:sp>
      <p:sp>
        <p:nvSpPr>
          <p:cNvPr id="22" name="Shape 20"/>
          <p:cNvSpPr/>
          <p:nvPr/>
        </p:nvSpPr>
        <p:spPr>
          <a:xfrm>
            <a:off x="501286" y="4798026"/>
            <a:ext cx="5379877" cy="429674"/>
          </a:xfrm>
          <a:custGeom>
            <a:avLst/>
            <a:gdLst/>
            <a:ahLst/>
            <a:cxnLst/>
            <a:rect l="l" t="t" r="r" b="b"/>
            <a:pathLst>
              <a:path w="5379877" h="429674">
                <a:moveTo>
                  <a:pt x="0" y="0"/>
                </a:moveTo>
                <a:lnTo>
                  <a:pt x="5379877" y="0"/>
                </a:lnTo>
                <a:lnTo>
                  <a:pt x="5379877" y="429674"/>
                </a:lnTo>
                <a:lnTo>
                  <a:pt x="0" y="429674"/>
                </a:lnTo>
                <a:lnTo>
                  <a:pt x="0" y="0"/>
                </a:lnTo>
                <a:close/>
              </a:path>
            </a:pathLst>
          </a:custGeom>
          <a:solidFill>
            <a:srgbClr val="F8F9FA">
              <a:alpha val="10196"/>
            </a:srgbClr>
          </a:solidFill>
          <a:ln/>
        </p:spPr>
      </p:sp>
      <p:sp>
        <p:nvSpPr>
          <p:cNvPr id="23" name="Text 21"/>
          <p:cNvSpPr/>
          <p:nvPr/>
        </p:nvSpPr>
        <p:spPr>
          <a:xfrm>
            <a:off x="608705" y="4905445"/>
            <a:ext cx="5236652" cy="214837"/>
          </a:xfrm>
          <a:prstGeom prst="rect">
            <a:avLst/>
          </a:prstGeom>
          <a:noFill/>
          <a:ln/>
        </p:spPr>
        <p:txBody>
          <a:bodyPr wrap="square" lIns="0" tIns="0" rIns="0" bIns="0" rtlCol="0" anchor="ctr"/>
          <a:lstStyle/>
          <a:p>
            <a:pPr>
              <a:lnSpc>
                <a:spcPct val="130000"/>
              </a:lnSpc>
            </a:pPr>
            <a:r>
              <a:rPr lang="en-US" sz="1128" b="1" dirty="0">
                <a:solidFill>
                  <a:srgbClr val="F8F9FA"/>
                </a:solidFill>
                <a:latin typeface="MiSans" pitchFamily="34" charset="0"/>
                <a:ea typeface="MiSans" pitchFamily="34" charset="-122"/>
                <a:cs typeface="MiSans" pitchFamily="34" charset="-120"/>
              </a:rPr>
              <a:t>3.</a:t>
            </a:r>
            <a:pPr>
              <a:lnSpc>
                <a:spcPct val="130000"/>
              </a:lnSpc>
            </a:pPr>
            <a:r>
              <a:rPr lang="en-US" sz="1128" dirty="0">
                <a:solidFill>
                  <a:srgbClr val="F8F9FA"/>
                </a:solidFill>
                <a:latin typeface="MiSans" pitchFamily="34" charset="0"/>
                <a:ea typeface="MiSans" pitchFamily="34" charset="-122"/>
                <a:cs typeface="MiSans" pitchFamily="34" charset="-120"/>
              </a:rPr>
              <a:t> Evidence and recommendation must be </a:t>
            </a:r>
            <a:pPr>
              <a:lnSpc>
                <a:spcPct val="130000"/>
              </a:lnSpc>
            </a:pPr>
            <a:r>
              <a:rPr lang="en-US" sz="1128" b="1" dirty="0">
                <a:solidFill>
                  <a:srgbClr val="F8F9FA"/>
                </a:solidFill>
                <a:latin typeface="MiSans" pitchFamily="34" charset="0"/>
                <a:ea typeface="MiSans" pitchFamily="34" charset="-122"/>
                <a:cs typeface="MiSans" pitchFamily="34" charset="-120"/>
              </a:rPr>
              <a:t>distinguished</a:t>
            </a:r>
            <a:endParaRPr lang="en-US" sz="1600" dirty="0"/>
          </a:p>
        </p:txBody>
      </p:sp>
      <p:sp>
        <p:nvSpPr>
          <p:cNvPr id="24" name="Shape 22"/>
          <p:cNvSpPr/>
          <p:nvPr/>
        </p:nvSpPr>
        <p:spPr>
          <a:xfrm>
            <a:off x="501286" y="5299313"/>
            <a:ext cx="5379877" cy="429674"/>
          </a:xfrm>
          <a:custGeom>
            <a:avLst/>
            <a:gdLst/>
            <a:ahLst/>
            <a:cxnLst/>
            <a:rect l="l" t="t" r="r" b="b"/>
            <a:pathLst>
              <a:path w="5379877" h="429674">
                <a:moveTo>
                  <a:pt x="0" y="0"/>
                </a:moveTo>
                <a:lnTo>
                  <a:pt x="5379877" y="0"/>
                </a:lnTo>
                <a:lnTo>
                  <a:pt x="5379877" y="429674"/>
                </a:lnTo>
                <a:lnTo>
                  <a:pt x="0" y="429674"/>
                </a:lnTo>
                <a:lnTo>
                  <a:pt x="0" y="0"/>
                </a:lnTo>
                <a:close/>
              </a:path>
            </a:pathLst>
          </a:custGeom>
          <a:solidFill>
            <a:srgbClr val="F8F9FA">
              <a:alpha val="10196"/>
            </a:srgbClr>
          </a:solidFill>
          <a:ln/>
        </p:spPr>
      </p:sp>
      <p:sp>
        <p:nvSpPr>
          <p:cNvPr id="25" name="Text 23"/>
          <p:cNvSpPr/>
          <p:nvPr/>
        </p:nvSpPr>
        <p:spPr>
          <a:xfrm>
            <a:off x="608705" y="5406731"/>
            <a:ext cx="5236652" cy="214837"/>
          </a:xfrm>
          <a:prstGeom prst="rect">
            <a:avLst/>
          </a:prstGeom>
          <a:noFill/>
          <a:ln/>
        </p:spPr>
        <p:txBody>
          <a:bodyPr wrap="square" lIns="0" tIns="0" rIns="0" bIns="0" rtlCol="0" anchor="ctr"/>
          <a:lstStyle/>
          <a:p>
            <a:pPr>
              <a:lnSpc>
                <a:spcPct val="130000"/>
              </a:lnSpc>
            </a:pPr>
            <a:r>
              <a:rPr lang="en-US" sz="1128" b="1" dirty="0">
                <a:solidFill>
                  <a:srgbClr val="F8F9FA"/>
                </a:solidFill>
                <a:latin typeface="MiSans" pitchFamily="34" charset="0"/>
                <a:ea typeface="MiSans" pitchFamily="34" charset="-122"/>
                <a:cs typeface="MiSans" pitchFamily="34" charset="-120"/>
              </a:rPr>
              <a:t>4.</a:t>
            </a:r>
            <a:pPr>
              <a:lnSpc>
                <a:spcPct val="130000"/>
              </a:lnSpc>
            </a:pPr>
            <a:r>
              <a:rPr lang="en-US" sz="1128" dirty="0">
                <a:solidFill>
                  <a:srgbClr val="F8F9FA"/>
                </a:solidFill>
                <a:latin typeface="MiSans" pitchFamily="34" charset="0"/>
                <a:ea typeface="MiSans" pitchFamily="34" charset="-122"/>
                <a:cs typeface="MiSans" pitchFamily="34" charset="-120"/>
              </a:rPr>
              <a:t> School-level data must be drawn from </a:t>
            </a:r>
            <a:pPr>
              <a:lnSpc>
                <a:spcPct val="130000"/>
              </a:lnSpc>
            </a:pPr>
            <a:r>
              <a:rPr lang="en-US" sz="1128" b="1" dirty="0">
                <a:solidFill>
                  <a:srgbClr val="F8F9FA"/>
                </a:solidFill>
                <a:latin typeface="MiSans" pitchFamily="34" charset="0"/>
                <a:ea typeface="MiSans" pitchFamily="34" charset="-122"/>
                <a:cs typeface="MiSans" pitchFamily="34" charset="-120"/>
              </a:rPr>
              <a:t>MPI_Current only</a:t>
            </a:r>
            <a:endParaRPr lang="en-US" sz="1600" dirty="0"/>
          </a:p>
        </p:txBody>
      </p:sp>
      <p:sp>
        <p:nvSpPr>
          <p:cNvPr id="26" name="Shape 24"/>
          <p:cNvSpPr/>
          <p:nvPr/>
        </p:nvSpPr>
        <p:spPr>
          <a:xfrm>
            <a:off x="501286" y="5800599"/>
            <a:ext cx="5379877" cy="429674"/>
          </a:xfrm>
          <a:custGeom>
            <a:avLst/>
            <a:gdLst/>
            <a:ahLst/>
            <a:cxnLst/>
            <a:rect l="l" t="t" r="r" b="b"/>
            <a:pathLst>
              <a:path w="5379877" h="429674">
                <a:moveTo>
                  <a:pt x="0" y="0"/>
                </a:moveTo>
                <a:lnTo>
                  <a:pt x="5379877" y="0"/>
                </a:lnTo>
                <a:lnTo>
                  <a:pt x="5379877" y="429674"/>
                </a:lnTo>
                <a:lnTo>
                  <a:pt x="0" y="429674"/>
                </a:lnTo>
                <a:lnTo>
                  <a:pt x="0" y="0"/>
                </a:lnTo>
                <a:close/>
              </a:path>
            </a:pathLst>
          </a:custGeom>
          <a:solidFill>
            <a:srgbClr val="F8F9FA">
              <a:alpha val="10196"/>
            </a:srgbClr>
          </a:solidFill>
          <a:ln/>
        </p:spPr>
      </p:sp>
      <p:sp>
        <p:nvSpPr>
          <p:cNvPr id="27" name="Text 25"/>
          <p:cNvSpPr/>
          <p:nvPr/>
        </p:nvSpPr>
        <p:spPr>
          <a:xfrm>
            <a:off x="608705" y="5908018"/>
            <a:ext cx="5236652" cy="214837"/>
          </a:xfrm>
          <a:prstGeom prst="rect">
            <a:avLst/>
          </a:prstGeom>
          <a:noFill/>
          <a:ln/>
        </p:spPr>
        <p:txBody>
          <a:bodyPr wrap="square" lIns="0" tIns="0" rIns="0" bIns="0" rtlCol="0" anchor="ctr"/>
          <a:lstStyle/>
          <a:p>
            <a:pPr>
              <a:lnSpc>
                <a:spcPct val="130000"/>
              </a:lnSpc>
            </a:pPr>
            <a:r>
              <a:rPr lang="en-US" sz="1128" b="1" dirty="0">
                <a:solidFill>
                  <a:srgbClr val="F8F9FA"/>
                </a:solidFill>
                <a:latin typeface="MiSans" pitchFamily="34" charset="0"/>
                <a:ea typeface="MiSans" pitchFamily="34" charset="-122"/>
                <a:cs typeface="MiSans" pitchFamily="34" charset="-120"/>
              </a:rPr>
              <a:t>5.</a:t>
            </a:r>
            <a:pPr>
              <a:lnSpc>
                <a:spcPct val="130000"/>
              </a:lnSpc>
            </a:pPr>
            <a:r>
              <a:rPr lang="en-US" sz="1128" dirty="0">
                <a:solidFill>
                  <a:srgbClr val="F8F9FA"/>
                </a:solidFill>
                <a:latin typeface="MiSans" pitchFamily="34" charset="0"/>
                <a:ea typeface="MiSans" pitchFamily="34" charset="-122"/>
                <a:cs typeface="MiSans" pitchFamily="34" charset="-120"/>
              </a:rPr>
              <a:t> Packs must include mandatory sections in </a:t>
            </a:r>
            <a:pPr>
              <a:lnSpc>
                <a:spcPct val="130000"/>
              </a:lnSpc>
            </a:pPr>
            <a:r>
              <a:rPr lang="en-US" sz="1128" b="1" dirty="0">
                <a:solidFill>
                  <a:srgbClr val="F8F9FA"/>
                </a:solidFill>
                <a:latin typeface="MiSans" pitchFamily="34" charset="0"/>
                <a:ea typeface="MiSans" pitchFamily="34" charset="-122"/>
                <a:cs typeface="MiSans" pitchFamily="34" charset="-120"/>
              </a:rPr>
              <a:t>specified order</a:t>
            </a:r>
            <a:endParaRPr lang="en-US" sz="1600" dirty="0"/>
          </a:p>
        </p:txBody>
      </p:sp>
      <p:sp>
        <p:nvSpPr>
          <p:cNvPr id="28" name="Shape 26"/>
          <p:cNvSpPr/>
          <p:nvPr/>
        </p:nvSpPr>
        <p:spPr>
          <a:xfrm>
            <a:off x="6166717" y="1020476"/>
            <a:ext cx="5666326" cy="3401586"/>
          </a:xfrm>
          <a:custGeom>
            <a:avLst/>
            <a:gdLst/>
            <a:ahLst/>
            <a:cxnLst/>
            <a:rect l="l" t="t" r="r" b="b"/>
            <a:pathLst>
              <a:path w="5666326" h="3401586">
                <a:moveTo>
                  <a:pt x="0" y="0"/>
                </a:moveTo>
                <a:lnTo>
                  <a:pt x="5666326" y="0"/>
                </a:lnTo>
                <a:lnTo>
                  <a:pt x="5666326" y="3401586"/>
                </a:lnTo>
                <a:lnTo>
                  <a:pt x="0" y="3401586"/>
                </a:lnTo>
                <a:lnTo>
                  <a:pt x="0" y="0"/>
                </a:lnTo>
                <a:close/>
              </a:path>
            </a:pathLst>
          </a:custGeom>
          <a:solidFill>
            <a:srgbClr val="FFFFFF"/>
          </a:solidFill>
          <a:ln/>
        </p:spPr>
      </p:sp>
      <p:sp>
        <p:nvSpPr>
          <p:cNvPr id="29" name="Shape 27"/>
          <p:cNvSpPr/>
          <p:nvPr/>
        </p:nvSpPr>
        <p:spPr>
          <a:xfrm>
            <a:off x="6166717" y="1020476"/>
            <a:ext cx="5666326" cy="35806"/>
          </a:xfrm>
          <a:custGeom>
            <a:avLst/>
            <a:gdLst/>
            <a:ahLst/>
            <a:cxnLst/>
            <a:rect l="l" t="t" r="r" b="b"/>
            <a:pathLst>
              <a:path w="5666326" h="35806">
                <a:moveTo>
                  <a:pt x="0" y="0"/>
                </a:moveTo>
                <a:lnTo>
                  <a:pt x="5666326" y="0"/>
                </a:lnTo>
                <a:lnTo>
                  <a:pt x="5666326" y="35806"/>
                </a:lnTo>
                <a:lnTo>
                  <a:pt x="0" y="35806"/>
                </a:lnTo>
                <a:lnTo>
                  <a:pt x="0" y="0"/>
                </a:lnTo>
                <a:close/>
              </a:path>
            </a:pathLst>
          </a:custGeom>
          <a:solidFill>
            <a:srgbClr val="E7000B"/>
          </a:solidFill>
          <a:ln/>
        </p:spPr>
      </p:sp>
      <p:sp>
        <p:nvSpPr>
          <p:cNvPr id="30" name="Shape 28"/>
          <p:cNvSpPr/>
          <p:nvPr/>
        </p:nvSpPr>
        <p:spPr>
          <a:xfrm>
            <a:off x="6332321" y="1217410"/>
            <a:ext cx="179031" cy="179031"/>
          </a:xfrm>
          <a:custGeom>
            <a:avLst/>
            <a:gdLst/>
            <a:ahLst/>
            <a:cxnLst/>
            <a:rect l="l" t="t" r="r" b="b"/>
            <a:pathLst>
              <a:path w="179031" h="179031">
                <a:moveTo>
                  <a:pt x="89515" y="0"/>
                </a:moveTo>
                <a:cubicBezTo>
                  <a:pt x="94656" y="0"/>
                  <a:pt x="99376" y="2832"/>
                  <a:pt x="101824" y="7343"/>
                </a:cubicBezTo>
                <a:lnTo>
                  <a:pt x="177352" y="147211"/>
                </a:lnTo>
                <a:cubicBezTo>
                  <a:pt x="179695" y="151547"/>
                  <a:pt x="179590" y="156792"/>
                  <a:pt x="177073" y="161023"/>
                </a:cubicBezTo>
                <a:cubicBezTo>
                  <a:pt x="174555" y="165254"/>
                  <a:pt x="169974" y="167841"/>
                  <a:pt x="165044" y="167841"/>
                </a:cubicBezTo>
                <a:lnTo>
                  <a:pt x="13987" y="167841"/>
                </a:lnTo>
                <a:cubicBezTo>
                  <a:pt x="9056" y="167841"/>
                  <a:pt x="4511" y="165254"/>
                  <a:pt x="1958" y="161023"/>
                </a:cubicBezTo>
                <a:cubicBezTo>
                  <a:pt x="-594" y="156792"/>
                  <a:pt x="-664" y="151547"/>
                  <a:pt x="1678" y="147211"/>
                </a:cubicBezTo>
                <a:lnTo>
                  <a:pt x="77207" y="7343"/>
                </a:lnTo>
                <a:cubicBezTo>
                  <a:pt x="79655" y="2832"/>
                  <a:pt x="84375" y="0"/>
                  <a:pt x="89515" y="0"/>
                </a:cubicBezTo>
                <a:close/>
                <a:moveTo>
                  <a:pt x="89515" y="58744"/>
                </a:moveTo>
                <a:cubicBezTo>
                  <a:pt x="84865" y="58744"/>
                  <a:pt x="81123" y="62486"/>
                  <a:pt x="81123" y="67137"/>
                </a:cubicBezTo>
                <a:lnTo>
                  <a:pt x="81123" y="106300"/>
                </a:lnTo>
                <a:cubicBezTo>
                  <a:pt x="81123" y="110950"/>
                  <a:pt x="84865" y="114692"/>
                  <a:pt x="89515" y="114692"/>
                </a:cubicBezTo>
                <a:cubicBezTo>
                  <a:pt x="94166" y="114692"/>
                  <a:pt x="97907" y="110950"/>
                  <a:pt x="97907" y="106300"/>
                </a:cubicBezTo>
                <a:lnTo>
                  <a:pt x="97907" y="67137"/>
                </a:lnTo>
                <a:cubicBezTo>
                  <a:pt x="97907" y="62486"/>
                  <a:pt x="94166" y="58744"/>
                  <a:pt x="89515" y="58744"/>
                </a:cubicBezTo>
                <a:close/>
                <a:moveTo>
                  <a:pt x="98852" y="134273"/>
                </a:moveTo>
                <a:cubicBezTo>
                  <a:pt x="99064" y="130808"/>
                  <a:pt x="97336" y="127511"/>
                  <a:pt x="94365" y="125714"/>
                </a:cubicBezTo>
                <a:cubicBezTo>
                  <a:pt x="91394" y="123917"/>
                  <a:pt x="87672" y="123917"/>
                  <a:pt x="84701" y="125714"/>
                </a:cubicBezTo>
                <a:cubicBezTo>
                  <a:pt x="81730" y="127511"/>
                  <a:pt x="80002" y="130808"/>
                  <a:pt x="80214" y="134273"/>
                </a:cubicBezTo>
                <a:cubicBezTo>
                  <a:pt x="80002" y="137739"/>
                  <a:pt x="81730" y="141036"/>
                  <a:pt x="84701" y="142833"/>
                </a:cubicBezTo>
                <a:cubicBezTo>
                  <a:pt x="87672" y="144630"/>
                  <a:pt x="91394" y="144630"/>
                  <a:pt x="94365" y="142833"/>
                </a:cubicBezTo>
                <a:cubicBezTo>
                  <a:pt x="97336" y="141036"/>
                  <a:pt x="99064" y="137739"/>
                  <a:pt x="98852" y="134273"/>
                </a:cubicBezTo>
                <a:close/>
              </a:path>
            </a:pathLst>
          </a:custGeom>
          <a:solidFill>
            <a:srgbClr val="C10007"/>
          </a:solidFill>
          <a:ln/>
        </p:spPr>
      </p:sp>
      <p:sp>
        <p:nvSpPr>
          <p:cNvPr id="31" name="Text 29"/>
          <p:cNvSpPr/>
          <p:nvPr/>
        </p:nvSpPr>
        <p:spPr>
          <a:xfrm>
            <a:off x="6533731" y="1181604"/>
            <a:ext cx="5245604" cy="250643"/>
          </a:xfrm>
          <a:prstGeom prst="rect">
            <a:avLst/>
          </a:prstGeom>
          <a:noFill/>
          <a:ln/>
        </p:spPr>
        <p:txBody>
          <a:bodyPr wrap="square" lIns="0" tIns="0" rIns="0" bIns="0" rtlCol="0" anchor="ctr"/>
          <a:lstStyle/>
          <a:p>
            <a:pPr>
              <a:lnSpc>
                <a:spcPct val="120000"/>
              </a:lnSpc>
            </a:pPr>
            <a:r>
              <a:rPr lang="en-US" sz="1410" b="1" dirty="0">
                <a:solidFill>
                  <a:srgbClr val="C10007"/>
                </a:solidFill>
                <a:latin typeface="MiSans" pitchFamily="34" charset="0"/>
                <a:ea typeface="MiSans" pitchFamily="34" charset="-122"/>
                <a:cs typeface="MiSans" pitchFamily="34" charset="-120"/>
              </a:rPr>
              <a:t>What Not to Report</a:t>
            </a:r>
            <a:endParaRPr lang="en-US" sz="1600" dirty="0"/>
          </a:p>
        </p:txBody>
      </p:sp>
      <p:sp>
        <p:nvSpPr>
          <p:cNvPr id="32" name="Text 30"/>
          <p:cNvSpPr/>
          <p:nvPr/>
        </p:nvSpPr>
        <p:spPr>
          <a:xfrm>
            <a:off x="6309942" y="1539665"/>
            <a:ext cx="5451489" cy="698220"/>
          </a:xfrm>
          <a:prstGeom prst="rect">
            <a:avLst/>
          </a:prstGeom>
          <a:noFill/>
          <a:ln/>
        </p:spPr>
        <p:txBody>
          <a:bodyPr wrap="square" lIns="0" tIns="0" rIns="0" bIns="0" rtlCol="0" anchor="ctr"/>
          <a:lstStyle/>
          <a:p>
            <a:pPr>
              <a:lnSpc>
                <a:spcPct val="140000"/>
              </a:lnSpc>
            </a:pPr>
            <a:r>
              <a:rPr lang="en-US" sz="1128" dirty="0">
                <a:solidFill>
                  <a:srgbClr val="2D3436"/>
                </a:solidFill>
                <a:latin typeface="MiSans" pitchFamily="34" charset="0"/>
                <a:ea typeface="MiSans" pitchFamily="34" charset="-122"/>
                <a:cs typeface="MiSans" pitchFamily="34" charset="-120"/>
              </a:rPr>
              <a:t>This section is </a:t>
            </a:r>
            <a:pPr>
              <a:lnSpc>
                <a:spcPct val="140000"/>
              </a:lnSpc>
            </a:pPr>
            <a:r>
              <a:rPr lang="en-US" sz="1128" b="1" dirty="0">
                <a:solidFill>
                  <a:srgbClr val="2D3436"/>
                </a:solidFill>
                <a:latin typeface="MiSans" pitchFamily="34" charset="0"/>
                <a:ea typeface="MiSans" pitchFamily="34" charset="-122"/>
                <a:cs typeface="MiSans" pitchFamily="34" charset="-120"/>
              </a:rPr>
              <a:t>perhaps the most important in the chapter, and certainly the most frequently ignored</a:t>
            </a:r>
            <a:pPr>
              <a:lnSpc>
                <a:spcPct val="140000"/>
              </a:lnSpc>
            </a:pPr>
            <a:r>
              <a:rPr lang="en-US" sz="1128" dirty="0">
                <a:solidFill>
                  <a:srgbClr val="2D3436"/>
                </a:solidFill>
                <a:latin typeface="MiSans" pitchFamily="34" charset="0"/>
                <a:ea typeface="MiSans" pitchFamily="34" charset="-122"/>
                <a:cs typeface="MiSans" pitchFamily="34" charset="-120"/>
              </a:rPr>
              <a:t>. The MPI's published effect size does not support claims about:</a:t>
            </a:r>
            <a:endParaRPr lang="en-US" sz="1600" dirty="0"/>
          </a:p>
        </p:txBody>
      </p:sp>
      <p:sp>
        <p:nvSpPr>
          <p:cNvPr id="33" name="Shape 31"/>
          <p:cNvSpPr/>
          <p:nvPr/>
        </p:nvSpPr>
        <p:spPr>
          <a:xfrm>
            <a:off x="6327845" y="2345304"/>
            <a:ext cx="5361974" cy="429674"/>
          </a:xfrm>
          <a:custGeom>
            <a:avLst/>
            <a:gdLst/>
            <a:ahLst/>
            <a:cxnLst/>
            <a:rect l="l" t="t" r="r" b="b"/>
            <a:pathLst>
              <a:path w="5361974" h="429674">
                <a:moveTo>
                  <a:pt x="0" y="0"/>
                </a:moveTo>
                <a:lnTo>
                  <a:pt x="5361974" y="0"/>
                </a:lnTo>
                <a:lnTo>
                  <a:pt x="5361974" y="429674"/>
                </a:lnTo>
                <a:lnTo>
                  <a:pt x="0" y="429674"/>
                </a:lnTo>
                <a:lnTo>
                  <a:pt x="0" y="0"/>
                </a:lnTo>
                <a:close/>
              </a:path>
            </a:pathLst>
          </a:custGeom>
          <a:solidFill>
            <a:srgbClr val="FEF2F2"/>
          </a:solidFill>
          <a:ln/>
        </p:spPr>
      </p:sp>
      <p:sp>
        <p:nvSpPr>
          <p:cNvPr id="34" name="Shape 32"/>
          <p:cNvSpPr/>
          <p:nvPr/>
        </p:nvSpPr>
        <p:spPr>
          <a:xfrm>
            <a:off x="6327845" y="2345304"/>
            <a:ext cx="35806" cy="429674"/>
          </a:xfrm>
          <a:custGeom>
            <a:avLst/>
            <a:gdLst/>
            <a:ahLst/>
            <a:cxnLst/>
            <a:rect l="l" t="t" r="r" b="b"/>
            <a:pathLst>
              <a:path w="35806" h="429674">
                <a:moveTo>
                  <a:pt x="0" y="0"/>
                </a:moveTo>
                <a:lnTo>
                  <a:pt x="35806" y="0"/>
                </a:lnTo>
                <a:lnTo>
                  <a:pt x="35806" y="429674"/>
                </a:lnTo>
                <a:lnTo>
                  <a:pt x="0" y="429674"/>
                </a:lnTo>
                <a:lnTo>
                  <a:pt x="0" y="0"/>
                </a:lnTo>
                <a:close/>
              </a:path>
            </a:pathLst>
          </a:custGeom>
          <a:solidFill>
            <a:srgbClr val="E7000B"/>
          </a:solidFill>
          <a:ln/>
        </p:spPr>
      </p:sp>
      <p:sp>
        <p:nvSpPr>
          <p:cNvPr id="35" name="Shape 33"/>
          <p:cNvSpPr/>
          <p:nvPr/>
        </p:nvSpPr>
        <p:spPr>
          <a:xfrm>
            <a:off x="6488973" y="2493004"/>
            <a:ext cx="107419" cy="143225"/>
          </a:xfrm>
          <a:custGeom>
            <a:avLst/>
            <a:gdLst/>
            <a:ahLst/>
            <a:cxnLst/>
            <a:rect l="l" t="t" r="r" b="b"/>
            <a:pathLst>
              <a:path w="107419" h="143225">
                <a:moveTo>
                  <a:pt x="15413" y="20533"/>
                </a:moveTo>
                <a:cubicBezTo>
                  <a:pt x="11917" y="17036"/>
                  <a:pt x="6238" y="17036"/>
                  <a:pt x="2741" y="20533"/>
                </a:cubicBezTo>
                <a:cubicBezTo>
                  <a:pt x="-755" y="24029"/>
                  <a:pt x="-755" y="29708"/>
                  <a:pt x="2741" y="33205"/>
                </a:cubicBezTo>
                <a:lnTo>
                  <a:pt x="41177" y="71612"/>
                </a:lnTo>
                <a:lnTo>
                  <a:pt x="2769" y="110048"/>
                </a:lnTo>
                <a:cubicBezTo>
                  <a:pt x="-727" y="113545"/>
                  <a:pt x="-727" y="119223"/>
                  <a:pt x="2769" y="122720"/>
                </a:cubicBezTo>
                <a:cubicBezTo>
                  <a:pt x="6266" y="126217"/>
                  <a:pt x="11945" y="126217"/>
                  <a:pt x="15441" y="122720"/>
                </a:cubicBezTo>
                <a:lnTo>
                  <a:pt x="53849" y="84284"/>
                </a:lnTo>
                <a:lnTo>
                  <a:pt x="92285" y="122692"/>
                </a:lnTo>
                <a:cubicBezTo>
                  <a:pt x="95781" y="126189"/>
                  <a:pt x="101460" y="126189"/>
                  <a:pt x="104957" y="122692"/>
                </a:cubicBezTo>
                <a:cubicBezTo>
                  <a:pt x="108454" y="119195"/>
                  <a:pt x="108454" y="113517"/>
                  <a:pt x="104957" y="110020"/>
                </a:cubicBezTo>
                <a:lnTo>
                  <a:pt x="66521" y="71612"/>
                </a:lnTo>
                <a:lnTo>
                  <a:pt x="104929" y="33177"/>
                </a:lnTo>
                <a:cubicBezTo>
                  <a:pt x="108426" y="29680"/>
                  <a:pt x="108426" y="24001"/>
                  <a:pt x="104929" y="20505"/>
                </a:cubicBezTo>
                <a:cubicBezTo>
                  <a:pt x="101432" y="17008"/>
                  <a:pt x="95754" y="17008"/>
                  <a:pt x="92257" y="20505"/>
                </a:cubicBezTo>
                <a:lnTo>
                  <a:pt x="53849" y="58940"/>
                </a:lnTo>
                <a:lnTo>
                  <a:pt x="15413" y="20533"/>
                </a:lnTo>
                <a:close/>
              </a:path>
            </a:pathLst>
          </a:custGeom>
          <a:solidFill>
            <a:srgbClr val="E7000B"/>
          </a:solidFill>
          <a:ln/>
        </p:spPr>
      </p:sp>
      <p:sp>
        <p:nvSpPr>
          <p:cNvPr id="36" name="Text 34"/>
          <p:cNvSpPr/>
          <p:nvPr/>
        </p:nvSpPr>
        <p:spPr>
          <a:xfrm>
            <a:off x="6703810" y="2466150"/>
            <a:ext cx="2174628" cy="187982"/>
          </a:xfrm>
          <a:prstGeom prst="rect">
            <a:avLst/>
          </a:prstGeom>
          <a:noFill/>
          <a:ln/>
        </p:spPr>
        <p:txBody>
          <a:bodyPr wrap="square" lIns="0" tIns="0" rIns="0" bIns="0" rtlCol="0" anchor="ctr"/>
          <a:lstStyle/>
          <a:p>
            <a:pPr>
              <a:lnSpc>
                <a:spcPct val="130000"/>
              </a:lnSpc>
            </a:pPr>
            <a:r>
              <a:rPr lang="en-US" sz="1128" b="1" dirty="0">
                <a:solidFill>
                  <a:srgbClr val="2D3436"/>
                </a:solidFill>
                <a:latin typeface="MiSans" pitchFamily="34" charset="0"/>
                <a:ea typeface="MiSans" pitchFamily="34" charset="-122"/>
                <a:cs typeface="MiSans" pitchFamily="34" charset="-120"/>
              </a:rPr>
              <a:t>Individual school improvement</a:t>
            </a:r>
            <a:endParaRPr lang="en-US" sz="1600" dirty="0"/>
          </a:p>
        </p:txBody>
      </p:sp>
      <p:sp>
        <p:nvSpPr>
          <p:cNvPr id="37" name="Shape 35"/>
          <p:cNvSpPr/>
          <p:nvPr/>
        </p:nvSpPr>
        <p:spPr>
          <a:xfrm>
            <a:off x="6327845" y="2846590"/>
            <a:ext cx="5361974" cy="429674"/>
          </a:xfrm>
          <a:custGeom>
            <a:avLst/>
            <a:gdLst/>
            <a:ahLst/>
            <a:cxnLst/>
            <a:rect l="l" t="t" r="r" b="b"/>
            <a:pathLst>
              <a:path w="5361974" h="429674">
                <a:moveTo>
                  <a:pt x="0" y="0"/>
                </a:moveTo>
                <a:lnTo>
                  <a:pt x="5361974" y="0"/>
                </a:lnTo>
                <a:lnTo>
                  <a:pt x="5361974" y="429674"/>
                </a:lnTo>
                <a:lnTo>
                  <a:pt x="0" y="429674"/>
                </a:lnTo>
                <a:lnTo>
                  <a:pt x="0" y="0"/>
                </a:lnTo>
                <a:close/>
              </a:path>
            </a:pathLst>
          </a:custGeom>
          <a:solidFill>
            <a:srgbClr val="FEF2F2"/>
          </a:solidFill>
          <a:ln/>
        </p:spPr>
      </p:sp>
      <p:sp>
        <p:nvSpPr>
          <p:cNvPr id="38" name="Shape 36"/>
          <p:cNvSpPr/>
          <p:nvPr/>
        </p:nvSpPr>
        <p:spPr>
          <a:xfrm>
            <a:off x="6327845" y="2846590"/>
            <a:ext cx="35806" cy="429674"/>
          </a:xfrm>
          <a:custGeom>
            <a:avLst/>
            <a:gdLst/>
            <a:ahLst/>
            <a:cxnLst/>
            <a:rect l="l" t="t" r="r" b="b"/>
            <a:pathLst>
              <a:path w="35806" h="429674">
                <a:moveTo>
                  <a:pt x="0" y="0"/>
                </a:moveTo>
                <a:lnTo>
                  <a:pt x="35806" y="0"/>
                </a:lnTo>
                <a:lnTo>
                  <a:pt x="35806" y="429674"/>
                </a:lnTo>
                <a:lnTo>
                  <a:pt x="0" y="429674"/>
                </a:lnTo>
                <a:lnTo>
                  <a:pt x="0" y="0"/>
                </a:lnTo>
                <a:close/>
              </a:path>
            </a:pathLst>
          </a:custGeom>
          <a:solidFill>
            <a:srgbClr val="E7000B"/>
          </a:solidFill>
          <a:ln/>
        </p:spPr>
      </p:sp>
      <p:sp>
        <p:nvSpPr>
          <p:cNvPr id="39" name="Shape 37"/>
          <p:cNvSpPr/>
          <p:nvPr/>
        </p:nvSpPr>
        <p:spPr>
          <a:xfrm>
            <a:off x="6488973" y="2994291"/>
            <a:ext cx="107419" cy="143225"/>
          </a:xfrm>
          <a:custGeom>
            <a:avLst/>
            <a:gdLst/>
            <a:ahLst/>
            <a:cxnLst/>
            <a:rect l="l" t="t" r="r" b="b"/>
            <a:pathLst>
              <a:path w="107419" h="143225">
                <a:moveTo>
                  <a:pt x="15413" y="20533"/>
                </a:moveTo>
                <a:cubicBezTo>
                  <a:pt x="11917" y="17036"/>
                  <a:pt x="6238" y="17036"/>
                  <a:pt x="2741" y="20533"/>
                </a:cubicBezTo>
                <a:cubicBezTo>
                  <a:pt x="-755" y="24029"/>
                  <a:pt x="-755" y="29708"/>
                  <a:pt x="2741" y="33205"/>
                </a:cubicBezTo>
                <a:lnTo>
                  <a:pt x="41177" y="71612"/>
                </a:lnTo>
                <a:lnTo>
                  <a:pt x="2769" y="110048"/>
                </a:lnTo>
                <a:cubicBezTo>
                  <a:pt x="-727" y="113545"/>
                  <a:pt x="-727" y="119223"/>
                  <a:pt x="2769" y="122720"/>
                </a:cubicBezTo>
                <a:cubicBezTo>
                  <a:pt x="6266" y="126217"/>
                  <a:pt x="11945" y="126217"/>
                  <a:pt x="15441" y="122720"/>
                </a:cubicBezTo>
                <a:lnTo>
                  <a:pt x="53849" y="84284"/>
                </a:lnTo>
                <a:lnTo>
                  <a:pt x="92285" y="122692"/>
                </a:lnTo>
                <a:cubicBezTo>
                  <a:pt x="95781" y="126189"/>
                  <a:pt x="101460" y="126189"/>
                  <a:pt x="104957" y="122692"/>
                </a:cubicBezTo>
                <a:cubicBezTo>
                  <a:pt x="108454" y="119195"/>
                  <a:pt x="108454" y="113517"/>
                  <a:pt x="104957" y="110020"/>
                </a:cubicBezTo>
                <a:lnTo>
                  <a:pt x="66521" y="71612"/>
                </a:lnTo>
                <a:lnTo>
                  <a:pt x="104929" y="33177"/>
                </a:lnTo>
                <a:cubicBezTo>
                  <a:pt x="108426" y="29680"/>
                  <a:pt x="108426" y="24001"/>
                  <a:pt x="104929" y="20505"/>
                </a:cubicBezTo>
                <a:cubicBezTo>
                  <a:pt x="101432" y="17008"/>
                  <a:pt x="95754" y="17008"/>
                  <a:pt x="92257" y="20505"/>
                </a:cubicBezTo>
                <a:lnTo>
                  <a:pt x="53849" y="58940"/>
                </a:lnTo>
                <a:lnTo>
                  <a:pt x="15413" y="20533"/>
                </a:lnTo>
                <a:close/>
              </a:path>
            </a:pathLst>
          </a:custGeom>
          <a:solidFill>
            <a:srgbClr val="E7000B"/>
          </a:solidFill>
          <a:ln/>
        </p:spPr>
      </p:sp>
      <p:sp>
        <p:nvSpPr>
          <p:cNvPr id="40" name="Text 38"/>
          <p:cNvSpPr/>
          <p:nvPr/>
        </p:nvSpPr>
        <p:spPr>
          <a:xfrm>
            <a:off x="6682673" y="2954009"/>
            <a:ext cx="4971339" cy="214837"/>
          </a:xfrm>
          <a:prstGeom prst="rect">
            <a:avLst/>
          </a:prstGeom>
          <a:noFill/>
          <a:ln/>
        </p:spPr>
        <p:txBody>
          <a:bodyPr wrap="square" lIns="0" tIns="0" rIns="0" bIns="0" rtlCol="0" anchor="ctr"/>
          <a:lstStyle/>
          <a:p>
            <a:pPr>
              <a:lnSpc>
                <a:spcPct val="130000"/>
              </a:lnSpc>
            </a:pPr>
            <a:r>
              <a:rPr lang="en-US" sz="1128" b="1" dirty="0">
                <a:solidFill>
                  <a:srgbClr val="2D3436"/>
                </a:solidFill>
                <a:latin typeface="MiSans" pitchFamily="34" charset="0"/>
                <a:ea typeface="MiSans" pitchFamily="34" charset="-122"/>
                <a:cs typeface="MiSans" pitchFamily="34" charset="-120"/>
              </a:rPr>
              <a:t>Subject-level outcomes</a:t>
            </a:r>
            <a:pPr>
              <a:lnSpc>
                <a:spcPct val="130000"/>
              </a:lnSpc>
            </a:pPr>
            <a:r>
              <a:rPr lang="en-US" sz="1128" dirty="0">
                <a:solidFill>
                  <a:srgbClr val="2D3436"/>
                </a:solidFill>
                <a:latin typeface="MiSans" pitchFamily="34" charset="0"/>
                <a:ea typeface="MiSans" pitchFamily="34" charset="-122"/>
                <a:cs typeface="MiSans" pitchFamily="34" charset="-120"/>
              </a:rPr>
              <a:t> (Ch. 6.3)</a:t>
            </a:r>
            <a:endParaRPr lang="en-US" sz="1600" dirty="0"/>
          </a:p>
        </p:txBody>
      </p:sp>
      <p:sp>
        <p:nvSpPr>
          <p:cNvPr id="41" name="Shape 39"/>
          <p:cNvSpPr/>
          <p:nvPr/>
        </p:nvSpPr>
        <p:spPr>
          <a:xfrm>
            <a:off x="6327845" y="3347877"/>
            <a:ext cx="5361974" cy="429674"/>
          </a:xfrm>
          <a:custGeom>
            <a:avLst/>
            <a:gdLst/>
            <a:ahLst/>
            <a:cxnLst/>
            <a:rect l="l" t="t" r="r" b="b"/>
            <a:pathLst>
              <a:path w="5361974" h="429674">
                <a:moveTo>
                  <a:pt x="0" y="0"/>
                </a:moveTo>
                <a:lnTo>
                  <a:pt x="5361974" y="0"/>
                </a:lnTo>
                <a:lnTo>
                  <a:pt x="5361974" y="429674"/>
                </a:lnTo>
                <a:lnTo>
                  <a:pt x="0" y="429674"/>
                </a:lnTo>
                <a:lnTo>
                  <a:pt x="0" y="0"/>
                </a:lnTo>
                <a:close/>
              </a:path>
            </a:pathLst>
          </a:custGeom>
          <a:solidFill>
            <a:srgbClr val="FEF2F2"/>
          </a:solidFill>
          <a:ln/>
        </p:spPr>
      </p:sp>
      <p:sp>
        <p:nvSpPr>
          <p:cNvPr id="42" name="Shape 40"/>
          <p:cNvSpPr/>
          <p:nvPr/>
        </p:nvSpPr>
        <p:spPr>
          <a:xfrm>
            <a:off x="6327845" y="3347877"/>
            <a:ext cx="35806" cy="429674"/>
          </a:xfrm>
          <a:custGeom>
            <a:avLst/>
            <a:gdLst/>
            <a:ahLst/>
            <a:cxnLst/>
            <a:rect l="l" t="t" r="r" b="b"/>
            <a:pathLst>
              <a:path w="35806" h="429674">
                <a:moveTo>
                  <a:pt x="0" y="0"/>
                </a:moveTo>
                <a:lnTo>
                  <a:pt x="35806" y="0"/>
                </a:lnTo>
                <a:lnTo>
                  <a:pt x="35806" y="429674"/>
                </a:lnTo>
                <a:lnTo>
                  <a:pt x="0" y="429674"/>
                </a:lnTo>
                <a:lnTo>
                  <a:pt x="0" y="0"/>
                </a:lnTo>
                <a:close/>
              </a:path>
            </a:pathLst>
          </a:custGeom>
          <a:solidFill>
            <a:srgbClr val="E7000B"/>
          </a:solidFill>
          <a:ln/>
        </p:spPr>
      </p:sp>
      <p:sp>
        <p:nvSpPr>
          <p:cNvPr id="43" name="Shape 41"/>
          <p:cNvSpPr/>
          <p:nvPr/>
        </p:nvSpPr>
        <p:spPr>
          <a:xfrm>
            <a:off x="6488973" y="3495577"/>
            <a:ext cx="107419" cy="143225"/>
          </a:xfrm>
          <a:custGeom>
            <a:avLst/>
            <a:gdLst/>
            <a:ahLst/>
            <a:cxnLst/>
            <a:rect l="l" t="t" r="r" b="b"/>
            <a:pathLst>
              <a:path w="107419" h="143225">
                <a:moveTo>
                  <a:pt x="15413" y="20533"/>
                </a:moveTo>
                <a:cubicBezTo>
                  <a:pt x="11917" y="17036"/>
                  <a:pt x="6238" y="17036"/>
                  <a:pt x="2741" y="20533"/>
                </a:cubicBezTo>
                <a:cubicBezTo>
                  <a:pt x="-755" y="24029"/>
                  <a:pt x="-755" y="29708"/>
                  <a:pt x="2741" y="33205"/>
                </a:cubicBezTo>
                <a:lnTo>
                  <a:pt x="41177" y="71612"/>
                </a:lnTo>
                <a:lnTo>
                  <a:pt x="2769" y="110048"/>
                </a:lnTo>
                <a:cubicBezTo>
                  <a:pt x="-727" y="113545"/>
                  <a:pt x="-727" y="119223"/>
                  <a:pt x="2769" y="122720"/>
                </a:cubicBezTo>
                <a:cubicBezTo>
                  <a:pt x="6266" y="126217"/>
                  <a:pt x="11945" y="126217"/>
                  <a:pt x="15441" y="122720"/>
                </a:cubicBezTo>
                <a:lnTo>
                  <a:pt x="53849" y="84284"/>
                </a:lnTo>
                <a:lnTo>
                  <a:pt x="92285" y="122692"/>
                </a:lnTo>
                <a:cubicBezTo>
                  <a:pt x="95781" y="126189"/>
                  <a:pt x="101460" y="126189"/>
                  <a:pt x="104957" y="122692"/>
                </a:cubicBezTo>
                <a:cubicBezTo>
                  <a:pt x="108454" y="119195"/>
                  <a:pt x="108454" y="113517"/>
                  <a:pt x="104957" y="110020"/>
                </a:cubicBezTo>
                <a:lnTo>
                  <a:pt x="66521" y="71612"/>
                </a:lnTo>
                <a:lnTo>
                  <a:pt x="104929" y="33177"/>
                </a:lnTo>
                <a:cubicBezTo>
                  <a:pt x="108426" y="29680"/>
                  <a:pt x="108426" y="24001"/>
                  <a:pt x="104929" y="20505"/>
                </a:cubicBezTo>
                <a:cubicBezTo>
                  <a:pt x="101432" y="17008"/>
                  <a:pt x="95754" y="17008"/>
                  <a:pt x="92257" y="20505"/>
                </a:cubicBezTo>
                <a:lnTo>
                  <a:pt x="53849" y="58940"/>
                </a:lnTo>
                <a:lnTo>
                  <a:pt x="15413" y="20533"/>
                </a:lnTo>
                <a:close/>
              </a:path>
            </a:pathLst>
          </a:custGeom>
          <a:solidFill>
            <a:srgbClr val="E7000B"/>
          </a:solidFill>
          <a:ln/>
        </p:spPr>
      </p:sp>
      <p:sp>
        <p:nvSpPr>
          <p:cNvPr id="44" name="Text 42"/>
          <p:cNvSpPr/>
          <p:nvPr/>
        </p:nvSpPr>
        <p:spPr>
          <a:xfrm>
            <a:off x="6703810" y="3468722"/>
            <a:ext cx="2032597" cy="187982"/>
          </a:xfrm>
          <a:prstGeom prst="rect">
            <a:avLst/>
          </a:prstGeom>
          <a:noFill/>
          <a:ln/>
        </p:spPr>
        <p:txBody>
          <a:bodyPr wrap="square" lIns="0" tIns="0" rIns="0" bIns="0" rtlCol="0" anchor="ctr"/>
          <a:lstStyle/>
          <a:p>
            <a:pPr>
              <a:lnSpc>
                <a:spcPct val="130000"/>
              </a:lnSpc>
            </a:pPr>
            <a:r>
              <a:rPr lang="en-US" sz="1128" b="1" dirty="0">
                <a:solidFill>
                  <a:srgbClr val="2D3436"/>
                </a:solidFill>
                <a:latin typeface="MiSans" pitchFamily="34" charset="0"/>
                <a:ea typeface="MiSans" pitchFamily="34" charset="-122"/>
                <a:cs typeface="MiSans" pitchFamily="34" charset="-120"/>
              </a:rPr>
              <a:t>Primary sector effectiveness</a:t>
            </a:r>
            <a:endParaRPr lang="en-US" sz="1600" dirty="0"/>
          </a:p>
        </p:txBody>
      </p:sp>
      <p:sp>
        <p:nvSpPr>
          <p:cNvPr id="45" name="Shape 43"/>
          <p:cNvSpPr/>
          <p:nvPr/>
        </p:nvSpPr>
        <p:spPr>
          <a:xfrm>
            <a:off x="6327845" y="3849163"/>
            <a:ext cx="5361974" cy="429674"/>
          </a:xfrm>
          <a:custGeom>
            <a:avLst/>
            <a:gdLst/>
            <a:ahLst/>
            <a:cxnLst/>
            <a:rect l="l" t="t" r="r" b="b"/>
            <a:pathLst>
              <a:path w="5361974" h="429674">
                <a:moveTo>
                  <a:pt x="0" y="0"/>
                </a:moveTo>
                <a:lnTo>
                  <a:pt x="5361974" y="0"/>
                </a:lnTo>
                <a:lnTo>
                  <a:pt x="5361974" y="429674"/>
                </a:lnTo>
                <a:lnTo>
                  <a:pt x="0" y="429674"/>
                </a:lnTo>
                <a:lnTo>
                  <a:pt x="0" y="0"/>
                </a:lnTo>
                <a:close/>
              </a:path>
            </a:pathLst>
          </a:custGeom>
          <a:solidFill>
            <a:srgbClr val="FEF2F2"/>
          </a:solidFill>
          <a:ln/>
        </p:spPr>
      </p:sp>
      <p:sp>
        <p:nvSpPr>
          <p:cNvPr id="46" name="Shape 44"/>
          <p:cNvSpPr/>
          <p:nvPr/>
        </p:nvSpPr>
        <p:spPr>
          <a:xfrm>
            <a:off x="6327845" y="3849163"/>
            <a:ext cx="35806" cy="429674"/>
          </a:xfrm>
          <a:custGeom>
            <a:avLst/>
            <a:gdLst/>
            <a:ahLst/>
            <a:cxnLst/>
            <a:rect l="l" t="t" r="r" b="b"/>
            <a:pathLst>
              <a:path w="35806" h="429674">
                <a:moveTo>
                  <a:pt x="0" y="0"/>
                </a:moveTo>
                <a:lnTo>
                  <a:pt x="35806" y="0"/>
                </a:lnTo>
                <a:lnTo>
                  <a:pt x="35806" y="429674"/>
                </a:lnTo>
                <a:lnTo>
                  <a:pt x="0" y="429674"/>
                </a:lnTo>
                <a:lnTo>
                  <a:pt x="0" y="0"/>
                </a:lnTo>
                <a:close/>
              </a:path>
            </a:pathLst>
          </a:custGeom>
          <a:solidFill>
            <a:srgbClr val="E7000B"/>
          </a:solidFill>
          <a:ln/>
        </p:spPr>
      </p:sp>
      <p:sp>
        <p:nvSpPr>
          <p:cNvPr id="47" name="Shape 45"/>
          <p:cNvSpPr/>
          <p:nvPr/>
        </p:nvSpPr>
        <p:spPr>
          <a:xfrm>
            <a:off x="6488973" y="3996863"/>
            <a:ext cx="107419" cy="143225"/>
          </a:xfrm>
          <a:custGeom>
            <a:avLst/>
            <a:gdLst/>
            <a:ahLst/>
            <a:cxnLst/>
            <a:rect l="l" t="t" r="r" b="b"/>
            <a:pathLst>
              <a:path w="107419" h="143225">
                <a:moveTo>
                  <a:pt x="15413" y="20533"/>
                </a:moveTo>
                <a:cubicBezTo>
                  <a:pt x="11917" y="17036"/>
                  <a:pt x="6238" y="17036"/>
                  <a:pt x="2741" y="20533"/>
                </a:cubicBezTo>
                <a:cubicBezTo>
                  <a:pt x="-755" y="24029"/>
                  <a:pt x="-755" y="29708"/>
                  <a:pt x="2741" y="33205"/>
                </a:cubicBezTo>
                <a:lnTo>
                  <a:pt x="41177" y="71612"/>
                </a:lnTo>
                <a:lnTo>
                  <a:pt x="2769" y="110048"/>
                </a:lnTo>
                <a:cubicBezTo>
                  <a:pt x="-727" y="113545"/>
                  <a:pt x="-727" y="119223"/>
                  <a:pt x="2769" y="122720"/>
                </a:cubicBezTo>
                <a:cubicBezTo>
                  <a:pt x="6266" y="126217"/>
                  <a:pt x="11945" y="126217"/>
                  <a:pt x="15441" y="122720"/>
                </a:cubicBezTo>
                <a:lnTo>
                  <a:pt x="53849" y="84284"/>
                </a:lnTo>
                <a:lnTo>
                  <a:pt x="92285" y="122692"/>
                </a:lnTo>
                <a:cubicBezTo>
                  <a:pt x="95781" y="126189"/>
                  <a:pt x="101460" y="126189"/>
                  <a:pt x="104957" y="122692"/>
                </a:cubicBezTo>
                <a:cubicBezTo>
                  <a:pt x="108454" y="119195"/>
                  <a:pt x="108454" y="113517"/>
                  <a:pt x="104957" y="110020"/>
                </a:cubicBezTo>
                <a:lnTo>
                  <a:pt x="66521" y="71612"/>
                </a:lnTo>
                <a:lnTo>
                  <a:pt x="104929" y="33177"/>
                </a:lnTo>
                <a:cubicBezTo>
                  <a:pt x="108426" y="29680"/>
                  <a:pt x="108426" y="24001"/>
                  <a:pt x="104929" y="20505"/>
                </a:cubicBezTo>
                <a:cubicBezTo>
                  <a:pt x="101432" y="17008"/>
                  <a:pt x="95754" y="17008"/>
                  <a:pt x="92257" y="20505"/>
                </a:cubicBezTo>
                <a:lnTo>
                  <a:pt x="53849" y="58940"/>
                </a:lnTo>
                <a:lnTo>
                  <a:pt x="15413" y="20533"/>
                </a:lnTo>
                <a:close/>
              </a:path>
            </a:pathLst>
          </a:custGeom>
          <a:solidFill>
            <a:srgbClr val="E7000B"/>
          </a:solidFill>
          <a:ln/>
        </p:spPr>
      </p:sp>
      <p:sp>
        <p:nvSpPr>
          <p:cNvPr id="48" name="Text 46"/>
          <p:cNvSpPr/>
          <p:nvPr/>
        </p:nvSpPr>
        <p:spPr>
          <a:xfrm>
            <a:off x="6703810" y="3970009"/>
            <a:ext cx="1763454" cy="187982"/>
          </a:xfrm>
          <a:prstGeom prst="rect">
            <a:avLst/>
          </a:prstGeom>
          <a:noFill/>
          <a:ln/>
        </p:spPr>
        <p:txBody>
          <a:bodyPr wrap="square" lIns="0" tIns="0" rIns="0" bIns="0" rtlCol="0" anchor="ctr"/>
          <a:lstStyle/>
          <a:p>
            <a:pPr>
              <a:lnSpc>
                <a:spcPct val="130000"/>
              </a:lnSpc>
            </a:pPr>
            <a:r>
              <a:rPr lang="en-US" sz="1128" b="1" dirty="0">
                <a:solidFill>
                  <a:srgbClr val="2D3436"/>
                </a:solidFill>
                <a:latin typeface="MiSans" pitchFamily="34" charset="0"/>
                <a:ea typeface="MiSans" pitchFamily="34" charset="-122"/>
                <a:cs typeface="MiSans" pitchFamily="34" charset="-120"/>
              </a:rPr>
              <a:t>Outcomes beyond GCSE</a:t>
            </a:r>
            <a:endParaRPr lang="en-US" sz="1600" dirty="0"/>
          </a:p>
        </p:txBody>
      </p:sp>
      <p:sp>
        <p:nvSpPr>
          <p:cNvPr id="49" name="Shape 47"/>
          <p:cNvSpPr/>
          <p:nvPr/>
        </p:nvSpPr>
        <p:spPr>
          <a:xfrm>
            <a:off x="6166717" y="4529480"/>
            <a:ext cx="5666326" cy="1342731"/>
          </a:xfrm>
          <a:custGeom>
            <a:avLst/>
            <a:gdLst/>
            <a:ahLst/>
            <a:cxnLst/>
            <a:rect l="l" t="t" r="r" b="b"/>
            <a:pathLst>
              <a:path w="5666326" h="1342731">
                <a:moveTo>
                  <a:pt x="0" y="0"/>
                </a:moveTo>
                <a:lnTo>
                  <a:pt x="5666326" y="0"/>
                </a:lnTo>
                <a:lnTo>
                  <a:pt x="5666326" y="1342731"/>
                </a:lnTo>
                <a:lnTo>
                  <a:pt x="0" y="1342731"/>
                </a:lnTo>
                <a:lnTo>
                  <a:pt x="0" y="0"/>
                </a:lnTo>
                <a:close/>
              </a:path>
            </a:pathLst>
          </a:custGeom>
          <a:solidFill>
            <a:srgbClr val="C49A2C"/>
          </a:solidFill>
          <a:ln/>
        </p:spPr>
      </p:sp>
      <p:sp>
        <p:nvSpPr>
          <p:cNvPr id="50" name="Text 48"/>
          <p:cNvSpPr/>
          <p:nvPr/>
        </p:nvSpPr>
        <p:spPr>
          <a:xfrm>
            <a:off x="6309942" y="4672705"/>
            <a:ext cx="5469392" cy="250643"/>
          </a:xfrm>
          <a:prstGeom prst="rect">
            <a:avLst/>
          </a:prstGeom>
          <a:noFill/>
          <a:ln/>
        </p:spPr>
        <p:txBody>
          <a:bodyPr wrap="square" lIns="0" tIns="0" rIns="0" bIns="0" rtlCol="0" anchor="ctr"/>
          <a:lstStyle/>
          <a:p>
            <a:pPr>
              <a:lnSpc>
                <a:spcPct val="120000"/>
              </a:lnSpc>
            </a:pPr>
            <a:r>
              <a:rPr lang="en-US" sz="1410" b="1" dirty="0">
                <a:solidFill>
                  <a:srgbClr val="F8F9FA"/>
                </a:solidFill>
                <a:latin typeface="MiSans" pitchFamily="34" charset="0"/>
                <a:ea typeface="MiSans" pitchFamily="34" charset="-122"/>
                <a:cs typeface="MiSans" pitchFamily="34" charset="-120"/>
              </a:rPr>
              <a:t>The Responsible Consulting Standard</a:t>
            </a:r>
            <a:endParaRPr lang="en-US" sz="1600" dirty="0"/>
          </a:p>
        </p:txBody>
      </p:sp>
      <p:sp>
        <p:nvSpPr>
          <p:cNvPr id="51" name="Text 49"/>
          <p:cNvSpPr/>
          <p:nvPr/>
        </p:nvSpPr>
        <p:spPr>
          <a:xfrm>
            <a:off x="6309942" y="5030767"/>
            <a:ext cx="5451489" cy="698220"/>
          </a:xfrm>
          <a:prstGeom prst="rect">
            <a:avLst/>
          </a:prstGeom>
          <a:noFill/>
          <a:ln/>
        </p:spPr>
        <p:txBody>
          <a:bodyPr wrap="square" lIns="0" tIns="0" rIns="0" bIns="0" rtlCol="0" anchor="ctr"/>
          <a:lstStyle/>
          <a:p>
            <a:pPr>
              <a:lnSpc>
                <a:spcPct val="140000"/>
              </a:lnSpc>
            </a:pPr>
            <a:r>
              <a:rPr lang="en-US" sz="1128" dirty="0">
                <a:solidFill>
                  <a:srgbClr val="F8F9FA"/>
                </a:solidFill>
                <a:latin typeface="MiSans" pitchFamily="34" charset="0"/>
                <a:ea typeface="MiSans" pitchFamily="34" charset="-122"/>
                <a:cs typeface="MiSans" pitchFamily="34" charset="-120"/>
              </a:rPr>
              <a:t>If a client asks for a claim that the data cannot support, the correct response is to </a:t>
            </a:r>
            <a:pPr>
              <a:lnSpc>
                <a:spcPct val="140000"/>
              </a:lnSpc>
            </a:pPr>
            <a:r>
              <a:rPr lang="en-US" sz="1128" b="1" dirty="0">
                <a:solidFill>
                  <a:srgbClr val="F8F9FA"/>
                </a:solidFill>
                <a:latin typeface="MiSans" pitchFamily="34" charset="0"/>
                <a:ea typeface="MiSans" pitchFamily="34" charset="-122"/>
                <a:cs typeface="MiSans" pitchFamily="34" charset="-120"/>
              </a:rPr>
              <a:t>explain what the data can support and offer that instead</a:t>
            </a:r>
            <a:pPr>
              <a:lnSpc>
                <a:spcPct val="140000"/>
              </a:lnSpc>
            </a:pPr>
            <a:r>
              <a:rPr lang="en-US" sz="1128" dirty="0">
                <a:solidFill>
                  <a:srgbClr val="F8F9FA"/>
                </a:solidFill>
                <a:latin typeface="MiSans" pitchFamily="34" charset="0"/>
                <a:ea typeface="MiSans" pitchFamily="34" charset="-122"/>
                <a:cs typeface="MiSans" pitchFamily="34" charset="-120"/>
              </a:rPr>
              <a:t>. This is not a failure of commercial acumen. It is what responsible consulting looks like.</a:t>
            </a:r>
            <a:endParaRPr lang="en-US" sz="1600" dirty="0"/>
          </a:p>
        </p:txBody>
      </p:sp>
      <p:sp>
        <p:nvSpPr>
          <p:cNvPr id="52" name="Shape 50"/>
          <p:cNvSpPr/>
          <p:nvPr/>
        </p:nvSpPr>
        <p:spPr>
          <a:xfrm>
            <a:off x="6184620" y="5979630"/>
            <a:ext cx="5648423" cy="644511"/>
          </a:xfrm>
          <a:custGeom>
            <a:avLst/>
            <a:gdLst/>
            <a:ahLst/>
            <a:cxnLst/>
            <a:rect l="l" t="t" r="r" b="b"/>
            <a:pathLst>
              <a:path w="5648423" h="644511">
                <a:moveTo>
                  <a:pt x="0" y="0"/>
                </a:moveTo>
                <a:lnTo>
                  <a:pt x="5648423" y="0"/>
                </a:lnTo>
                <a:lnTo>
                  <a:pt x="5648423" y="644511"/>
                </a:lnTo>
                <a:lnTo>
                  <a:pt x="0" y="644511"/>
                </a:lnTo>
                <a:lnTo>
                  <a:pt x="0" y="0"/>
                </a:lnTo>
                <a:close/>
              </a:path>
            </a:pathLst>
          </a:custGeom>
          <a:solidFill>
            <a:srgbClr val="C49A2C">
              <a:alpha val="10196"/>
            </a:srgbClr>
          </a:solidFill>
          <a:ln/>
        </p:spPr>
      </p:sp>
      <p:sp>
        <p:nvSpPr>
          <p:cNvPr id="53" name="Shape 51"/>
          <p:cNvSpPr/>
          <p:nvPr/>
        </p:nvSpPr>
        <p:spPr>
          <a:xfrm>
            <a:off x="6184620" y="5979630"/>
            <a:ext cx="35806" cy="644511"/>
          </a:xfrm>
          <a:custGeom>
            <a:avLst/>
            <a:gdLst/>
            <a:ahLst/>
            <a:cxnLst/>
            <a:rect l="l" t="t" r="r" b="b"/>
            <a:pathLst>
              <a:path w="35806" h="644511">
                <a:moveTo>
                  <a:pt x="0" y="0"/>
                </a:moveTo>
                <a:lnTo>
                  <a:pt x="35806" y="0"/>
                </a:lnTo>
                <a:lnTo>
                  <a:pt x="35806" y="644511"/>
                </a:lnTo>
                <a:lnTo>
                  <a:pt x="0" y="644511"/>
                </a:lnTo>
                <a:lnTo>
                  <a:pt x="0" y="0"/>
                </a:lnTo>
                <a:close/>
              </a:path>
            </a:pathLst>
          </a:custGeom>
          <a:solidFill>
            <a:srgbClr val="C49A2C"/>
          </a:solidFill>
          <a:ln/>
        </p:spPr>
      </p:sp>
      <p:sp>
        <p:nvSpPr>
          <p:cNvPr id="54" name="Shape 52"/>
          <p:cNvSpPr/>
          <p:nvPr/>
        </p:nvSpPr>
        <p:spPr>
          <a:xfrm>
            <a:off x="6336797" y="6127330"/>
            <a:ext cx="125322" cy="143225"/>
          </a:xfrm>
          <a:custGeom>
            <a:avLst/>
            <a:gdLst/>
            <a:ahLst/>
            <a:cxnLst/>
            <a:rect l="l" t="t" r="r" b="b"/>
            <a:pathLst>
              <a:path w="125322" h="143225">
                <a:moveTo>
                  <a:pt x="107419" y="143225"/>
                </a:moveTo>
                <a:lnTo>
                  <a:pt x="26855" y="143225"/>
                </a:lnTo>
                <a:cubicBezTo>
                  <a:pt x="12029" y="143225"/>
                  <a:pt x="0" y="131196"/>
                  <a:pt x="0" y="116370"/>
                </a:cubicBezTo>
                <a:lnTo>
                  <a:pt x="0" y="26855"/>
                </a:lnTo>
                <a:cubicBezTo>
                  <a:pt x="0" y="12029"/>
                  <a:pt x="12029" y="0"/>
                  <a:pt x="26855" y="0"/>
                </a:cubicBezTo>
                <a:lnTo>
                  <a:pt x="111894" y="0"/>
                </a:lnTo>
                <a:cubicBezTo>
                  <a:pt x="119307" y="0"/>
                  <a:pt x="125322" y="6014"/>
                  <a:pt x="125322" y="13427"/>
                </a:cubicBezTo>
                <a:lnTo>
                  <a:pt x="125322" y="93991"/>
                </a:lnTo>
                <a:cubicBezTo>
                  <a:pt x="125322" y="99838"/>
                  <a:pt x="121573" y="104817"/>
                  <a:pt x="116370" y="106663"/>
                </a:cubicBezTo>
                <a:lnTo>
                  <a:pt x="116370" y="125322"/>
                </a:lnTo>
                <a:cubicBezTo>
                  <a:pt x="121321" y="125322"/>
                  <a:pt x="125322" y="129322"/>
                  <a:pt x="125322" y="134273"/>
                </a:cubicBezTo>
                <a:cubicBezTo>
                  <a:pt x="125322" y="139224"/>
                  <a:pt x="121321" y="143225"/>
                  <a:pt x="116370" y="143225"/>
                </a:cubicBezTo>
                <a:lnTo>
                  <a:pt x="107419" y="143225"/>
                </a:lnTo>
                <a:close/>
                <a:moveTo>
                  <a:pt x="26855" y="107419"/>
                </a:moveTo>
                <a:cubicBezTo>
                  <a:pt x="21903" y="107419"/>
                  <a:pt x="17903" y="111419"/>
                  <a:pt x="17903" y="116370"/>
                </a:cubicBezTo>
                <a:cubicBezTo>
                  <a:pt x="17903" y="121321"/>
                  <a:pt x="21903" y="125322"/>
                  <a:pt x="26855" y="125322"/>
                </a:cubicBezTo>
                <a:lnTo>
                  <a:pt x="98467" y="125322"/>
                </a:lnTo>
                <a:lnTo>
                  <a:pt x="98467" y="107419"/>
                </a:lnTo>
                <a:lnTo>
                  <a:pt x="26855" y="107419"/>
                </a:lnTo>
                <a:close/>
                <a:moveTo>
                  <a:pt x="35806" y="42520"/>
                </a:moveTo>
                <a:cubicBezTo>
                  <a:pt x="35806" y="46240"/>
                  <a:pt x="38799" y="49233"/>
                  <a:pt x="42520" y="49233"/>
                </a:cubicBezTo>
                <a:lnTo>
                  <a:pt x="91753" y="49233"/>
                </a:lnTo>
                <a:cubicBezTo>
                  <a:pt x="95474" y="49233"/>
                  <a:pt x="98467" y="46240"/>
                  <a:pt x="98467" y="42520"/>
                </a:cubicBezTo>
                <a:cubicBezTo>
                  <a:pt x="98467" y="38799"/>
                  <a:pt x="95474" y="35806"/>
                  <a:pt x="91753" y="35806"/>
                </a:cubicBezTo>
                <a:lnTo>
                  <a:pt x="42520" y="35806"/>
                </a:lnTo>
                <a:cubicBezTo>
                  <a:pt x="38799" y="35806"/>
                  <a:pt x="35806" y="38799"/>
                  <a:pt x="35806" y="42520"/>
                </a:cubicBezTo>
                <a:close/>
                <a:moveTo>
                  <a:pt x="42520" y="62661"/>
                </a:moveTo>
                <a:cubicBezTo>
                  <a:pt x="38799" y="62661"/>
                  <a:pt x="35806" y="65654"/>
                  <a:pt x="35806" y="69374"/>
                </a:cubicBezTo>
                <a:cubicBezTo>
                  <a:pt x="35806" y="73095"/>
                  <a:pt x="38799" y="76088"/>
                  <a:pt x="42520" y="76088"/>
                </a:cubicBezTo>
                <a:lnTo>
                  <a:pt x="91753" y="76088"/>
                </a:lnTo>
                <a:cubicBezTo>
                  <a:pt x="95474" y="76088"/>
                  <a:pt x="98467" y="73095"/>
                  <a:pt x="98467" y="69374"/>
                </a:cubicBezTo>
                <a:cubicBezTo>
                  <a:pt x="98467" y="65654"/>
                  <a:pt x="95474" y="62661"/>
                  <a:pt x="91753" y="62661"/>
                </a:cubicBezTo>
                <a:lnTo>
                  <a:pt x="42520" y="62661"/>
                </a:lnTo>
                <a:close/>
              </a:path>
            </a:pathLst>
          </a:custGeom>
          <a:solidFill>
            <a:srgbClr val="C49A2C"/>
          </a:solidFill>
          <a:ln/>
        </p:spPr>
      </p:sp>
      <p:sp>
        <p:nvSpPr>
          <p:cNvPr id="55" name="Text 53"/>
          <p:cNvSpPr/>
          <p:nvPr/>
        </p:nvSpPr>
        <p:spPr>
          <a:xfrm>
            <a:off x="6539449" y="6087048"/>
            <a:ext cx="5257789" cy="429674"/>
          </a:xfrm>
          <a:prstGeom prst="rect">
            <a:avLst/>
          </a:prstGeom>
          <a:noFill/>
          <a:ln/>
        </p:spPr>
        <p:txBody>
          <a:bodyPr wrap="square" lIns="0" tIns="0" rIns="0" bIns="0" rtlCol="0" anchor="ctr"/>
          <a:lstStyle/>
          <a:p>
            <a:pPr>
              <a:lnSpc>
                <a:spcPct val="130000"/>
              </a:lnSpc>
            </a:pPr>
            <a:r>
              <a:rPr lang="en-US" sz="1128" b="1" dirty="0">
                <a:solidFill>
                  <a:srgbClr val="1E3A5F"/>
                </a:solidFill>
                <a:latin typeface="MiSans" pitchFamily="34" charset="0"/>
                <a:ea typeface="MiSans" pitchFamily="34" charset="-122"/>
                <a:cs typeface="MiSans" pitchFamily="34" charset="-120"/>
              </a:rPr>
              <a:t>Reference:</a:t>
            </a:r>
            <a:pPr>
              <a:lnSpc>
                <a:spcPct val="130000"/>
              </a:lnSpc>
            </a:pPr>
            <a:r>
              <a:rPr lang="en-US" sz="1128" dirty="0">
                <a:solidFill>
                  <a:srgbClr val="1E3A5F"/>
                </a:solidFill>
                <a:latin typeface="MiSans" pitchFamily="34" charset="0"/>
                <a:ea typeface="MiSans" pitchFamily="34" charset="-122"/>
                <a:cs typeface="MiSans" pitchFamily="34" charset="-120"/>
              </a:rPr>
              <a:t> MPI Technical Handbook, Ch. 7 — Reporting and Analysis Guidelines</a:t>
            </a:r>
            <a:endParaRPr lang="en-US" sz="16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76878" y="376878"/>
            <a:ext cx="75376" cy="452253"/>
          </a:xfrm>
          <a:custGeom>
            <a:avLst/>
            <a:gdLst/>
            <a:ahLst/>
            <a:cxnLst/>
            <a:rect l="l" t="t" r="r" b="b"/>
            <a:pathLst>
              <a:path w="75376" h="452253">
                <a:moveTo>
                  <a:pt x="0" y="0"/>
                </a:moveTo>
                <a:lnTo>
                  <a:pt x="75376" y="0"/>
                </a:lnTo>
                <a:lnTo>
                  <a:pt x="75376" y="452253"/>
                </a:lnTo>
                <a:lnTo>
                  <a:pt x="0" y="452253"/>
                </a:lnTo>
                <a:lnTo>
                  <a:pt x="0" y="0"/>
                </a:lnTo>
                <a:close/>
              </a:path>
            </a:pathLst>
          </a:custGeom>
          <a:solidFill>
            <a:srgbClr val="1E3A5F"/>
          </a:solidFill>
          <a:ln/>
        </p:spPr>
      </p:sp>
      <p:sp>
        <p:nvSpPr>
          <p:cNvPr id="3" name="Text 1"/>
          <p:cNvSpPr/>
          <p:nvPr/>
        </p:nvSpPr>
        <p:spPr>
          <a:xfrm>
            <a:off x="565317" y="433410"/>
            <a:ext cx="6859178" cy="339190"/>
          </a:xfrm>
          <a:prstGeom prst="rect">
            <a:avLst/>
          </a:prstGeom>
          <a:noFill/>
          <a:ln/>
        </p:spPr>
        <p:txBody>
          <a:bodyPr wrap="square" lIns="0" tIns="0" rIns="0" bIns="0" rtlCol="0" anchor="ctr"/>
          <a:lstStyle/>
          <a:p>
            <a:pPr>
              <a:lnSpc>
                <a:spcPct val="100000"/>
              </a:lnSpc>
            </a:pPr>
            <a:r>
              <a:rPr lang="en-US" sz="2226" b="1" dirty="0">
                <a:solidFill>
                  <a:srgbClr val="1E3A5F"/>
                </a:solidFill>
                <a:latin typeface="MiSans" pitchFamily="34" charset="0"/>
                <a:ea typeface="MiSans" pitchFamily="34" charset="-122"/>
                <a:cs typeface="MiSans" pitchFamily="34" charset="-120"/>
              </a:rPr>
              <a:t>Reference: Chapters Not Assigned in This Module</a:t>
            </a:r>
            <a:endParaRPr lang="en-US" sz="1600" dirty="0"/>
          </a:p>
        </p:txBody>
      </p:sp>
      <p:sp>
        <p:nvSpPr>
          <p:cNvPr id="4" name="Text 2"/>
          <p:cNvSpPr/>
          <p:nvPr/>
        </p:nvSpPr>
        <p:spPr>
          <a:xfrm>
            <a:off x="565317" y="904507"/>
            <a:ext cx="11325181" cy="226127"/>
          </a:xfrm>
          <a:prstGeom prst="rect">
            <a:avLst/>
          </a:prstGeom>
          <a:noFill/>
          <a:ln/>
        </p:spPr>
        <p:txBody>
          <a:bodyPr wrap="square" lIns="0" tIns="0" rIns="0" bIns="0" rtlCol="0" anchor="ctr"/>
          <a:lstStyle/>
          <a:p>
            <a:pPr>
              <a:lnSpc>
                <a:spcPct val="130000"/>
              </a:lnSpc>
            </a:pPr>
            <a:r>
              <a:rPr lang="en-US" sz="1187" dirty="0">
                <a:solidFill>
                  <a:srgbClr val="6C757D"/>
                </a:solidFill>
                <a:latin typeface="MiSans" pitchFamily="34" charset="0"/>
                <a:ea typeface="MiSans" pitchFamily="34" charset="-122"/>
                <a:cs typeface="MiSans" pitchFamily="34" charset="-120"/>
              </a:rPr>
              <a:t>Recommended for independent study</a:t>
            </a:r>
            <a:endParaRPr lang="en-US" sz="1600" dirty="0"/>
          </a:p>
        </p:txBody>
      </p:sp>
      <p:sp>
        <p:nvSpPr>
          <p:cNvPr id="5" name="Shape 3"/>
          <p:cNvSpPr/>
          <p:nvPr/>
        </p:nvSpPr>
        <p:spPr>
          <a:xfrm>
            <a:off x="376878" y="1300229"/>
            <a:ext cx="5643747" cy="1940921"/>
          </a:xfrm>
          <a:custGeom>
            <a:avLst/>
            <a:gdLst/>
            <a:ahLst/>
            <a:cxnLst/>
            <a:rect l="l" t="t" r="r" b="b"/>
            <a:pathLst>
              <a:path w="5643747" h="1940921">
                <a:moveTo>
                  <a:pt x="0" y="0"/>
                </a:moveTo>
                <a:lnTo>
                  <a:pt x="5643747" y="0"/>
                </a:lnTo>
                <a:lnTo>
                  <a:pt x="5643747" y="1940921"/>
                </a:lnTo>
                <a:lnTo>
                  <a:pt x="0" y="1940921"/>
                </a:lnTo>
                <a:lnTo>
                  <a:pt x="0" y="0"/>
                </a:lnTo>
                <a:close/>
              </a:path>
            </a:pathLst>
          </a:custGeom>
          <a:solidFill>
            <a:srgbClr val="FFFFFF"/>
          </a:solidFill>
          <a:ln/>
        </p:spPr>
      </p:sp>
      <p:sp>
        <p:nvSpPr>
          <p:cNvPr id="6" name="Shape 4"/>
          <p:cNvSpPr/>
          <p:nvPr/>
        </p:nvSpPr>
        <p:spPr>
          <a:xfrm>
            <a:off x="376878" y="1300229"/>
            <a:ext cx="5643747" cy="37688"/>
          </a:xfrm>
          <a:custGeom>
            <a:avLst/>
            <a:gdLst/>
            <a:ahLst/>
            <a:cxnLst/>
            <a:rect l="l" t="t" r="r" b="b"/>
            <a:pathLst>
              <a:path w="5643747" h="37688">
                <a:moveTo>
                  <a:pt x="0" y="0"/>
                </a:moveTo>
                <a:lnTo>
                  <a:pt x="5643747" y="0"/>
                </a:lnTo>
                <a:lnTo>
                  <a:pt x="5643747" y="37688"/>
                </a:lnTo>
                <a:lnTo>
                  <a:pt x="0" y="37688"/>
                </a:lnTo>
                <a:lnTo>
                  <a:pt x="0" y="0"/>
                </a:lnTo>
                <a:close/>
              </a:path>
            </a:pathLst>
          </a:custGeom>
          <a:solidFill>
            <a:srgbClr val="1E3A5F"/>
          </a:solidFill>
          <a:ln/>
        </p:spPr>
      </p:sp>
      <p:sp>
        <p:nvSpPr>
          <p:cNvPr id="7" name="Shape 5"/>
          <p:cNvSpPr/>
          <p:nvPr/>
        </p:nvSpPr>
        <p:spPr>
          <a:xfrm>
            <a:off x="527629" y="1469824"/>
            <a:ext cx="452253" cy="452253"/>
          </a:xfrm>
          <a:custGeom>
            <a:avLst/>
            <a:gdLst/>
            <a:ahLst/>
            <a:cxnLst/>
            <a:rect l="l" t="t" r="r" b="b"/>
            <a:pathLst>
              <a:path w="452253" h="452253">
                <a:moveTo>
                  <a:pt x="0" y="0"/>
                </a:moveTo>
                <a:lnTo>
                  <a:pt x="452253" y="0"/>
                </a:lnTo>
                <a:lnTo>
                  <a:pt x="452253" y="452253"/>
                </a:lnTo>
                <a:lnTo>
                  <a:pt x="0" y="452253"/>
                </a:lnTo>
                <a:lnTo>
                  <a:pt x="0" y="0"/>
                </a:lnTo>
                <a:close/>
              </a:path>
            </a:pathLst>
          </a:custGeom>
          <a:solidFill>
            <a:srgbClr val="1E3A5F"/>
          </a:solidFill>
          <a:ln/>
        </p:spPr>
      </p:sp>
      <p:sp>
        <p:nvSpPr>
          <p:cNvPr id="8" name="Text 6"/>
          <p:cNvSpPr/>
          <p:nvPr/>
        </p:nvSpPr>
        <p:spPr>
          <a:xfrm>
            <a:off x="480519" y="1469824"/>
            <a:ext cx="546473" cy="452253"/>
          </a:xfrm>
          <a:prstGeom prst="rect">
            <a:avLst/>
          </a:prstGeom>
          <a:noFill/>
          <a:ln/>
        </p:spPr>
        <p:txBody>
          <a:bodyPr wrap="square" lIns="0" tIns="0" rIns="0" bIns="0" rtlCol="0" anchor="ctr"/>
          <a:lstStyle/>
          <a:p>
            <a:pPr algn="ctr">
              <a:lnSpc>
                <a:spcPct val="120000"/>
              </a:lnSpc>
            </a:pPr>
            <a:r>
              <a:rPr lang="en-US" sz="1484" b="1" dirty="0">
                <a:solidFill>
                  <a:srgbClr val="F8F9FA"/>
                </a:solidFill>
                <a:latin typeface="MiSans" pitchFamily="34" charset="0"/>
                <a:ea typeface="MiSans" pitchFamily="34" charset="-122"/>
                <a:cs typeface="MiSans" pitchFamily="34" charset="-120"/>
              </a:rPr>
              <a:t>4</a:t>
            </a:r>
            <a:endParaRPr lang="en-US" sz="1600" dirty="0"/>
          </a:p>
        </p:txBody>
      </p:sp>
      <p:sp>
        <p:nvSpPr>
          <p:cNvPr id="9" name="Text 7"/>
          <p:cNvSpPr/>
          <p:nvPr/>
        </p:nvSpPr>
        <p:spPr>
          <a:xfrm>
            <a:off x="1092946" y="1564043"/>
            <a:ext cx="4682708" cy="263815"/>
          </a:xfrm>
          <a:prstGeom prst="rect">
            <a:avLst/>
          </a:prstGeom>
          <a:noFill/>
          <a:ln/>
        </p:spPr>
        <p:txBody>
          <a:bodyPr wrap="square" lIns="0" tIns="0" rIns="0" bIns="0" rtlCol="0" anchor="ctr"/>
          <a:lstStyle/>
          <a:p>
            <a:pPr>
              <a:lnSpc>
                <a:spcPct val="120000"/>
              </a:lnSpc>
            </a:pPr>
            <a:r>
              <a:rPr lang="en-US" sz="1484" b="1" dirty="0">
                <a:solidFill>
                  <a:srgbClr val="1E3A5F"/>
                </a:solidFill>
                <a:latin typeface="MiSans" pitchFamily="34" charset="0"/>
                <a:ea typeface="MiSans" pitchFamily="34" charset="-122"/>
                <a:cs typeface="MiSans" pitchFamily="34" charset="-120"/>
              </a:rPr>
              <a:t>Implementation Standards and Partnership Criteria</a:t>
            </a:r>
            <a:endParaRPr lang="en-US" sz="1600" dirty="0"/>
          </a:p>
        </p:txBody>
      </p:sp>
      <p:sp>
        <p:nvSpPr>
          <p:cNvPr id="10" name="Text 8"/>
          <p:cNvSpPr/>
          <p:nvPr/>
        </p:nvSpPr>
        <p:spPr>
          <a:xfrm>
            <a:off x="527629" y="2035141"/>
            <a:ext cx="5417620" cy="489941"/>
          </a:xfrm>
          <a:prstGeom prst="rect">
            <a:avLst/>
          </a:prstGeom>
          <a:noFill/>
          <a:ln/>
        </p:spPr>
        <p:txBody>
          <a:bodyPr wrap="square" lIns="0" tIns="0" rIns="0" bIns="0" rtlCol="0" anchor="ctr"/>
          <a:lstStyle/>
          <a:p>
            <a:pPr>
              <a:lnSpc>
                <a:spcPct val="140000"/>
              </a:lnSpc>
            </a:pPr>
            <a:r>
              <a:rPr lang="en-US" sz="1187" dirty="0">
                <a:solidFill>
                  <a:srgbClr val="2D3436"/>
                </a:solidFill>
                <a:latin typeface="MiSans" pitchFamily="34" charset="0"/>
                <a:ea typeface="MiSans" pitchFamily="34" charset="-122"/>
                <a:cs typeface="MiSans" pitchFamily="34" charset="-120"/>
              </a:rPr>
              <a:t>Covers </a:t>
            </a:r>
            <a:pPr>
              <a:lnSpc>
                <a:spcPct val="140000"/>
              </a:lnSpc>
            </a:pPr>
            <a:r>
              <a:rPr lang="en-US" sz="1187" b="1" dirty="0">
                <a:solidFill>
                  <a:srgbClr val="2D3436"/>
                </a:solidFill>
                <a:latin typeface="MiSans" pitchFamily="34" charset="0"/>
                <a:ea typeface="MiSans" pitchFamily="34" charset="-122"/>
                <a:cs typeface="MiSans" pitchFamily="34" charset="-120"/>
              </a:rPr>
              <a:t>minimum implementation requirements</a:t>
            </a:r>
            <a:pPr>
              <a:lnSpc>
                <a:spcPct val="140000"/>
              </a:lnSpc>
            </a:pPr>
            <a:r>
              <a:rPr lang="en-US" sz="1187" dirty="0">
                <a:solidFill>
                  <a:srgbClr val="2D3436"/>
                </a:solidFill>
                <a:latin typeface="MiSans" pitchFamily="34" charset="0"/>
                <a:ea typeface="MiSans" pitchFamily="34" charset="-122"/>
                <a:cs typeface="MiSans" pitchFamily="34" charset="-120"/>
              </a:rPr>
              <a:t>, what Meridian provides to partner schools, and the implementation quality scoring system.</a:t>
            </a:r>
            <a:endParaRPr lang="en-US" sz="1600" dirty="0"/>
          </a:p>
        </p:txBody>
      </p:sp>
      <p:sp>
        <p:nvSpPr>
          <p:cNvPr id="11" name="Shape 9"/>
          <p:cNvSpPr/>
          <p:nvPr/>
        </p:nvSpPr>
        <p:spPr>
          <a:xfrm>
            <a:off x="527629" y="2638145"/>
            <a:ext cx="5342244" cy="452253"/>
          </a:xfrm>
          <a:custGeom>
            <a:avLst/>
            <a:gdLst/>
            <a:ahLst/>
            <a:cxnLst/>
            <a:rect l="l" t="t" r="r" b="b"/>
            <a:pathLst>
              <a:path w="5342244" h="452253">
                <a:moveTo>
                  <a:pt x="0" y="0"/>
                </a:moveTo>
                <a:lnTo>
                  <a:pt x="5342244" y="0"/>
                </a:lnTo>
                <a:lnTo>
                  <a:pt x="5342244" y="452253"/>
                </a:lnTo>
                <a:lnTo>
                  <a:pt x="0" y="452253"/>
                </a:lnTo>
                <a:lnTo>
                  <a:pt x="0" y="0"/>
                </a:lnTo>
                <a:close/>
              </a:path>
            </a:pathLst>
          </a:custGeom>
          <a:solidFill>
            <a:srgbClr val="F8F9FA"/>
          </a:solidFill>
          <a:ln/>
        </p:spPr>
      </p:sp>
      <p:sp>
        <p:nvSpPr>
          <p:cNvPr id="12" name="Shape 10"/>
          <p:cNvSpPr/>
          <p:nvPr/>
        </p:nvSpPr>
        <p:spPr>
          <a:xfrm>
            <a:off x="668958" y="2793607"/>
            <a:ext cx="131907" cy="150751"/>
          </a:xfrm>
          <a:custGeom>
            <a:avLst/>
            <a:gdLst/>
            <a:ahLst/>
            <a:cxnLst/>
            <a:rect l="l" t="t" r="r" b="b"/>
            <a:pathLst>
              <a:path w="131907" h="150751">
                <a:moveTo>
                  <a:pt x="65954" y="73020"/>
                </a:moveTo>
                <a:cubicBezTo>
                  <a:pt x="46453" y="73020"/>
                  <a:pt x="30621" y="57188"/>
                  <a:pt x="30621" y="37688"/>
                </a:cubicBezTo>
                <a:cubicBezTo>
                  <a:pt x="30621" y="18187"/>
                  <a:pt x="46453" y="2355"/>
                  <a:pt x="65954" y="2355"/>
                </a:cubicBezTo>
                <a:cubicBezTo>
                  <a:pt x="85454" y="2355"/>
                  <a:pt x="101286" y="18187"/>
                  <a:pt x="101286" y="37688"/>
                </a:cubicBezTo>
                <a:cubicBezTo>
                  <a:pt x="101286" y="57188"/>
                  <a:pt x="85454" y="73020"/>
                  <a:pt x="65954" y="73020"/>
                </a:cubicBezTo>
                <a:close/>
                <a:moveTo>
                  <a:pt x="56973" y="89509"/>
                </a:moveTo>
                <a:lnTo>
                  <a:pt x="74934" y="89509"/>
                </a:lnTo>
                <a:cubicBezTo>
                  <a:pt x="77790" y="89509"/>
                  <a:pt x="80087" y="91805"/>
                  <a:pt x="80087" y="94661"/>
                </a:cubicBezTo>
                <a:cubicBezTo>
                  <a:pt x="80087" y="95898"/>
                  <a:pt x="79645" y="97076"/>
                  <a:pt x="78850" y="98018"/>
                </a:cubicBezTo>
                <a:lnTo>
                  <a:pt x="70782" y="107440"/>
                </a:lnTo>
                <a:lnTo>
                  <a:pt x="79910" y="141329"/>
                </a:lnTo>
                <a:lnTo>
                  <a:pt x="80087" y="141329"/>
                </a:lnTo>
                <a:lnTo>
                  <a:pt x="90274" y="100550"/>
                </a:lnTo>
                <a:cubicBezTo>
                  <a:pt x="90922" y="97988"/>
                  <a:pt x="93542" y="96428"/>
                  <a:pt x="96016" y="97370"/>
                </a:cubicBezTo>
                <a:cubicBezTo>
                  <a:pt x="114241" y="104319"/>
                  <a:pt x="127196" y="121985"/>
                  <a:pt x="127196" y="142654"/>
                </a:cubicBezTo>
                <a:cubicBezTo>
                  <a:pt x="127196" y="147100"/>
                  <a:pt x="123575" y="150722"/>
                  <a:pt x="119129" y="150722"/>
                </a:cubicBezTo>
                <a:lnTo>
                  <a:pt x="12779" y="150751"/>
                </a:lnTo>
                <a:cubicBezTo>
                  <a:pt x="8333" y="150751"/>
                  <a:pt x="4711" y="147130"/>
                  <a:pt x="4711" y="142684"/>
                </a:cubicBezTo>
                <a:cubicBezTo>
                  <a:pt x="4711" y="122014"/>
                  <a:pt x="17666" y="104348"/>
                  <a:pt x="35892" y="97399"/>
                </a:cubicBezTo>
                <a:cubicBezTo>
                  <a:pt x="38365" y="96457"/>
                  <a:pt x="40985" y="98018"/>
                  <a:pt x="41633" y="100579"/>
                </a:cubicBezTo>
                <a:lnTo>
                  <a:pt x="51821" y="141359"/>
                </a:lnTo>
                <a:lnTo>
                  <a:pt x="51997" y="141359"/>
                </a:lnTo>
                <a:lnTo>
                  <a:pt x="61125" y="107469"/>
                </a:lnTo>
                <a:lnTo>
                  <a:pt x="53057" y="98047"/>
                </a:lnTo>
                <a:cubicBezTo>
                  <a:pt x="52262" y="97105"/>
                  <a:pt x="51821" y="95927"/>
                  <a:pt x="51821" y="94691"/>
                </a:cubicBezTo>
                <a:cubicBezTo>
                  <a:pt x="51821" y="91835"/>
                  <a:pt x="54117" y="89538"/>
                  <a:pt x="56973" y="89538"/>
                </a:cubicBezTo>
                <a:close/>
              </a:path>
            </a:pathLst>
          </a:custGeom>
          <a:solidFill>
            <a:srgbClr val="C49A2C"/>
          </a:solidFill>
          <a:ln/>
        </p:spPr>
      </p:sp>
      <p:sp>
        <p:nvSpPr>
          <p:cNvPr id="13" name="Text 11"/>
          <p:cNvSpPr/>
          <p:nvPr/>
        </p:nvSpPr>
        <p:spPr>
          <a:xfrm>
            <a:off x="885051" y="2751209"/>
            <a:ext cx="4947134" cy="226127"/>
          </a:xfrm>
          <a:prstGeom prst="rect">
            <a:avLst/>
          </a:prstGeom>
          <a:noFill/>
          <a:ln/>
        </p:spPr>
        <p:txBody>
          <a:bodyPr wrap="square" lIns="0" tIns="0" rIns="0" bIns="0" rtlCol="0" anchor="ctr"/>
          <a:lstStyle/>
          <a:p>
            <a:pPr>
              <a:lnSpc>
                <a:spcPct val="130000"/>
              </a:lnSpc>
            </a:pPr>
            <a:r>
              <a:rPr lang="en-US" sz="1187" b="1" dirty="0">
                <a:solidFill>
                  <a:srgbClr val="1E3A5F"/>
                </a:solidFill>
                <a:latin typeface="MiSans" pitchFamily="34" charset="0"/>
                <a:ea typeface="MiSans" pitchFamily="34" charset="-122"/>
                <a:cs typeface="MiSans" pitchFamily="34" charset="-120"/>
              </a:rPr>
              <a:t>Essential for:</a:t>
            </a:r>
            <a:pPr>
              <a:lnSpc>
                <a:spcPct val="130000"/>
              </a:lnSpc>
            </a:pPr>
            <a:r>
              <a:rPr lang="en-US" sz="1187" dirty="0">
                <a:solidFill>
                  <a:srgbClr val="1E3A5F"/>
                </a:solidFill>
                <a:latin typeface="MiSans" pitchFamily="34" charset="0"/>
                <a:ea typeface="MiSans" pitchFamily="34" charset="-122"/>
                <a:cs typeface="MiSans" pitchFamily="34" charset="-120"/>
              </a:rPr>
              <a:t> Staff involved in school onboarding and audit</a:t>
            </a:r>
            <a:endParaRPr lang="en-US" sz="1600" dirty="0"/>
          </a:p>
        </p:txBody>
      </p:sp>
      <p:sp>
        <p:nvSpPr>
          <p:cNvPr id="14" name="Shape 12"/>
          <p:cNvSpPr/>
          <p:nvPr/>
        </p:nvSpPr>
        <p:spPr>
          <a:xfrm>
            <a:off x="376878" y="3373057"/>
            <a:ext cx="5643747" cy="1940921"/>
          </a:xfrm>
          <a:custGeom>
            <a:avLst/>
            <a:gdLst/>
            <a:ahLst/>
            <a:cxnLst/>
            <a:rect l="l" t="t" r="r" b="b"/>
            <a:pathLst>
              <a:path w="5643747" h="1940921">
                <a:moveTo>
                  <a:pt x="0" y="0"/>
                </a:moveTo>
                <a:lnTo>
                  <a:pt x="5643747" y="0"/>
                </a:lnTo>
                <a:lnTo>
                  <a:pt x="5643747" y="1940921"/>
                </a:lnTo>
                <a:lnTo>
                  <a:pt x="0" y="1940921"/>
                </a:lnTo>
                <a:lnTo>
                  <a:pt x="0" y="0"/>
                </a:lnTo>
                <a:close/>
              </a:path>
            </a:pathLst>
          </a:custGeom>
          <a:solidFill>
            <a:srgbClr val="FFFFFF"/>
          </a:solidFill>
          <a:ln/>
        </p:spPr>
      </p:sp>
      <p:sp>
        <p:nvSpPr>
          <p:cNvPr id="15" name="Shape 13"/>
          <p:cNvSpPr/>
          <p:nvPr/>
        </p:nvSpPr>
        <p:spPr>
          <a:xfrm>
            <a:off x="376878" y="3373057"/>
            <a:ext cx="5643747" cy="37688"/>
          </a:xfrm>
          <a:custGeom>
            <a:avLst/>
            <a:gdLst/>
            <a:ahLst/>
            <a:cxnLst/>
            <a:rect l="l" t="t" r="r" b="b"/>
            <a:pathLst>
              <a:path w="5643747" h="37688">
                <a:moveTo>
                  <a:pt x="0" y="0"/>
                </a:moveTo>
                <a:lnTo>
                  <a:pt x="5643747" y="0"/>
                </a:lnTo>
                <a:lnTo>
                  <a:pt x="5643747" y="37688"/>
                </a:lnTo>
                <a:lnTo>
                  <a:pt x="0" y="37688"/>
                </a:lnTo>
                <a:lnTo>
                  <a:pt x="0" y="0"/>
                </a:lnTo>
                <a:close/>
              </a:path>
            </a:pathLst>
          </a:custGeom>
          <a:solidFill>
            <a:srgbClr val="C49A2C"/>
          </a:solidFill>
          <a:ln/>
        </p:spPr>
      </p:sp>
      <p:sp>
        <p:nvSpPr>
          <p:cNvPr id="16" name="Shape 14"/>
          <p:cNvSpPr/>
          <p:nvPr/>
        </p:nvSpPr>
        <p:spPr>
          <a:xfrm>
            <a:off x="527629" y="3542652"/>
            <a:ext cx="452253" cy="452253"/>
          </a:xfrm>
          <a:custGeom>
            <a:avLst/>
            <a:gdLst/>
            <a:ahLst/>
            <a:cxnLst/>
            <a:rect l="l" t="t" r="r" b="b"/>
            <a:pathLst>
              <a:path w="452253" h="452253">
                <a:moveTo>
                  <a:pt x="0" y="0"/>
                </a:moveTo>
                <a:lnTo>
                  <a:pt x="452253" y="0"/>
                </a:lnTo>
                <a:lnTo>
                  <a:pt x="452253" y="452253"/>
                </a:lnTo>
                <a:lnTo>
                  <a:pt x="0" y="452253"/>
                </a:lnTo>
                <a:lnTo>
                  <a:pt x="0" y="0"/>
                </a:lnTo>
                <a:close/>
              </a:path>
            </a:pathLst>
          </a:custGeom>
          <a:solidFill>
            <a:srgbClr val="C49A2C"/>
          </a:solidFill>
          <a:ln/>
        </p:spPr>
      </p:sp>
      <p:sp>
        <p:nvSpPr>
          <p:cNvPr id="17" name="Text 15"/>
          <p:cNvSpPr/>
          <p:nvPr/>
        </p:nvSpPr>
        <p:spPr>
          <a:xfrm>
            <a:off x="480519" y="3542652"/>
            <a:ext cx="546473" cy="452253"/>
          </a:xfrm>
          <a:prstGeom prst="rect">
            <a:avLst/>
          </a:prstGeom>
          <a:noFill/>
          <a:ln/>
        </p:spPr>
        <p:txBody>
          <a:bodyPr wrap="square" lIns="0" tIns="0" rIns="0" bIns="0" rtlCol="0" anchor="ctr"/>
          <a:lstStyle/>
          <a:p>
            <a:pPr algn="ctr">
              <a:lnSpc>
                <a:spcPct val="120000"/>
              </a:lnSpc>
            </a:pPr>
            <a:r>
              <a:rPr lang="en-US" sz="1484" b="1" dirty="0">
                <a:solidFill>
                  <a:srgbClr val="F8F9FA"/>
                </a:solidFill>
                <a:latin typeface="MiSans" pitchFamily="34" charset="0"/>
                <a:ea typeface="MiSans" pitchFamily="34" charset="-122"/>
                <a:cs typeface="MiSans" pitchFamily="34" charset="-120"/>
              </a:rPr>
              <a:t>5</a:t>
            </a:r>
            <a:endParaRPr lang="en-US" sz="1600" dirty="0"/>
          </a:p>
        </p:txBody>
      </p:sp>
      <p:sp>
        <p:nvSpPr>
          <p:cNvPr id="18" name="Text 16"/>
          <p:cNvSpPr/>
          <p:nvPr/>
        </p:nvSpPr>
        <p:spPr>
          <a:xfrm>
            <a:off x="1092946" y="3636872"/>
            <a:ext cx="2393175" cy="263815"/>
          </a:xfrm>
          <a:prstGeom prst="rect">
            <a:avLst/>
          </a:prstGeom>
          <a:noFill/>
          <a:ln/>
        </p:spPr>
        <p:txBody>
          <a:bodyPr wrap="square" lIns="0" tIns="0" rIns="0" bIns="0" rtlCol="0" anchor="ctr"/>
          <a:lstStyle/>
          <a:p>
            <a:pPr>
              <a:lnSpc>
                <a:spcPct val="120000"/>
              </a:lnSpc>
            </a:pPr>
            <a:r>
              <a:rPr lang="en-US" sz="1484" b="1" dirty="0">
                <a:solidFill>
                  <a:srgbClr val="1E3A5F"/>
                </a:solidFill>
                <a:latin typeface="MiSans" pitchFamily="34" charset="0"/>
                <a:ea typeface="MiSans" pitchFamily="34" charset="-122"/>
                <a:cs typeface="MiSans" pitchFamily="34" charset="-120"/>
              </a:rPr>
              <a:t>Data Collection Protocols</a:t>
            </a:r>
            <a:endParaRPr lang="en-US" sz="1600" dirty="0"/>
          </a:p>
        </p:txBody>
      </p:sp>
      <p:sp>
        <p:nvSpPr>
          <p:cNvPr id="19" name="Text 17"/>
          <p:cNvSpPr/>
          <p:nvPr/>
        </p:nvSpPr>
        <p:spPr>
          <a:xfrm>
            <a:off x="527629" y="4107969"/>
            <a:ext cx="5417620" cy="489941"/>
          </a:xfrm>
          <a:prstGeom prst="rect">
            <a:avLst/>
          </a:prstGeom>
          <a:noFill/>
          <a:ln/>
        </p:spPr>
        <p:txBody>
          <a:bodyPr wrap="square" lIns="0" tIns="0" rIns="0" bIns="0" rtlCol="0" anchor="ctr"/>
          <a:lstStyle/>
          <a:p>
            <a:pPr>
              <a:lnSpc>
                <a:spcPct val="140000"/>
              </a:lnSpc>
            </a:pPr>
            <a:r>
              <a:rPr lang="en-US" sz="1187" dirty="0">
                <a:solidFill>
                  <a:srgbClr val="2D3436"/>
                </a:solidFill>
                <a:latin typeface="MiSans" pitchFamily="34" charset="0"/>
                <a:ea typeface="MiSans" pitchFamily="34" charset="-122"/>
                <a:cs typeface="MiSans" pitchFamily="34" charset="-120"/>
              </a:rPr>
              <a:t>Covers the </a:t>
            </a:r>
            <a:pPr>
              <a:lnSpc>
                <a:spcPct val="140000"/>
              </a:lnSpc>
            </a:pPr>
            <a:r>
              <a:rPr lang="en-US" sz="1187" b="1" dirty="0">
                <a:solidFill>
                  <a:srgbClr val="2D3436"/>
                </a:solidFill>
                <a:latin typeface="MiSans" pitchFamily="34" charset="0"/>
                <a:ea typeface="MiSans" pitchFamily="34" charset="-122"/>
                <a:cs typeface="MiSans" pitchFamily="34" charset="-120"/>
              </a:rPr>
              <a:t>specific data submission requirements</a:t>
            </a:r>
            <a:pPr>
              <a:lnSpc>
                <a:spcPct val="140000"/>
              </a:lnSpc>
            </a:pPr>
            <a:r>
              <a:rPr lang="en-US" sz="1187" dirty="0">
                <a:solidFill>
                  <a:srgbClr val="2D3436"/>
                </a:solidFill>
                <a:latin typeface="MiSans" pitchFamily="34" charset="0"/>
                <a:ea typeface="MiSans" pitchFamily="34" charset="-122"/>
                <a:cs typeface="MiSans" pitchFamily="34" charset="-120"/>
              </a:rPr>
              <a:t>, validation procedures, and consequences of incomplete or late submission.</a:t>
            </a:r>
            <a:endParaRPr lang="en-US" sz="1600" dirty="0"/>
          </a:p>
        </p:txBody>
      </p:sp>
      <p:sp>
        <p:nvSpPr>
          <p:cNvPr id="20" name="Shape 18"/>
          <p:cNvSpPr/>
          <p:nvPr/>
        </p:nvSpPr>
        <p:spPr>
          <a:xfrm>
            <a:off x="527629" y="4710974"/>
            <a:ext cx="5342244" cy="452253"/>
          </a:xfrm>
          <a:custGeom>
            <a:avLst/>
            <a:gdLst/>
            <a:ahLst/>
            <a:cxnLst/>
            <a:rect l="l" t="t" r="r" b="b"/>
            <a:pathLst>
              <a:path w="5342244" h="452253">
                <a:moveTo>
                  <a:pt x="0" y="0"/>
                </a:moveTo>
                <a:lnTo>
                  <a:pt x="5342244" y="0"/>
                </a:lnTo>
                <a:lnTo>
                  <a:pt x="5342244" y="452253"/>
                </a:lnTo>
                <a:lnTo>
                  <a:pt x="0" y="452253"/>
                </a:lnTo>
                <a:lnTo>
                  <a:pt x="0" y="0"/>
                </a:lnTo>
                <a:close/>
              </a:path>
            </a:pathLst>
          </a:custGeom>
          <a:solidFill>
            <a:srgbClr val="F8F9FA"/>
          </a:solidFill>
          <a:ln/>
        </p:spPr>
      </p:sp>
      <p:sp>
        <p:nvSpPr>
          <p:cNvPr id="21" name="Shape 19"/>
          <p:cNvSpPr/>
          <p:nvPr/>
        </p:nvSpPr>
        <p:spPr>
          <a:xfrm>
            <a:off x="668958" y="4866436"/>
            <a:ext cx="131907" cy="150751"/>
          </a:xfrm>
          <a:custGeom>
            <a:avLst/>
            <a:gdLst/>
            <a:ahLst/>
            <a:cxnLst/>
            <a:rect l="l" t="t" r="r" b="b"/>
            <a:pathLst>
              <a:path w="131907" h="150751">
                <a:moveTo>
                  <a:pt x="131907" y="60595"/>
                </a:moveTo>
                <a:cubicBezTo>
                  <a:pt x="127550" y="63480"/>
                  <a:pt x="122544" y="65806"/>
                  <a:pt x="117333" y="67661"/>
                </a:cubicBezTo>
                <a:cubicBezTo>
                  <a:pt x="103494" y="72608"/>
                  <a:pt x="85328" y="75376"/>
                  <a:pt x="65954" y="75376"/>
                </a:cubicBezTo>
                <a:cubicBezTo>
                  <a:pt x="46580" y="75376"/>
                  <a:pt x="28384" y="72578"/>
                  <a:pt x="14575" y="67661"/>
                </a:cubicBezTo>
                <a:cubicBezTo>
                  <a:pt x="9393" y="65806"/>
                  <a:pt x="4358" y="63480"/>
                  <a:pt x="0" y="60595"/>
                </a:cubicBezTo>
                <a:lnTo>
                  <a:pt x="0" y="84798"/>
                </a:lnTo>
                <a:cubicBezTo>
                  <a:pt x="0" y="97812"/>
                  <a:pt x="29532" y="108352"/>
                  <a:pt x="65954" y="108352"/>
                </a:cubicBezTo>
                <a:cubicBezTo>
                  <a:pt x="102375" y="108352"/>
                  <a:pt x="131907" y="97812"/>
                  <a:pt x="131907" y="84798"/>
                </a:cubicBezTo>
                <a:lnTo>
                  <a:pt x="131907" y="60595"/>
                </a:lnTo>
                <a:close/>
                <a:moveTo>
                  <a:pt x="131907" y="37688"/>
                </a:moveTo>
                <a:lnTo>
                  <a:pt x="131907" y="23555"/>
                </a:lnTo>
                <a:cubicBezTo>
                  <a:pt x="131907" y="10541"/>
                  <a:pt x="102375" y="0"/>
                  <a:pt x="65954" y="0"/>
                </a:cubicBezTo>
                <a:cubicBezTo>
                  <a:pt x="29532" y="0"/>
                  <a:pt x="0" y="10541"/>
                  <a:pt x="0" y="23555"/>
                </a:cubicBezTo>
                <a:lnTo>
                  <a:pt x="0" y="37688"/>
                </a:lnTo>
                <a:cubicBezTo>
                  <a:pt x="0" y="50702"/>
                  <a:pt x="29532" y="61243"/>
                  <a:pt x="65954" y="61243"/>
                </a:cubicBezTo>
                <a:cubicBezTo>
                  <a:pt x="102375" y="61243"/>
                  <a:pt x="131907" y="50702"/>
                  <a:pt x="131907" y="37688"/>
                </a:cubicBezTo>
                <a:close/>
                <a:moveTo>
                  <a:pt x="117333" y="114771"/>
                </a:moveTo>
                <a:cubicBezTo>
                  <a:pt x="103524" y="119688"/>
                  <a:pt x="85357" y="122485"/>
                  <a:pt x="65954" y="122485"/>
                </a:cubicBezTo>
                <a:cubicBezTo>
                  <a:pt x="46550" y="122485"/>
                  <a:pt x="28384" y="119688"/>
                  <a:pt x="14575" y="114771"/>
                </a:cubicBezTo>
                <a:cubicBezTo>
                  <a:pt x="9393" y="112916"/>
                  <a:pt x="4358" y="110590"/>
                  <a:pt x="0" y="107705"/>
                </a:cubicBezTo>
                <a:lnTo>
                  <a:pt x="0" y="127196"/>
                </a:lnTo>
                <a:cubicBezTo>
                  <a:pt x="0" y="140210"/>
                  <a:pt x="29532" y="150751"/>
                  <a:pt x="65954" y="150751"/>
                </a:cubicBezTo>
                <a:cubicBezTo>
                  <a:pt x="102375" y="150751"/>
                  <a:pt x="131907" y="140210"/>
                  <a:pt x="131907" y="127196"/>
                </a:cubicBezTo>
                <a:lnTo>
                  <a:pt x="131907" y="107705"/>
                </a:lnTo>
                <a:cubicBezTo>
                  <a:pt x="127550" y="110590"/>
                  <a:pt x="122544" y="112916"/>
                  <a:pt x="117333" y="114771"/>
                </a:cubicBezTo>
                <a:close/>
              </a:path>
            </a:pathLst>
          </a:custGeom>
          <a:solidFill>
            <a:srgbClr val="C49A2C"/>
          </a:solidFill>
          <a:ln/>
        </p:spPr>
      </p:sp>
      <p:sp>
        <p:nvSpPr>
          <p:cNvPr id="22" name="Text 20"/>
          <p:cNvSpPr/>
          <p:nvPr/>
        </p:nvSpPr>
        <p:spPr>
          <a:xfrm>
            <a:off x="885051" y="4824037"/>
            <a:ext cx="4947134" cy="226127"/>
          </a:xfrm>
          <a:prstGeom prst="rect">
            <a:avLst/>
          </a:prstGeom>
          <a:noFill/>
          <a:ln/>
        </p:spPr>
        <p:txBody>
          <a:bodyPr wrap="square" lIns="0" tIns="0" rIns="0" bIns="0" rtlCol="0" anchor="ctr"/>
          <a:lstStyle/>
          <a:p>
            <a:pPr>
              <a:lnSpc>
                <a:spcPct val="130000"/>
              </a:lnSpc>
            </a:pPr>
            <a:r>
              <a:rPr lang="en-US" sz="1187" b="1" dirty="0">
                <a:solidFill>
                  <a:srgbClr val="1E3A5F"/>
                </a:solidFill>
                <a:latin typeface="MiSans" pitchFamily="34" charset="0"/>
                <a:ea typeface="MiSans" pitchFamily="34" charset="-122"/>
                <a:cs typeface="MiSans" pitchFamily="34" charset="-120"/>
              </a:rPr>
              <a:t>Essential for:</a:t>
            </a:r>
            <a:pPr>
              <a:lnSpc>
                <a:spcPct val="130000"/>
              </a:lnSpc>
            </a:pPr>
            <a:r>
              <a:rPr lang="en-US" sz="1187" dirty="0">
                <a:solidFill>
                  <a:srgbClr val="1E3A5F"/>
                </a:solidFill>
                <a:latin typeface="MiSans" pitchFamily="34" charset="0"/>
                <a:ea typeface="MiSans" pitchFamily="34" charset="-122"/>
                <a:cs typeface="MiSans" pitchFamily="34" charset="-120"/>
              </a:rPr>
              <a:t> Staff working directly with school data</a:t>
            </a:r>
            <a:endParaRPr lang="en-US" sz="1600" dirty="0"/>
          </a:p>
        </p:txBody>
      </p:sp>
      <p:sp>
        <p:nvSpPr>
          <p:cNvPr id="23" name="Shape 21"/>
          <p:cNvSpPr/>
          <p:nvPr/>
        </p:nvSpPr>
        <p:spPr>
          <a:xfrm>
            <a:off x="6172475" y="1300229"/>
            <a:ext cx="5643747" cy="1940921"/>
          </a:xfrm>
          <a:custGeom>
            <a:avLst/>
            <a:gdLst/>
            <a:ahLst/>
            <a:cxnLst/>
            <a:rect l="l" t="t" r="r" b="b"/>
            <a:pathLst>
              <a:path w="5643747" h="1940921">
                <a:moveTo>
                  <a:pt x="0" y="0"/>
                </a:moveTo>
                <a:lnTo>
                  <a:pt x="5643747" y="0"/>
                </a:lnTo>
                <a:lnTo>
                  <a:pt x="5643747" y="1940921"/>
                </a:lnTo>
                <a:lnTo>
                  <a:pt x="0" y="1940921"/>
                </a:lnTo>
                <a:lnTo>
                  <a:pt x="0" y="0"/>
                </a:lnTo>
                <a:close/>
              </a:path>
            </a:pathLst>
          </a:custGeom>
          <a:solidFill>
            <a:srgbClr val="FFFFFF"/>
          </a:solidFill>
          <a:ln/>
        </p:spPr>
      </p:sp>
      <p:sp>
        <p:nvSpPr>
          <p:cNvPr id="24" name="Shape 22"/>
          <p:cNvSpPr/>
          <p:nvPr/>
        </p:nvSpPr>
        <p:spPr>
          <a:xfrm>
            <a:off x="6172475" y="1300229"/>
            <a:ext cx="5643747" cy="37688"/>
          </a:xfrm>
          <a:custGeom>
            <a:avLst/>
            <a:gdLst/>
            <a:ahLst/>
            <a:cxnLst/>
            <a:rect l="l" t="t" r="r" b="b"/>
            <a:pathLst>
              <a:path w="5643747" h="37688">
                <a:moveTo>
                  <a:pt x="0" y="0"/>
                </a:moveTo>
                <a:lnTo>
                  <a:pt x="5643747" y="0"/>
                </a:lnTo>
                <a:lnTo>
                  <a:pt x="5643747" y="37688"/>
                </a:lnTo>
                <a:lnTo>
                  <a:pt x="0" y="37688"/>
                </a:lnTo>
                <a:lnTo>
                  <a:pt x="0" y="0"/>
                </a:lnTo>
                <a:close/>
              </a:path>
            </a:pathLst>
          </a:custGeom>
          <a:solidFill>
            <a:srgbClr val="1E3A5F"/>
          </a:solidFill>
          <a:ln/>
        </p:spPr>
      </p:sp>
      <p:sp>
        <p:nvSpPr>
          <p:cNvPr id="25" name="Shape 23"/>
          <p:cNvSpPr/>
          <p:nvPr/>
        </p:nvSpPr>
        <p:spPr>
          <a:xfrm>
            <a:off x="6323226" y="1469824"/>
            <a:ext cx="452253" cy="452253"/>
          </a:xfrm>
          <a:custGeom>
            <a:avLst/>
            <a:gdLst/>
            <a:ahLst/>
            <a:cxnLst/>
            <a:rect l="l" t="t" r="r" b="b"/>
            <a:pathLst>
              <a:path w="452253" h="452253">
                <a:moveTo>
                  <a:pt x="0" y="0"/>
                </a:moveTo>
                <a:lnTo>
                  <a:pt x="452253" y="0"/>
                </a:lnTo>
                <a:lnTo>
                  <a:pt x="452253" y="452253"/>
                </a:lnTo>
                <a:lnTo>
                  <a:pt x="0" y="452253"/>
                </a:lnTo>
                <a:lnTo>
                  <a:pt x="0" y="0"/>
                </a:lnTo>
                <a:close/>
              </a:path>
            </a:pathLst>
          </a:custGeom>
          <a:solidFill>
            <a:srgbClr val="1E3A5F"/>
          </a:solidFill>
          <a:ln/>
        </p:spPr>
      </p:sp>
      <p:sp>
        <p:nvSpPr>
          <p:cNvPr id="26" name="Text 24"/>
          <p:cNvSpPr/>
          <p:nvPr/>
        </p:nvSpPr>
        <p:spPr>
          <a:xfrm>
            <a:off x="6276117" y="1469824"/>
            <a:ext cx="546473" cy="452253"/>
          </a:xfrm>
          <a:prstGeom prst="rect">
            <a:avLst/>
          </a:prstGeom>
          <a:noFill/>
          <a:ln/>
        </p:spPr>
        <p:txBody>
          <a:bodyPr wrap="square" lIns="0" tIns="0" rIns="0" bIns="0" rtlCol="0" anchor="ctr"/>
          <a:lstStyle/>
          <a:p>
            <a:pPr algn="ctr">
              <a:lnSpc>
                <a:spcPct val="120000"/>
              </a:lnSpc>
            </a:pPr>
            <a:r>
              <a:rPr lang="en-US" sz="1484" b="1" dirty="0">
                <a:solidFill>
                  <a:srgbClr val="F8F9FA"/>
                </a:solidFill>
                <a:latin typeface="MiSans" pitchFamily="34" charset="0"/>
                <a:ea typeface="MiSans" pitchFamily="34" charset="-122"/>
                <a:cs typeface="MiSans" pitchFamily="34" charset="-120"/>
              </a:rPr>
              <a:t>8</a:t>
            </a:r>
            <a:endParaRPr lang="en-US" sz="1600" dirty="0"/>
          </a:p>
        </p:txBody>
      </p:sp>
      <p:sp>
        <p:nvSpPr>
          <p:cNvPr id="27" name="Text 25"/>
          <p:cNvSpPr/>
          <p:nvPr/>
        </p:nvSpPr>
        <p:spPr>
          <a:xfrm>
            <a:off x="6888543" y="1564043"/>
            <a:ext cx="2807740" cy="263815"/>
          </a:xfrm>
          <a:prstGeom prst="rect">
            <a:avLst/>
          </a:prstGeom>
          <a:noFill/>
          <a:ln/>
        </p:spPr>
        <p:txBody>
          <a:bodyPr wrap="square" lIns="0" tIns="0" rIns="0" bIns="0" rtlCol="0" anchor="ctr"/>
          <a:lstStyle/>
          <a:p>
            <a:pPr>
              <a:lnSpc>
                <a:spcPct val="120000"/>
              </a:lnSpc>
            </a:pPr>
            <a:r>
              <a:rPr lang="en-US" sz="1484" b="1" dirty="0">
                <a:solidFill>
                  <a:srgbClr val="1E3A5F"/>
                </a:solidFill>
                <a:latin typeface="MiSans" pitchFamily="34" charset="0"/>
                <a:ea typeface="MiSans" pitchFamily="34" charset="-122"/>
                <a:cs typeface="MiSans" pitchFamily="34" charset="-120"/>
              </a:rPr>
              <a:t>Quality Assurance Procedures</a:t>
            </a:r>
            <a:endParaRPr lang="en-US" sz="1600" dirty="0"/>
          </a:p>
        </p:txBody>
      </p:sp>
      <p:sp>
        <p:nvSpPr>
          <p:cNvPr id="28" name="Text 26"/>
          <p:cNvSpPr/>
          <p:nvPr/>
        </p:nvSpPr>
        <p:spPr>
          <a:xfrm>
            <a:off x="6323226" y="2035141"/>
            <a:ext cx="5417620" cy="489941"/>
          </a:xfrm>
          <a:prstGeom prst="rect">
            <a:avLst/>
          </a:prstGeom>
          <a:noFill/>
          <a:ln/>
        </p:spPr>
        <p:txBody>
          <a:bodyPr wrap="square" lIns="0" tIns="0" rIns="0" bIns="0" rtlCol="0" anchor="ctr"/>
          <a:lstStyle/>
          <a:p>
            <a:pPr>
              <a:lnSpc>
                <a:spcPct val="140000"/>
              </a:lnSpc>
            </a:pPr>
            <a:r>
              <a:rPr lang="en-US" sz="1187" dirty="0">
                <a:solidFill>
                  <a:srgbClr val="2D3436"/>
                </a:solidFill>
                <a:latin typeface="MiSans" pitchFamily="34" charset="0"/>
                <a:ea typeface="MiSans" pitchFamily="34" charset="-122"/>
                <a:cs typeface="MiSans" pitchFamily="34" charset="-120"/>
              </a:rPr>
              <a:t>Covers </a:t>
            </a:r>
            <a:pPr>
              <a:lnSpc>
                <a:spcPct val="140000"/>
              </a:lnSpc>
            </a:pPr>
            <a:r>
              <a:rPr lang="en-US" sz="1187" b="1" dirty="0">
                <a:solidFill>
                  <a:srgbClr val="2D3436"/>
                </a:solidFill>
                <a:latin typeface="MiSans" pitchFamily="34" charset="0"/>
                <a:ea typeface="MiSans" pitchFamily="34" charset="-122"/>
                <a:cs typeface="MiSans" pitchFamily="34" charset="-120"/>
              </a:rPr>
              <a:t>school-level and data-level quality assurance processes</a:t>
            </a:r>
            <a:pPr>
              <a:lnSpc>
                <a:spcPct val="140000"/>
              </a:lnSpc>
            </a:pPr>
            <a:r>
              <a:rPr lang="en-US" sz="1187" dirty="0">
                <a:solidFill>
                  <a:srgbClr val="2D3436"/>
                </a:solidFill>
                <a:latin typeface="MiSans" pitchFamily="34" charset="0"/>
                <a:ea typeface="MiSans" pitchFamily="34" charset="-122"/>
                <a:cs typeface="MiSans" pitchFamily="34" charset="-120"/>
              </a:rPr>
              <a:t>. Relevant for staff involved in audit and data review.</a:t>
            </a:r>
            <a:endParaRPr lang="en-US" sz="1600" dirty="0"/>
          </a:p>
        </p:txBody>
      </p:sp>
      <p:sp>
        <p:nvSpPr>
          <p:cNvPr id="29" name="Shape 27"/>
          <p:cNvSpPr/>
          <p:nvPr/>
        </p:nvSpPr>
        <p:spPr>
          <a:xfrm>
            <a:off x="6323226" y="2638145"/>
            <a:ext cx="5342244" cy="452253"/>
          </a:xfrm>
          <a:custGeom>
            <a:avLst/>
            <a:gdLst/>
            <a:ahLst/>
            <a:cxnLst/>
            <a:rect l="l" t="t" r="r" b="b"/>
            <a:pathLst>
              <a:path w="5342244" h="452253">
                <a:moveTo>
                  <a:pt x="0" y="0"/>
                </a:moveTo>
                <a:lnTo>
                  <a:pt x="5342244" y="0"/>
                </a:lnTo>
                <a:lnTo>
                  <a:pt x="5342244" y="452253"/>
                </a:lnTo>
                <a:lnTo>
                  <a:pt x="0" y="452253"/>
                </a:lnTo>
                <a:lnTo>
                  <a:pt x="0" y="0"/>
                </a:lnTo>
                <a:close/>
              </a:path>
            </a:pathLst>
          </a:custGeom>
          <a:solidFill>
            <a:srgbClr val="F8F9FA"/>
          </a:solidFill>
          <a:ln/>
        </p:spPr>
      </p:sp>
      <p:sp>
        <p:nvSpPr>
          <p:cNvPr id="30" name="Shape 28"/>
          <p:cNvSpPr/>
          <p:nvPr/>
        </p:nvSpPr>
        <p:spPr>
          <a:xfrm>
            <a:off x="6473977" y="2793607"/>
            <a:ext cx="113063" cy="150751"/>
          </a:xfrm>
          <a:custGeom>
            <a:avLst/>
            <a:gdLst/>
            <a:ahLst/>
            <a:cxnLst/>
            <a:rect l="l" t="t" r="r" b="b"/>
            <a:pathLst>
              <a:path w="113063" h="150751">
                <a:moveTo>
                  <a:pt x="91687" y="9422"/>
                </a:moveTo>
                <a:lnTo>
                  <a:pt x="94219" y="9422"/>
                </a:lnTo>
                <a:cubicBezTo>
                  <a:pt x="104613" y="9422"/>
                  <a:pt x="113063" y="17872"/>
                  <a:pt x="113063" y="28266"/>
                </a:cubicBezTo>
                <a:lnTo>
                  <a:pt x="113063" y="131907"/>
                </a:lnTo>
                <a:cubicBezTo>
                  <a:pt x="113063" y="142301"/>
                  <a:pt x="104613" y="150751"/>
                  <a:pt x="94219" y="150751"/>
                </a:cubicBezTo>
                <a:lnTo>
                  <a:pt x="18844" y="150751"/>
                </a:lnTo>
                <a:cubicBezTo>
                  <a:pt x="8450" y="150751"/>
                  <a:pt x="0" y="142301"/>
                  <a:pt x="0" y="131907"/>
                </a:cubicBezTo>
                <a:lnTo>
                  <a:pt x="0" y="28266"/>
                </a:lnTo>
                <a:cubicBezTo>
                  <a:pt x="0" y="17872"/>
                  <a:pt x="8450" y="9422"/>
                  <a:pt x="18844" y="9422"/>
                </a:cubicBezTo>
                <a:lnTo>
                  <a:pt x="21376" y="9422"/>
                </a:lnTo>
                <a:cubicBezTo>
                  <a:pt x="24615" y="3798"/>
                  <a:pt x="30710" y="0"/>
                  <a:pt x="37688" y="0"/>
                </a:cubicBezTo>
                <a:lnTo>
                  <a:pt x="75376" y="0"/>
                </a:lnTo>
                <a:cubicBezTo>
                  <a:pt x="82354" y="0"/>
                  <a:pt x="88449" y="3798"/>
                  <a:pt x="91687" y="9422"/>
                </a:cubicBezTo>
                <a:close/>
                <a:moveTo>
                  <a:pt x="73020" y="32977"/>
                </a:moveTo>
                <a:cubicBezTo>
                  <a:pt x="76936" y="32977"/>
                  <a:pt x="80087" y="29826"/>
                  <a:pt x="80087" y="25910"/>
                </a:cubicBezTo>
                <a:cubicBezTo>
                  <a:pt x="80087" y="21994"/>
                  <a:pt x="76936" y="18844"/>
                  <a:pt x="73020" y="18844"/>
                </a:cubicBezTo>
                <a:lnTo>
                  <a:pt x="40043" y="18844"/>
                </a:lnTo>
                <a:cubicBezTo>
                  <a:pt x="36127" y="18844"/>
                  <a:pt x="32977" y="21994"/>
                  <a:pt x="32977" y="25910"/>
                </a:cubicBezTo>
                <a:cubicBezTo>
                  <a:pt x="32977" y="29826"/>
                  <a:pt x="36127" y="32977"/>
                  <a:pt x="40043" y="32977"/>
                </a:cubicBezTo>
                <a:lnTo>
                  <a:pt x="73020" y="32977"/>
                </a:lnTo>
                <a:close/>
                <a:moveTo>
                  <a:pt x="81382" y="76759"/>
                </a:moveTo>
                <a:cubicBezTo>
                  <a:pt x="83443" y="73462"/>
                  <a:pt x="82442" y="69104"/>
                  <a:pt x="79144" y="67014"/>
                </a:cubicBezTo>
                <a:cubicBezTo>
                  <a:pt x="75847" y="64923"/>
                  <a:pt x="71489" y="65954"/>
                  <a:pt x="69399" y="69251"/>
                </a:cubicBezTo>
                <a:lnTo>
                  <a:pt x="51320" y="98194"/>
                </a:lnTo>
                <a:lnTo>
                  <a:pt x="43370" y="87595"/>
                </a:lnTo>
                <a:cubicBezTo>
                  <a:pt x="41015" y="84474"/>
                  <a:pt x="36598" y="83826"/>
                  <a:pt x="33477" y="86181"/>
                </a:cubicBezTo>
                <a:cubicBezTo>
                  <a:pt x="30356" y="88537"/>
                  <a:pt x="29709" y="92953"/>
                  <a:pt x="32064" y="96074"/>
                </a:cubicBezTo>
                <a:lnTo>
                  <a:pt x="46197" y="114918"/>
                </a:lnTo>
                <a:cubicBezTo>
                  <a:pt x="47581" y="116773"/>
                  <a:pt x="49819" y="117833"/>
                  <a:pt x="52145" y="117745"/>
                </a:cubicBezTo>
                <a:cubicBezTo>
                  <a:pt x="54471" y="117657"/>
                  <a:pt x="56591" y="116420"/>
                  <a:pt x="57827" y="114418"/>
                </a:cubicBezTo>
                <a:lnTo>
                  <a:pt x="81382" y="76730"/>
                </a:lnTo>
                <a:close/>
              </a:path>
            </a:pathLst>
          </a:custGeom>
          <a:solidFill>
            <a:srgbClr val="C49A2C"/>
          </a:solidFill>
          <a:ln/>
        </p:spPr>
      </p:sp>
      <p:sp>
        <p:nvSpPr>
          <p:cNvPr id="31" name="Text 29"/>
          <p:cNvSpPr/>
          <p:nvPr/>
        </p:nvSpPr>
        <p:spPr>
          <a:xfrm>
            <a:off x="6680649" y="2751209"/>
            <a:ext cx="4947134" cy="226127"/>
          </a:xfrm>
          <a:prstGeom prst="rect">
            <a:avLst/>
          </a:prstGeom>
          <a:noFill/>
          <a:ln/>
        </p:spPr>
        <p:txBody>
          <a:bodyPr wrap="square" lIns="0" tIns="0" rIns="0" bIns="0" rtlCol="0" anchor="ctr"/>
          <a:lstStyle/>
          <a:p>
            <a:pPr>
              <a:lnSpc>
                <a:spcPct val="130000"/>
              </a:lnSpc>
            </a:pPr>
            <a:r>
              <a:rPr lang="en-US" sz="1187" b="1" dirty="0">
                <a:solidFill>
                  <a:srgbClr val="1E3A5F"/>
                </a:solidFill>
                <a:latin typeface="MiSans" pitchFamily="34" charset="0"/>
                <a:ea typeface="MiSans" pitchFamily="34" charset="-122"/>
                <a:cs typeface="MiSans" pitchFamily="34" charset="-120"/>
              </a:rPr>
              <a:t>Relevant for:</a:t>
            </a:r>
            <a:pPr>
              <a:lnSpc>
                <a:spcPct val="130000"/>
              </a:lnSpc>
            </a:pPr>
            <a:r>
              <a:rPr lang="en-US" sz="1187" dirty="0">
                <a:solidFill>
                  <a:srgbClr val="1E3A5F"/>
                </a:solidFill>
                <a:latin typeface="MiSans" pitchFamily="34" charset="0"/>
                <a:ea typeface="MiSans" pitchFamily="34" charset="-122"/>
                <a:cs typeface="MiSans" pitchFamily="34" charset="-120"/>
              </a:rPr>
              <a:t> Staff involved in audit and data review</a:t>
            </a:r>
            <a:endParaRPr lang="en-US" sz="1600" dirty="0"/>
          </a:p>
        </p:txBody>
      </p:sp>
      <p:sp>
        <p:nvSpPr>
          <p:cNvPr id="32" name="Shape 30"/>
          <p:cNvSpPr/>
          <p:nvPr/>
        </p:nvSpPr>
        <p:spPr>
          <a:xfrm>
            <a:off x="6172475" y="3373057"/>
            <a:ext cx="5643747" cy="2185892"/>
          </a:xfrm>
          <a:custGeom>
            <a:avLst/>
            <a:gdLst/>
            <a:ahLst/>
            <a:cxnLst/>
            <a:rect l="l" t="t" r="r" b="b"/>
            <a:pathLst>
              <a:path w="5643747" h="2185892">
                <a:moveTo>
                  <a:pt x="0" y="0"/>
                </a:moveTo>
                <a:lnTo>
                  <a:pt x="5643747" y="0"/>
                </a:lnTo>
                <a:lnTo>
                  <a:pt x="5643747" y="2185892"/>
                </a:lnTo>
                <a:lnTo>
                  <a:pt x="0" y="2185892"/>
                </a:lnTo>
                <a:lnTo>
                  <a:pt x="0" y="0"/>
                </a:lnTo>
                <a:close/>
              </a:path>
            </a:pathLst>
          </a:custGeom>
          <a:solidFill>
            <a:srgbClr val="FFFFFF"/>
          </a:solidFill>
          <a:ln/>
        </p:spPr>
      </p:sp>
      <p:sp>
        <p:nvSpPr>
          <p:cNvPr id="33" name="Shape 31"/>
          <p:cNvSpPr/>
          <p:nvPr/>
        </p:nvSpPr>
        <p:spPr>
          <a:xfrm>
            <a:off x="6172475" y="3373057"/>
            <a:ext cx="5643747" cy="37688"/>
          </a:xfrm>
          <a:custGeom>
            <a:avLst/>
            <a:gdLst/>
            <a:ahLst/>
            <a:cxnLst/>
            <a:rect l="l" t="t" r="r" b="b"/>
            <a:pathLst>
              <a:path w="5643747" h="37688">
                <a:moveTo>
                  <a:pt x="0" y="0"/>
                </a:moveTo>
                <a:lnTo>
                  <a:pt x="5643747" y="0"/>
                </a:lnTo>
                <a:lnTo>
                  <a:pt x="5643747" y="37688"/>
                </a:lnTo>
                <a:lnTo>
                  <a:pt x="0" y="37688"/>
                </a:lnTo>
                <a:lnTo>
                  <a:pt x="0" y="0"/>
                </a:lnTo>
                <a:close/>
              </a:path>
            </a:pathLst>
          </a:custGeom>
          <a:solidFill>
            <a:srgbClr val="C49A2C"/>
          </a:solidFill>
          <a:ln/>
        </p:spPr>
      </p:sp>
      <p:sp>
        <p:nvSpPr>
          <p:cNvPr id="34" name="Shape 32"/>
          <p:cNvSpPr/>
          <p:nvPr/>
        </p:nvSpPr>
        <p:spPr>
          <a:xfrm>
            <a:off x="6323226" y="3542652"/>
            <a:ext cx="452253" cy="452253"/>
          </a:xfrm>
          <a:custGeom>
            <a:avLst/>
            <a:gdLst/>
            <a:ahLst/>
            <a:cxnLst/>
            <a:rect l="l" t="t" r="r" b="b"/>
            <a:pathLst>
              <a:path w="452253" h="452253">
                <a:moveTo>
                  <a:pt x="0" y="0"/>
                </a:moveTo>
                <a:lnTo>
                  <a:pt x="452253" y="0"/>
                </a:lnTo>
                <a:lnTo>
                  <a:pt x="452253" y="452253"/>
                </a:lnTo>
                <a:lnTo>
                  <a:pt x="0" y="452253"/>
                </a:lnTo>
                <a:lnTo>
                  <a:pt x="0" y="0"/>
                </a:lnTo>
                <a:close/>
              </a:path>
            </a:pathLst>
          </a:custGeom>
          <a:solidFill>
            <a:srgbClr val="C49A2C"/>
          </a:solidFill>
          <a:ln/>
        </p:spPr>
      </p:sp>
      <p:sp>
        <p:nvSpPr>
          <p:cNvPr id="35" name="Text 33"/>
          <p:cNvSpPr/>
          <p:nvPr/>
        </p:nvSpPr>
        <p:spPr>
          <a:xfrm>
            <a:off x="6276117" y="3542652"/>
            <a:ext cx="546473" cy="452253"/>
          </a:xfrm>
          <a:prstGeom prst="rect">
            <a:avLst/>
          </a:prstGeom>
          <a:noFill/>
          <a:ln/>
        </p:spPr>
        <p:txBody>
          <a:bodyPr wrap="square" lIns="0" tIns="0" rIns="0" bIns="0" rtlCol="0" anchor="ctr"/>
          <a:lstStyle/>
          <a:p>
            <a:pPr algn="ctr">
              <a:lnSpc>
                <a:spcPct val="120000"/>
              </a:lnSpc>
            </a:pPr>
            <a:r>
              <a:rPr lang="en-US" sz="1484" b="1" dirty="0">
                <a:solidFill>
                  <a:srgbClr val="F8F9FA"/>
                </a:solidFill>
                <a:latin typeface="MiSans" pitchFamily="34" charset="0"/>
                <a:ea typeface="MiSans" pitchFamily="34" charset="-122"/>
                <a:cs typeface="MiSans" pitchFamily="34" charset="-120"/>
              </a:rPr>
              <a:t>10</a:t>
            </a:r>
            <a:endParaRPr lang="en-US" sz="1600" dirty="0"/>
          </a:p>
        </p:txBody>
      </p:sp>
      <p:sp>
        <p:nvSpPr>
          <p:cNvPr id="36" name="Text 34"/>
          <p:cNvSpPr/>
          <p:nvPr/>
        </p:nvSpPr>
        <p:spPr>
          <a:xfrm>
            <a:off x="6888543" y="3636872"/>
            <a:ext cx="2788896" cy="263815"/>
          </a:xfrm>
          <a:prstGeom prst="rect">
            <a:avLst/>
          </a:prstGeom>
          <a:noFill/>
          <a:ln/>
        </p:spPr>
        <p:txBody>
          <a:bodyPr wrap="square" lIns="0" tIns="0" rIns="0" bIns="0" rtlCol="0" anchor="ctr"/>
          <a:lstStyle/>
          <a:p>
            <a:pPr>
              <a:lnSpc>
                <a:spcPct val="120000"/>
              </a:lnSpc>
            </a:pPr>
            <a:r>
              <a:rPr lang="en-US" sz="1484" b="1" dirty="0">
                <a:solidFill>
                  <a:srgbClr val="1E3A5F"/>
                </a:solidFill>
                <a:latin typeface="MiSans" pitchFamily="34" charset="0"/>
                <a:ea typeface="MiSans" pitchFamily="34" charset="-122"/>
                <a:cs typeface="MiSans" pitchFamily="34" charset="-120"/>
              </a:rPr>
              <a:t>Programme Evaluation Cycles</a:t>
            </a:r>
            <a:endParaRPr lang="en-US" sz="1600" dirty="0"/>
          </a:p>
        </p:txBody>
      </p:sp>
      <p:sp>
        <p:nvSpPr>
          <p:cNvPr id="37" name="Text 35"/>
          <p:cNvSpPr/>
          <p:nvPr/>
        </p:nvSpPr>
        <p:spPr>
          <a:xfrm>
            <a:off x="6323226" y="4107969"/>
            <a:ext cx="5417620" cy="734912"/>
          </a:xfrm>
          <a:prstGeom prst="rect">
            <a:avLst/>
          </a:prstGeom>
          <a:noFill/>
          <a:ln/>
        </p:spPr>
        <p:txBody>
          <a:bodyPr wrap="square" lIns="0" tIns="0" rIns="0" bIns="0" rtlCol="0" anchor="ctr"/>
          <a:lstStyle/>
          <a:p>
            <a:pPr>
              <a:lnSpc>
                <a:spcPct val="140000"/>
              </a:lnSpc>
            </a:pPr>
            <a:r>
              <a:rPr lang="en-US" sz="1187" dirty="0">
                <a:solidFill>
                  <a:srgbClr val="2D3436"/>
                </a:solidFill>
                <a:latin typeface="MiSans" pitchFamily="34" charset="0"/>
                <a:ea typeface="MiSans" pitchFamily="34" charset="-122"/>
                <a:cs typeface="MiSans" pitchFamily="34" charset="-120"/>
              </a:rPr>
              <a:t>Covers the </a:t>
            </a:r>
            <a:pPr>
              <a:lnSpc>
                <a:spcPct val="140000"/>
              </a:lnSpc>
            </a:pPr>
            <a:r>
              <a:rPr lang="en-US" sz="1187" b="1" dirty="0">
                <a:solidFill>
                  <a:srgbClr val="2D3436"/>
                </a:solidFill>
                <a:latin typeface="MiSans" pitchFamily="34" charset="0"/>
                <a:ea typeface="MiSans" pitchFamily="34" charset="-122"/>
                <a:cs typeface="MiSans" pitchFamily="34" charset="-120"/>
              </a:rPr>
              <a:t>three-year evaluation cycle</a:t>
            </a:r>
            <a:pPr>
              <a:lnSpc>
                <a:spcPct val="140000"/>
              </a:lnSpc>
            </a:pPr>
            <a:r>
              <a:rPr lang="en-US" sz="1187" dirty="0">
                <a:solidFill>
                  <a:srgbClr val="2D3436"/>
                </a:solidFill>
                <a:latin typeface="MiSans" pitchFamily="34" charset="0"/>
                <a:ea typeface="MiSans" pitchFamily="34" charset="-122"/>
                <a:cs typeface="MiSans" pitchFamily="34" charset="-120"/>
              </a:rPr>
              <a:t>, external review processes, and internal methodology audit. Relevant for staff involved in programme development and evidence base maintenance.</a:t>
            </a:r>
            <a:endParaRPr lang="en-US" sz="1600" dirty="0"/>
          </a:p>
        </p:txBody>
      </p:sp>
      <p:sp>
        <p:nvSpPr>
          <p:cNvPr id="38" name="Shape 36"/>
          <p:cNvSpPr/>
          <p:nvPr/>
        </p:nvSpPr>
        <p:spPr>
          <a:xfrm>
            <a:off x="6323226" y="4955944"/>
            <a:ext cx="5342244" cy="452253"/>
          </a:xfrm>
          <a:custGeom>
            <a:avLst/>
            <a:gdLst/>
            <a:ahLst/>
            <a:cxnLst/>
            <a:rect l="l" t="t" r="r" b="b"/>
            <a:pathLst>
              <a:path w="5342244" h="452253">
                <a:moveTo>
                  <a:pt x="0" y="0"/>
                </a:moveTo>
                <a:lnTo>
                  <a:pt x="5342244" y="0"/>
                </a:lnTo>
                <a:lnTo>
                  <a:pt x="5342244" y="452253"/>
                </a:lnTo>
                <a:lnTo>
                  <a:pt x="0" y="452253"/>
                </a:lnTo>
                <a:lnTo>
                  <a:pt x="0" y="0"/>
                </a:lnTo>
                <a:close/>
              </a:path>
            </a:pathLst>
          </a:custGeom>
          <a:solidFill>
            <a:srgbClr val="F8F9FA"/>
          </a:solidFill>
          <a:ln/>
        </p:spPr>
      </p:sp>
      <p:sp>
        <p:nvSpPr>
          <p:cNvPr id="39" name="Shape 37"/>
          <p:cNvSpPr/>
          <p:nvPr/>
        </p:nvSpPr>
        <p:spPr>
          <a:xfrm>
            <a:off x="6455134" y="5111406"/>
            <a:ext cx="150751" cy="150751"/>
          </a:xfrm>
          <a:custGeom>
            <a:avLst/>
            <a:gdLst/>
            <a:ahLst/>
            <a:cxnLst/>
            <a:rect l="l" t="t" r="r" b="b"/>
            <a:pathLst>
              <a:path w="150751" h="150751">
                <a:moveTo>
                  <a:pt x="141359" y="56532"/>
                </a:moveTo>
                <a:lnTo>
                  <a:pt x="143685" y="56532"/>
                </a:lnTo>
                <a:cubicBezTo>
                  <a:pt x="147601" y="56532"/>
                  <a:pt x="150751" y="53381"/>
                  <a:pt x="150751" y="49465"/>
                </a:cubicBezTo>
                <a:lnTo>
                  <a:pt x="150751" y="7066"/>
                </a:lnTo>
                <a:cubicBezTo>
                  <a:pt x="150751" y="4210"/>
                  <a:pt x="149043" y="1619"/>
                  <a:pt x="146394" y="530"/>
                </a:cubicBezTo>
                <a:cubicBezTo>
                  <a:pt x="143744" y="-559"/>
                  <a:pt x="140711" y="59"/>
                  <a:pt x="138679" y="2061"/>
                </a:cubicBezTo>
                <a:lnTo>
                  <a:pt x="123457" y="17313"/>
                </a:lnTo>
                <a:cubicBezTo>
                  <a:pt x="110413" y="6507"/>
                  <a:pt x="93631" y="0"/>
                  <a:pt x="75376" y="0"/>
                </a:cubicBezTo>
                <a:cubicBezTo>
                  <a:pt x="37393" y="0"/>
                  <a:pt x="5977" y="28089"/>
                  <a:pt x="766" y="64629"/>
                </a:cubicBezTo>
                <a:cubicBezTo>
                  <a:pt x="29" y="69781"/>
                  <a:pt x="3592" y="74551"/>
                  <a:pt x="8745" y="75287"/>
                </a:cubicBezTo>
                <a:cubicBezTo>
                  <a:pt x="13897" y="76023"/>
                  <a:pt x="18667" y="72431"/>
                  <a:pt x="19403" y="67308"/>
                </a:cubicBezTo>
                <a:cubicBezTo>
                  <a:pt x="23319" y="39896"/>
                  <a:pt x="46904" y="18844"/>
                  <a:pt x="75376" y="18844"/>
                </a:cubicBezTo>
                <a:cubicBezTo>
                  <a:pt x="88449" y="18844"/>
                  <a:pt x="100462" y="23260"/>
                  <a:pt x="110031" y="30710"/>
                </a:cubicBezTo>
                <a:lnTo>
                  <a:pt x="96281" y="44460"/>
                </a:lnTo>
                <a:cubicBezTo>
                  <a:pt x="94249" y="46491"/>
                  <a:pt x="93660" y="49524"/>
                  <a:pt x="94749" y="52174"/>
                </a:cubicBezTo>
                <a:cubicBezTo>
                  <a:pt x="95839" y="54824"/>
                  <a:pt x="98430" y="56532"/>
                  <a:pt x="101286" y="56532"/>
                </a:cubicBezTo>
                <a:lnTo>
                  <a:pt x="141359" y="56532"/>
                </a:lnTo>
                <a:close/>
                <a:moveTo>
                  <a:pt x="150015" y="86122"/>
                </a:moveTo>
                <a:cubicBezTo>
                  <a:pt x="150751" y="80970"/>
                  <a:pt x="147159" y="76200"/>
                  <a:pt x="142036" y="75464"/>
                </a:cubicBezTo>
                <a:cubicBezTo>
                  <a:pt x="136913" y="74728"/>
                  <a:pt x="132113" y="78320"/>
                  <a:pt x="131377" y="83443"/>
                </a:cubicBezTo>
                <a:cubicBezTo>
                  <a:pt x="127461" y="110826"/>
                  <a:pt x="103877" y="131878"/>
                  <a:pt x="75405" y="131878"/>
                </a:cubicBezTo>
                <a:cubicBezTo>
                  <a:pt x="62332" y="131878"/>
                  <a:pt x="50319" y="127461"/>
                  <a:pt x="40750" y="120012"/>
                </a:cubicBezTo>
                <a:lnTo>
                  <a:pt x="54471" y="106291"/>
                </a:lnTo>
                <a:cubicBezTo>
                  <a:pt x="56502" y="104260"/>
                  <a:pt x="57091" y="101227"/>
                  <a:pt x="56002" y="98577"/>
                </a:cubicBezTo>
                <a:cubicBezTo>
                  <a:pt x="54912" y="95927"/>
                  <a:pt x="52321" y="94219"/>
                  <a:pt x="49465" y="94219"/>
                </a:cubicBezTo>
                <a:lnTo>
                  <a:pt x="7066" y="94219"/>
                </a:lnTo>
                <a:cubicBezTo>
                  <a:pt x="3150" y="94219"/>
                  <a:pt x="0" y="97370"/>
                  <a:pt x="0" y="101286"/>
                </a:cubicBezTo>
                <a:lnTo>
                  <a:pt x="0" y="143685"/>
                </a:lnTo>
                <a:cubicBezTo>
                  <a:pt x="0" y="146541"/>
                  <a:pt x="1708" y="149132"/>
                  <a:pt x="4358" y="150221"/>
                </a:cubicBezTo>
                <a:cubicBezTo>
                  <a:pt x="7008" y="151311"/>
                  <a:pt x="10040" y="150692"/>
                  <a:pt x="12072" y="148690"/>
                </a:cubicBezTo>
                <a:lnTo>
                  <a:pt x="27324" y="133438"/>
                </a:lnTo>
                <a:cubicBezTo>
                  <a:pt x="40338" y="144244"/>
                  <a:pt x="57121" y="150751"/>
                  <a:pt x="75376" y="150751"/>
                </a:cubicBezTo>
                <a:cubicBezTo>
                  <a:pt x="113358" y="150751"/>
                  <a:pt x="144774" y="122662"/>
                  <a:pt x="149986" y="86122"/>
                </a:cubicBezTo>
                <a:close/>
              </a:path>
            </a:pathLst>
          </a:custGeom>
          <a:solidFill>
            <a:srgbClr val="C49A2C"/>
          </a:solidFill>
          <a:ln/>
        </p:spPr>
      </p:sp>
      <p:sp>
        <p:nvSpPr>
          <p:cNvPr id="40" name="Text 38"/>
          <p:cNvSpPr/>
          <p:nvPr/>
        </p:nvSpPr>
        <p:spPr>
          <a:xfrm>
            <a:off x="6680649" y="5069008"/>
            <a:ext cx="4947134" cy="226127"/>
          </a:xfrm>
          <a:prstGeom prst="rect">
            <a:avLst/>
          </a:prstGeom>
          <a:noFill/>
          <a:ln/>
        </p:spPr>
        <p:txBody>
          <a:bodyPr wrap="square" lIns="0" tIns="0" rIns="0" bIns="0" rtlCol="0" anchor="ctr"/>
          <a:lstStyle/>
          <a:p>
            <a:pPr>
              <a:lnSpc>
                <a:spcPct val="130000"/>
              </a:lnSpc>
            </a:pPr>
            <a:r>
              <a:rPr lang="en-US" sz="1187" b="1" dirty="0">
                <a:solidFill>
                  <a:srgbClr val="1E3A5F"/>
                </a:solidFill>
                <a:latin typeface="MiSans" pitchFamily="34" charset="0"/>
                <a:ea typeface="MiSans" pitchFamily="34" charset="-122"/>
                <a:cs typeface="MiSans" pitchFamily="34" charset="-120"/>
              </a:rPr>
              <a:t>Relevant for:</a:t>
            </a:r>
            <a:pPr>
              <a:lnSpc>
                <a:spcPct val="130000"/>
              </a:lnSpc>
            </a:pPr>
            <a:r>
              <a:rPr lang="en-US" sz="1187" dirty="0">
                <a:solidFill>
                  <a:srgbClr val="1E3A5F"/>
                </a:solidFill>
                <a:latin typeface="MiSans" pitchFamily="34" charset="0"/>
                <a:ea typeface="MiSans" pitchFamily="34" charset="-122"/>
                <a:cs typeface="MiSans" pitchFamily="34" charset="-120"/>
              </a:rPr>
              <a:t> Staff involved in programme development</a:t>
            </a:r>
            <a:endParaRPr lang="en-US" sz="1600" dirty="0"/>
          </a:p>
        </p:txBody>
      </p:sp>
      <p:sp>
        <p:nvSpPr>
          <p:cNvPr id="41" name="Shape 39"/>
          <p:cNvSpPr/>
          <p:nvPr/>
        </p:nvSpPr>
        <p:spPr>
          <a:xfrm>
            <a:off x="6172475" y="5672012"/>
            <a:ext cx="5643747" cy="1187165"/>
          </a:xfrm>
          <a:custGeom>
            <a:avLst/>
            <a:gdLst/>
            <a:ahLst/>
            <a:cxnLst/>
            <a:rect l="l" t="t" r="r" b="b"/>
            <a:pathLst>
              <a:path w="5643747" h="1187165">
                <a:moveTo>
                  <a:pt x="0" y="0"/>
                </a:moveTo>
                <a:lnTo>
                  <a:pt x="5643747" y="0"/>
                </a:lnTo>
                <a:lnTo>
                  <a:pt x="5643747" y="1187165"/>
                </a:lnTo>
                <a:lnTo>
                  <a:pt x="0" y="1187165"/>
                </a:lnTo>
                <a:lnTo>
                  <a:pt x="0" y="0"/>
                </a:lnTo>
                <a:close/>
              </a:path>
            </a:pathLst>
          </a:custGeom>
          <a:solidFill>
            <a:srgbClr val="1E3A5F"/>
          </a:solidFill>
          <a:ln/>
        </p:spPr>
      </p:sp>
      <p:sp>
        <p:nvSpPr>
          <p:cNvPr id="42" name="Text 40"/>
          <p:cNvSpPr/>
          <p:nvPr/>
        </p:nvSpPr>
        <p:spPr>
          <a:xfrm>
            <a:off x="6323226" y="5822764"/>
            <a:ext cx="5427042" cy="263815"/>
          </a:xfrm>
          <a:prstGeom prst="rect">
            <a:avLst/>
          </a:prstGeom>
          <a:noFill/>
          <a:ln/>
        </p:spPr>
        <p:txBody>
          <a:bodyPr wrap="square" lIns="0" tIns="0" rIns="0" bIns="0" rtlCol="0" anchor="ctr"/>
          <a:lstStyle/>
          <a:p>
            <a:pPr>
              <a:lnSpc>
                <a:spcPct val="130000"/>
              </a:lnSpc>
            </a:pPr>
            <a:r>
              <a:rPr lang="en-US" sz="1335" b="1" dirty="0">
                <a:solidFill>
                  <a:srgbClr val="F8F9FA"/>
                </a:solidFill>
                <a:latin typeface="MiSans" pitchFamily="34" charset="0"/>
                <a:ea typeface="MiSans" pitchFamily="34" charset="-122"/>
                <a:cs typeface="MiSans" pitchFamily="34" charset="-120"/>
              </a:rPr>
              <a:t>Accessing the Technical Handbook</a:t>
            </a:r>
            <a:endParaRPr lang="en-US" sz="1600" dirty="0"/>
          </a:p>
        </p:txBody>
      </p:sp>
      <p:sp>
        <p:nvSpPr>
          <p:cNvPr id="43" name="Text 41"/>
          <p:cNvSpPr/>
          <p:nvPr/>
        </p:nvSpPr>
        <p:spPr>
          <a:xfrm>
            <a:off x="6323226" y="6161954"/>
            <a:ext cx="5417620" cy="244971"/>
          </a:xfrm>
          <a:prstGeom prst="rect">
            <a:avLst/>
          </a:prstGeom>
          <a:noFill/>
          <a:ln/>
        </p:spPr>
        <p:txBody>
          <a:bodyPr wrap="square" lIns="0" tIns="0" rIns="0" bIns="0" rtlCol="0" anchor="ctr"/>
          <a:lstStyle/>
          <a:p>
            <a:pPr>
              <a:lnSpc>
                <a:spcPct val="140000"/>
              </a:lnSpc>
            </a:pPr>
            <a:r>
              <a:rPr lang="en-US" sz="1187" dirty="0">
                <a:solidFill>
                  <a:srgbClr val="F8F9FA"/>
                </a:solidFill>
                <a:latin typeface="MiSans" pitchFamily="34" charset="0"/>
                <a:ea typeface="MiSans" pitchFamily="34" charset="-122"/>
                <a:cs typeface="MiSans" pitchFamily="34" charset="-120"/>
              </a:rPr>
              <a:t>The full handbook is available in SynergyDrive:</a:t>
            </a:r>
            <a:endParaRPr lang="en-US" sz="1600" dirty="0"/>
          </a:p>
        </p:txBody>
      </p:sp>
      <p:sp>
        <p:nvSpPr>
          <p:cNvPr id="44" name="Text 42"/>
          <p:cNvSpPr/>
          <p:nvPr/>
        </p:nvSpPr>
        <p:spPr>
          <a:xfrm>
            <a:off x="6323226" y="6496433"/>
            <a:ext cx="4432712" cy="197861"/>
          </a:xfrm>
          <a:prstGeom prst="rect">
            <a:avLst/>
          </a:prstGeom>
          <a:noFill/>
          <a:ln/>
        </p:spPr>
        <p:txBody>
          <a:bodyPr wrap="square" lIns="0" tIns="0" rIns="0" bIns="0" rtlCol="0" anchor="ctr"/>
          <a:lstStyle/>
          <a:p>
            <a:pPr>
              <a:lnSpc>
                <a:spcPct val="130000"/>
              </a:lnSpc>
            </a:pPr>
            <a:r>
              <a:rPr lang="en-US" sz="1187" b="1" dirty="0">
                <a:solidFill>
                  <a:srgbClr val="F8F9FA"/>
                </a:solidFill>
                <a:latin typeface="MiSans" pitchFamily="34" charset="0"/>
                <a:ea typeface="MiSans" pitchFamily="34" charset="-122"/>
                <a:cs typeface="MiSans" pitchFamily="34" charset="-120"/>
              </a:rPr>
              <a:t>Paul's Files &gt; Reading &gt; Essential &gt; Sub-subfolder: Essential</a:t>
            </a:r>
            <a:endParaRPr lang="en-US" sz="1600" dirty="0"/>
          </a:p>
        </p:txBody>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9FA"/>
        </a:solidFill>
      </p:bgPr>
    </p:bg>
    <p:spTree>
      <p:nvGrpSpPr>
        <p:cNvPr id="1" name=""/>
        <p:cNvGrpSpPr/>
        <p:nvPr/>
      </p:nvGrpSpPr>
      <p:grpSpPr>
        <a:xfrm>
          <a:off x="0" y="0"/>
          <a:ext cx="0" cy="0"/>
          <a:chOff x="0" y="0"/>
          <a:chExt cx="0" cy="0"/>
        </a:xfrm>
      </p:grpSpPr>
      <p:pic>
        <p:nvPicPr>
          <p:cNvPr id="2" name="Image 0" descr="https://images.stockcake.com/public/e/f/3/ef308318-1f64-472a-b4a2-4610f7d18966/geometric-corporate-pattern-stockcake.jpg">    </p:cNvPr>
          <p:cNvPicPr>
            <a:picLocks noChangeAspect="1"/>
          </p:cNvPicPr>
          <p:nvPr/>
        </p:nvPicPr>
        <p:blipFill>
          <a:blip r:embed="rId1">
            <a:alphaModFix amt="1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E3A5F">
                  <a:alpha val="95000"/>
                </a:srgbClr>
              </a:gs>
              <a:gs pos="100000">
                <a:srgbClr val="1E3A5F">
                  <a:alpha val="85000"/>
                </a:srgbClr>
              </a:gs>
            </a:gsLst>
            <a:lin ang="0" scaled="1"/>
          </a:gradFill>
          <a:ln/>
        </p:spPr>
      </p:sp>
      <p:sp>
        <p:nvSpPr>
          <p:cNvPr id="4" name="Shape 1"/>
          <p:cNvSpPr/>
          <p:nvPr/>
        </p:nvSpPr>
        <p:spPr>
          <a:xfrm>
            <a:off x="381000" y="1438275"/>
            <a:ext cx="1343025" cy="381000"/>
          </a:xfrm>
          <a:custGeom>
            <a:avLst/>
            <a:gdLst/>
            <a:ahLst/>
            <a:cxnLst/>
            <a:rect l="l" t="t" r="r" b="b"/>
            <a:pathLst>
              <a:path w="1343025" h="381000">
                <a:moveTo>
                  <a:pt x="0" y="0"/>
                </a:moveTo>
                <a:lnTo>
                  <a:pt x="1343025" y="0"/>
                </a:lnTo>
                <a:lnTo>
                  <a:pt x="1343025" y="381000"/>
                </a:lnTo>
                <a:lnTo>
                  <a:pt x="0" y="381000"/>
                </a:lnTo>
                <a:lnTo>
                  <a:pt x="0" y="0"/>
                </a:lnTo>
                <a:close/>
              </a:path>
            </a:pathLst>
          </a:custGeom>
          <a:solidFill>
            <a:srgbClr val="C49A2C"/>
          </a:solidFill>
          <a:ln/>
        </p:spPr>
      </p:sp>
      <p:sp>
        <p:nvSpPr>
          <p:cNvPr id="5" name="Text 2"/>
          <p:cNvSpPr/>
          <p:nvPr/>
        </p:nvSpPr>
        <p:spPr>
          <a:xfrm>
            <a:off x="381000" y="1438275"/>
            <a:ext cx="1419225" cy="381000"/>
          </a:xfrm>
          <a:prstGeom prst="rect">
            <a:avLst/>
          </a:prstGeom>
          <a:noFill/>
          <a:ln/>
        </p:spPr>
        <p:txBody>
          <a:bodyPr wrap="square" lIns="190500" tIns="76200" rIns="190500" bIns="76200" rtlCol="0" anchor="ctr"/>
          <a:lstStyle/>
          <a:p>
            <a:pPr>
              <a:lnSpc>
                <a:spcPct val="130000"/>
              </a:lnSpc>
            </a:pPr>
            <a:r>
              <a:rPr lang="en-US" sz="1200" b="1" spc="120" kern="0" dirty="0">
                <a:solidFill>
                  <a:srgbClr val="F8F9FA"/>
                </a:solidFill>
                <a:latin typeface="MiSans" pitchFamily="34" charset="0"/>
                <a:ea typeface="MiSans" pitchFamily="34" charset="-122"/>
                <a:cs typeface="MiSans" pitchFamily="34" charset="-120"/>
              </a:rPr>
              <a:t>SECTION V</a:t>
            </a:r>
            <a:endParaRPr lang="en-US" sz="1600" dirty="0"/>
          </a:p>
        </p:txBody>
      </p:sp>
      <p:sp>
        <p:nvSpPr>
          <p:cNvPr id="6" name="Text 3"/>
          <p:cNvSpPr/>
          <p:nvPr/>
        </p:nvSpPr>
        <p:spPr>
          <a:xfrm>
            <a:off x="381000" y="2047875"/>
            <a:ext cx="11715750" cy="1428750"/>
          </a:xfrm>
          <a:prstGeom prst="rect">
            <a:avLst/>
          </a:prstGeom>
          <a:noFill/>
          <a:ln/>
        </p:spPr>
        <p:txBody>
          <a:bodyPr wrap="square" lIns="0" tIns="0" rIns="0" bIns="0" rtlCol="0" anchor="ctr"/>
          <a:lstStyle/>
          <a:p>
            <a:pPr>
              <a:lnSpc>
                <a:spcPct val="100000"/>
              </a:lnSpc>
            </a:pPr>
            <a:r>
              <a:rPr lang="en-US" sz="4500" b="1" dirty="0">
                <a:solidFill>
                  <a:srgbClr val="F8F9FA"/>
                </a:solidFill>
                <a:latin typeface="MiSans" pitchFamily="34" charset="0"/>
                <a:ea typeface="MiSans" pitchFamily="34" charset="-122"/>
                <a:cs typeface="MiSans" pitchFamily="34" charset="-120"/>
              </a:rPr>
              <a:t>Further Reading</a:t>
            </a:r>
            <a:endParaRPr lang="en-US" sz="1600" dirty="0"/>
          </a:p>
          <a:p>
            <a:pPr>
              <a:lnSpc>
                <a:spcPct val="100000"/>
              </a:lnSpc>
            </a:pPr>
            <a:r>
              <a:rPr lang="en-US" sz="4500" b="1" dirty="0">
                <a:solidFill>
                  <a:srgbClr val="C49A2C"/>
                </a:solidFill>
                <a:latin typeface="MiSans" pitchFamily="34" charset="0"/>
                <a:ea typeface="MiSans" pitchFamily="34" charset="-122"/>
                <a:cs typeface="MiSans" pitchFamily="34" charset="-120"/>
              </a:rPr>
              <a:t>and Close</a:t>
            </a:r>
            <a:endParaRPr lang="en-US" sz="1600" dirty="0"/>
          </a:p>
        </p:txBody>
      </p:sp>
      <p:sp>
        <p:nvSpPr>
          <p:cNvPr id="7" name="Shape 4"/>
          <p:cNvSpPr/>
          <p:nvPr/>
        </p:nvSpPr>
        <p:spPr>
          <a:xfrm>
            <a:off x="381000" y="3705225"/>
            <a:ext cx="1524000" cy="57150"/>
          </a:xfrm>
          <a:custGeom>
            <a:avLst/>
            <a:gdLst/>
            <a:ahLst/>
            <a:cxnLst/>
            <a:rect l="l" t="t" r="r" b="b"/>
            <a:pathLst>
              <a:path w="1524000" h="57150">
                <a:moveTo>
                  <a:pt x="0" y="0"/>
                </a:moveTo>
                <a:lnTo>
                  <a:pt x="1524000" y="0"/>
                </a:lnTo>
                <a:lnTo>
                  <a:pt x="1524000" y="57150"/>
                </a:lnTo>
                <a:lnTo>
                  <a:pt x="0" y="57150"/>
                </a:lnTo>
                <a:lnTo>
                  <a:pt x="0" y="0"/>
                </a:lnTo>
                <a:close/>
              </a:path>
            </a:pathLst>
          </a:custGeom>
          <a:solidFill>
            <a:srgbClr val="C49A2C"/>
          </a:solidFill>
          <a:ln/>
        </p:spPr>
      </p:sp>
      <p:sp>
        <p:nvSpPr>
          <p:cNvPr id="8" name="Text 5"/>
          <p:cNvSpPr/>
          <p:nvPr/>
        </p:nvSpPr>
        <p:spPr>
          <a:xfrm>
            <a:off x="381000" y="3990975"/>
            <a:ext cx="7429500" cy="742950"/>
          </a:xfrm>
          <a:prstGeom prst="rect">
            <a:avLst/>
          </a:prstGeom>
          <a:noFill/>
          <a:ln/>
        </p:spPr>
        <p:txBody>
          <a:bodyPr wrap="square" lIns="0" tIns="0" rIns="0" bIns="0" rtlCol="0" anchor="ctr"/>
          <a:lstStyle/>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Bibliographic Resources, Contact Information,</a:t>
            </a:r>
            <a:endParaRPr lang="en-US" sz="1600" dirty="0"/>
          </a:p>
          <a:p>
            <a:pPr>
              <a:lnSpc>
                <a:spcPct val="140000"/>
              </a:lnSpc>
            </a:pPr>
            <a:r>
              <a:rPr lang="en-US" sz="1800" dirty="0">
                <a:solidFill>
                  <a:srgbClr val="F8F9FA">
                    <a:alpha val="90000"/>
                  </a:srgbClr>
                </a:solidFill>
                <a:latin typeface="MiSans" pitchFamily="34" charset="0"/>
                <a:ea typeface="MiSans" pitchFamily="34" charset="-122"/>
                <a:cs typeface="MiSans" pitchFamily="34" charset="-120"/>
              </a:rPr>
              <a:t>and Concluding Remarks</a:t>
            </a:r>
            <a:endParaRPr lang="en-US" sz="1600" dirty="0"/>
          </a:p>
        </p:txBody>
      </p:sp>
      <p:sp>
        <p:nvSpPr>
          <p:cNvPr id="9" name="Shape 6"/>
          <p:cNvSpPr/>
          <p:nvPr/>
        </p:nvSpPr>
        <p:spPr>
          <a:xfrm>
            <a:off x="409575" y="5191125"/>
            <a:ext cx="228600" cy="228600"/>
          </a:xfrm>
          <a:custGeom>
            <a:avLst/>
            <a:gdLst/>
            <a:ahLst/>
            <a:cxnLst/>
            <a:rect l="l" t="t" r="r" b="b"/>
            <a:pathLst>
              <a:path w="228600" h="228600">
                <a:moveTo>
                  <a:pt x="114300" y="63088"/>
                </a:moveTo>
                <a:lnTo>
                  <a:pt x="114300" y="201186"/>
                </a:lnTo>
                <a:lnTo>
                  <a:pt x="114523" y="201097"/>
                </a:lnTo>
                <a:cubicBezTo>
                  <a:pt x="138901" y="190961"/>
                  <a:pt x="165065" y="185738"/>
                  <a:pt x="191453" y="185738"/>
                </a:cubicBezTo>
                <a:lnTo>
                  <a:pt x="200025" y="185738"/>
                </a:lnTo>
                <a:lnTo>
                  <a:pt x="200025" y="42863"/>
                </a:lnTo>
                <a:lnTo>
                  <a:pt x="191453" y="42863"/>
                </a:lnTo>
                <a:cubicBezTo>
                  <a:pt x="172611" y="42863"/>
                  <a:pt x="153903" y="46613"/>
                  <a:pt x="136490" y="53846"/>
                </a:cubicBezTo>
                <a:cubicBezTo>
                  <a:pt x="128989" y="56971"/>
                  <a:pt x="121578" y="60052"/>
                  <a:pt x="114300" y="63088"/>
                </a:cubicBezTo>
                <a:close/>
                <a:moveTo>
                  <a:pt x="103093" y="27459"/>
                </a:moveTo>
                <a:lnTo>
                  <a:pt x="114300" y="32147"/>
                </a:lnTo>
                <a:lnTo>
                  <a:pt x="125507" y="27459"/>
                </a:lnTo>
                <a:cubicBezTo>
                  <a:pt x="146402" y="18752"/>
                  <a:pt x="168816" y="14288"/>
                  <a:pt x="191453" y="14288"/>
                </a:cubicBezTo>
                <a:lnTo>
                  <a:pt x="207169" y="14288"/>
                </a:lnTo>
                <a:cubicBezTo>
                  <a:pt x="219001" y="14288"/>
                  <a:pt x="228600" y="23887"/>
                  <a:pt x="228600" y="35719"/>
                </a:cubicBezTo>
                <a:lnTo>
                  <a:pt x="228600" y="192881"/>
                </a:lnTo>
                <a:cubicBezTo>
                  <a:pt x="228600" y="204713"/>
                  <a:pt x="219001" y="214313"/>
                  <a:pt x="207169" y="214313"/>
                </a:cubicBezTo>
                <a:lnTo>
                  <a:pt x="191453" y="214313"/>
                </a:lnTo>
                <a:cubicBezTo>
                  <a:pt x="168816" y="214313"/>
                  <a:pt x="146402" y="218777"/>
                  <a:pt x="125507" y="227484"/>
                </a:cubicBezTo>
                <a:lnTo>
                  <a:pt x="119792" y="229850"/>
                </a:lnTo>
                <a:cubicBezTo>
                  <a:pt x="116265" y="231324"/>
                  <a:pt x="112335" y="231324"/>
                  <a:pt x="108808" y="229850"/>
                </a:cubicBezTo>
                <a:lnTo>
                  <a:pt x="103093" y="227484"/>
                </a:lnTo>
                <a:cubicBezTo>
                  <a:pt x="82198" y="218777"/>
                  <a:pt x="59784" y="214313"/>
                  <a:pt x="37148" y="214313"/>
                </a:cubicBezTo>
                <a:lnTo>
                  <a:pt x="21431" y="214313"/>
                </a:lnTo>
                <a:cubicBezTo>
                  <a:pt x="9599" y="214313"/>
                  <a:pt x="0" y="204713"/>
                  <a:pt x="0" y="192881"/>
                </a:cubicBezTo>
                <a:lnTo>
                  <a:pt x="0" y="35719"/>
                </a:lnTo>
                <a:cubicBezTo>
                  <a:pt x="0" y="23887"/>
                  <a:pt x="9599" y="14288"/>
                  <a:pt x="21431" y="14288"/>
                </a:cubicBezTo>
                <a:lnTo>
                  <a:pt x="37148" y="14288"/>
                </a:lnTo>
                <a:cubicBezTo>
                  <a:pt x="59784" y="14288"/>
                  <a:pt x="82198" y="18752"/>
                  <a:pt x="103093" y="27459"/>
                </a:cubicBezTo>
                <a:close/>
              </a:path>
            </a:pathLst>
          </a:custGeom>
          <a:solidFill>
            <a:srgbClr val="C49A2C"/>
          </a:solidFill>
          <a:ln/>
        </p:spPr>
      </p:sp>
      <p:sp>
        <p:nvSpPr>
          <p:cNvPr id="10" name="Text 7"/>
          <p:cNvSpPr/>
          <p:nvPr/>
        </p:nvSpPr>
        <p:spPr>
          <a:xfrm>
            <a:off x="819150" y="5191125"/>
            <a:ext cx="4133850" cy="228600"/>
          </a:xfrm>
          <a:prstGeom prst="rect">
            <a:avLst/>
          </a:prstGeom>
          <a:noFill/>
          <a:ln/>
        </p:spPr>
        <p:txBody>
          <a:bodyPr wrap="square" lIns="0" tIns="0" rIns="0" bIns="0" rtlCol="0" anchor="ctr"/>
          <a:lstStyle/>
          <a:p>
            <a:pPr>
              <a:lnSpc>
                <a:spcPct val="130000"/>
              </a:lnSpc>
            </a:pPr>
            <a:r>
              <a:rPr lang="en-US" sz="1200" dirty="0">
                <a:solidFill>
                  <a:srgbClr val="F8F9FA">
                    <a:alpha val="70000"/>
                  </a:srgbClr>
                </a:solidFill>
                <a:latin typeface="MiSans" pitchFamily="34" charset="0"/>
                <a:ea typeface="MiSans" pitchFamily="34" charset="-122"/>
                <a:cs typeface="MiSans" pitchFamily="34" charset="-120"/>
              </a:rPr>
              <a:t>Slides 41–46 | Bibliography • Contact • Closing Remarks</a:t>
            </a:r>
            <a:endParaRPr lang="en-US" sz="16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68617" y="368617"/>
            <a:ext cx="73723" cy="442340"/>
          </a:xfrm>
          <a:custGeom>
            <a:avLst/>
            <a:gdLst/>
            <a:ahLst/>
            <a:cxnLst/>
            <a:rect l="l" t="t" r="r" b="b"/>
            <a:pathLst>
              <a:path w="73723" h="442340">
                <a:moveTo>
                  <a:pt x="0" y="0"/>
                </a:moveTo>
                <a:lnTo>
                  <a:pt x="73723" y="0"/>
                </a:lnTo>
                <a:lnTo>
                  <a:pt x="73723" y="442340"/>
                </a:lnTo>
                <a:lnTo>
                  <a:pt x="0" y="442340"/>
                </a:lnTo>
                <a:lnTo>
                  <a:pt x="0" y="0"/>
                </a:lnTo>
                <a:close/>
              </a:path>
            </a:pathLst>
          </a:custGeom>
          <a:solidFill>
            <a:srgbClr val="1E3A5F"/>
          </a:solidFill>
          <a:ln/>
        </p:spPr>
      </p:sp>
      <p:sp>
        <p:nvSpPr>
          <p:cNvPr id="3" name="Text 1"/>
          <p:cNvSpPr/>
          <p:nvPr/>
        </p:nvSpPr>
        <p:spPr>
          <a:xfrm>
            <a:off x="552925" y="423909"/>
            <a:ext cx="5870222" cy="331755"/>
          </a:xfrm>
          <a:prstGeom prst="rect">
            <a:avLst/>
          </a:prstGeom>
          <a:noFill/>
          <a:ln/>
        </p:spPr>
        <p:txBody>
          <a:bodyPr wrap="square" lIns="0" tIns="0" rIns="0" bIns="0" rtlCol="0" anchor="ctr"/>
          <a:lstStyle/>
          <a:p>
            <a:pPr>
              <a:lnSpc>
                <a:spcPct val="100000"/>
              </a:lnSpc>
            </a:pPr>
            <a:r>
              <a:rPr lang="en-US" sz="2177" b="1" dirty="0">
                <a:solidFill>
                  <a:srgbClr val="1E3A5F"/>
                </a:solidFill>
                <a:latin typeface="MiSans" pitchFamily="34" charset="0"/>
                <a:ea typeface="MiSans" pitchFamily="34" charset="-122"/>
                <a:cs typeface="MiSans" pitchFamily="34" charset="-120"/>
              </a:rPr>
              <a:t>Core Bibliography: Theoretical Foundations</a:t>
            </a:r>
            <a:endParaRPr lang="en-US" sz="1600" dirty="0"/>
          </a:p>
        </p:txBody>
      </p:sp>
      <p:sp>
        <p:nvSpPr>
          <p:cNvPr id="4" name="Shape 2"/>
          <p:cNvSpPr/>
          <p:nvPr/>
        </p:nvSpPr>
        <p:spPr>
          <a:xfrm>
            <a:off x="368617" y="1050558"/>
            <a:ext cx="5649052" cy="2635610"/>
          </a:xfrm>
          <a:custGeom>
            <a:avLst/>
            <a:gdLst/>
            <a:ahLst/>
            <a:cxnLst/>
            <a:rect l="l" t="t" r="r" b="b"/>
            <a:pathLst>
              <a:path w="5649052" h="2635610">
                <a:moveTo>
                  <a:pt x="0" y="0"/>
                </a:moveTo>
                <a:lnTo>
                  <a:pt x="5649052" y="0"/>
                </a:lnTo>
                <a:lnTo>
                  <a:pt x="5649052" y="2635610"/>
                </a:lnTo>
                <a:lnTo>
                  <a:pt x="0" y="2635610"/>
                </a:lnTo>
                <a:lnTo>
                  <a:pt x="0" y="0"/>
                </a:lnTo>
                <a:close/>
              </a:path>
            </a:pathLst>
          </a:custGeom>
          <a:solidFill>
            <a:srgbClr val="FFFFFF"/>
          </a:solidFill>
          <a:ln/>
        </p:spPr>
      </p:sp>
      <p:sp>
        <p:nvSpPr>
          <p:cNvPr id="5" name="Shape 3"/>
          <p:cNvSpPr/>
          <p:nvPr/>
        </p:nvSpPr>
        <p:spPr>
          <a:xfrm>
            <a:off x="368617" y="1050558"/>
            <a:ext cx="5649052" cy="36862"/>
          </a:xfrm>
          <a:custGeom>
            <a:avLst/>
            <a:gdLst/>
            <a:ahLst/>
            <a:cxnLst/>
            <a:rect l="l" t="t" r="r" b="b"/>
            <a:pathLst>
              <a:path w="5649052" h="36862">
                <a:moveTo>
                  <a:pt x="0" y="0"/>
                </a:moveTo>
                <a:lnTo>
                  <a:pt x="5649052" y="0"/>
                </a:lnTo>
                <a:lnTo>
                  <a:pt x="5649052" y="36862"/>
                </a:lnTo>
                <a:lnTo>
                  <a:pt x="0" y="36862"/>
                </a:lnTo>
                <a:lnTo>
                  <a:pt x="0" y="0"/>
                </a:lnTo>
                <a:close/>
              </a:path>
            </a:pathLst>
          </a:custGeom>
          <a:solidFill>
            <a:srgbClr val="1E3A5F"/>
          </a:solidFill>
          <a:ln/>
        </p:spPr>
      </p:sp>
      <p:sp>
        <p:nvSpPr>
          <p:cNvPr id="6" name="Text 4"/>
          <p:cNvSpPr/>
          <p:nvPr/>
        </p:nvSpPr>
        <p:spPr>
          <a:xfrm>
            <a:off x="516063" y="1216435"/>
            <a:ext cx="5437098" cy="258032"/>
          </a:xfrm>
          <a:prstGeom prst="rect">
            <a:avLst/>
          </a:prstGeom>
          <a:noFill/>
          <a:ln/>
        </p:spPr>
        <p:txBody>
          <a:bodyPr wrap="square" lIns="0" tIns="0" rIns="0" bIns="0" rtlCol="0" anchor="ctr"/>
          <a:lstStyle/>
          <a:p>
            <a:pPr>
              <a:lnSpc>
                <a:spcPct val="130000"/>
              </a:lnSpc>
            </a:pPr>
            <a:r>
              <a:rPr lang="en-US" sz="1306" b="1" dirty="0">
                <a:solidFill>
                  <a:srgbClr val="1E3A5F"/>
                </a:solidFill>
                <a:latin typeface="MiSans" pitchFamily="34" charset="0"/>
                <a:ea typeface="MiSans" pitchFamily="34" charset="-122"/>
                <a:cs typeface="MiSans" pitchFamily="34" charset="-120"/>
              </a:rPr>
              <a:t>Taxonomy and Cognitive Frameworks</a:t>
            </a:r>
            <a:endParaRPr lang="en-US" sz="1600" dirty="0"/>
          </a:p>
        </p:txBody>
      </p:sp>
      <p:sp>
        <p:nvSpPr>
          <p:cNvPr id="7" name="Shape 5"/>
          <p:cNvSpPr/>
          <p:nvPr/>
        </p:nvSpPr>
        <p:spPr>
          <a:xfrm>
            <a:off x="534494" y="1585052"/>
            <a:ext cx="5335728" cy="939973"/>
          </a:xfrm>
          <a:custGeom>
            <a:avLst/>
            <a:gdLst/>
            <a:ahLst/>
            <a:cxnLst/>
            <a:rect l="l" t="t" r="r" b="b"/>
            <a:pathLst>
              <a:path w="5335728" h="939973">
                <a:moveTo>
                  <a:pt x="0" y="0"/>
                </a:moveTo>
                <a:lnTo>
                  <a:pt x="5335728" y="0"/>
                </a:lnTo>
                <a:lnTo>
                  <a:pt x="5335728" y="939973"/>
                </a:lnTo>
                <a:lnTo>
                  <a:pt x="0" y="939973"/>
                </a:lnTo>
                <a:lnTo>
                  <a:pt x="0" y="0"/>
                </a:lnTo>
                <a:close/>
              </a:path>
            </a:pathLst>
          </a:custGeom>
          <a:solidFill>
            <a:srgbClr val="F8F9FA"/>
          </a:solidFill>
          <a:ln/>
        </p:spPr>
      </p:sp>
      <p:sp>
        <p:nvSpPr>
          <p:cNvPr id="8" name="Shape 6"/>
          <p:cNvSpPr/>
          <p:nvPr/>
        </p:nvSpPr>
        <p:spPr>
          <a:xfrm>
            <a:off x="534494" y="1585052"/>
            <a:ext cx="36862" cy="939973"/>
          </a:xfrm>
          <a:custGeom>
            <a:avLst/>
            <a:gdLst/>
            <a:ahLst/>
            <a:cxnLst/>
            <a:rect l="l" t="t" r="r" b="b"/>
            <a:pathLst>
              <a:path w="36862" h="939973">
                <a:moveTo>
                  <a:pt x="0" y="0"/>
                </a:moveTo>
                <a:lnTo>
                  <a:pt x="36862" y="0"/>
                </a:lnTo>
                <a:lnTo>
                  <a:pt x="36862" y="939973"/>
                </a:lnTo>
                <a:lnTo>
                  <a:pt x="0" y="939973"/>
                </a:lnTo>
                <a:lnTo>
                  <a:pt x="0" y="0"/>
                </a:lnTo>
                <a:close/>
              </a:path>
            </a:pathLst>
          </a:custGeom>
          <a:solidFill>
            <a:srgbClr val="1E3A5F"/>
          </a:solidFill>
          <a:ln/>
        </p:spPr>
      </p:sp>
      <p:sp>
        <p:nvSpPr>
          <p:cNvPr id="9" name="Text 7"/>
          <p:cNvSpPr/>
          <p:nvPr/>
        </p:nvSpPr>
        <p:spPr>
          <a:xfrm>
            <a:off x="663510" y="1695637"/>
            <a:ext cx="5169850" cy="718803"/>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Anderson, L. W., &amp; Krathwohl, D. R. (Eds.). (2001). A Taxonomy for Learning, Teaching, and Assessing: A Revision of Bloom's Taxonomy of Educational Objectives. New York: Longman.</a:t>
            </a:r>
            <a:endParaRPr lang="en-US" sz="1600" dirty="0"/>
          </a:p>
        </p:txBody>
      </p:sp>
      <p:sp>
        <p:nvSpPr>
          <p:cNvPr id="10" name="Shape 8"/>
          <p:cNvSpPr/>
          <p:nvPr/>
        </p:nvSpPr>
        <p:spPr>
          <a:xfrm>
            <a:off x="534494" y="2598748"/>
            <a:ext cx="5335728" cy="939973"/>
          </a:xfrm>
          <a:custGeom>
            <a:avLst/>
            <a:gdLst/>
            <a:ahLst/>
            <a:cxnLst/>
            <a:rect l="l" t="t" r="r" b="b"/>
            <a:pathLst>
              <a:path w="5335728" h="939973">
                <a:moveTo>
                  <a:pt x="0" y="0"/>
                </a:moveTo>
                <a:lnTo>
                  <a:pt x="5335728" y="0"/>
                </a:lnTo>
                <a:lnTo>
                  <a:pt x="5335728" y="939973"/>
                </a:lnTo>
                <a:lnTo>
                  <a:pt x="0" y="939973"/>
                </a:lnTo>
                <a:lnTo>
                  <a:pt x="0" y="0"/>
                </a:lnTo>
                <a:close/>
              </a:path>
            </a:pathLst>
          </a:custGeom>
          <a:solidFill>
            <a:srgbClr val="F8F9FA"/>
          </a:solidFill>
          <a:ln/>
        </p:spPr>
      </p:sp>
      <p:sp>
        <p:nvSpPr>
          <p:cNvPr id="11" name="Shape 9"/>
          <p:cNvSpPr/>
          <p:nvPr/>
        </p:nvSpPr>
        <p:spPr>
          <a:xfrm>
            <a:off x="534494" y="2598748"/>
            <a:ext cx="36862" cy="939973"/>
          </a:xfrm>
          <a:custGeom>
            <a:avLst/>
            <a:gdLst/>
            <a:ahLst/>
            <a:cxnLst/>
            <a:rect l="l" t="t" r="r" b="b"/>
            <a:pathLst>
              <a:path w="36862" h="939973">
                <a:moveTo>
                  <a:pt x="0" y="0"/>
                </a:moveTo>
                <a:lnTo>
                  <a:pt x="36862" y="0"/>
                </a:lnTo>
                <a:lnTo>
                  <a:pt x="36862" y="939973"/>
                </a:lnTo>
                <a:lnTo>
                  <a:pt x="0" y="939973"/>
                </a:lnTo>
                <a:lnTo>
                  <a:pt x="0" y="0"/>
                </a:lnTo>
                <a:close/>
              </a:path>
            </a:pathLst>
          </a:custGeom>
          <a:solidFill>
            <a:srgbClr val="1E3A5F"/>
          </a:solidFill>
          <a:ln/>
        </p:spPr>
      </p:sp>
      <p:sp>
        <p:nvSpPr>
          <p:cNvPr id="12" name="Text 10"/>
          <p:cNvSpPr/>
          <p:nvPr/>
        </p:nvSpPr>
        <p:spPr>
          <a:xfrm>
            <a:off x="663510" y="2709333"/>
            <a:ext cx="5169850" cy="718803"/>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Bloom, B. S. (Ed.). (1956). Taxonomy of Educational Objectives: The Classification of Educational Goals. Handbook I: Cognitive Domain. New York: David McKay.</a:t>
            </a:r>
            <a:endParaRPr lang="en-US" sz="1600" dirty="0"/>
          </a:p>
        </p:txBody>
      </p:sp>
      <p:sp>
        <p:nvSpPr>
          <p:cNvPr id="13" name="Shape 11"/>
          <p:cNvSpPr/>
          <p:nvPr/>
        </p:nvSpPr>
        <p:spPr>
          <a:xfrm>
            <a:off x="368617" y="3815184"/>
            <a:ext cx="5649052" cy="2396009"/>
          </a:xfrm>
          <a:custGeom>
            <a:avLst/>
            <a:gdLst/>
            <a:ahLst/>
            <a:cxnLst/>
            <a:rect l="l" t="t" r="r" b="b"/>
            <a:pathLst>
              <a:path w="5649052" h="2396009">
                <a:moveTo>
                  <a:pt x="0" y="0"/>
                </a:moveTo>
                <a:lnTo>
                  <a:pt x="5649052" y="0"/>
                </a:lnTo>
                <a:lnTo>
                  <a:pt x="5649052" y="2396009"/>
                </a:lnTo>
                <a:lnTo>
                  <a:pt x="0" y="2396009"/>
                </a:lnTo>
                <a:lnTo>
                  <a:pt x="0" y="0"/>
                </a:lnTo>
                <a:close/>
              </a:path>
            </a:pathLst>
          </a:custGeom>
          <a:solidFill>
            <a:srgbClr val="FFFFFF"/>
          </a:solidFill>
          <a:ln/>
        </p:spPr>
      </p:sp>
      <p:sp>
        <p:nvSpPr>
          <p:cNvPr id="14" name="Shape 12"/>
          <p:cNvSpPr/>
          <p:nvPr/>
        </p:nvSpPr>
        <p:spPr>
          <a:xfrm>
            <a:off x="368617" y="3815184"/>
            <a:ext cx="5649052" cy="36862"/>
          </a:xfrm>
          <a:custGeom>
            <a:avLst/>
            <a:gdLst/>
            <a:ahLst/>
            <a:cxnLst/>
            <a:rect l="l" t="t" r="r" b="b"/>
            <a:pathLst>
              <a:path w="5649052" h="36862">
                <a:moveTo>
                  <a:pt x="0" y="0"/>
                </a:moveTo>
                <a:lnTo>
                  <a:pt x="5649052" y="0"/>
                </a:lnTo>
                <a:lnTo>
                  <a:pt x="5649052" y="36862"/>
                </a:lnTo>
                <a:lnTo>
                  <a:pt x="0" y="36862"/>
                </a:lnTo>
                <a:lnTo>
                  <a:pt x="0" y="0"/>
                </a:lnTo>
                <a:close/>
              </a:path>
            </a:pathLst>
          </a:custGeom>
          <a:solidFill>
            <a:srgbClr val="C49A2C"/>
          </a:solidFill>
          <a:ln/>
        </p:spPr>
      </p:sp>
      <p:sp>
        <p:nvSpPr>
          <p:cNvPr id="15" name="Text 13"/>
          <p:cNvSpPr/>
          <p:nvPr/>
        </p:nvSpPr>
        <p:spPr>
          <a:xfrm>
            <a:off x="516063" y="3981061"/>
            <a:ext cx="5437098" cy="258032"/>
          </a:xfrm>
          <a:prstGeom prst="rect">
            <a:avLst/>
          </a:prstGeom>
          <a:noFill/>
          <a:ln/>
        </p:spPr>
        <p:txBody>
          <a:bodyPr wrap="square" lIns="0" tIns="0" rIns="0" bIns="0" rtlCol="0" anchor="ctr"/>
          <a:lstStyle/>
          <a:p>
            <a:pPr>
              <a:lnSpc>
                <a:spcPct val="130000"/>
              </a:lnSpc>
            </a:pPr>
            <a:r>
              <a:rPr lang="en-US" sz="1306" b="1" dirty="0">
                <a:solidFill>
                  <a:srgbClr val="1E3A5F"/>
                </a:solidFill>
                <a:latin typeface="MiSans" pitchFamily="34" charset="0"/>
                <a:ea typeface="MiSans" pitchFamily="34" charset="-122"/>
                <a:cs typeface="MiSans" pitchFamily="34" charset="-120"/>
              </a:rPr>
              <a:t>Formative Assessment</a:t>
            </a:r>
            <a:endParaRPr lang="en-US" sz="1600" dirty="0"/>
          </a:p>
        </p:txBody>
      </p:sp>
      <p:sp>
        <p:nvSpPr>
          <p:cNvPr id="16" name="Shape 14"/>
          <p:cNvSpPr/>
          <p:nvPr/>
        </p:nvSpPr>
        <p:spPr>
          <a:xfrm>
            <a:off x="534494" y="4349678"/>
            <a:ext cx="5335728" cy="700372"/>
          </a:xfrm>
          <a:custGeom>
            <a:avLst/>
            <a:gdLst/>
            <a:ahLst/>
            <a:cxnLst/>
            <a:rect l="l" t="t" r="r" b="b"/>
            <a:pathLst>
              <a:path w="5335728" h="700372">
                <a:moveTo>
                  <a:pt x="0" y="0"/>
                </a:moveTo>
                <a:lnTo>
                  <a:pt x="5335728" y="0"/>
                </a:lnTo>
                <a:lnTo>
                  <a:pt x="5335728" y="700372"/>
                </a:lnTo>
                <a:lnTo>
                  <a:pt x="0" y="700372"/>
                </a:lnTo>
                <a:lnTo>
                  <a:pt x="0" y="0"/>
                </a:lnTo>
                <a:close/>
              </a:path>
            </a:pathLst>
          </a:custGeom>
          <a:solidFill>
            <a:srgbClr val="F8F9FA"/>
          </a:solidFill>
          <a:ln/>
        </p:spPr>
      </p:sp>
      <p:sp>
        <p:nvSpPr>
          <p:cNvPr id="17" name="Shape 15"/>
          <p:cNvSpPr/>
          <p:nvPr/>
        </p:nvSpPr>
        <p:spPr>
          <a:xfrm>
            <a:off x="534494" y="4349678"/>
            <a:ext cx="36862" cy="700372"/>
          </a:xfrm>
          <a:custGeom>
            <a:avLst/>
            <a:gdLst/>
            <a:ahLst/>
            <a:cxnLst/>
            <a:rect l="l" t="t" r="r" b="b"/>
            <a:pathLst>
              <a:path w="36862" h="700372">
                <a:moveTo>
                  <a:pt x="0" y="0"/>
                </a:moveTo>
                <a:lnTo>
                  <a:pt x="36862" y="0"/>
                </a:lnTo>
                <a:lnTo>
                  <a:pt x="36862" y="700372"/>
                </a:lnTo>
                <a:lnTo>
                  <a:pt x="0" y="700372"/>
                </a:lnTo>
                <a:lnTo>
                  <a:pt x="0" y="0"/>
                </a:lnTo>
                <a:close/>
              </a:path>
            </a:pathLst>
          </a:custGeom>
          <a:solidFill>
            <a:srgbClr val="C49A2C"/>
          </a:solidFill>
          <a:ln/>
        </p:spPr>
      </p:sp>
      <p:sp>
        <p:nvSpPr>
          <p:cNvPr id="18" name="Text 16"/>
          <p:cNvSpPr/>
          <p:nvPr/>
        </p:nvSpPr>
        <p:spPr>
          <a:xfrm>
            <a:off x="663510" y="4460263"/>
            <a:ext cx="5169850" cy="479202"/>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Black, P., &amp; Wiliam, D. (1998). Assessment and Classroom Learning. Assessment in Education: Principles, Policy &amp; Practice, 5(1), 7–74.</a:t>
            </a:r>
            <a:endParaRPr lang="en-US" sz="1600" dirty="0"/>
          </a:p>
        </p:txBody>
      </p:sp>
      <p:sp>
        <p:nvSpPr>
          <p:cNvPr id="19" name="Shape 17"/>
          <p:cNvSpPr/>
          <p:nvPr/>
        </p:nvSpPr>
        <p:spPr>
          <a:xfrm>
            <a:off x="534494" y="5123773"/>
            <a:ext cx="5335728" cy="939973"/>
          </a:xfrm>
          <a:custGeom>
            <a:avLst/>
            <a:gdLst/>
            <a:ahLst/>
            <a:cxnLst/>
            <a:rect l="l" t="t" r="r" b="b"/>
            <a:pathLst>
              <a:path w="5335728" h="939973">
                <a:moveTo>
                  <a:pt x="0" y="0"/>
                </a:moveTo>
                <a:lnTo>
                  <a:pt x="5335728" y="0"/>
                </a:lnTo>
                <a:lnTo>
                  <a:pt x="5335728" y="939973"/>
                </a:lnTo>
                <a:lnTo>
                  <a:pt x="0" y="939973"/>
                </a:lnTo>
                <a:lnTo>
                  <a:pt x="0" y="0"/>
                </a:lnTo>
                <a:close/>
              </a:path>
            </a:pathLst>
          </a:custGeom>
          <a:solidFill>
            <a:srgbClr val="F8F9FA"/>
          </a:solidFill>
          <a:ln/>
        </p:spPr>
      </p:sp>
      <p:sp>
        <p:nvSpPr>
          <p:cNvPr id="20" name="Shape 18"/>
          <p:cNvSpPr/>
          <p:nvPr/>
        </p:nvSpPr>
        <p:spPr>
          <a:xfrm>
            <a:off x="534494" y="5123773"/>
            <a:ext cx="36862" cy="939973"/>
          </a:xfrm>
          <a:custGeom>
            <a:avLst/>
            <a:gdLst/>
            <a:ahLst/>
            <a:cxnLst/>
            <a:rect l="l" t="t" r="r" b="b"/>
            <a:pathLst>
              <a:path w="36862" h="939973">
                <a:moveTo>
                  <a:pt x="0" y="0"/>
                </a:moveTo>
                <a:lnTo>
                  <a:pt x="36862" y="0"/>
                </a:lnTo>
                <a:lnTo>
                  <a:pt x="36862" y="939973"/>
                </a:lnTo>
                <a:lnTo>
                  <a:pt x="0" y="939973"/>
                </a:lnTo>
                <a:lnTo>
                  <a:pt x="0" y="0"/>
                </a:lnTo>
                <a:close/>
              </a:path>
            </a:pathLst>
          </a:custGeom>
          <a:solidFill>
            <a:srgbClr val="C49A2C"/>
          </a:solidFill>
          <a:ln/>
        </p:spPr>
      </p:sp>
      <p:sp>
        <p:nvSpPr>
          <p:cNvPr id="21" name="Text 19"/>
          <p:cNvSpPr/>
          <p:nvPr/>
        </p:nvSpPr>
        <p:spPr>
          <a:xfrm>
            <a:off x="663510" y="5234358"/>
            <a:ext cx="5169850" cy="718803"/>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Black, P., &amp; Wiliam, D. (1998). Inside the Black Box: Raising Standards Through Classroom Assessment. London: School of Education, King's College.</a:t>
            </a:r>
            <a:endParaRPr lang="en-US" sz="1600" dirty="0"/>
          </a:p>
        </p:txBody>
      </p:sp>
      <p:sp>
        <p:nvSpPr>
          <p:cNvPr id="22" name="Shape 20"/>
          <p:cNvSpPr/>
          <p:nvPr/>
        </p:nvSpPr>
        <p:spPr>
          <a:xfrm>
            <a:off x="6168187" y="1050558"/>
            <a:ext cx="5649052" cy="2156408"/>
          </a:xfrm>
          <a:custGeom>
            <a:avLst/>
            <a:gdLst/>
            <a:ahLst/>
            <a:cxnLst/>
            <a:rect l="l" t="t" r="r" b="b"/>
            <a:pathLst>
              <a:path w="5649052" h="2156408">
                <a:moveTo>
                  <a:pt x="0" y="0"/>
                </a:moveTo>
                <a:lnTo>
                  <a:pt x="5649052" y="0"/>
                </a:lnTo>
                <a:lnTo>
                  <a:pt x="5649052" y="2156408"/>
                </a:lnTo>
                <a:lnTo>
                  <a:pt x="0" y="2156408"/>
                </a:lnTo>
                <a:lnTo>
                  <a:pt x="0" y="0"/>
                </a:lnTo>
                <a:close/>
              </a:path>
            </a:pathLst>
          </a:custGeom>
          <a:solidFill>
            <a:srgbClr val="FFFFFF"/>
          </a:solidFill>
          <a:ln/>
        </p:spPr>
      </p:sp>
      <p:sp>
        <p:nvSpPr>
          <p:cNvPr id="23" name="Shape 21"/>
          <p:cNvSpPr/>
          <p:nvPr/>
        </p:nvSpPr>
        <p:spPr>
          <a:xfrm>
            <a:off x="6168187" y="1050558"/>
            <a:ext cx="5649052" cy="36862"/>
          </a:xfrm>
          <a:custGeom>
            <a:avLst/>
            <a:gdLst/>
            <a:ahLst/>
            <a:cxnLst/>
            <a:rect l="l" t="t" r="r" b="b"/>
            <a:pathLst>
              <a:path w="5649052" h="36862">
                <a:moveTo>
                  <a:pt x="0" y="0"/>
                </a:moveTo>
                <a:lnTo>
                  <a:pt x="5649052" y="0"/>
                </a:lnTo>
                <a:lnTo>
                  <a:pt x="5649052" y="36862"/>
                </a:lnTo>
                <a:lnTo>
                  <a:pt x="0" y="36862"/>
                </a:lnTo>
                <a:lnTo>
                  <a:pt x="0" y="0"/>
                </a:lnTo>
                <a:close/>
              </a:path>
            </a:pathLst>
          </a:custGeom>
          <a:solidFill>
            <a:srgbClr val="1E3A5F"/>
          </a:solidFill>
          <a:ln/>
        </p:spPr>
      </p:sp>
      <p:sp>
        <p:nvSpPr>
          <p:cNvPr id="24" name="Text 22"/>
          <p:cNvSpPr/>
          <p:nvPr/>
        </p:nvSpPr>
        <p:spPr>
          <a:xfrm>
            <a:off x="6315634" y="1216435"/>
            <a:ext cx="5437098" cy="258032"/>
          </a:xfrm>
          <a:prstGeom prst="rect">
            <a:avLst/>
          </a:prstGeom>
          <a:noFill/>
          <a:ln/>
        </p:spPr>
        <p:txBody>
          <a:bodyPr wrap="square" lIns="0" tIns="0" rIns="0" bIns="0" rtlCol="0" anchor="ctr"/>
          <a:lstStyle/>
          <a:p>
            <a:pPr>
              <a:lnSpc>
                <a:spcPct val="130000"/>
              </a:lnSpc>
            </a:pPr>
            <a:r>
              <a:rPr lang="en-US" sz="1306" b="1" dirty="0">
                <a:solidFill>
                  <a:srgbClr val="1E3A5F"/>
                </a:solidFill>
                <a:latin typeface="MiSans" pitchFamily="34" charset="0"/>
                <a:ea typeface="MiSans" pitchFamily="34" charset="-122"/>
                <a:cs typeface="MiSans" pitchFamily="34" charset="-120"/>
              </a:rPr>
              <a:t>Visible Learning and Effect Sizes</a:t>
            </a:r>
            <a:endParaRPr lang="en-US" sz="1600" dirty="0"/>
          </a:p>
        </p:txBody>
      </p:sp>
      <p:sp>
        <p:nvSpPr>
          <p:cNvPr id="25" name="Shape 23"/>
          <p:cNvSpPr/>
          <p:nvPr/>
        </p:nvSpPr>
        <p:spPr>
          <a:xfrm>
            <a:off x="6334065" y="1585052"/>
            <a:ext cx="5335728" cy="700372"/>
          </a:xfrm>
          <a:custGeom>
            <a:avLst/>
            <a:gdLst/>
            <a:ahLst/>
            <a:cxnLst/>
            <a:rect l="l" t="t" r="r" b="b"/>
            <a:pathLst>
              <a:path w="5335728" h="700372">
                <a:moveTo>
                  <a:pt x="0" y="0"/>
                </a:moveTo>
                <a:lnTo>
                  <a:pt x="5335728" y="0"/>
                </a:lnTo>
                <a:lnTo>
                  <a:pt x="5335728" y="700372"/>
                </a:lnTo>
                <a:lnTo>
                  <a:pt x="0" y="700372"/>
                </a:lnTo>
                <a:lnTo>
                  <a:pt x="0" y="0"/>
                </a:lnTo>
                <a:close/>
              </a:path>
            </a:pathLst>
          </a:custGeom>
          <a:solidFill>
            <a:srgbClr val="F8F9FA"/>
          </a:solidFill>
          <a:ln/>
        </p:spPr>
      </p:sp>
      <p:sp>
        <p:nvSpPr>
          <p:cNvPr id="26" name="Shape 24"/>
          <p:cNvSpPr/>
          <p:nvPr/>
        </p:nvSpPr>
        <p:spPr>
          <a:xfrm>
            <a:off x="6334065" y="1585052"/>
            <a:ext cx="36862" cy="700372"/>
          </a:xfrm>
          <a:custGeom>
            <a:avLst/>
            <a:gdLst/>
            <a:ahLst/>
            <a:cxnLst/>
            <a:rect l="l" t="t" r="r" b="b"/>
            <a:pathLst>
              <a:path w="36862" h="700372">
                <a:moveTo>
                  <a:pt x="0" y="0"/>
                </a:moveTo>
                <a:lnTo>
                  <a:pt x="36862" y="0"/>
                </a:lnTo>
                <a:lnTo>
                  <a:pt x="36862" y="700372"/>
                </a:lnTo>
                <a:lnTo>
                  <a:pt x="0" y="700372"/>
                </a:lnTo>
                <a:lnTo>
                  <a:pt x="0" y="0"/>
                </a:lnTo>
                <a:close/>
              </a:path>
            </a:pathLst>
          </a:custGeom>
          <a:solidFill>
            <a:srgbClr val="1E3A5F"/>
          </a:solidFill>
          <a:ln/>
        </p:spPr>
      </p:sp>
      <p:sp>
        <p:nvSpPr>
          <p:cNvPr id="27" name="Text 25"/>
          <p:cNvSpPr/>
          <p:nvPr/>
        </p:nvSpPr>
        <p:spPr>
          <a:xfrm>
            <a:off x="6463081" y="1695637"/>
            <a:ext cx="5169850" cy="479202"/>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Hattie, J. (2009). Visible Learning: A Synthesis of Over 800 Meta-Analyses Relating to Achievement. London: Routledge.</a:t>
            </a:r>
            <a:endParaRPr lang="en-US" sz="1600" dirty="0"/>
          </a:p>
        </p:txBody>
      </p:sp>
      <p:sp>
        <p:nvSpPr>
          <p:cNvPr id="28" name="Shape 26"/>
          <p:cNvSpPr/>
          <p:nvPr/>
        </p:nvSpPr>
        <p:spPr>
          <a:xfrm>
            <a:off x="6334065" y="2359147"/>
            <a:ext cx="5335728" cy="700372"/>
          </a:xfrm>
          <a:custGeom>
            <a:avLst/>
            <a:gdLst/>
            <a:ahLst/>
            <a:cxnLst/>
            <a:rect l="l" t="t" r="r" b="b"/>
            <a:pathLst>
              <a:path w="5335728" h="700372">
                <a:moveTo>
                  <a:pt x="0" y="0"/>
                </a:moveTo>
                <a:lnTo>
                  <a:pt x="5335728" y="0"/>
                </a:lnTo>
                <a:lnTo>
                  <a:pt x="5335728" y="700372"/>
                </a:lnTo>
                <a:lnTo>
                  <a:pt x="0" y="700372"/>
                </a:lnTo>
                <a:lnTo>
                  <a:pt x="0" y="0"/>
                </a:lnTo>
                <a:close/>
              </a:path>
            </a:pathLst>
          </a:custGeom>
          <a:solidFill>
            <a:srgbClr val="F8F9FA"/>
          </a:solidFill>
          <a:ln/>
        </p:spPr>
      </p:sp>
      <p:sp>
        <p:nvSpPr>
          <p:cNvPr id="29" name="Shape 27"/>
          <p:cNvSpPr/>
          <p:nvPr/>
        </p:nvSpPr>
        <p:spPr>
          <a:xfrm>
            <a:off x="6334065" y="2359147"/>
            <a:ext cx="36862" cy="700372"/>
          </a:xfrm>
          <a:custGeom>
            <a:avLst/>
            <a:gdLst/>
            <a:ahLst/>
            <a:cxnLst/>
            <a:rect l="l" t="t" r="r" b="b"/>
            <a:pathLst>
              <a:path w="36862" h="700372">
                <a:moveTo>
                  <a:pt x="0" y="0"/>
                </a:moveTo>
                <a:lnTo>
                  <a:pt x="36862" y="0"/>
                </a:lnTo>
                <a:lnTo>
                  <a:pt x="36862" y="700372"/>
                </a:lnTo>
                <a:lnTo>
                  <a:pt x="0" y="700372"/>
                </a:lnTo>
                <a:lnTo>
                  <a:pt x="0" y="0"/>
                </a:lnTo>
                <a:close/>
              </a:path>
            </a:pathLst>
          </a:custGeom>
          <a:solidFill>
            <a:srgbClr val="1E3A5F"/>
          </a:solidFill>
          <a:ln/>
        </p:spPr>
      </p:sp>
      <p:sp>
        <p:nvSpPr>
          <p:cNvPr id="30" name="Text 28"/>
          <p:cNvSpPr/>
          <p:nvPr/>
        </p:nvSpPr>
        <p:spPr>
          <a:xfrm>
            <a:off x="6463081" y="2469732"/>
            <a:ext cx="5169850" cy="479202"/>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Hattie, J. (2012). Visible Learning for Teachers: Maximizing Impact on Learning. London: Routledge.</a:t>
            </a:r>
            <a:endParaRPr lang="en-US" sz="1600" dirty="0"/>
          </a:p>
        </p:txBody>
      </p:sp>
      <p:sp>
        <p:nvSpPr>
          <p:cNvPr id="31" name="Shape 29"/>
          <p:cNvSpPr/>
          <p:nvPr/>
        </p:nvSpPr>
        <p:spPr>
          <a:xfrm>
            <a:off x="6168187" y="3335982"/>
            <a:ext cx="5649052" cy="2156408"/>
          </a:xfrm>
          <a:custGeom>
            <a:avLst/>
            <a:gdLst/>
            <a:ahLst/>
            <a:cxnLst/>
            <a:rect l="l" t="t" r="r" b="b"/>
            <a:pathLst>
              <a:path w="5649052" h="2156408">
                <a:moveTo>
                  <a:pt x="0" y="0"/>
                </a:moveTo>
                <a:lnTo>
                  <a:pt x="5649052" y="0"/>
                </a:lnTo>
                <a:lnTo>
                  <a:pt x="5649052" y="2156408"/>
                </a:lnTo>
                <a:lnTo>
                  <a:pt x="0" y="2156408"/>
                </a:lnTo>
                <a:lnTo>
                  <a:pt x="0" y="0"/>
                </a:lnTo>
                <a:close/>
              </a:path>
            </a:pathLst>
          </a:custGeom>
          <a:solidFill>
            <a:srgbClr val="FFFFFF"/>
          </a:solidFill>
          <a:ln/>
        </p:spPr>
      </p:sp>
      <p:sp>
        <p:nvSpPr>
          <p:cNvPr id="32" name="Shape 30"/>
          <p:cNvSpPr/>
          <p:nvPr/>
        </p:nvSpPr>
        <p:spPr>
          <a:xfrm>
            <a:off x="6168187" y="3335982"/>
            <a:ext cx="5649052" cy="36862"/>
          </a:xfrm>
          <a:custGeom>
            <a:avLst/>
            <a:gdLst/>
            <a:ahLst/>
            <a:cxnLst/>
            <a:rect l="l" t="t" r="r" b="b"/>
            <a:pathLst>
              <a:path w="5649052" h="36862">
                <a:moveTo>
                  <a:pt x="0" y="0"/>
                </a:moveTo>
                <a:lnTo>
                  <a:pt x="5649052" y="0"/>
                </a:lnTo>
                <a:lnTo>
                  <a:pt x="5649052" y="36862"/>
                </a:lnTo>
                <a:lnTo>
                  <a:pt x="0" y="36862"/>
                </a:lnTo>
                <a:lnTo>
                  <a:pt x="0" y="0"/>
                </a:lnTo>
                <a:close/>
              </a:path>
            </a:pathLst>
          </a:custGeom>
          <a:solidFill>
            <a:srgbClr val="C49A2C"/>
          </a:solidFill>
          <a:ln/>
        </p:spPr>
      </p:sp>
      <p:sp>
        <p:nvSpPr>
          <p:cNvPr id="33" name="Text 31"/>
          <p:cNvSpPr/>
          <p:nvPr/>
        </p:nvSpPr>
        <p:spPr>
          <a:xfrm>
            <a:off x="6315634" y="3501859"/>
            <a:ext cx="5437098" cy="258032"/>
          </a:xfrm>
          <a:prstGeom prst="rect">
            <a:avLst/>
          </a:prstGeom>
          <a:noFill/>
          <a:ln/>
        </p:spPr>
        <p:txBody>
          <a:bodyPr wrap="square" lIns="0" tIns="0" rIns="0" bIns="0" rtlCol="0" anchor="ctr"/>
          <a:lstStyle/>
          <a:p>
            <a:pPr>
              <a:lnSpc>
                <a:spcPct val="130000"/>
              </a:lnSpc>
            </a:pPr>
            <a:r>
              <a:rPr lang="en-US" sz="1306" b="1" dirty="0">
                <a:solidFill>
                  <a:srgbClr val="1E3A5F"/>
                </a:solidFill>
                <a:latin typeface="MiSans" pitchFamily="34" charset="0"/>
                <a:ea typeface="MiSans" pitchFamily="34" charset="-122"/>
                <a:cs typeface="MiSans" pitchFamily="34" charset="-120"/>
              </a:rPr>
              <a:t>Sociocultural Theory and Scaffolding</a:t>
            </a:r>
            <a:endParaRPr lang="en-US" sz="1600" dirty="0"/>
          </a:p>
        </p:txBody>
      </p:sp>
      <p:sp>
        <p:nvSpPr>
          <p:cNvPr id="34" name="Shape 32"/>
          <p:cNvSpPr/>
          <p:nvPr/>
        </p:nvSpPr>
        <p:spPr>
          <a:xfrm>
            <a:off x="6334065" y="3870476"/>
            <a:ext cx="5335728" cy="700372"/>
          </a:xfrm>
          <a:custGeom>
            <a:avLst/>
            <a:gdLst/>
            <a:ahLst/>
            <a:cxnLst/>
            <a:rect l="l" t="t" r="r" b="b"/>
            <a:pathLst>
              <a:path w="5335728" h="700372">
                <a:moveTo>
                  <a:pt x="0" y="0"/>
                </a:moveTo>
                <a:lnTo>
                  <a:pt x="5335728" y="0"/>
                </a:lnTo>
                <a:lnTo>
                  <a:pt x="5335728" y="700372"/>
                </a:lnTo>
                <a:lnTo>
                  <a:pt x="0" y="700372"/>
                </a:lnTo>
                <a:lnTo>
                  <a:pt x="0" y="0"/>
                </a:lnTo>
                <a:close/>
              </a:path>
            </a:pathLst>
          </a:custGeom>
          <a:solidFill>
            <a:srgbClr val="F8F9FA"/>
          </a:solidFill>
          <a:ln/>
        </p:spPr>
      </p:sp>
      <p:sp>
        <p:nvSpPr>
          <p:cNvPr id="35" name="Shape 33"/>
          <p:cNvSpPr/>
          <p:nvPr/>
        </p:nvSpPr>
        <p:spPr>
          <a:xfrm>
            <a:off x="6334065" y="3870476"/>
            <a:ext cx="36862" cy="700372"/>
          </a:xfrm>
          <a:custGeom>
            <a:avLst/>
            <a:gdLst/>
            <a:ahLst/>
            <a:cxnLst/>
            <a:rect l="l" t="t" r="r" b="b"/>
            <a:pathLst>
              <a:path w="36862" h="700372">
                <a:moveTo>
                  <a:pt x="0" y="0"/>
                </a:moveTo>
                <a:lnTo>
                  <a:pt x="36862" y="0"/>
                </a:lnTo>
                <a:lnTo>
                  <a:pt x="36862" y="700372"/>
                </a:lnTo>
                <a:lnTo>
                  <a:pt x="0" y="700372"/>
                </a:lnTo>
                <a:lnTo>
                  <a:pt x="0" y="0"/>
                </a:lnTo>
                <a:close/>
              </a:path>
            </a:pathLst>
          </a:custGeom>
          <a:solidFill>
            <a:srgbClr val="C49A2C"/>
          </a:solidFill>
          <a:ln/>
        </p:spPr>
      </p:sp>
      <p:sp>
        <p:nvSpPr>
          <p:cNvPr id="36" name="Text 34"/>
          <p:cNvSpPr/>
          <p:nvPr/>
        </p:nvSpPr>
        <p:spPr>
          <a:xfrm>
            <a:off x="6463081" y="3981061"/>
            <a:ext cx="5169850" cy="479202"/>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Vygotsky, L. S. (1978). Mind in Society: The Development of Higher Psychological Processes. Cambridge, MA: Harvard University Press.</a:t>
            </a:r>
            <a:endParaRPr lang="en-US" sz="1600" dirty="0"/>
          </a:p>
        </p:txBody>
      </p:sp>
      <p:sp>
        <p:nvSpPr>
          <p:cNvPr id="37" name="Shape 35"/>
          <p:cNvSpPr/>
          <p:nvPr/>
        </p:nvSpPr>
        <p:spPr>
          <a:xfrm>
            <a:off x="6334065" y="4644571"/>
            <a:ext cx="5335728" cy="700372"/>
          </a:xfrm>
          <a:custGeom>
            <a:avLst/>
            <a:gdLst/>
            <a:ahLst/>
            <a:cxnLst/>
            <a:rect l="l" t="t" r="r" b="b"/>
            <a:pathLst>
              <a:path w="5335728" h="700372">
                <a:moveTo>
                  <a:pt x="0" y="0"/>
                </a:moveTo>
                <a:lnTo>
                  <a:pt x="5335728" y="0"/>
                </a:lnTo>
                <a:lnTo>
                  <a:pt x="5335728" y="700372"/>
                </a:lnTo>
                <a:lnTo>
                  <a:pt x="0" y="700372"/>
                </a:lnTo>
                <a:lnTo>
                  <a:pt x="0" y="0"/>
                </a:lnTo>
                <a:close/>
              </a:path>
            </a:pathLst>
          </a:custGeom>
          <a:solidFill>
            <a:srgbClr val="F8F9FA"/>
          </a:solidFill>
          <a:ln/>
        </p:spPr>
      </p:sp>
      <p:sp>
        <p:nvSpPr>
          <p:cNvPr id="38" name="Shape 36"/>
          <p:cNvSpPr/>
          <p:nvPr/>
        </p:nvSpPr>
        <p:spPr>
          <a:xfrm>
            <a:off x="6334065" y="4644571"/>
            <a:ext cx="36862" cy="700372"/>
          </a:xfrm>
          <a:custGeom>
            <a:avLst/>
            <a:gdLst/>
            <a:ahLst/>
            <a:cxnLst/>
            <a:rect l="l" t="t" r="r" b="b"/>
            <a:pathLst>
              <a:path w="36862" h="700372">
                <a:moveTo>
                  <a:pt x="0" y="0"/>
                </a:moveTo>
                <a:lnTo>
                  <a:pt x="36862" y="0"/>
                </a:lnTo>
                <a:lnTo>
                  <a:pt x="36862" y="700372"/>
                </a:lnTo>
                <a:lnTo>
                  <a:pt x="0" y="700372"/>
                </a:lnTo>
                <a:lnTo>
                  <a:pt x="0" y="0"/>
                </a:lnTo>
                <a:close/>
              </a:path>
            </a:pathLst>
          </a:custGeom>
          <a:solidFill>
            <a:srgbClr val="C49A2C"/>
          </a:solidFill>
          <a:ln/>
        </p:spPr>
      </p:sp>
      <p:sp>
        <p:nvSpPr>
          <p:cNvPr id="39" name="Text 37"/>
          <p:cNvSpPr/>
          <p:nvPr/>
        </p:nvSpPr>
        <p:spPr>
          <a:xfrm>
            <a:off x="6463081" y="4755156"/>
            <a:ext cx="5169850" cy="479202"/>
          </a:xfrm>
          <a:prstGeom prst="rect">
            <a:avLst/>
          </a:prstGeom>
          <a:noFill/>
          <a:ln/>
        </p:spPr>
        <p:txBody>
          <a:bodyPr wrap="square" lIns="0" tIns="0" rIns="0" bIns="0" rtlCol="0" anchor="ctr"/>
          <a:lstStyle/>
          <a:p>
            <a:pPr>
              <a:lnSpc>
                <a:spcPct val="140000"/>
              </a:lnSpc>
            </a:pPr>
            <a:r>
              <a:rPr lang="en-US" sz="1161" dirty="0">
                <a:solidFill>
                  <a:srgbClr val="2D3436"/>
                </a:solidFill>
                <a:latin typeface="MiSans" pitchFamily="34" charset="0"/>
                <a:ea typeface="MiSans" pitchFamily="34" charset="-122"/>
                <a:cs typeface="MiSans" pitchFamily="34" charset="-120"/>
              </a:rPr>
              <a:t>Wood, D., Bruner, J. S., &amp; Ross, G. (1976). The Role of Tutoring in Problem Solving. Journal of Child Psychology and Psychiatry, 17(2), 89–100.</a:t>
            </a:r>
            <a:endParaRPr lang="en-US" sz="1600" dirty="0"/>
          </a:p>
        </p:txBody>
      </p:sp>
      <p:sp>
        <p:nvSpPr>
          <p:cNvPr id="40" name="Shape 38"/>
          <p:cNvSpPr/>
          <p:nvPr/>
        </p:nvSpPr>
        <p:spPr>
          <a:xfrm>
            <a:off x="6168187" y="5602975"/>
            <a:ext cx="5649052" cy="1013696"/>
          </a:xfrm>
          <a:custGeom>
            <a:avLst/>
            <a:gdLst/>
            <a:ahLst/>
            <a:cxnLst/>
            <a:rect l="l" t="t" r="r" b="b"/>
            <a:pathLst>
              <a:path w="5649052" h="1013696">
                <a:moveTo>
                  <a:pt x="0" y="0"/>
                </a:moveTo>
                <a:lnTo>
                  <a:pt x="5649052" y="0"/>
                </a:lnTo>
                <a:lnTo>
                  <a:pt x="5649052" y="1013696"/>
                </a:lnTo>
                <a:lnTo>
                  <a:pt x="0" y="1013696"/>
                </a:lnTo>
                <a:lnTo>
                  <a:pt x="0" y="0"/>
                </a:lnTo>
                <a:close/>
              </a:path>
            </a:pathLst>
          </a:custGeom>
          <a:solidFill>
            <a:srgbClr val="1E3A5F"/>
          </a:solidFill>
          <a:ln/>
        </p:spPr>
      </p:sp>
      <p:sp>
        <p:nvSpPr>
          <p:cNvPr id="41" name="Shape 39"/>
          <p:cNvSpPr/>
          <p:nvPr/>
        </p:nvSpPr>
        <p:spPr>
          <a:xfrm>
            <a:off x="6334065" y="5801107"/>
            <a:ext cx="147447" cy="147447"/>
          </a:xfrm>
          <a:custGeom>
            <a:avLst/>
            <a:gdLst/>
            <a:ahLst/>
            <a:cxnLst/>
            <a:rect l="l" t="t" r="r" b="b"/>
            <a:pathLst>
              <a:path w="147447" h="147447">
                <a:moveTo>
                  <a:pt x="73723" y="147447"/>
                </a:moveTo>
                <a:cubicBezTo>
                  <a:pt x="114412" y="147447"/>
                  <a:pt x="147447" y="114412"/>
                  <a:pt x="147447" y="73723"/>
                </a:cubicBezTo>
                <a:cubicBezTo>
                  <a:pt x="147447" y="33034"/>
                  <a:pt x="114412" y="0"/>
                  <a:pt x="73723" y="0"/>
                </a:cubicBezTo>
                <a:cubicBezTo>
                  <a:pt x="33034" y="0"/>
                  <a:pt x="0" y="33034"/>
                  <a:pt x="0" y="73723"/>
                </a:cubicBezTo>
                <a:cubicBezTo>
                  <a:pt x="0" y="114412"/>
                  <a:pt x="33034" y="147447"/>
                  <a:pt x="73723" y="147447"/>
                </a:cubicBezTo>
                <a:close/>
                <a:moveTo>
                  <a:pt x="64508" y="46077"/>
                </a:moveTo>
                <a:cubicBezTo>
                  <a:pt x="64508" y="40991"/>
                  <a:pt x="68637" y="36862"/>
                  <a:pt x="73723" y="36862"/>
                </a:cubicBezTo>
                <a:cubicBezTo>
                  <a:pt x="78809" y="36862"/>
                  <a:pt x="82939" y="40991"/>
                  <a:pt x="82939" y="46077"/>
                </a:cubicBezTo>
                <a:cubicBezTo>
                  <a:pt x="82939" y="51163"/>
                  <a:pt x="78809" y="55293"/>
                  <a:pt x="73723" y="55293"/>
                </a:cubicBezTo>
                <a:cubicBezTo>
                  <a:pt x="68637" y="55293"/>
                  <a:pt x="64508" y="51163"/>
                  <a:pt x="64508" y="46077"/>
                </a:cubicBezTo>
                <a:close/>
                <a:moveTo>
                  <a:pt x="62204" y="64508"/>
                </a:moveTo>
                <a:lnTo>
                  <a:pt x="76027" y="64508"/>
                </a:lnTo>
                <a:cubicBezTo>
                  <a:pt x="79857" y="64508"/>
                  <a:pt x="82939" y="67589"/>
                  <a:pt x="82939" y="71420"/>
                </a:cubicBezTo>
                <a:lnTo>
                  <a:pt x="82939" y="96762"/>
                </a:lnTo>
                <a:lnTo>
                  <a:pt x="85243" y="96762"/>
                </a:lnTo>
                <a:cubicBezTo>
                  <a:pt x="89073" y="96762"/>
                  <a:pt x="92154" y="99843"/>
                  <a:pt x="92154" y="103673"/>
                </a:cubicBezTo>
                <a:cubicBezTo>
                  <a:pt x="92154" y="107504"/>
                  <a:pt x="89073" y="110585"/>
                  <a:pt x="85243" y="110585"/>
                </a:cubicBezTo>
                <a:lnTo>
                  <a:pt x="62204" y="110585"/>
                </a:lnTo>
                <a:cubicBezTo>
                  <a:pt x="58374" y="110585"/>
                  <a:pt x="55293" y="107504"/>
                  <a:pt x="55293" y="103673"/>
                </a:cubicBezTo>
                <a:cubicBezTo>
                  <a:pt x="55293" y="99843"/>
                  <a:pt x="58374" y="96762"/>
                  <a:pt x="62204" y="96762"/>
                </a:cubicBezTo>
                <a:lnTo>
                  <a:pt x="69116" y="96762"/>
                </a:lnTo>
                <a:lnTo>
                  <a:pt x="69116" y="78331"/>
                </a:lnTo>
                <a:lnTo>
                  <a:pt x="62204" y="78331"/>
                </a:lnTo>
                <a:cubicBezTo>
                  <a:pt x="58374" y="78331"/>
                  <a:pt x="55293" y="75250"/>
                  <a:pt x="55293" y="71420"/>
                </a:cubicBezTo>
                <a:cubicBezTo>
                  <a:pt x="55293" y="67589"/>
                  <a:pt x="58374" y="64508"/>
                  <a:pt x="62204" y="64508"/>
                </a:cubicBezTo>
                <a:close/>
              </a:path>
            </a:pathLst>
          </a:custGeom>
          <a:solidFill>
            <a:srgbClr val="C49A2C"/>
          </a:solidFill>
          <a:ln/>
        </p:spPr>
      </p:sp>
      <p:sp>
        <p:nvSpPr>
          <p:cNvPr id="42" name="Text 40"/>
          <p:cNvSpPr/>
          <p:nvPr/>
        </p:nvSpPr>
        <p:spPr>
          <a:xfrm>
            <a:off x="6553438" y="5750422"/>
            <a:ext cx="5190078" cy="718803"/>
          </a:xfrm>
          <a:prstGeom prst="rect">
            <a:avLst/>
          </a:prstGeom>
          <a:noFill/>
          <a:ln/>
        </p:spPr>
        <p:txBody>
          <a:bodyPr wrap="square" lIns="0" tIns="0" rIns="0" bIns="0" rtlCol="0" anchor="ctr"/>
          <a:lstStyle/>
          <a:p>
            <a:pPr>
              <a:lnSpc>
                <a:spcPct val="140000"/>
              </a:lnSpc>
            </a:pPr>
            <a:r>
              <a:rPr lang="en-US" sz="1161" b="1" dirty="0">
                <a:solidFill>
                  <a:srgbClr val="F8F9FA"/>
                </a:solidFill>
                <a:latin typeface="MiSans" pitchFamily="34" charset="0"/>
                <a:ea typeface="MiSans" pitchFamily="34" charset="-122"/>
                <a:cs typeface="MiSans" pitchFamily="34" charset="-120"/>
              </a:rPr>
              <a:t>Note:</a:t>
            </a:r>
            <a:pPr>
              <a:lnSpc>
                <a:spcPct val="140000"/>
              </a:lnSpc>
            </a:pPr>
            <a:r>
              <a:rPr lang="en-US" sz="1161" dirty="0">
                <a:solidFill>
                  <a:srgbClr val="F8F9FA"/>
                </a:solidFill>
                <a:latin typeface="MiSans" pitchFamily="34" charset="0"/>
                <a:ea typeface="MiSans" pitchFamily="34" charset="-122"/>
                <a:cs typeface="MiSans" pitchFamily="34" charset="-120"/>
              </a:rPr>
              <a:t> The MPI Technical Handbook (Edition 4.2) contains a full bibliography of sources cited in the framework's development. Staff should consult this for comprehensive references.</a:t>
            </a:r>
            <a:endParaRPr lang="en-US" sz="16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38150"/>
            <a:ext cx="10706100" cy="342900"/>
          </a:xfrm>
          <a:prstGeom prst="rect">
            <a:avLst/>
          </a:prstGeom>
          <a:noFill/>
          <a:ln/>
        </p:spPr>
        <p:txBody>
          <a:bodyPr wrap="square" lIns="0" tIns="0" rIns="0" bIns="0" rtlCol="0" anchor="ctr"/>
          <a:lstStyle/>
          <a:p>
            <a:pPr>
              <a:lnSpc>
                <a:spcPct val="100000"/>
              </a:lnSpc>
            </a:pPr>
            <a:r>
              <a:rPr lang="en-US" sz="2250" b="1" dirty="0">
                <a:solidFill>
                  <a:srgbClr val="1E3A5F"/>
                </a:solidFill>
                <a:latin typeface="MiSans" pitchFamily="34" charset="0"/>
                <a:ea typeface="MiSans" pitchFamily="34" charset="-122"/>
                <a:cs typeface="MiSans" pitchFamily="34" charset="-120"/>
              </a:rPr>
              <a:t>Extended Bibliography: Formative Assessment and Educational Measurement</a:t>
            </a:r>
            <a:endParaRPr lang="en-US" sz="1600" dirty="0"/>
          </a:p>
        </p:txBody>
      </p:sp>
      <p:sp>
        <p:nvSpPr>
          <p:cNvPr id="4" name="Shape 2"/>
          <p:cNvSpPr/>
          <p:nvPr/>
        </p:nvSpPr>
        <p:spPr>
          <a:xfrm>
            <a:off x="381000" y="1085850"/>
            <a:ext cx="5638800" cy="4819650"/>
          </a:xfrm>
          <a:custGeom>
            <a:avLst/>
            <a:gdLst/>
            <a:ahLst/>
            <a:cxnLst/>
            <a:rect l="l" t="t" r="r" b="b"/>
            <a:pathLst>
              <a:path w="5638800" h="4819650">
                <a:moveTo>
                  <a:pt x="0" y="0"/>
                </a:moveTo>
                <a:lnTo>
                  <a:pt x="5638800" y="0"/>
                </a:lnTo>
                <a:lnTo>
                  <a:pt x="5638800" y="4819650"/>
                </a:lnTo>
                <a:lnTo>
                  <a:pt x="0" y="4819650"/>
                </a:lnTo>
                <a:lnTo>
                  <a:pt x="0" y="0"/>
                </a:lnTo>
                <a:close/>
              </a:path>
            </a:pathLst>
          </a:custGeom>
          <a:solidFill>
            <a:srgbClr val="FFFFFF"/>
          </a:solidFill>
          <a:ln/>
        </p:spPr>
      </p:sp>
      <p:sp>
        <p:nvSpPr>
          <p:cNvPr id="5" name="Shape 3"/>
          <p:cNvSpPr/>
          <p:nvPr/>
        </p:nvSpPr>
        <p:spPr>
          <a:xfrm>
            <a:off x="381000" y="10858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1E3A5F"/>
          </a:solidFill>
          <a:ln/>
        </p:spPr>
      </p:sp>
      <p:sp>
        <p:nvSpPr>
          <p:cNvPr id="6" name="Text 4"/>
          <p:cNvSpPr/>
          <p:nvPr/>
        </p:nvSpPr>
        <p:spPr>
          <a:xfrm>
            <a:off x="533400" y="1257300"/>
            <a:ext cx="541972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Formative Assessment Research</a:t>
            </a:r>
            <a:endParaRPr lang="en-US" sz="1600" dirty="0"/>
          </a:p>
        </p:txBody>
      </p:sp>
      <p:sp>
        <p:nvSpPr>
          <p:cNvPr id="7" name="Shape 5"/>
          <p:cNvSpPr/>
          <p:nvPr/>
        </p:nvSpPr>
        <p:spPr>
          <a:xfrm>
            <a:off x="552450" y="1638300"/>
            <a:ext cx="5314950" cy="971550"/>
          </a:xfrm>
          <a:custGeom>
            <a:avLst/>
            <a:gdLst/>
            <a:ahLst/>
            <a:cxnLst/>
            <a:rect l="l" t="t" r="r" b="b"/>
            <a:pathLst>
              <a:path w="5314950" h="971550">
                <a:moveTo>
                  <a:pt x="0" y="0"/>
                </a:moveTo>
                <a:lnTo>
                  <a:pt x="5314950" y="0"/>
                </a:lnTo>
                <a:lnTo>
                  <a:pt x="5314950" y="971550"/>
                </a:lnTo>
                <a:lnTo>
                  <a:pt x="0" y="971550"/>
                </a:lnTo>
                <a:lnTo>
                  <a:pt x="0" y="0"/>
                </a:lnTo>
                <a:close/>
              </a:path>
            </a:pathLst>
          </a:custGeom>
          <a:solidFill>
            <a:srgbClr val="F8F9FA"/>
          </a:solidFill>
          <a:ln/>
        </p:spPr>
      </p:sp>
      <p:sp>
        <p:nvSpPr>
          <p:cNvPr id="8" name="Shape 6"/>
          <p:cNvSpPr/>
          <p:nvPr/>
        </p:nvSpPr>
        <p:spPr>
          <a:xfrm>
            <a:off x="552450" y="1638300"/>
            <a:ext cx="38100" cy="971550"/>
          </a:xfrm>
          <a:custGeom>
            <a:avLst/>
            <a:gdLst/>
            <a:ahLst/>
            <a:cxnLst/>
            <a:rect l="l" t="t" r="r" b="b"/>
            <a:pathLst>
              <a:path w="38100" h="971550">
                <a:moveTo>
                  <a:pt x="0" y="0"/>
                </a:moveTo>
                <a:lnTo>
                  <a:pt x="38100" y="0"/>
                </a:lnTo>
                <a:lnTo>
                  <a:pt x="38100" y="971550"/>
                </a:lnTo>
                <a:lnTo>
                  <a:pt x="0" y="971550"/>
                </a:lnTo>
                <a:lnTo>
                  <a:pt x="0" y="0"/>
                </a:lnTo>
                <a:close/>
              </a:path>
            </a:pathLst>
          </a:custGeom>
          <a:solidFill>
            <a:srgbClr val="1E3A5F"/>
          </a:solidFill>
          <a:ln/>
        </p:spPr>
      </p:sp>
      <p:sp>
        <p:nvSpPr>
          <p:cNvPr id="9" name="Text 7"/>
          <p:cNvSpPr/>
          <p:nvPr/>
        </p:nvSpPr>
        <p:spPr>
          <a:xfrm>
            <a:off x="685800" y="1752600"/>
            <a:ext cx="514350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Black, P., Harrison, C., Lee, C., Marshall, B., &amp; Wiliam, D. (2003). Assessment for Learning: Putting It into Practice. Maidenhead: Open University Press.</a:t>
            </a:r>
            <a:endParaRPr lang="en-US" sz="1600" dirty="0"/>
          </a:p>
        </p:txBody>
      </p:sp>
      <p:sp>
        <p:nvSpPr>
          <p:cNvPr id="10" name="Shape 8"/>
          <p:cNvSpPr/>
          <p:nvPr/>
        </p:nvSpPr>
        <p:spPr>
          <a:xfrm>
            <a:off x="552450" y="2686050"/>
            <a:ext cx="5314950" cy="971550"/>
          </a:xfrm>
          <a:custGeom>
            <a:avLst/>
            <a:gdLst/>
            <a:ahLst/>
            <a:cxnLst/>
            <a:rect l="l" t="t" r="r" b="b"/>
            <a:pathLst>
              <a:path w="5314950" h="971550">
                <a:moveTo>
                  <a:pt x="0" y="0"/>
                </a:moveTo>
                <a:lnTo>
                  <a:pt x="5314950" y="0"/>
                </a:lnTo>
                <a:lnTo>
                  <a:pt x="5314950" y="971550"/>
                </a:lnTo>
                <a:lnTo>
                  <a:pt x="0" y="971550"/>
                </a:lnTo>
                <a:lnTo>
                  <a:pt x="0" y="0"/>
                </a:lnTo>
                <a:close/>
              </a:path>
            </a:pathLst>
          </a:custGeom>
          <a:solidFill>
            <a:srgbClr val="F8F9FA"/>
          </a:solidFill>
          <a:ln/>
        </p:spPr>
      </p:sp>
      <p:sp>
        <p:nvSpPr>
          <p:cNvPr id="11" name="Shape 9"/>
          <p:cNvSpPr/>
          <p:nvPr/>
        </p:nvSpPr>
        <p:spPr>
          <a:xfrm>
            <a:off x="552450" y="2686050"/>
            <a:ext cx="38100" cy="971550"/>
          </a:xfrm>
          <a:custGeom>
            <a:avLst/>
            <a:gdLst/>
            <a:ahLst/>
            <a:cxnLst/>
            <a:rect l="l" t="t" r="r" b="b"/>
            <a:pathLst>
              <a:path w="38100" h="971550">
                <a:moveTo>
                  <a:pt x="0" y="0"/>
                </a:moveTo>
                <a:lnTo>
                  <a:pt x="38100" y="0"/>
                </a:lnTo>
                <a:lnTo>
                  <a:pt x="38100" y="971550"/>
                </a:lnTo>
                <a:lnTo>
                  <a:pt x="0" y="971550"/>
                </a:lnTo>
                <a:lnTo>
                  <a:pt x="0" y="0"/>
                </a:lnTo>
                <a:close/>
              </a:path>
            </a:pathLst>
          </a:custGeom>
          <a:solidFill>
            <a:srgbClr val="1E3A5F"/>
          </a:solidFill>
          <a:ln/>
        </p:spPr>
      </p:sp>
      <p:sp>
        <p:nvSpPr>
          <p:cNvPr id="12" name="Text 10"/>
          <p:cNvSpPr/>
          <p:nvPr/>
        </p:nvSpPr>
        <p:spPr>
          <a:xfrm>
            <a:off x="685800" y="2800350"/>
            <a:ext cx="514350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Black, P., &amp; Wiliam, D. (2009). Developing the Theory of Formative Assessment. Educational Assessment, Evaluation and Accountability, 21(1), 5–31.</a:t>
            </a:r>
            <a:endParaRPr lang="en-US" sz="1600" dirty="0"/>
          </a:p>
        </p:txBody>
      </p:sp>
      <p:sp>
        <p:nvSpPr>
          <p:cNvPr id="13" name="Shape 11"/>
          <p:cNvSpPr/>
          <p:nvPr/>
        </p:nvSpPr>
        <p:spPr>
          <a:xfrm>
            <a:off x="552450" y="3733800"/>
            <a:ext cx="5314950" cy="723900"/>
          </a:xfrm>
          <a:custGeom>
            <a:avLst/>
            <a:gdLst/>
            <a:ahLst/>
            <a:cxnLst/>
            <a:rect l="l" t="t" r="r" b="b"/>
            <a:pathLst>
              <a:path w="5314950" h="723900">
                <a:moveTo>
                  <a:pt x="0" y="0"/>
                </a:moveTo>
                <a:lnTo>
                  <a:pt x="5314950" y="0"/>
                </a:lnTo>
                <a:lnTo>
                  <a:pt x="5314950" y="723900"/>
                </a:lnTo>
                <a:lnTo>
                  <a:pt x="0" y="723900"/>
                </a:lnTo>
                <a:lnTo>
                  <a:pt x="0" y="0"/>
                </a:lnTo>
                <a:close/>
              </a:path>
            </a:pathLst>
          </a:custGeom>
          <a:solidFill>
            <a:srgbClr val="F8F9FA"/>
          </a:solidFill>
          <a:ln/>
        </p:spPr>
      </p:sp>
      <p:sp>
        <p:nvSpPr>
          <p:cNvPr id="14" name="Shape 12"/>
          <p:cNvSpPr/>
          <p:nvPr/>
        </p:nvSpPr>
        <p:spPr>
          <a:xfrm>
            <a:off x="552450" y="373380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1E3A5F"/>
          </a:solidFill>
          <a:ln/>
        </p:spPr>
      </p:sp>
      <p:sp>
        <p:nvSpPr>
          <p:cNvPr id="15" name="Text 13"/>
          <p:cNvSpPr/>
          <p:nvPr/>
        </p:nvSpPr>
        <p:spPr>
          <a:xfrm>
            <a:off x="685800" y="3848100"/>
            <a:ext cx="51435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Wiliam, D. (2011). Embedded Formative Assessment. Bloomington, IN: Solution Tree Press.</a:t>
            </a:r>
            <a:endParaRPr lang="en-US" sz="1600" dirty="0"/>
          </a:p>
        </p:txBody>
      </p:sp>
      <p:sp>
        <p:nvSpPr>
          <p:cNvPr id="16" name="Shape 14"/>
          <p:cNvSpPr/>
          <p:nvPr/>
        </p:nvSpPr>
        <p:spPr>
          <a:xfrm>
            <a:off x="552450" y="4533900"/>
            <a:ext cx="5314950" cy="1219200"/>
          </a:xfrm>
          <a:custGeom>
            <a:avLst/>
            <a:gdLst/>
            <a:ahLst/>
            <a:cxnLst/>
            <a:rect l="l" t="t" r="r" b="b"/>
            <a:pathLst>
              <a:path w="5314950" h="1219200">
                <a:moveTo>
                  <a:pt x="0" y="0"/>
                </a:moveTo>
                <a:lnTo>
                  <a:pt x="5314950" y="0"/>
                </a:lnTo>
                <a:lnTo>
                  <a:pt x="5314950" y="1219200"/>
                </a:lnTo>
                <a:lnTo>
                  <a:pt x="0" y="1219200"/>
                </a:lnTo>
                <a:lnTo>
                  <a:pt x="0" y="0"/>
                </a:lnTo>
                <a:close/>
              </a:path>
            </a:pathLst>
          </a:custGeom>
          <a:solidFill>
            <a:srgbClr val="F8F9FA"/>
          </a:solidFill>
          <a:ln/>
        </p:spPr>
      </p:sp>
      <p:sp>
        <p:nvSpPr>
          <p:cNvPr id="17" name="Shape 15"/>
          <p:cNvSpPr/>
          <p:nvPr/>
        </p:nvSpPr>
        <p:spPr>
          <a:xfrm>
            <a:off x="552450" y="4533900"/>
            <a:ext cx="38100" cy="1219200"/>
          </a:xfrm>
          <a:custGeom>
            <a:avLst/>
            <a:gdLst/>
            <a:ahLst/>
            <a:cxnLst/>
            <a:rect l="l" t="t" r="r" b="b"/>
            <a:pathLst>
              <a:path w="38100" h="1219200">
                <a:moveTo>
                  <a:pt x="0" y="0"/>
                </a:moveTo>
                <a:lnTo>
                  <a:pt x="38100" y="0"/>
                </a:lnTo>
                <a:lnTo>
                  <a:pt x="38100" y="1219200"/>
                </a:lnTo>
                <a:lnTo>
                  <a:pt x="0" y="1219200"/>
                </a:lnTo>
                <a:lnTo>
                  <a:pt x="0" y="0"/>
                </a:lnTo>
                <a:close/>
              </a:path>
            </a:pathLst>
          </a:custGeom>
          <a:solidFill>
            <a:srgbClr val="1E3A5F"/>
          </a:solidFill>
          <a:ln/>
        </p:spPr>
      </p:sp>
      <p:sp>
        <p:nvSpPr>
          <p:cNvPr id="18" name="Text 16"/>
          <p:cNvSpPr/>
          <p:nvPr/>
        </p:nvSpPr>
        <p:spPr>
          <a:xfrm>
            <a:off x="685800" y="4648200"/>
            <a:ext cx="5143500" cy="9906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Wiliam, D., &amp; Thompson, M. (2007). Integrating Assessment with Instruction: What Will It Take to Make It Work? In C. A. Dwyer (Ed.), The Future of Assessment: Shaping Teaching and Learning (pp. 53–82). Mahwah, NJ: Lawrence Erlbaum.</a:t>
            </a:r>
            <a:endParaRPr lang="en-US" sz="1600" dirty="0"/>
          </a:p>
        </p:txBody>
      </p:sp>
      <p:sp>
        <p:nvSpPr>
          <p:cNvPr id="19" name="Shape 17"/>
          <p:cNvSpPr/>
          <p:nvPr/>
        </p:nvSpPr>
        <p:spPr>
          <a:xfrm>
            <a:off x="6172200" y="1085850"/>
            <a:ext cx="5638800" cy="3276600"/>
          </a:xfrm>
          <a:custGeom>
            <a:avLst/>
            <a:gdLst/>
            <a:ahLst/>
            <a:cxnLst/>
            <a:rect l="l" t="t" r="r" b="b"/>
            <a:pathLst>
              <a:path w="5638800" h="3276600">
                <a:moveTo>
                  <a:pt x="0" y="0"/>
                </a:moveTo>
                <a:lnTo>
                  <a:pt x="5638800" y="0"/>
                </a:lnTo>
                <a:lnTo>
                  <a:pt x="5638800" y="3276600"/>
                </a:lnTo>
                <a:lnTo>
                  <a:pt x="0" y="3276600"/>
                </a:lnTo>
                <a:lnTo>
                  <a:pt x="0" y="0"/>
                </a:lnTo>
                <a:close/>
              </a:path>
            </a:pathLst>
          </a:custGeom>
          <a:solidFill>
            <a:srgbClr val="FFFFFF"/>
          </a:solidFill>
          <a:ln/>
        </p:spPr>
      </p:sp>
      <p:sp>
        <p:nvSpPr>
          <p:cNvPr id="20" name="Shape 18"/>
          <p:cNvSpPr/>
          <p:nvPr/>
        </p:nvSpPr>
        <p:spPr>
          <a:xfrm>
            <a:off x="6172200" y="10858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C49A2C"/>
          </a:solidFill>
          <a:ln/>
        </p:spPr>
      </p:sp>
      <p:sp>
        <p:nvSpPr>
          <p:cNvPr id="21" name="Text 19"/>
          <p:cNvSpPr/>
          <p:nvPr/>
        </p:nvSpPr>
        <p:spPr>
          <a:xfrm>
            <a:off x="6324600" y="1257300"/>
            <a:ext cx="541972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Feedback and Effect Size Methodology</a:t>
            </a:r>
            <a:endParaRPr lang="en-US" sz="1600" dirty="0"/>
          </a:p>
        </p:txBody>
      </p:sp>
      <p:sp>
        <p:nvSpPr>
          <p:cNvPr id="22" name="Shape 20"/>
          <p:cNvSpPr/>
          <p:nvPr/>
        </p:nvSpPr>
        <p:spPr>
          <a:xfrm>
            <a:off x="6343650" y="1638300"/>
            <a:ext cx="5314950" cy="723900"/>
          </a:xfrm>
          <a:custGeom>
            <a:avLst/>
            <a:gdLst/>
            <a:ahLst/>
            <a:cxnLst/>
            <a:rect l="l" t="t" r="r" b="b"/>
            <a:pathLst>
              <a:path w="5314950" h="723900">
                <a:moveTo>
                  <a:pt x="0" y="0"/>
                </a:moveTo>
                <a:lnTo>
                  <a:pt x="5314950" y="0"/>
                </a:lnTo>
                <a:lnTo>
                  <a:pt x="5314950" y="723900"/>
                </a:lnTo>
                <a:lnTo>
                  <a:pt x="0" y="723900"/>
                </a:lnTo>
                <a:lnTo>
                  <a:pt x="0" y="0"/>
                </a:lnTo>
                <a:close/>
              </a:path>
            </a:pathLst>
          </a:custGeom>
          <a:solidFill>
            <a:srgbClr val="F8F9FA"/>
          </a:solidFill>
          <a:ln/>
        </p:spPr>
      </p:sp>
      <p:sp>
        <p:nvSpPr>
          <p:cNvPr id="23" name="Shape 21"/>
          <p:cNvSpPr/>
          <p:nvPr/>
        </p:nvSpPr>
        <p:spPr>
          <a:xfrm>
            <a:off x="6343650" y="163830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C49A2C"/>
          </a:solidFill>
          <a:ln/>
        </p:spPr>
      </p:sp>
      <p:sp>
        <p:nvSpPr>
          <p:cNvPr id="24" name="Text 22"/>
          <p:cNvSpPr/>
          <p:nvPr/>
        </p:nvSpPr>
        <p:spPr>
          <a:xfrm>
            <a:off x="6477000" y="1752600"/>
            <a:ext cx="51435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Cohen, J. (1988). Statistical Power Analysis for the Behavioral Sciences (2nd ed.). Hillsdale, NJ: Lawrence Erlbaum.</a:t>
            </a:r>
            <a:endParaRPr lang="en-US" sz="1600" dirty="0"/>
          </a:p>
        </p:txBody>
      </p:sp>
      <p:sp>
        <p:nvSpPr>
          <p:cNvPr id="25" name="Shape 23"/>
          <p:cNvSpPr/>
          <p:nvPr/>
        </p:nvSpPr>
        <p:spPr>
          <a:xfrm>
            <a:off x="6343650" y="2438400"/>
            <a:ext cx="5314950" cy="971550"/>
          </a:xfrm>
          <a:custGeom>
            <a:avLst/>
            <a:gdLst/>
            <a:ahLst/>
            <a:cxnLst/>
            <a:rect l="l" t="t" r="r" b="b"/>
            <a:pathLst>
              <a:path w="5314950" h="971550">
                <a:moveTo>
                  <a:pt x="0" y="0"/>
                </a:moveTo>
                <a:lnTo>
                  <a:pt x="5314950" y="0"/>
                </a:lnTo>
                <a:lnTo>
                  <a:pt x="5314950" y="971550"/>
                </a:lnTo>
                <a:lnTo>
                  <a:pt x="0" y="971550"/>
                </a:lnTo>
                <a:lnTo>
                  <a:pt x="0" y="0"/>
                </a:lnTo>
                <a:close/>
              </a:path>
            </a:pathLst>
          </a:custGeom>
          <a:solidFill>
            <a:srgbClr val="F8F9FA"/>
          </a:solidFill>
          <a:ln/>
        </p:spPr>
      </p:sp>
      <p:sp>
        <p:nvSpPr>
          <p:cNvPr id="26" name="Shape 24"/>
          <p:cNvSpPr/>
          <p:nvPr/>
        </p:nvSpPr>
        <p:spPr>
          <a:xfrm>
            <a:off x="6343650" y="2438400"/>
            <a:ext cx="38100" cy="971550"/>
          </a:xfrm>
          <a:custGeom>
            <a:avLst/>
            <a:gdLst/>
            <a:ahLst/>
            <a:cxnLst/>
            <a:rect l="l" t="t" r="r" b="b"/>
            <a:pathLst>
              <a:path w="38100" h="971550">
                <a:moveTo>
                  <a:pt x="0" y="0"/>
                </a:moveTo>
                <a:lnTo>
                  <a:pt x="38100" y="0"/>
                </a:lnTo>
                <a:lnTo>
                  <a:pt x="38100" y="971550"/>
                </a:lnTo>
                <a:lnTo>
                  <a:pt x="0" y="971550"/>
                </a:lnTo>
                <a:lnTo>
                  <a:pt x="0" y="0"/>
                </a:lnTo>
                <a:close/>
              </a:path>
            </a:pathLst>
          </a:custGeom>
          <a:solidFill>
            <a:srgbClr val="C49A2C"/>
          </a:solidFill>
          <a:ln/>
        </p:spPr>
      </p:sp>
      <p:sp>
        <p:nvSpPr>
          <p:cNvPr id="27" name="Text 25"/>
          <p:cNvSpPr/>
          <p:nvPr/>
        </p:nvSpPr>
        <p:spPr>
          <a:xfrm>
            <a:off x="6477000" y="2552700"/>
            <a:ext cx="514350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Kluger, A. N., &amp; DeNisi, A. (1996). The Effects of Feedback Interventions on Performance: A Historical Review, a Meta-Analysis, and a Preliminary Feedback Intervention Theory. Psychological Bulletin, 119(2), 254–284.</a:t>
            </a:r>
            <a:endParaRPr lang="en-US" sz="1600" dirty="0"/>
          </a:p>
        </p:txBody>
      </p:sp>
      <p:sp>
        <p:nvSpPr>
          <p:cNvPr id="28" name="Shape 26"/>
          <p:cNvSpPr/>
          <p:nvPr/>
        </p:nvSpPr>
        <p:spPr>
          <a:xfrm>
            <a:off x="6343650" y="3486150"/>
            <a:ext cx="5314950" cy="723900"/>
          </a:xfrm>
          <a:custGeom>
            <a:avLst/>
            <a:gdLst/>
            <a:ahLst/>
            <a:cxnLst/>
            <a:rect l="l" t="t" r="r" b="b"/>
            <a:pathLst>
              <a:path w="5314950" h="723900">
                <a:moveTo>
                  <a:pt x="0" y="0"/>
                </a:moveTo>
                <a:lnTo>
                  <a:pt x="5314950" y="0"/>
                </a:lnTo>
                <a:lnTo>
                  <a:pt x="5314950" y="723900"/>
                </a:lnTo>
                <a:lnTo>
                  <a:pt x="0" y="723900"/>
                </a:lnTo>
                <a:lnTo>
                  <a:pt x="0" y="0"/>
                </a:lnTo>
                <a:close/>
              </a:path>
            </a:pathLst>
          </a:custGeom>
          <a:solidFill>
            <a:srgbClr val="F8F9FA"/>
          </a:solidFill>
          <a:ln/>
        </p:spPr>
      </p:sp>
      <p:sp>
        <p:nvSpPr>
          <p:cNvPr id="29" name="Shape 27"/>
          <p:cNvSpPr/>
          <p:nvPr/>
        </p:nvSpPr>
        <p:spPr>
          <a:xfrm>
            <a:off x="6343650" y="3486150"/>
            <a:ext cx="38100" cy="723900"/>
          </a:xfrm>
          <a:custGeom>
            <a:avLst/>
            <a:gdLst/>
            <a:ahLst/>
            <a:cxnLst/>
            <a:rect l="l" t="t" r="r" b="b"/>
            <a:pathLst>
              <a:path w="38100" h="723900">
                <a:moveTo>
                  <a:pt x="0" y="0"/>
                </a:moveTo>
                <a:lnTo>
                  <a:pt x="38100" y="0"/>
                </a:lnTo>
                <a:lnTo>
                  <a:pt x="38100" y="723900"/>
                </a:lnTo>
                <a:lnTo>
                  <a:pt x="0" y="723900"/>
                </a:lnTo>
                <a:lnTo>
                  <a:pt x="0" y="0"/>
                </a:lnTo>
                <a:close/>
              </a:path>
            </a:pathLst>
          </a:custGeom>
          <a:solidFill>
            <a:srgbClr val="C49A2C"/>
          </a:solidFill>
          <a:ln/>
        </p:spPr>
      </p:sp>
      <p:sp>
        <p:nvSpPr>
          <p:cNvPr id="30" name="Text 28"/>
          <p:cNvSpPr/>
          <p:nvPr/>
        </p:nvSpPr>
        <p:spPr>
          <a:xfrm>
            <a:off x="6477000" y="3600450"/>
            <a:ext cx="51435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Shute, V. J. (2008). Focus on Formative Feedback. Review of Educational Research, 78(1), 153–189.</a:t>
            </a:r>
            <a:endParaRPr lang="en-US" sz="1600" dirty="0"/>
          </a:p>
        </p:txBody>
      </p:sp>
      <p:sp>
        <p:nvSpPr>
          <p:cNvPr id="31" name="Shape 29"/>
          <p:cNvSpPr/>
          <p:nvPr/>
        </p:nvSpPr>
        <p:spPr>
          <a:xfrm>
            <a:off x="6172200" y="4476750"/>
            <a:ext cx="5638800" cy="1390650"/>
          </a:xfrm>
          <a:custGeom>
            <a:avLst/>
            <a:gdLst/>
            <a:ahLst/>
            <a:cxnLst/>
            <a:rect l="l" t="t" r="r" b="b"/>
            <a:pathLst>
              <a:path w="5638800" h="1390650">
                <a:moveTo>
                  <a:pt x="0" y="0"/>
                </a:moveTo>
                <a:lnTo>
                  <a:pt x="5638800" y="0"/>
                </a:lnTo>
                <a:lnTo>
                  <a:pt x="5638800" y="1390650"/>
                </a:lnTo>
                <a:lnTo>
                  <a:pt x="0" y="1390650"/>
                </a:lnTo>
                <a:lnTo>
                  <a:pt x="0" y="0"/>
                </a:lnTo>
                <a:close/>
              </a:path>
            </a:pathLst>
          </a:custGeom>
          <a:solidFill>
            <a:srgbClr val="C49A2C"/>
          </a:solidFill>
          <a:ln/>
        </p:spPr>
      </p:sp>
      <p:sp>
        <p:nvSpPr>
          <p:cNvPr id="32" name="Text 30"/>
          <p:cNvSpPr/>
          <p:nvPr/>
        </p:nvSpPr>
        <p:spPr>
          <a:xfrm>
            <a:off x="6324600" y="4629150"/>
            <a:ext cx="5419725" cy="266700"/>
          </a:xfrm>
          <a:prstGeom prst="rect">
            <a:avLst/>
          </a:prstGeom>
          <a:noFill/>
          <a:ln/>
        </p:spPr>
        <p:txBody>
          <a:bodyPr wrap="square" lIns="0" tIns="0" rIns="0" bIns="0" rtlCol="0" anchor="ctr"/>
          <a:lstStyle/>
          <a:p>
            <a:pPr>
              <a:lnSpc>
                <a:spcPct val="130000"/>
              </a:lnSpc>
            </a:pPr>
            <a:r>
              <a:rPr lang="en-US" sz="1350" b="1" dirty="0">
                <a:solidFill>
                  <a:srgbClr val="F8F9FA"/>
                </a:solidFill>
                <a:latin typeface="MiSans" pitchFamily="34" charset="0"/>
                <a:ea typeface="MiSans" pitchFamily="34" charset="-122"/>
                <a:cs typeface="MiSans" pitchFamily="34" charset="-120"/>
              </a:rPr>
              <a:t>Note on Sources</a:t>
            </a:r>
            <a:endParaRPr lang="en-US" sz="1600" dirty="0"/>
          </a:p>
        </p:txBody>
      </p:sp>
      <p:sp>
        <p:nvSpPr>
          <p:cNvPr id="33" name="Text 31"/>
          <p:cNvSpPr/>
          <p:nvPr/>
        </p:nvSpPr>
        <p:spPr>
          <a:xfrm>
            <a:off x="6324600" y="4972050"/>
            <a:ext cx="5410200" cy="74295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The MPI Technical Handbook (Edition 4.2) contains a </a:t>
            </a:r>
            <a:pPr>
              <a:lnSpc>
                <a:spcPct val="140000"/>
              </a:lnSpc>
            </a:pPr>
            <a:r>
              <a:rPr lang="en-US" sz="1200" b="1" dirty="0">
                <a:solidFill>
                  <a:srgbClr val="F8F9FA"/>
                </a:solidFill>
                <a:latin typeface="MiSans" pitchFamily="34" charset="0"/>
                <a:ea typeface="MiSans" pitchFamily="34" charset="-122"/>
                <a:cs typeface="MiSans" pitchFamily="34" charset="-120"/>
              </a:rPr>
              <a:t>full bibliography</a:t>
            </a:r>
            <a:pPr>
              <a:lnSpc>
                <a:spcPct val="140000"/>
              </a:lnSpc>
            </a:pPr>
            <a:r>
              <a:rPr lang="en-US" sz="1200" dirty="0">
                <a:solidFill>
                  <a:srgbClr val="F8F9FA"/>
                </a:solidFill>
                <a:latin typeface="MiSans" pitchFamily="34" charset="0"/>
                <a:ea typeface="MiSans" pitchFamily="34" charset="-122"/>
                <a:cs typeface="MiSans" pitchFamily="34" charset="-120"/>
              </a:rPr>
              <a:t> of sources cited in the framework's development. Staff should consult this for comprehensive references.</a:t>
            </a:r>
            <a:endParaRPr lang="en-US" sz="1600" dirty="0"/>
          </a:p>
        </p:txBody>
      </p:sp>
      <p:sp>
        <p:nvSpPr>
          <p:cNvPr id="34" name="Shape 32"/>
          <p:cNvSpPr/>
          <p:nvPr/>
        </p:nvSpPr>
        <p:spPr>
          <a:xfrm>
            <a:off x="6191250" y="5981700"/>
            <a:ext cx="5619750" cy="685800"/>
          </a:xfrm>
          <a:custGeom>
            <a:avLst/>
            <a:gdLst/>
            <a:ahLst/>
            <a:cxnLst/>
            <a:rect l="l" t="t" r="r" b="b"/>
            <a:pathLst>
              <a:path w="5619750" h="685800">
                <a:moveTo>
                  <a:pt x="0" y="0"/>
                </a:moveTo>
                <a:lnTo>
                  <a:pt x="5619750" y="0"/>
                </a:lnTo>
                <a:lnTo>
                  <a:pt x="5619750" y="685800"/>
                </a:lnTo>
                <a:lnTo>
                  <a:pt x="0" y="685800"/>
                </a:lnTo>
                <a:lnTo>
                  <a:pt x="0" y="0"/>
                </a:lnTo>
                <a:close/>
              </a:path>
            </a:pathLst>
          </a:custGeom>
          <a:solidFill>
            <a:srgbClr val="C49A2C">
              <a:alpha val="10196"/>
            </a:srgbClr>
          </a:solidFill>
          <a:ln/>
        </p:spPr>
      </p:sp>
      <p:sp>
        <p:nvSpPr>
          <p:cNvPr id="35" name="Shape 33"/>
          <p:cNvSpPr/>
          <p:nvPr/>
        </p:nvSpPr>
        <p:spPr>
          <a:xfrm>
            <a:off x="6191250" y="5981700"/>
            <a:ext cx="38100" cy="685800"/>
          </a:xfrm>
          <a:custGeom>
            <a:avLst/>
            <a:gdLst/>
            <a:ahLst/>
            <a:cxnLst/>
            <a:rect l="l" t="t" r="r" b="b"/>
            <a:pathLst>
              <a:path w="38100" h="685800">
                <a:moveTo>
                  <a:pt x="0" y="0"/>
                </a:moveTo>
                <a:lnTo>
                  <a:pt x="38100" y="0"/>
                </a:lnTo>
                <a:lnTo>
                  <a:pt x="38100" y="685800"/>
                </a:lnTo>
                <a:lnTo>
                  <a:pt x="0" y="685800"/>
                </a:lnTo>
                <a:lnTo>
                  <a:pt x="0" y="0"/>
                </a:lnTo>
                <a:close/>
              </a:path>
            </a:pathLst>
          </a:custGeom>
          <a:solidFill>
            <a:srgbClr val="C49A2C"/>
          </a:solidFill>
          <a:ln/>
        </p:spPr>
      </p:sp>
      <p:sp>
        <p:nvSpPr>
          <p:cNvPr id="36" name="Shape 34"/>
          <p:cNvSpPr/>
          <p:nvPr/>
        </p:nvSpPr>
        <p:spPr>
          <a:xfrm>
            <a:off x="6353175" y="6138863"/>
            <a:ext cx="133350" cy="152400"/>
          </a:xfrm>
          <a:custGeom>
            <a:avLst/>
            <a:gdLst/>
            <a:ahLst/>
            <a:cxnLst/>
            <a:rect l="l" t="t" r="r" b="b"/>
            <a:pathLst>
              <a:path w="133350" h="152400">
                <a:moveTo>
                  <a:pt x="114300" y="152400"/>
                </a:moveTo>
                <a:lnTo>
                  <a:pt x="28575" y="152400"/>
                </a:lnTo>
                <a:cubicBezTo>
                  <a:pt x="12799" y="152400"/>
                  <a:pt x="0" y="139601"/>
                  <a:pt x="0" y="123825"/>
                </a:cubicBezTo>
                <a:lnTo>
                  <a:pt x="0" y="28575"/>
                </a:lnTo>
                <a:cubicBezTo>
                  <a:pt x="0" y="12799"/>
                  <a:pt x="12799" y="0"/>
                  <a:pt x="28575" y="0"/>
                </a:cubicBezTo>
                <a:lnTo>
                  <a:pt x="119062" y="0"/>
                </a:lnTo>
                <a:cubicBezTo>
                  <a:pt x="126950" y="0"/>
                  <a:pt x="133350" y="6400"/>
                  <a:pt x="133350" y="14288"/>
                </a:cubicBezTo>
                <a:lnTo>
                  <a:pt x="133350" y="100013"/>
                </a:lnTo>
                <a:cubicBezTo>
                  <a:pt x="133350" y="106234"/>
                  <a:pt x="129361" y="111532"/>
                  <a:pt x="123825" y="113496"/>
                </a:cubicBezTo>
                <a:lnTo>
                  <a:pt x="123825" y="133350"/>
                </a:lnTo>
                <a:cubicBezTo>
                  <a:pt x="129094" y="133350"/>
                  <a:pt x="133350" y="137606"/>
                  <a:pt x="133350" y="142875"/>
                </a:cubicBezTo>
                <a:cubicBezTo>
                  <a:pt x="133350" y="148144"/>
                  <a:pt x="129094" y="152400"/>
                  <a:pt x="123825" y="152400"/>
                </a:cubicBezTo>
                <a:lnTo>
                  <a:pt x="114300" y="152400"/>
                </a:lnTo>
                <a:close/>
                <a:moveTo>
                  <a:pt x="28575" y="114300"/>
                </a:moveTo>
                <a:cubicBezTo>
                  <a:pt x="23306" y="114300"/>
                  <a:pt x="19050" y="118556"/>
                  <a:pt x="19050" y="123825"/>
                </a:cubicBezTo>
                <a:cubicBezTo>
                  <a:pt x="19050" y="129094"/>
                  <a:pt x="23306" y="133350"/>
                  <a:pt x="28575" y="133350"/>
                </a:cubicBezTo>
                <a:lnTo>
                  <a:pt x="104775" y="133350"/>
                </a:lnTo>
                <a:lnTo>
                  <a:pt x="104775" y="114300"/>
                </a:lnTo>
                <a:lnTo>
                  <a:pt x="28575" y="114300"/>
                </a:lnTo>
                <a:close/>
                <a:moveTo>
                  <a:pt x="38100" y="45244"/>
                </a:moveTo>
                <a:cubicBezTo>
                  <a:pt x="38100" y="49203"/>
                  <a:pt x="41285" y="52388"/>
                  <a:pt x="45244" y="52388"/>
                </a:cubicBezTo>
                <a:lnTo>
                  <a:pt x="97631" y="52388"/>
                </a:lnTo>
                <a:cubicBezTo>
                  <a:pt x="101590" y="52388"/>
                  <a:pt x="104775" y="49203"/>
                  <a:pt x="104775" y="45244"/>
                </a:cubicBezTo>
                <a:cubicBezTo>
                  <a:pt x="104775" y="41285"/>
                  <a:pt x="101590" y="38100"/>
                  <a:pt x="97631" y="38100"/>
                </a:cubicBezTo>
                <a:lnTo>
                  <a:pt x="45244" y="38100"/>
                </a:lnTo>
                <a:cubicBezTo>
                  <a:pt x="41285" y="38100"/>
                  <a:pt x="38100" y="41285"/>
                  <a:pt x="38100" y="45244"/>
                </a:cubicBezTo>
                <a:close/>
                <a:moveTo>
                  <a:pt x="45244" y="66675"/>
                </a:moveTo>
                <a:cubicBezTo>
                  <a:pt x="41285" y="66675"/>
                  <a:pt x="38100" y="69860"/>
                  <a:pt x="38100" y="73819"/>
                </a:cubicBezTo>
                <a:cubicBezTo>
                  <a:pt x="38100" y="77778"/>
                  <a:pt x="41285" y="80962"/>
                  <a:pt x="45244" y="80962"/>
                </a:cubicBezTo>
                <a:lnTo>
                  <a:pt x="97631" y="80962"/>
                </a:lnTo>
                <a:cubicBezTo>
                  <a:pt x="101590" y="80962"/>
                  <a:pt x="104775" y="77778"/>
                  <a:pt x="104775" y="73819"/>
                </a:cubicBezTo>
                <a:cubicBezTo>
                  <a:pt x="104775" y="69860"/>
                  <a:pt x="101590" y="66675"/>
                  <a:pt x="97631" y="66675"/>
                </a:cubicBezTo>
                <a:lnTo>
                  <a:pt x="45244" y="66675"/>
                </a:lnTo>
                <a:close/>
              </a:path>
            </a:pathLst>
          </a:custGeom>
          <a:solidFill>
            <a:srgbClr val="C49A2C"/>
          </a:solidFill>
          <a:ln/>
        </p:spPr>
      </p:sp>
      <p:sp>
        <p:nvSpPr>
          <p:cNvPr id="37" name="Text 35"/>
          <p:cNvSpPr/>
          <p:nvPr/>
        </p:nvSpPr>
        <p:spPr>
          <a:xfrm>
            <a:off x="6572250" y="6096000"/>
            <a:ext cx="5200650" cy="457200"/>
          </a:xfrm>
          <a:prstGeom prst="rect">
            <a:avLst/>
          </a:prstGeom>
          <a:noFill/>
          <a:ln/>
        </p:spPr>
        <p:txBody>
          <a:bodyPr wrap="square" lIns="0" tIns="0" rIns="0" bIns="0" rtlCol="0" anchor="ctr"/>
          <a:lstStyle/>
          <a:p>
            <a:pPr>
              <a:lnSpc>
                <a:spcPct val="130000"/>
              </a:lnSpc>
            </a:pPr>
            <a:r>
              <a:rPr lang="en-US" sz="1200" b="1" dirty="0">
                <a:solidFill>
                  <a:srgbClr val="1E3A5F"/>
                </a:solidFill>
                <a:latin typeface="MiSans" pitchFamily="34" charset="0"/>
                <a:ea typeface="MiSans" pitchFamily="34" charset="-122"/>
                <a:cs typeface="MiSans" pitchFamily="34" charset="-120"/>
              </a:rPr>
              <a:t>Location:</a:t>
            </a:r>
            <a:pPr>
              <a:lnSpc>
                <a:spcPct val="130000"/>
              </a:lnSpc>
            </a:pPr>
            <a:r>
              <a:rPr lang="en-US" sz="1200" dirty="0">
                <a:solidFill>
                  <a:srgbClr val="1E3A5F"/>
                </a:solidFill>
                <a:latin typeface="MiSans" pitchFamily="34" charset="0"/>
                <a:ea typeface="MiSans" pitchFamily="34" charset="-122"/>
                <a:cs typeface="MiSans" pitchFamily="34" charset="-120"/>
              </a:rPr>
              <a:t> MPI Technical Handbook, Appendix A — Glossary of Terms and Bibliography</a:t>
            </a:r>
            <a:endParaRPr lang="en-US" sz="16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1E3A5F"/>
          </a:solidFill>
          <a:ln/>
        </p:spPr>
      </p:sp>
      <p:sp>
        <p:nvSpPr>
          <p:cNvPr id="3" name="Text 1"/>
          <p:cNvSpPr/>
          <p:nvPr/>
        </p:nvSpPr>
        <p:spPr>
          <a:xfrm>
            <a:off x="571500" y="438150"/>
            <a:ext cx="5743575" cy="342900"/>
          </a:xfrm>
          <a:prstGeom prst="rect">
            <a:avLst/>
          </a:prstGeom>
          <a:noFill/>
          <a:ln/>
        </p:spPr>
        <p:txBody>
          <a:bodyPr wrap="square" lIns="0" tIns="0" rIns="0" bIns="0" rtlCol="0" anchor="ctr"/>
          <a:lstStyle/>
          <a:p>
            <a:pPr>
              <a:lnSpc>
                <a:spcPct val="100000"/>
              </a:lnSpc>
            </a:pPr>
            <a:r>
              <a:rPr lang="en-US" sz="2250" b="1" dirty="0">
                <a:solidFill>
                  <a:srgbClr val="1E3A5F"/>
                </a:solidFill>
                <a:latin typeface="MiSans" pitchFamily="34" charset="0"/>
                <a:ea typeface="MiSans" pitchFamily="34" charset="-122"/>
                <a:cs typeface="MiSans" pitchFamily="34" charset="-120"/>
              </a:rPr>
              <a:t>Contact Information and Further Support</a:t>
            </a:r>
            <a:endParaRPr lang="en-US" sz="1600" dirty="0"/>
          </a:p>
        </p:txBody>
      </p:sp>
      <p:sp>
        <p:nvSpPr>
          <p:cNvPr id="4" name="Shape 2"/>
          <p:cNvSpPr/>
          <p:nvPr/>
        </p:nvSpPr>
        <p:spPr>
          <a:xfrm>
            <a:off x="381000" y="1066800"/>
            <a:ext cx="5638800" cy="3848100"/>
          </a:xfrm>
          <a:custGeom>
            <a:avLst/>
            <a:gdLst/>
            <a:ahLst/>
            <a:cxnLst/>
            <a:rect l="l" t="t" r="r" b="b"/>
            <a:pathLst>
              <a:path w="5638800" h="3848100">
                <a:moveTo>
                  <a:pt x="0" y="0"/>
                </a:moveTo>
                <a:lnTo>
                  <a:pt x="5638800" y="0"/>
                </a:lnTo>
                <a:lnTo>
                  <a:pt x="5638800" y="3848100"/>
                </a:lnTo>
                <a:lnTo>
                  <a:pt x="0" y="3848100"/>
                </a:lnTo>
                <a:lnTo>
                  <a:pt x="0" y="0"/>
                </a:lnTo>
                <a:close/>
              </a:path>
            </a:pathLst>
          </a:custGeom>
          <a:solidFill>
            <a:srgbClr val="1E3A5F"/>
          </a:solidFill>
          <a:ln/>
        </p:spPr>
      </p:sp>
      <p:sp>
        <p:nvSpPr>
          <p:cNvPr id="5" name="Shape 3"/>
          <p:cNvSpPr/>
          <p:nvPr/>
        </p:nvSpPr>
        <p:spPr>
          <a:xfrm>
            <a:off x="607219" y="1295400"/>
            <a:ext cx="166688" cy="190500"/>
          </a:xfrm>
          <a:custGeom>
            <a:avLst/>
            <a:gdLst/>
            <a:ahLst/>
            <a:cxnLst/>
            <a:rect l="l" t="t" r="r" b="b"/>
            <a:pathLst>
              <a:path w="166688" h="190500">
                <a:moveTo>
                  <a:pt x="83344" y="92273"/>
                </a:moveTo>
                <a:cubicBezTo>
                  <a:pt x="58702" y="92273"/>
                  <a:pt x="38695" y="72267"/>
                  <a:pt x="38695" y="47625"/>
                </a:cubicBezTo>
                <a:cubicBezTo>
                  <a:pt x="38695" y="22983"/>
                  <a:pt x="58702" y="2977"/>
                  <a:pt x="83344" y="2977"/>
                </a:cubicBezTo>
                <a:cubicBezTo>
                  <a:pt x="107986" y="2977"/>
                  <a:pt x="127992" y="22983"/>
                  <a:pt x="127992" y="47625"/>
                </a:cubicBezTo>
                <a:cubicBezTo>
                  <a:pt x="127992" y="72267"/>
                  <a:pt x="107986" y="92273"/>
                  <a:pt x="83344" y="92273"/>
                </a:cubicBezTo>
                <a:close/>
                <a:moveTo>
                  <a:pt x="71996" y="113109"/>
                </a:moveTo>
                <a:lnTo>
                  <a:pt x="94692" y="113109"/>
                </a:lnTo>
                <a:cubicBezTo>
                  <a:pt x="98301" y="113109"/>
                  <a:pt x="101203" y="116012"/>
                  <a:pt x="101203" y="119621"/>
                </a:cubicBezTo>
                <a:cubicBezTo>
                  <a:pt x="101203" y="121183"/>
                  <a:pt x="100645" y="122672"/>
                  <a:pt x="99640" y="123862"/>
                </a:cubicBezTo>
                <a:lnTo>
                  <a:pt x="89446" y="135768"/>
                </a:lnTo>
                <a:lnTo>
                  <a:pt x="100980" y="178594"/>
                </a:lnTo>
                <a:lnTo>
                  <a:pt x="101203" y="178594"/>
                </a:lnTo>
                <a:lnTo>
                  <a:pt x="114077" y="127062"/>
                </a:lnTo>
                <a:cubicBezTo>
                  <a:pt x="114895" y="123825"/>
                  <a:pt x="118207" y="121853"/>
                  <a:pt x="121332" y="123044"/>
                </a:cubicBezTo>
                <a:cubicBezTo>
                  <a:pt x="144363" y="131825"/>
                  <a:pt x="160734" y="154149"/>
                  <a:pt x="160734" y="180268"/>
                </a:cubicBezTo>
                <a:cubicBezTo>
                  <a:pt x="160734" y="185886"/>
                  <a:pt x="156158" y="190463"/>
                  <a:pt x="150540" y="190463"/>
                </a:cubicBezTo>
                <a:lnTo>
                  <a:pt x="16148" y="190500"/>
                </a:lnTo>
                <a:cubicBezTo>
                  <a:pt x="10530" y="190500"/>
                  <a:pt x="5953" y="185924"/>
                  <a:pt x="5953" y="180305"/>
                </a:cubicBezTo>
                <a:cubicBezTo>
                  <a:pt x="5953" y="154186"/>
                  <a:pt x="22324" y="131862"/>
                  <a:pt x="45355" y="123081"/>
                </a:cubicBezTo>
                <a:cubicBezTo>
                  <a:pt x="48481" y="121890"/>
                  <a:pt x="51792" y="123862"/>
                  <a:pt x="52611" y="127099"/>
                </a:cubicBezTo>
                <a:lnTo>
                  <a:pt x="65484" y="178631"/>
                </a:lnTo>
                <a:lnTo>
                  <a:pt x="65708" y="178631"/>
                </a:lnTo>
                <a:lnTo>
                  <a:pt x="77242" y="135806"/>
                </a:lnTo>
                <a:lnTo>
                  <a:pt x="67047" y="123899"/>
                </a:lnTo>
                <a:cubicBezTo>
                  <a:pt x="66042" y="122709"/>
                  <a:pt x="65484" y="121221"/>
                  <a:pt x="65484" y="119658"/>
                </a:cubicBezTo>
                <a:cubicBezTo>
                  <a:pt x="65484" y="116049"/>
                  <a:pt x="68387" y="113147"/>
                  <a:pt x="71996" y="113147"/>
                </a:cubicBezTo>
                <a:close/>
              </a:path>
            </a:pathLst>
          </a:custGeom>
          <a:solidFill>
            <a:srgbClr val="C49A2C"/>
          </a:solidFill>
          <a:ln/>
        </p:spPr>
      </p:sp>
      <p:sp>
        <p:nvSpPr>
          <p:cNvPr id="6" name="Text 4"/>
          <p:cNvSpPr/>
          <p:nvPr/>
        </p:nvSpPr>
        <p:spPr>
          <a:xfrm>
            <a:off x="809625" y="1257300"/>
            <a:ext cx="5114925" cy="266700"/>
          </a:xfrm>
          <a:prstGeom prst="rect">
            <a:avLst/>
          </a:prstGeom>
          <a:noFill/>
          <a:ln/>
        </p:spPr>
        <p:txBody>
          <a:bodyPr wrap="square" lIns="0" tIns="0" rIns="0" bIns="0" rtlCol="0" anchor="ctr"/>
          <a:lstStyle/>
          <a:p>
            <a:pPr>
              <a:lnSpc>
                <a:spcPct val="120000"/>
              </a:lnSpc>
            </a:pPr>
            <a:r>
              <a:rPr lang="en-US" sz="1500" b="1" dirty="0">
                <a:solidFill>
                  <a:srgbClr val="F8F9FA"/>
                </a:solidFill>
                <a:latin typeface="MiSans" pitchFamily="34" charset="0"/>
                <a:ea typeface="MiSans" pitchFamily="34" charset="-122"/>
                <a:cs typeface="MiSans" pitchFamily="34" charset="-120"/>
              </a:rPr>
              <a:t>Primary Contact</a:t>
            </a:r>
            <a:endParaRPr lang="en-US" sz="1600" dirty="0"/>
          </a:p>
        </p:txBody>
      </p:sp>
      <p:sp>
        <p:nvSpPr>
          <p:cNvPr id="7" name="Shape 5"/>
          <p:cNvSpPr/>
          <p:nvPr/>
        </p:nvSpPr>
        <p:spPr>
          <a:xfrm>
            <a:off x="571500" y="1676400"/>
            <a:ext cx="5257800" cy="1104900"/>
          </a:xfrm>
          <a:custGeom>
            <a:avLst/>
            <a:gdLst/>
            <a:ahLst/>
            <a:cxnLst/>
            <a:rect l="l" t="t" r="r" b="b"/>
            <a:pathLst>
              <a:path w="5257800" h="1104900">
                <a:moveTo>
                  <a:pt x="0" y="0"/>
                </a:moveTo>
                <a:lnTo>
                  <a:pt x="5257800" y="0"/>
                </a:lnTo>
                <a:lnTo>
                  <a:pt x="5257800" y="1104900"/>
                </a:lnTo>
                <a:lnTo>
                  <a:pt x="0" y="1104900"/>
                </a:lnTo>
                <a:lnTo>
                  <a:pt x="0" y="0"/>
                </a:lnTo>
                <a:close/>
              </a:path>
            </a:pathLst>
          </a:custGeom>
          <a:solidFill>
            <a:srgbClr val="F8F9FA">
              <a:alpha val="10196"/>
            </a:srgbClr>
          </a:solidFill>
          <a:ln/>
        </p:spPr>
      </p:sp>
      <p:sp>
        <p:nvSpPr>
          <p:cNvPr id="8" name="Text 6"/>
          <p:cNvSpPr/>
          <p:nvPr/>
        </p:nvSpPr>
        <p:spPr>
          <a:xfrm>
            <a:off x="723900" y="1828800"/>
            <a:ext cx="5029200" cy="228600"/>
          </a:xfrm>
          <a:prstGeom prst="rect">
            <a:avLst/>
          </a:prstGeom>
          <a:noFill/>
          <a:ln/>
        </p:spPr>
        <p:txBody>
          <a:bodyPr wrap="square" lIns="0" tIns="0" rIns="0" bIns="0" rtlCol="0" anchor="ctr"/>
          <a:lstStyle/>
          <a:p>
            <a:pPr>
              <a:lnSpc>
                <a:spcPct val="130000"/>
              </a:lnSpc>
            </a:pPr>
            <a:r>
              <a:rPr lang="en-US" sz="1200" b="1" dirty="0">
                <a:solidFill>
                  <a:srgbClr val="C49A2C"/>
                </a:solidFill>
                <a:latin typeface="MiSans" pitchFamily="34" charset="0"/>
                <a:ea typeface="MiSans" pitchFamily="34" charset="-122"/>
                <a:cs typeface="MiSans" pitchFamily="34" charset="-120"/>
              </a:rPr>
              <a:t>Dr Paul Axel Hart</a:t>
            </a:r>
            <a:endParaRPr lang="en-US" sz="1600" dirty="0"/>
          </a:p>
        </p:txBody>
      </p:sp>
      <p:sp>
        <p:nvSpPr>
          <p:cNvPr id="9" name="Text 7"/>
          <p:cNvSpPr/>
          <p:nvPr/>
        </p:nvSpPr>
        <p:spPr>
          <a:xfrm>
            <a:off x="723900" y="2133600"/>
            <a:ext cx="5029200" cy="24765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Head of Training &amp; Development</a:t>
            </a:r>
            <a:endParaRPr lang="en-US" sz="1600" dirty="0"/>
          </a:p>
        </p:txBody>
      </p:sp>
      <p:sp>
        <p:nvSpPr>
          <p:cNvPr id="10" name="Text 8"/>
          <p:cNvSpPr/>
          <p:nvPr/>
        </p:nvSpPr>
        <p:spPr>
          <a:xfrm>
            <a:off x="723900" y="2381250"/>
            <a:ext cx="5029200" cy="24765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Meridian Education Group</a:t>
            </a:r>
            <a:endParaRPr lang="en-US" sz="1600" dirty="0"/>
          </a:p>
        </p:txBody>
      </p:sp>
      <p:sp>
        <p:nvSpPr>
          <p:cNvPr id="11" name="Shape 9"/>
          <p:cNvSpPr/>
          <p:nvPr/>
        </p:nvSpPr>
        <p:spPr>
          <a:xfrm>
            <a:off x="571500" y="2895600"/>
            <a:ext cx="5257800" cy="533400"/>
          </a:xfrm>
          <a:custGeom>
            <a:avLst/>
            <a:gdLst/>
            <a:ahLst/>
            <a:cxnLst/>
            <a:rect l="l" t="t" r="r" b="b"/>
            <a:pathLst>
              <a:path w="5257800" h="533400">
                <a:moveTo>
                  <a:pt x="0" y="0"/>
                </a:moveTo>
                <a:lnTo>
                  <a:pt x="5257800" y="0"/>
                </a:lnTo>
                <a:lnTo>
                  <a:pt x="5257800" y="533400"/>
                </a:lnTo>
                <a:lnTo>
                  <a:pt x="0" y="533400"/>
                </a:lnTo>
                <a:lnTo>
                  <a:pt x="0" y="0"/>
                </a:lnTo>
                <a:close/>
              </a:path>
            </a:pathLst>
          </a:custGeom>
          <a:solidFill>
            <a:srgbClr val="F8F9FA">
              <a:alpha val="10196"/>
            </a:srgbClr>
          </a:solidFill>
          <a:ln/>
        </p:spPr>
      </p:sp>
      <p:sp>
        <p:nvSpPr>
          <p:cNvPr id="12" name="Shape 10"/>
          <p:cNvSpPr/>
          <p:nvPr/>
        </p:nvSpPr>
        <p:spPr>
          <a:xfrm>
            <a:off x="742950" y="3090863"/>
            <a:ext cx="152400" cy="152400"/>
          </a:xfrm>
          <a:custGeom>
            <a:avLst/>
            <a:gdLst/>
            <a:ahLst/>
            <a:cxnLst/>
            <a:rect l="l" t="t" r="r" b="b"/>
            <a:pathLst>
              <a:path w="152400" h="152400">
                <a:moveTo>
                  <a:pt x="14288" y="19050"/>
                </a:moveTo>
                <a:cubicBezTo>
                  <a:pt x="6400" y="19050"/>
                  <a:pt x="0" y="25450"/>
                  <a:pt x="0" y="33338"/>
                </a:cubicBezTo>
                <a:cubicBezTo>
                  <a:pt x="0" y="37832"/>
                  <a:pt x="2113" y="42059"/>
                  <a:pt x="5715" y="44768"/>
                </a:cubicBezTo>
                <a:lnTo>
                  <a:pt x="67628" y="91202"/>
                </a:lnTo>
                <a:cubicBezTo>
                  <a:pt x="72717" y="95012"/>
                  <a:pt x="79683" y="95012"/>
                  <a:pt x="84773" y="91202"/>
                </a:cubicBezTo>
                <a:lnTo>
                  <a:pt x="146685" y="44767"/>
                </a:lnTo>
                <a:cubicBezTo>
                  <a:pt x="150287" y="42059"/>
                  <a:pt x="152400" y="37832"/>
                  <a:pt x="152400" y="33337"/>
                </a:cubicBezTo>
                <a:cubicBezTo>
                  <a:pt x="152400" y="25450"/>
                  <a:pt x="146000" y="19050"/>
                  <a:pt x="138113" y="19050"/>
                </a:cubicBezTo>
                <a:lnTo>
                  <a:pt x="14288" y="19050"/>
                </a:lnTo>
                <a:close/>
                <a:moveTo>
                  <a:pt x="0" y="58341"/>
                </a:moveTo>
                <a:lnTo>
                  <a:pt x="0" y="114300"/>
                </a:lnTo>
                <a:cubicBezTo>
                  <a:pt x="0" y="124807"/>
                  <a:pt x="8543" y="133350"/>
                  <a:pt x="19050" y="133350"/>
                </a:cubicBezTo>
                <a:lnTo>
                  <a:pt x="133350" y="133350"/>
                </a:lnTo>
                <a:cubicBezTo>
                  <a:pt x="143857" y="133350"/>
                  <a:pt x="152400" y="124807"/>
                  <a:pt x="152400" y="114300"/>
                </a:cubicBezTo>
                <a:lnTo>
                  <a:pt x="152400" y="58341"/>
                </a:lnTo>
                <a:lnTo>
                  <a:pt x="93345" y="102632"/>
                </a:lnTo>
                <a:cubicBezTo>
                  <a:pt x="83195" y="110252"/>
                  <a:pt x="69205" y="110252"/>
                  <a:pt x="59055" y="102632"/>
                </a:cubicBezTo>
                <a:lnTo>
                  <a:pt x="0" y="58341"/>
                </a:lnTo>
                <a:close/>
              </a:path>
            </a:pathLst>
          </a:custGeom>
          <a:solidFill>
            <a:srgbClr val="C49A2C"/>
          </a:solidFill>
          <a:ln/>
        </p:spPr>
      </p:sp>
      <p:sp>
        <p:nvSpPr>
          <p:cNvPr id="13" name="Text 11"/>
          <p:cNvSpPr/>
          <p:nvPr/>
        </p:nvSpPr>
        <p:spPr>
          <a:xfrm>
            <a:off x="971550" y="3048000"/>
            <a:ext cx="4781550"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MiSans" pitchFamily="34" charset="0"/>
                <a:ea typeface="MiSans" pitchFamily="34" charset="-122"/>
                <a:cs typeface="MiSans" pitchFamily="34" charset="-120"/>
              </a:rPr>
              <a:t>Email:</a:t>
            </a:r>
            <a:pPr>
              <a:lnSpc>
                <a:spcPct val="130000"/>
              </a:lnSpc>
            </a:pPr>
            <a:r>
              <a:rPr lang="en-US" sz="1200" dirty="0">
                <a:solidFill>
                  <a:srgbClr val="F8F9FA"/>
                </a:solidFill>
                <a:latin typeface="MiSans" pitchFamily="34" charset="0"/>
                <a:ea typeface="MiSans" pitchFamily="34" charset="-122"/>
                <a:cs typeface="MiSans" pitchFamily="34" charset="-120"/>
              </a:rPr>
              <a:t> p.hart@meridianeducation.co.uk</a:t>
            </a:r>
            <a:endParaRPr lang="en-US" sz="1600" dirty="0"/>
          </a:p>
        </p:txBody>
      </p:sp>
      <p:sp>
        <p:nvSpPr>
          <p:cNvPr id="14" name="Shape 12"/>
          <p:cNvSpPr/>
          <p:nvPr/>
        </p:nvSpPr>
        <p:spPr>
          <a:xfrm>
            <a:off x="571500" y="3543300"/>
            <a:ext cx="5257800" cy="533400"/>
          </a:xfrm>
          <a:custGeom>
            <a:avLst/>
            <a:gdLst/>
            <a:ahLst/>
            <a:cxnLst/>
            <a:rect l="l" t="t" r="r" b="b"/>
            <a:pathLst>
              <a:path w="5257800" h="533400">
                <a:moveTo>
                  <a:pt x="0" y="0"/>
                </a:moveTo>
                <a:lnTo>
                  <a:pt x="5257800" y="0"/>
                </a:lnTo>
                <a:lnTo>
                  <a:pt x="5257800" y="533400"/>
                </a:lnTo>
                <a:lnTo>
                  <a:pt x="0" y="533400"/>
                </a:lnTo>
                <a:lnTo>
                  <a:pt x="0" y="0"/>
                </a:lnTo>
                <a:close/>
              </a:path>
            </a:pathLst>
          </a:custGeom>
          <a:solidFill>
            <a:srgbClr val="F8F9FA">
              <a:alpha val="10196"/>
            </a:srgbClr>
          </a:solidFill>
          <a:ln/>
        </p:spPr>
      </p:sp>
      <p:sp>
        <p:nvSpPr>
          <p:cNvPr id="15" name="Shape 13"/>
          <p:cNvSpPr/>
          <p:nvPr/>
        </p:nvSpPr>
        <p:spPr>
          <a:xfrm>
            <a:off x="742950" y="3738563"/>
            <a:ext cx="152400" cy="152400"/>
          </a:xfrm>
          <a:custGeom>
            <a:avLst/>
            <a:gdLst/>
            <a:ahLst/>
            <a:cxnLst/>
            <a:rect l="l" t="t" r="r" b="b"/>
            <a:pathLst>
              <a:path w="152400" h="152400">
                <a:moveTo>
                  <a:pt x="76200" y="0"/>
                </a:moveTo>
                <a:cubicBezTo>
                  <a:pt x="118256" y="0"/>
                  <a:pt x="152400" y="34144"/>
                  <a:pt x="152400" y="76200"/>
                </a:cubicBezTo>
                <a:cubicBezTo>
                  <a:pt x="152400" y="118256"/>
                  <a:pt x="118256" y="152400"/>
                  <a:pt x="76200" y="152400"/>
                </a:cubicBezTo>
                <a:cubicBezTo>
                  <a:pt x="34144" y="152400"/>
                  <a:pt x="0" y="118256"/>
                  <a:pt x="0" y="76200"/>
                </a:cubicBezTo>
                <a:cubicBezTo>
                  <a:pt x="0" y="34144"/>
                  <a:pt x="34144" y="0"/>
                  <a:pt x="76200" y="0"/>
                </a:cubicBezTo>
                <a:close/>
                <a:moveTo>
                  <a:pt x="69056" y="35719"/>
                </a:moveTo>
                <a:lnTo>
                  <a:pt x="69056" y="76200"/>
                </a:lnTo>
                <a:cubicBezTo>
                  <a:pt x="69056" y="78581"/>
                  <a:pt x="70247" y="80814"/>
                  <a:pt x="72241" y="82153"/>
                </a:cubicBezTo>
                <a:lnTo>
                  <a:pt x="100816" y="101203"/>
                </a:lnTo>
                <a:cubicBezTo>
                  <a:pt x="104090" y="103406"/>
                  <a:pt x="108525" y="102513"/>
                  <a:pt x="110728" y="99209"/>
                </a:cubicBezTo>
                <a:cubicBezTo>
                  <a:pt x="112931" y="95905"/>
                  <a:pt x="112038" y="91500"/>
                  <a:pt x="108734" y="89297"/>
                </a:cubicBezTo>
                <a:lnTo>
                  <a:pt x="83344" y="72390"/>
                </a:lnTo>
                <a:lnTo>
                  <a:pt x="83344" y="35719"/>
                </a:lnTo>
                <a:cubicBezTo>
                  <a:pt x="83344" y="31760"/>
                  <a:pt x="80159" y="28575"/>
                  <a:pt x="76200" y="28575"/>
                </a:cubicBezTo>
                <a:cubicBezTo>
                  <a:pt x="72241" y="28575"/>
                  <a:pt x="69056" y="31760"/>
                  <a:pt x="69056" y="35719"/>
                </a:cubicBezTo>
                <a:close/>
              </a:path>
            </a:pathLst>
          </a:custGeom>
          <a:solidFill>
            <a:srgbClr val="C49A2C"/>
          </a:solidFill>
          <a:ln/>
        </p:spPr>
      </p:sp>
      <p:sp>
        <p:nvSpPr>
          <p:cNvPr id="16" name="Text 14"/>
          <p:cNvSpPr/>
          <p:nvPr/>
        </p:nvSpPr>
        <p:spPr>
          <a:xfrm>
            <a:off x="971550" y="3695700"/>
            <a:ext cx="4781550" cy="228600"/>
          </a:xfrm>
          <a:prstGeom prst="rect">
            <a:avLst/>
          </a:prstGeom>
          <a:noFill/>
          <a:ln/>
        </p:spPr>
        <p:txBody>
          <a:bodyPr wrap="square" lIns="0" tIns="0" rIns="0" bIns="0" rtlCol="0" anchor="ctr"/>
          <a:lstStyle/>
          <a:p>
            <a:pPr>
              <a:lnSpc>
                <a:spcPct val="130000"/>
              </a:lnSpc>
            </a:pPr>
            <a:r>
              <a:rPr lang="en-US" sz="1200" b="1" dirty="0">
                <a:solidFill>
                  <a:srgbClr val="F8F9FA"/>
                </a:solidFill>
                <a:latin typeface="MiSans" pitchFamily="34" charset="0"/>
                <a:ea typeface="MiSans" pitchFamily="34" charset="-122"/>
                <a:cs typeface="MiSans" pitchFamily="34" charset="-120"/>
              </a:rPr>
              <a:t>Office hours:</a:t>
            </a:r>
            <a:pPr>
              <a:lnSpc>
                <a:spcPct val="130000"/>
              </a:lnSpc>
            </a:pPr>
            <a:r>
              <a:rPr lang="en-US" sz="1200" dirty="0">
                <a:solidFill>
                  <a:srgbClr val="F8F9FA"/>
                </a:solidFill>
                <a:latin typeface="MiSans" pitchFamily="34" charset="0"/>
                <a:ea typeface="MiSans" pitchFamily="34" charset="-122"/>
                <a:cs typeface="MiSans" pitchFamily="34" charset="-120"/>
              </a:rPr>
              <a:t> By appointment</a:t>
            </a:r>
            <a:endParaRPr lang="en-US" sz="1600" dirty="0"/>
          </a:p>
        </p:txBody>
      </p:sp>
      <p:sp>
        <p:nvSpPr>
          <p:cNvPr id="17" name="Text 15"/>
          <p:cNvSpPr/>
          <p:nvPr/>
        </p:nvSpPr>
        <p:spPr>
          <a:xfrm>
            <a:off x="571500" y="4229100"/>
            <a:ext cx="5334000" cy="495300"/>
          </a:xfrm>
          <a:prstGeom prst="rect">
            <a:avLst/>
          </a:prstGeom>
          <a:noFill/>
          <a:ln/>
        </p:spPr>
        <p:txBody>
          <a:bodyPr wrap="square" lIns="0" tIns="0" rIns="0" bIns="0" rtlCol="0" anchor="ctr"/>
          <a:lstStyle/>
          <a:p>
            <a:pPr>
              <a:lnSpc>
                <a:spcPct val="140000"/>
              </a:lnSpc>
            </a:pPr>
            <a:r>
              <a:rPr lang="en-US" sz="1200" dirty="0">
                <a:solidFill>
                  <a:srgbClr val="F8F9FA"/>
                </a:solidFill>
                <a:latin typeface="MiSans" pitchFamily="34" charset="0"/>
                <a:ea typeface="MiSans" pitchFamily="34" charset="-122"/>
                <a:cs typeface="MiSans" pitchFamily="34" charset="-120"/>
              </a:rPr>
              <a:t>For questions regarding the theoretical content of this module, the MPI's evidence base, or the interpretation of programme data.</a:t>
            </a:r>
            <a:endParaRPr lang="en-US" sz="1600" dirty="0"/>
          </a:p>
        </p:txBody>
      </p:sp>
      <p:sp>
        <p:nvSpPr>
          <p:cNvPr id="18" name="Shape 16"/>
          <p:cNvSpPr/>
          <p:nvPr/>
        </p:nvSpPr>
        <p:spPr>
          <a:xfrm>
            <a:off x="381000" y="5048250"/>
            <a:ext cx="5638800" cy="1200150"/>
          </a:xfrm>
          <a:custGeom>
            <a:avLst/>
            <a:gdLst/>
            <a:ahLst/>
            <a:cxnLst/>
            <a:rect l="l" t="t" r="r" b="b"/>
            <a:pathLst>
              <a:path w="5638800" h="1200150">
                <a:moveTo>
                  <a:pt x="0" y="0"/>
                </a:moveTo>
                <a:lnTo>
                  <a:pt x="5638800" y="0"/>
                </a:lnTo>
                <a:lnTo>
                  <a:pt x="5638800" y="1200150"/>
                </a:lnTo>
                <a:lnTo>
                  <a:pt x="0" y="1200150"/>
                </a:lnTo>
                <a:lnTo>
                  <a:pt x="0" y="0"/>
                </a:lnTo>
                <a:close/>
              </a:path>
            </a:pathLst>
          </a:custGeom>
          <a:solidFill>
            <a:srgbClr val="FFFFFF"/>
          </a:solidFill>
          <a:ln/>
        </p:spPr>
      </p:sp>
      <p:sp>
        <p:nvSpPr>
          <p:cNvPr id="19" name="Shape 17"/>
          <p:cNvSpPr/>
          <p:nvPr/>
        </p:nvSpPr>
        <p:spPr>
          <a:xfrm>
            <a:off x="381000" y="50482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C49A2C"/>
          </a:solidFill>
          <a:ln/>
        </p:spPr>
      </p:sp>
      <p:sp>
        <p:nvSpPr>
          <p:cNvPr id="20" name="Shape 18"/>
          <p:cNvSpPr/>
          <p:nvPr/>
        </p:nvSpPr>
        <p:spPr>
          <a:xfrm>
            <a:off x="557213" y="5267325"/>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C49A2C"/>
          </a:solidFill>
          <a:ln/>
        </p:spPr>
      </p:sp>
      <p:sp>
        <p:nvSpPr>
          <p:cNvPr id="21" name="Text 19"/>
          <p:cNvSpPr/>
          <p:nvPr/>
        </p:nvSpPr>
        <p:spPr>
          <a:xfrm>
            <a:off x="752475" y="5219700"/>
            <a:ext cx="52006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Outcomes &amp; Impact Team</a:t>
            </a:r>
            <a:endParaRPr lang="en-US" sz="1600" dirty="0"/>
          </a:p>
        </p:txBody>
      </p:sp>
      <p:sp>
        <p:nvSpPr>
          <p:cNvPr id="22" name="Text 20"/>
          <p:cNvSpPr/>
          <p:nvPr/>
        </p:nvSpPr>
        <p:spPr>
          <a:xfrm>
            <a:off x="533400" y="5600700"/>
            <a:ext cx="54102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For questions regarding data analysis, report preparation, or client-facing materials, contact the </a:t>
            </a:r>
            <a:pPr>
              <a:lnSpc>
                <a:spcPct val="140000"/>
              </a:lnSpc>
            </a:pPr>
            <a:r>
              <a:rPr lang="en-US" sz="1200" b="1" dirty="0">
                <a:solidFill>
                  <a:srgbClr val="2D3436"/>
                </a:solidFill>
                <a:latin typeface="MiSans" pitchFamily="34" charset="0"/>
                <a:ea typeface="MiSans" pitchFamily="34" charset="-122"/>
                <a:cs typeface="MiSans" pitchFamily="34" charset="-120"/>
              </a:rPr>
              <a:t>Outcomes &amp; Impact team lead</a:t>
            </a:r>
            <a:pPr>
              <a:lnSpc>
                <a:spcPct val="140000"/>
              </a:lnSpc>
            </a:pPr>
            <a:r>
              <a:rPr lang="en-US" sz="1200" dirty="0">
                <a:solidFill>
                  <a:srgbClr val="2D3436"/>
                </a:solidFill>
                <a:latin typeface="MiSans" pitchFamily="34" charset="0"/>
                <a:ea typeface="MiSans" pitchFamily="34" charset="-122"/>
                <a:cs typeface="MiSans" pitchFamily="34" charset="-120"/>
              </a:rPr>
              <a:t>.</a:t>
            </a:r>
            <a:endParaRPr lang="en-US" sz="1600" dirty="0"/>
          </a:p>
        </p:txBody>
      </p:sp>
      <p:sp>
        <p:nvSpPr>
          <p:cNvPr id="23" name="Shape 21"/>
          <p:cNvSpPr/>
          <p:nvPr/>
        </p:nvSpPr>
        <p:spPr>
          <a:xfrm>
            <a:off x="6172200" y="1085850"/>
            <a:ext cx="5638800" cy="1200150"/>
          </a:xfrm>
          <a:custGeom>
            <a:avLst/>
            <a:gdLst/>
            <a:ahLst/>
            <a:cxnLst/>
            <a:rect l="l" t="t" r="r" b="b"/>
            <a:pathLst>
              <a:path w="5638800" h="1200150">
                <a:moveTo>
                  <a:pt x="0" y="0"/>
                </a:moveTo>
                <a:lnTo>
                  <a:pt x="5638800" y="0"/>
                </a:lnTo>
                <a:lnTo>
                  <a:pt x="5638800" y="1200150"/>
                </a:lnTo>
                <a:lnTo>
                  <a:pt x="0" y="1200150"/>
                </a:lnTo>
                <a:lnTo>
                  <a:pt x="0" y="0"/>
                </a:lnTo>
                <a:close/>
              </a:path>
            </a:pathLst>
          </a:custGeom>
          <a:solidFill>
            <a:srgbClr val="FFFFFF"/>
          </a:solidFill>
          <a:ln/>
        </p:spPr>
      </p:sp>
      <p:sp>
        <p:nvSpPr>
          <p:cNvPr id="24" name="Shape 22"/>
          <p:cNvSpPr/>
          <p:nvPr/>
        </p:nvSpPr>
        <p:spPr>
          <a:xfrm>
            <a:off x="6172200" y="10858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1E3A5F"/>
          </a:solidFill>
          <a:ln/>
        </p:spPr>
      </p:sp>
      <p:sp>
        <p:nvSpPr>
          <p:cNvPr id="25" name="Shape 23"/>
          <p:cNvSpPr/>
          <p:nvPr/>
        </p:nvSpPr>
        <p:spPr>
          <a:xfrm>
            <a:off x="6359128" y="1304925"/>
            <a:ext cx="150019" cy="171450"/>
          </a:xfrm>
          <a:custGeom>
            <a:avLst/>
            <a:gdLst/>
            <a:ahLst/>
            <a:cxnLst/>
            <a:rect l="l" t="t" r="r" b="b"/>
            <a:pathLst>
              <a:path w="150019" h="171450">
                <a:moveTo>
                  <a:pt x="128588" y="171450"/>
                </a:moveTo>
                <a:lnTo>
                  <a:pt x="32147" y="171450"/>
                </a:lnTo>
                <a:cubicBezTo>
                  <a:pt x="14399" y="171450"/>
                  <a:pt x="0" y="157051"/>
                  <a:pt x="0" y="139303"/>
                </a:cubicBezTo>
                <a:lnTo>
                  <a:pt x="0" y="32147"/>
                </a:lnTo>
                <a:cubicBezTo>
                  <a:pt x="0" y="14399"/>
                  <a:pt x="14399" y="0"/>
                  <a:pt x="32147" y="0"/>
                </a:cubicBezTo>
                <a:lnTo>
                  <a:pt x="133945" y="0"/>
                </a:lnTo>
                <a:cubicBezTo>
                  <a:pt x="142819" y="0"/>
                  <a:pt x="150019" y="7200"/>
                  <a:pt x="150019" y="16073"/>
                </a:cubicBezTo>
                <a:lnTo>
                  <a:pt x="150019" y="112514"/>
                </a:lnTo>
                <a:cubicBezTo>
                  <a:pt x="150019" y="119513"/>
                  <a:pt x="145532" y="125473"/>
                  <a:pt x="139303" y="127683"/>
                </a:cubicBezTo>
                <a:lnTo>
                  <a:pt x="139303" y="150019"/>
                </a:lnTo>
                <a:cubicBezTo>
                  <a:pt x="145230" y="150019"/>
                  <a:pt x="150019" y="154807"/>
                  <a:pt x="150019" y="160734"/>
                </a:cubicBezTo>
                <a:cubicBezTo>
                  <a:pt x="150019" y="166661"/>
                  <a:pt x="145230" y="171450"/>
                  <a:pt x="139303" y="171450"/>
                </a:cubicBezTo>
                <a:lnTo>
                  <a:pt x="128588" y="171450"/>
                </a:lnTo>
                <a:close/>
                <a:moveTo>
                  <a:pt x="32147" y="128588"/>
                </a:moveTo>
                <a:cubicBezTo>
                  <a:pt x="26220" y="128588"/>
                  <a:pt x="21431" y="133376"/>
                  <a:pt x="21431" y="139303"/>
                </a:cubicBezTo>
                <a:cubicBezTo>
                  <a:pt x="21431" y="145230"/>
                  <a:pt x="26220" y="150019"/>
                  <a:pt x="32147" y="150019"/>
                </a:cubicBezTo>
                <a:lnTo>
                  <a:pt x="117872" y="150019"/>
                </a:lnTo>
                <a:lnTo>
                  <a:pt x="117872" y="128588"/>
                </a:lnTo>
                <a:lnTo>
                  <a:pt x="32147" y="128588"/>
                </a:lnTo>
                <a:close/>
                <a:moveTo>
                  <a:pt x="42863" y="50899"/>
                </a:moveTo>
                <a:cubicBezTo>
                  <a:pt x="42863" y="55353"/>
                  <a:pt x="46446" y="58936"/>
                  <a:pt x="50899" y="58936"/>
                </a:cubicBezTo>
                <a:lnTo>
                  <a:pt x="109835" y="58936"/>
                </a:lnTo>
                <a:cubicBezTo>
                  <a:pt x="114289" y="58936"/>
                  <a:pt x="117872" y="55353"/>
                  <a:pt x="117872" y="50899"/>
                </a:cubicBezTo>
                <a:cubicBezTo>
                  <a:pt x="117872" y="46446"/>
                  <a:pt x="114289" y="42863"/>
                  <a:pt x="109835" y="42863"/>
                </a:cubicBezTo>
                <a:lnTo>
                  <a:pt x="50899" y="42863"/>
                </a:lnTo>
                <a:cubicBezTo>
                  <a:pt x="46446" y="42863"/>
                  <a:pt x="42863" y="46446"/>
                  <a:pt x="42863" y="50899"/>
                </a:cubicBezTo>
                <a:close/>
                <a:moveTo>
                  <a:pt x="50899" y="75009"/>
                </a:moveTo>
                <a:cubicBezTo>
                  <a:pt x="46446" y="75009"/>
                  <a:pt x="42863" y="78592"/>
                  <a:pt x="42863" y="83046"/>
                </a:cubicBezTo>
                <a:cubicBezTo>
                  <a:pt x="42863" y="87500"/>
                  <a:pt x="46446" y="91083"/>
                  <a:pt x="50899" y="91083"/>
                </a:cubicBezTo>
                <a:lnTo>
                  <a:pt x="109835" y="91083"/>
                </a:lnTo>
                <a:cubicBezTo>
                  <a:pt x="114289" y="91083"/>
                  <a:pt x="117872" y="87500"/>
                  <a:pt x="117872" y="83046"/>
                </a:cubicBezTo>
                <a:cubicBezTo>
                  <a:pt x="117872" y="78592"/>
                  <a:pt x="114289" y="75009"/>
                  <a:pt x="109835" y="75009"/>
                </a:cubicBezTo>
                <a:lnTo>
                  <a:pt x="50899" y="75009"/>
                </a:lnTo>
                <a:close/>
              </a:path>
            </a:pathLst>
          </a:custGeom>
          <a:solidFill>
            <a:srgbClr val="1E3A5F"/>
          </a:solidFill>
          <a:ln/>
        </p:spPr>
      </p:sp>
      <p:sp>
        <p:nvSpPr>
          <p:cNvPr id="26" name="Text 24"/>
          <p:cNvSpPr/>
          <p:nvPr/>
        </p:nvSpPr>
        <p:spPr>
          <a:xfrm>
            <a:off x="6543675" y="1257300"/>
            <a:ext cx="52006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Academic Director's Office</a:t>
            </a:r>
            <a:endParaRPr lang="en-US" sz="1600" dirty="0"/>
          </a:p>
        </p:txBody>
      </p:sp>
      <p:sp>
        <p:nvSpPr>
          <p:cNvPr id="27" name="Text 25"/>
          <p:cNvSpPr/>
          <p:nvPr/>
        </p:nvSpPr>
        <p:spPr>
          <a:xfrm>
            <a:off x="6324600" y="1638300"/>
            <a:ext cx="54102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For questions regarding the MPI Technical Handbook, chapter references, or methodology documentation, contact the </a:t>
            </a:r>
            <a:pPr>
              <a:lnSpc>
                <a:spcPct val="140000"/>
              </a:lnSpc>
            </a:pPr>
            <a:r>
              <a:rPr lang="en-US" sz="1200" b="1" dirty="0">
                <a:solidFill>
                  <a:srgbClr val="2D3436"/>
                </a:solidFill>
                <a:latin typeface="MiSans" pitchFamily="34" charset="0"/>
                <a:ea typeface="MiSans" pitchFamily="34" charset="-122"/>
                <a:cs typeface="MiSans" pitchFamily="34" charset="-120"/>
              </a:rPr>
              <a:t>Academic Director's office</a:t>
            </a:r>
            <a:pPr>
              <a:lnSpc>
                <a:spcPct val="140000"/>
              </a:lnSpc>
            </a:pPr>
            <a:r>
              <a:rPr lang="en-US" sz="1200" dirty="0">
                <a:solidFill>
                  <a:srgbClr val="2D3436"/>
                </a:solidFill>
                <a:latin typeface="MiSans" pitchFamily="34" charset="0"/>
                <a:ea typeface="MiSans" pitchFamily="34" charset="-122"/>
                <a:cs typeface="MiSans" pitchFamily="34" charset="-120"/>
              </a:rPr>
              <a:t>.</a:t>
            </a:r>
            <a:endParaRPr lang="en-US" sz="1600" dirty="0"/>
          </a:p>
        </p:txBody>
      </p:sp>
      <p:sp>
        <p:nvSpPr>
          <p:cNvPr id="28" name="Shape 26"/>
          <p:cNvSpPr/>
          <p:nvPr/>
        </p:nvSpPr>
        <p:spPr>
          <a:xfrm>
            <a:off x="6172200" y="2419350"/>
            <a:ext cx="5638800" cy="2000250"/>
          </a:xfrm>
          <a:custGeom>
            <a:avLst/>
            <a:gdLst/>
            <a:ahLst/>
            <a:cxnLst/>
            <a:rect l="l" t="t" r="r" b="b"/>
            <a:pathLst>
              <a:path w="5638800" h="2000250">
                <a:moveTo>
                  <a:pt x="0" y="0"/>
                </a:moveTo>
                <a:lnTo>
                  <a:pt x="5638800" y="0"/>
                </a:lnTo>
                <a:lnTo>
                  <a:pt x="5638800" y="2000250"/>
                </a:lnTo>
                <a:lnTo>
                  <a:pt x="0" y="2000250"/>
                </a:lnTo>
                <a:lnTo>
                  <a:pt x="0" y="0"/>
                </a:lnTo>
                <a:close/>
              </a:path>
            </a:pathLst>
          </a:custGeom>
          <a:solidFill>
            <a:srgbClr val="FFFFFF"/>
          </a:solidFill>
          <a:ln/>
        </p:spPr>
      </p:sp>
      <p:sp>
        <p:nvSpPr>
          <p:cNvPr id="29" name="Shape 27"/>
          <p:cNvSpPr/>
          <p:nvPr/>
        </p:nvSpPr>
        <p:spPr>
          <a:xfrm>
            <a:off x="6172200" y="24193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1E3A5F"/>
          </a:solidFill>
          <a:ln/>
        </p:spPr>
      </p:sp>
      <p:sp>
        <p:nvSpPr>
          <p:cNvPr id="30" name="Shape 28"/>
          <p:cNvSpPr/>
          <p:nvPr/>
        </p:nvSpPr>
        <p:spPr>
          <a:xfrm>
            <a:off x="6326981" y="2638425"/>
            <a:ext cx="214313" cy="171450"/>
          </a:xfrm>
          <a:custGeom>
            <a:avLst/>
            <a:gdLst/>
            <a:ahLst/>
            <a:cxnLst/>
            <a:rect l="l" t="t" r="r" b="b"/>
            <a:pathLst>
              <a:path w="214313" h="171450">
                <a:moveTo>
                  <a:pt x="42863" y="10716"/>
                </a:moveTo>
                <a:cubicBezTo>
                  <a:pt x="31042" y="10716"/>
                  <a:pt x="21431" y="20326"/>
                  <a:pt x="21431" y="32147"/>
                </a:cubicBezTo>
                <a:lnTo>
                  <a:pt x="21431" y="112514"/>
                </a:lnTo>
                <a:lnTo>
                  <a:pt x="42863" y="112514"/>
                </a:lnTo>
                <a:lnTo>
                  <a:pt x="42863" y="32147"/>
                </a:lnTo>
                <a:lnTo>
                  <a:pt x="171450" y="32147"/>
                </a:lnTo>
                <a:lnTo>
                  <a:pt x="171450" y="112514"/>
                </a:lnTo>
                <a:lnTo>
                  <a:pt x="192881" y="112514"/>
                </a:lnTo>
                <a:lnTo>
                  <a:pt x="192881" y="32147"/>
                </a:lnTo>
                <a:cubicBezTo>
                  <a:pt x="192881" y="20326"/>
                  <a:pt x="183271" y="10716"/>
                  <a:pt x="171450" y="10716"/>
                </a:cubicBezTo>
                <a:lnTo>
                  <a:pt x="42863" y="10716"/>
                </a:lnTo>
                <a:close/>
                <a:moveTo>
                  <a:pt x="6429" y="128588"/>
                </a:moveTo>
                <a:cubicBezTo>
                  <a:pt x="2880" y="128588"/>
                  <a:pt x="0" y="131467"/>
                  <a:pt x="0" y="135017"/>
                </a:cubicBezTo>
                <a:cubicBezTo>
                  <a:pt x="0" y="149215"/>
                  <a:pt x="11519" y="160734"/>
                  <a:pt x="25718" y="160734"/>
                </a:cubicBezTo>
                <a:lnTo>
                  <a:pt x="188595" y="160734"/>
                </a:lnTo>
                <a:cubicBezTo>
                  <a:pt x="202793" y="160734"/>
                  <a:pt x="214312" y="149215"/>
                  <a:pt x="214312" y="135017"/>
                </a:cubicBezTo>
                <a:cubicBezTo>
                  <a:pt x="214312" y="131467"/>
                  <a:pt x="211433" y="128588"/>
                  <a:pt x="207883" y="128588"/>
                </a:cubicBezTo>
                <a:lnTo>
                  <a:pt x="6429" y="128588"/>
                </a:lnTo>
                <a:close/>
              </a:path>
            </a:pathLst>
          </a:custGeom>
          <a:solidFill>
            <a:srgbClr val="1E3A5F"/>
          </a:solidFill>
          <a:ln/>
        </p:spPr>
      </p:sp>
      <p:sp>
        <p:nvSpPr>
          <p:cNvPr id="31" name="Text 29"/>
          <p:cNvSpPr/>
          <p:nvPr/>
        </p:nvSpPr>
        <p:spPr>
          <a:xfrm>
            <a:off x="6543675" y="2590800"/>
            <a:ext cx="52006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IT Support</a:t>
            </a:r>
            <a:endParaRPr lang="en-US" sz="1600" dirty="0"/>
          </a:p>
        </p:txBody>
      </p:sp>
      <p:sp>
        <p:nvSpPr>
          <p:cNvPr id="32" name="Text 30"/>
          <p:cNvSpPr/>
          <p:nvPr/>
        </p:nvSpPr>
        <p:spPr>
          <a:xfrm>
            <a:off x="6324600" y="2971800"/>
            <a:ext cx="5410200" cy="4953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For IT support, including SynergyDrive access issues, contact the </a:t>
            </a:r>
            <a:pPr>
              <a:lnSpc>
                <a:spcPct val="140000"/>
              </a:lnSpc>
            </a:pPr>
            <a:r>
              <a:rPr lang="en-US" sz="1200" b="1" dirty="0">
                <a:solidFill>
                  <a:srgbClr val="2D3436"/>
                </a:solidFill>
                <a:latin typeface="MiSans" pitchFamily="34" charset="0"/>
                <a:ea typeface="MiSans" pitchFamily="34" charset="-122"/>
                <a:cs typeface="MiSans" pitchFamily="34" charset="-120"/>
              </a:rPr>
              <a:t>IT helpdesk</a:t>
            </a:r>
            <a:pPr>
              <a:lnSpc>
                <a:spcPct val="140000"/>
              </a:lnSpc>
            </a:pPr>
            <a:r>
              <a:rPr lang="en-US" sz="1200" dirty="0">
                <a:solidFill>
                  <a:srgbClr val="2D3436"/>
                </a:solidFill>
                <a:latin typeface="MiSans" pitchFamily="34" charset="0"/>
                <a:ea typeface="MiSans" pitchFamily="34" charset="-122"/>
                <a:cs typeface="MiSans" pitchFamily="34" charset="-120"/>
              </a:rPr>
              <a:t>.</a:t>
            </a:r>
            <a:endParaRPr lang="en-US" sz="1600" dirty="0"/>
          </a:p>
        </p:txBody>
      </p:sp>
      <p:sp>
        <p:nvSpPr>
          <p:cNvPr id="33" name="Shape 31"/>
          <p:cNvSpPr/>
          <p:nvPr/>
        </p:nvSpPr>
        <p:spPr>
          <a:xfrm>
            <a:off x="6343650" y="3581400"/>
            <a:ext cx="5314950" cy="685800"/>
          </a:xfrm>
          <a:custGeom>
            <a:avLst/>
            <a:gdLst/>
            <a:ahLst/>
            <a:cxnLst/>
            <a:rect l="l" t="t" r="r" b="b"/>
            <a:pathLst>
              <a:path w="5314950" h="685800">
                <a:moveTo>
                  <a:pt x="0" y="0"/>
                </a:moveTo>
                <a:lnTo>
                  <a:pt x="5314950" y="0"/>
                </a:lnTo>
                <a:lnTo>
                  <a:pt x="5314950" y="685800"/>
                </a:lnTo>
                <a:lnTo>
                  <a:pt x="0" y="685800"/>
                </a:lnTo>
                <a:lnTo>
                  <a:pt x="0" y="0"/>
                </a:lnTo>
                <a:close/>
              </a:path>
            </a:pathLst>
          </a:custGeom>
          <a:solidFill>
            <a:srgbClr val="FEF2F2"/>
          </a:solidFill>
          <a:ln/>
        </p:spPr>
      </p:sp>
      <p:sp>
        <p:nvSpPr>
          <p:cNvPr id="34" name="Shape 32"/>
          <p:cNvSpPr/>
          <p:nvPr/>
        </p:nvSpPr>
        <p:spPr>
          <a:xfrm>
            <a:off x="6343650" y="3581400"/>
            <a:ext cx="38100" cy="685800"/>
          </a:xfrm>
          <a:custGeom>
            <a:avLst/>
            <a:gdLst/>
            <a:ahLst/>
            <a:cxnLst/>
            <a:rect l="l" t="t" r="r" b="b"/>
            <a:pathLst>
              <a:path w="38100" h="685800">
                <a:moveTo>
                  <a:pt x="0" y="0"/>
                </a:moveTo>
                <a:lnTo>
                  <a:pt x="38100" y="0"/>
                </a:lnTo>
                <a:lnTo>
                  <a:pt x="38100" y="685800"/>
                </a:lnTo>
                <a:lnTo>
                  <a:pt x="0" y="685800"/>
                </a:lnTo>
                <a:lnTo>
                  <a:pt x="0" y="0"/>
                </a:lnTo>
                <a:close/>
              </a:path>
            </a:pathLst>
          </a:custGeom>
          <a:solidFill>
            <a:srgbClr val="E7000B"/>
          </a:solidFill>
          <a:ln/>
        </p:spPr>
      </p:sp>
      <p:sp>
        <p:nvSpPr>
          <p:cNvPr id="35" name="Shape 33"/>
          <p:cNvSpPr/>
          <p:nvPr/>
        </p:nvSpPr>
        <p:spPr>
          <a:xfrm>
            <a:off x="6496050" y="3738563"/>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C10007"/>
          </a:solidFill>
          <a:ln/>
        </p:spPr>
      </p:sp>
      <p:sp>
        <p:nvSpPr>
          <p:cNvPr id="36" name="Text 34"/>
          <p:cNvSpPr/>
          <p:nvPr/>
        </p:nvSpPr>
        <p:spPr>
          <a:xfrm>
            <a:off x="6724650" y="3695700"/>
            <a:ext cx="4895850" cy="457200"/>
          </a:xfrm>
          <a:prstGeom prst="rect">
            <a:avLst/>
          </a:prstGeom>
          <a:noFill/>
          <a:ln/>
        </p:spPr>
        <p:txBody>
          <a:bodyPr wrap="square" lIns="0" tIns="0" rIns="0" bIns="0" rtlCol="0" anchor="ctr"/>
          <a:lstStyle/>
          <a:p>
            <a:pPr>
              <a:lnSpc>
                <a:spcPct val="130000"/>
              </a:lnSpc>
            </a:pPr>
            <a:r>
              <a:rPr lang="en-US" sz="1200" b="1" dirty="0">
                <a:solidFill>
                  <a:srgbClr val="C10007"/>
                </a:solidFill>
                <a:latin typeface="MiSans" pitchFamily="34" charset="0"/>
                <a:ea typeface="MiSans" pitchFamily="34" charset="-122"/>
                <a:cs typeface="MiSans" pitchFamily="34" charset="-120"/>
              </a:rPr>
              <a:t>Note:</a:t>
            </a:r>
            <a:pPr>
              <a:lnSpc>
                <a:spcPct val="130000"/>
              </a:lnSpc>
            </a:pPr>
            <a:r>
              <a:rPr lang="en-US" sz="1200" dirty="0">
                <a:solidFill>
                  <a:srgbClr val="C10007"/>
                </a:solidFill>
                <a:latin typeface="MiSans" pitchFamily="34" charset="0"/>
                <a:ea typeface="MiSans" pitchFamily="34" charset="-122"/>
                <a:cs typeface="MiSans" pitchFamily="34" charset="-120"/>
              </a:rPr>
              <a:t> The IT helpdesk link in the intranet has been non-functional since 2022. Alternative contact methods should be used.</a:t>
            </a:r>
            <a:endParaRPr lang="en-US" sz="1600" dirty="0"/>
          </a:p>
        </p:txBody>
      </p:sp>
      <p:sp>
        <p:nvSpPr>
          <p:cNvPr id="37" name="Shape 35"/>
          <p:cNvSpPr/>
          <p:nvPr/>
        </p:nvSpPr>
        <p:spPr>
          <a:xfrm>
            <a:off x="6172200" y="4552950"/>
            <a:ext cx="5638800" cy="1447800"/>
          </a:xfrm>
          <a:custGeom>
            <a:avLst/>
            <a:gdLst/>
            <a:ahLst/>
            <a:cxnLst/>
            <a:rect l="l" t="t" r="r" b="b"/>
            <a:pathLst>
              <a:path w="5638800" h="1447800">
                <a:moveTo>
                  <a:pt x="0" y="0"/>
                </a:moveTo>
                <a:lnTo>
                  <a:pt x="5638800" y="0"/>
                </a:lnTo>
                <a:lnTo>
                  <a:pt x="5638800" y="1447800"/>
                </a:lnTo>
                <a:lnTo>
                  <a:pt x="0" y="1447800"/>
                </a:lnTo>
                <a:lnTo>
                  <a:pt x="0" y="0"/>
                </a:lnTo>
                <a:close/>
              </a:path>
            </a:pathLst>
          </a:custGeom>
          <a:solidFill>
            <a:srgbClr val="FFFFFF"/>
          </a:solidFill>
          <a:ln/>
        </p:spPr>
      </p:sp>
      <p:sp>
        <p:nvSpPr>
          <p:cNvPr id="38" name="Shape 36"/>
          <p:cNvSpPr/>
          <p:nvPr/>
        </p:nvSpPr>
        <p:spPr>
          <a:xfrm>
            <a:off x="6172200" y="4552950"/>
            <a:ext cx="5638800" cy="38100"/>
          </a:xfrm>
          <a:custGeom>
            <a:avLst/>
            <a:gdLst/>
            <a:ahLst/>
            <a:cxnLst/>
            <a:rect l="l" t="t" r="r" b="b"/>
            <a:pathLst>
              <a:path w="5638800" h="38100">
                <a:moveTo>
                  <a:pt x="0" y="0"/>
                </a:moveTo>
                <a:lnTo>
                  <a:pt x="5638800" y="0"/>
                </a:lnTo>
                <a:lnTo>
                  <a:pt x="5638800" y="38100"/>
                </a:lnTo>
                <a:lnTo>
                  <a:pt x="0" y="38100"/>
                </a:lnTo>
                <a:lnTo>
                  <a:pt x="0" y="0"/>
                </a:lnTo>
                <a:close/>
              </a:path>
            </a:pathLst>
          </a:custGeom>
          <a:solidFill>
            <a:srgbClr val="1E3A5F"/>
          </a:solidFill>
          <a:ln/>
        </p:spPr>
      </p:sp>
      <p:sp>
        <p:nvSpPr>
          <p:cNvPr id="39" name="Shape 37"/>
          <p:cNvSpPr/>
          <p:nvPr/>
        </p:nvSpPr>
        <p:spPr>
          <a:xfrm>
            <a:off x="6369844" y="4772025"/>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8" y="161839"/>
                  <a:pt x="128588" y="150019"/>
                </a:cubicBezTo>
                <a:lnTo>
                  <a:pt x="128588" y="21431"/>
                </a:lnTo>
                <a:cubicBezTo>
                  <a:pt x="128588" y="9611"/>
                  <a:pt x="118977" y="0"/>
                  <a:pt x="107156" y="0"/>
                </a:cubicBezTo>
                <a:lnTo>
                  <a:pt x="21431" y="0"/>
                </a:lnTo>
                <a:close/>
                <a:moveTo>
                  <a:pt x="58936" y="117872"/>
                </a:moveTo>
                <a:lnTo>
                  <a:pt x="69652" y="117872"/>
                </a:lnTo>
                <a:cubicBezTo>
                  <a:pt x="75579" y="117872"/>
                  <a:pt x="80367" y="122660"/>
                  <a:pt x="80367" y="128588"/>
                </a:cubicBezTo>
                <a:lnTo>
                  <a:pt x="80367" y="155377"/>
                </a:lnTo>
                <a:lnTo>
                  <a:pt x="48220" y="155377"/>
                </a:lnTo>
                <a:lnTo>
                  <a:pt x="48220" y="128588"/>
                </a:lnTo>
                <a:cubicBezTo>
                  <a:pt x="48220" y="122660"/>
                  <a:pt x="53009" y="117872"/>
                  <a:pt x="58936" y="117872"/>
                </a:cubicBezTo>
                <a:close/>
                <a:moveTo>
                  <a:pt x="32147" y="37505"/>
                </a:moveTo>
                <a:cubicBezTo>
                  <a:pt x="32147" y="34558"/>
                  <a:pt x="34558" y="32147"/>
                  <a:pt x="37505" y="32147"/>
                </a:cubicBezTo>
                <a:lnTo>
                  <a:pt x="48220" y="32147"/>
                </a:lnTo>
                <a:cubicBezTo>
                  <a:pt x="51167" y="32147"/>
                  <a:pt x="53578" y="34558"/>
                  <a:pt x="53578" y="37505"/>
                </a:cubicBezTo>
                <a:lnTo>
                  <a:pt x="53578" y="48220"/>
                </a:lnTo>
                <a:cubicBezTo>
                  <a:pt x="53578" y="51167"/>
                  <a:pt x="51167" y="53578"/>
                  <a:pt x="48220" y="53578"/>
                </a:cubicBezTo>
                <a:lnTo>
                  <a:pt x="37505" y="53578"/>
                </a:lnTo>
                <a:cubicBezTo>
                  <a:pt x="34558" y="53578"/>
                  <a:pt x="32147" y="51167"/>
                  <a:pt x="32147" y="48220"/>
                </a:cubicBezTo>
                <a:lnTo>
                  <a:pt x="32147" y="37505"/>
                </a:lnTo>
                <a:close/>
                <a:moveTo>
                  <a:pt x="80367" y="32147"/>
                </a:moveTo>
                <a:lnTo>
                  <a:pt x="91083" y="32147"/>
                </a:lnTo>
                <a:cubicBezTo>
                  <a:pt x="94030" y="32147"/>
                  <a:pt x="96441" y="34558"/>
                  <a:pt x="96441" y="37505"/>
                </a:cubicBezTo>
                <a:lnTo>
                  <a:pt x="96441" y="48220"/>
                </a:lnTo>
                <a:cubicBezTo>
                  <a:pt x="96441" y="51167"/>
                  <a:pt x="94030" y="53578"/>
                  <a:pt x="91083" y="53578"/>
                </a:cubicBezTo>
                <a:lnTo>
                  <a:pt x="80367" y="53578"/>
                </a:lnTo>
                <a:cubicBezTo>
                  <a:pt x="77420" y="53578"/>
                  <a:pt x="75009" y="51167"/>
                  <a:pt x="75009" y="48220"/>
                </a:cubicBezTo>
                <a:lnTo>
                  <a:pt x="75009" y="37505"/>
                </a:lnTo>
                <a:cubicBezTo>
                  <a:pt x="75009" y="34558"/>
                  <a:pt x="77420" y="32147"/>
                  <a:pt x="80367" y="32147"/>
                </a:cubicBezTo>
                <a:close/>
                <a:moveTo>
                  <a:pt x="32147" y="80367"/>
                </a:moveTo>
                <a:cubicBezTo>
                  <a:pt x="32147" y="77420"/>
                  <a:pt x="34558" y="75009"/>
                  <a:pt x="37505" y="75009"/>
                </a:cubicBezTo>
                <a:lnTo>
                  <a:pt x="48220" y="75009"/>
                </a:lnTo>
                <a:cubicBezTo>
                  <a:pt x="51167" y="75009"/>
                  <a:pt x="53578" y="77420"/>
                  <a:pt x="53578" y="80367"/>
                </a:cubicBezTo>
                <a:lnTo>
                  <a:pt x="53578" y="91083"/>
                </a:lnTo>
                <a:cubicBezTo>
                  <a:pt x="53578" y="94030"/>
                  <a:pt x="51167" y="96441"/>
                  <a:pt x="48220" y="96441"/>
                </a:cubicBezTo>
                <a:lnTo>
                  <a:pt x="37505" y="96441"/>
                </a:lnTo>
                <a:cubicBezTo>
                  <a:pt x="34558" y="96441"/>
                  <a:pt x="32147" y="94030"/>
                  <a:pt x="32147" y="91083"/>
                </a:cubicBezTo>
                <a:lnTo>
                  <a:pt x="32147" y="80367"/>
                </a:lnTo>
                <a:close/>
                <a:moveTo>
                  <a:pt x="80367" y="75009"/>
                </a:moveTo>
                <a:lnTo>
                  <a:pt x="91083" y="75009"/>
                </a:lnTo>
                <a:cubicBezTo>
                  <a:pt x="94030" y="75009"/>
                  <a:pt x="96441" y="77420"/>
                  <a:pt x="96441" y="80367"/>
                </a:cubicBezTo>
                <a:lnTo>
                  <a:pt x="96441" y="91083"/>
                </a:lnTo>
                <a:cubicBezTo>
                  <a:pt x="96441" y="94030"/>
                  <a:pt x="94030" y="96441"/>
                  <a:pt x="91083" y="96441"/>
                </a:cubicBezTo>
                <a:lnTo>
                  <a:pt x="80367" y="96441"/>
                </a:lnTo>
                <a:cubicBezTo>
                  <a:pt x="77420" y="96441"/>
                  <a:pt x="75009" y="94030"/>
                  <a:pt x="75009" y="91083"/>
                </a:cubicBezTo>
                <a:lnTo>
                  <a:pt x="75009" y="80367"/>
                </a:lnTo>
                <a:cubicBezTo>
                  <a:pt x="75009" y="77420"/>
                  <a:pt x="77420" y="75009"/>
                  <a:pt x="80367" y="75009"/>
                </a:cubicBezTo>
                <a:close/>
              </a:path>
            </a:pathLst>
          </a:custGeom>
          <a:solidFill>
            <a:srgbClr val="1E3A5F"/>
          </a:solidFill>
          <a:ln/>
        </p:spPr>
      </p:sp>
      <p:sp>
        <p:nvSpPr>
          <p:cNvPr id="40" name="Text 38"/>
          <p:cNvSpPr/>
          <p:nvPr/>
        </p:nvSpPr>
        <p:spPr>
          <a:xfrm>
            <a:off x="6543675" y="4724400"/>
            <a:ext cx="5200650"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General Enquiries</a:t>
            </a:r>
            <a:endParaRPr lang="en-US" sz="1600" dirty="0"/>
          </a:p>
        </p:txBody>
      </p:sp>
      <p:sp>
        <p:nvSpPr>
          <p:cNvPr id="41" name="Text 39"/>
          <p:cNvSpPr/>
          <p:nvPr/>
        </p:nvSpPr>
        <p:spPr>
          <a:xfrm>
            <a:off x="6324600" y="5105400"/>
            <a:ext cx="541020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Meridian main office can be reached during standard business hours. The office is closed on bank holidays and during the Christmas shutdown period.</a:t>
            </a:r>
            <a:endParaRPr lang="en-US" sz="16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381000" y="38100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C49A2C"/>
          </a:solidFill>
          <a:ln/>
        </p:spPr>
      </p:sp>
      <p:sp>
        <p:nvSpPr>
          <p:cNvPr id="3" name="Text 1"/>
          <p:cNvSpPr/>
          <p:nvPr/>
        </p:nvSpPr>
        <p:spPr>
          <a:xfrm>
            <a:off x="571500" y="438150"/>
            <a:ext cx="4781550" cy="342900"/>
          </a:xfrm>
          <a:prstGeom prst="rect">
            <a:avLst/>
          </a:prstGeom>
          <a:noFill/>
          <a:ln/>
        </p:spPr>
        <p:txBody>
          <a:bodyPr wrap="square" lIns="0" tIns="0" rIns="0" bIns="0" rtlCol="0" anchor="ctr"/>
          <a:lstStyle/>
          <a:p>
            <a:pPr>
              <a:lnSpc>
                <a:spcPct val="100000"/>
              </a:lnSpc>
            </a:pPr>
            <a:r>
              <a:rPr lang="en-US" sz="2250" b="1" dirty="0">
                <a:solidFill>
                  <a:srgbClr val="1E3A5F"/>
                </a:solidFill>
                <a:latin typeface="MiSans" pitchFamily="34" charset="0"/>
                <a:ea typeface="MiSans" pitchFamily="34" charset="-122"/>
                <a:cs typeface="MiSans" pitchFamily="34" charset="-120"/>
              </a:rPr>
              <a:t>Module Summary: Key Takeaways</a:t>
            </a:r>
            <a:endParaRPr lang="en-US" sz="1600" dirty="0"/>
          </a:p>
        </p:txBody>
      </p:sp>
      <p:sp>
        <p:nvSpPr>
          <p:cNvPr id="4" name="Shape 2"/>
          <p:cNvSpPr/>
          <p:nvPr/>
        </p:nvSpPr>
        <p:spPr>
          <a:xfrm>
            <a:off x="400050" y="1066800"/>
            <a:ext cx="5638800" cy="1314450"/>
          </a:xfrm>
          <a:custGeom>
            <a:avLst/>
            <a:gdLst/>
            <a:ahLst/>
            <a:cxnLst/>
            <a:rect l="l" t="t" r="r" b="b"/>
            <a:pathLst>
              <a:path w="5638800" h="1314450">
                <a:moveTo>
                  <a:pt x="0" y="0"/>
                </a:moveTo>
                <a:lnTo>
                  <a:pt x="5638800" y="0"/>
                </a:lnTo>
                <a:lnTo>
                  <a:pt x="5638800" y="1314450"/>
                </a:lnTo>
                <a:lnTo>
                  <a:pt x="0" y="1314450"/>
                </a:lnTo>
                <a:lnTo>
                  <a:pt x="0" y="0"/>
                </a:lnTo>
                <a:close/>
              </a:path>
            </a:pathLst>
          </a:custGeom>
          <a:solidFill>
            <a:srgbClr val="FFFFFF"/>
          </a:solidFill>
          <a:ln/>
        </p:spPr>
      </p:sp>
      <p:sp>
        <p:nvSpPr>
          <p:cNvPr id="5" name="Shape 3"/>
          <p:cNvSpPr/>
          <p:nvPr/>
        </p:nvSpPr>
        <p:spPr>
          <a:xfrm>
            <a:off x="400050" y="1066800"/>
            <a:ext cx="38100" cy="1314450"/>
          </a:xfrm>
          <a:custGeom>
            <a:avLst/>
            <a:gdLst/>
            <a:ahLst/>
            <a:cxnLst/>
            <a:rect l="l" t="t" r="r" b="b"/>
            <a:pathLst>
              <a:path w="38100" h="1314450">
                <a:moveTo>
                  <a:pt x="0" y="0"/>
                </a:moveTo>
                <a:lnTo>
                  <a:pt x="38100" y="0"/>
                </a:lnTo>
                <a:lnTo>
                  <a:pt x="38100" y="1314450"/>
                </a:lnTo>
                <a:lnTo>
                  <a:pt x="0" y="1314450"/>
                </a:lnTo>
                <a:lnTo>
                  <a:pt x="0" y="0"/>
                </a:lnTo>
                <a:close/>
              </a:path>
            </a:pathLst>
          </a:custGeom>
          <a:solidFill>
            <a:srgbClr val="1E3A5F"/>
          </a:solidFill>
          <a:ln/>
        </p:spPr>
      </p:sp>
      <p:sp>
        <p:nvSpPr>
          <p:cNvPr id="6" name="Shape 4"/>
          <p:cNvSpPr/>
          <p:nvPr/>
        </p:nvSpPr>
        <p:spPr>
          <a:xfrm>
            <a:off x="533400" y="11811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7" name="Text 5"/>
          <p:cNvSpPr/>
          <p:nvPr/>
        </p:nvSpPr>
        <p:spPr>
          <a:xfrm>
            <a:off x="485775" y="11811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1</a:t>
            </a:r>
            <a:endParaRPr lang="en-US" sz="1600" dirty="0"/>
          </a:p>
        </p:txBody>
      </p:sp>
      <p:sp>
        <p:nvSpPr>
          <p:cNvPr id="8" name="Text 6"/>
          <p:cNvSpPr/>
          <p:nvPr/>
        </p:nvSpPr>
        <p:spPr>
          <a:xfrm>
            <a:off x="1028700" y="118110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Theoretical Foundations</a:t>
            </a:r>
            <a:endParaRPr lang="en-US" sz="1600" dirty="0"/>
          </a:p>
        </p:txBody>
      </p:sp>
      <p:sp>
        <p:nvSpPr>
          <p:cNvPr id="9" name="Text 7"/>
          <p:cNvSpPr/>
          <p:nvPr/>
        </p:nvSpPr>
        <p:spPr>
          <a:xfrm>
            <a:off x="1028700" y="1524000"/>
            <a:ext cx="497205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MPI is grounded in a </a:t>
            </a:r>
            <a:pPr>
              <a:lnSpc>
                <a:spcPct val="140000"/>
              </a:lnSpc>
            </a:pPr>
            <a:r>
              <a:rPr lang="en-US" sz="1200" b="1" dirty="0">
                <a:solidFill>
                  <a:srgbClr val="2D3436"/>
                </a:solidFill>
                <a:latin typeface="MiSans" pitchFamily="34" charset="0"/>
                <a:ea typeface="MiSans" pitchFamily="34" charset="-122"/>
                <a:cs typeface="MiSans" pitchFamily="34" charset="-120"/>
              </a:rPr>
              <a:t>coherent theoretical framework</a:t>
            </a:r>
            <a:pPr>
              <a:lnSpc>
                <a:spcPct val="140000"/>
              </a:lnSpc>
            </a:pPr>
            <a:r>
              <a:rPr lang="en-US" sz="1200" dirty="0">
                <a:solidFill>
                  <a:srgbClr val="2D3436"/>
                </a:solidFill>
                <a:latin typeface="MiSans" pitchFamily="34" charset="0"/>
                <a:ea typeface="MiSans" pitchFamily="34" charset="-122"/>
                <a:cs typeface="MiSans" pitchFamily="34" charset="-120"/>
              </a:rPr>
              <a:t> that synthesises Vygotsky's ZPD, Bloom's taxonomy, Black and Wiliam's formative assessment research, and Hattie's visible learning synthesis.</a:t>
            </a:r>
            <a:endParaRPr lang="en-US" sz="1600" dirty="0"/>
          </a:p>
        </p:txBody>
      </p:sp>
      <p:sp>
        <p:nvSpPr>
          <p:cNvPr id="10" name="Shape 8"/>
          <p:cNvSpPr/>
          <p:nvPr/>
        </p:nvSpPr>
        <p:spPr>
          <a:xfrm>
            <a:off x="400050" y="2457450"/>
            <a:ext cx="5638800" cy="1562100"/>
          </a:xfrm>
          <a:custGeom>
            <a:avLst/>
            <a:gdLst/>
            <a:ahLst/>
            <a:cxnLst/>
            <a:rect l="l" t="t" r="r" b="b"/>
            <a:pathLst>
              <a:path w="5638800" h="1562100">
                <a:moveTo>
                  <a:pt x="0" y="0"/>
                </a:moveTo>
                <a:lnTo>
                  <a:pt x="5638800" y="0"/>
                </a:lnTo>
                <a:lnTo>
                  <a:pt x="5638800" y="1562100"/>
                </a:lnTo>
                <a:lnTo>
                  <a:pt x="0" y="1562100"/>
                </a:lnTo>
                <a:lnTo>
                  <a:pt x="0" y="0"/>
                </a:lnTo>
                <a:close/>
              </a:path>
            </a:pathLst>
          </a:custGeom>
          <a:solidFill>
            <a:srgbClr val="FFFFFF"/>
          </a:solidFill>
          <a:ln/>
        </p:spPr>
      </p:sp>
      <p:sp>
        <p:nvSpPr>
          <p:cNvPr id="11" name="Shape 9"/>
          <p:cNvSpPr/>
          <p:nvPr/>
        </p:nvSpPr>
        <p:spPr>
          <a:xfrm>
            <a:off x="400050" y="2457450"/>
            <a:ext cx="38100" cy="1562100"/>
          </a:xfrm>
          <a:custGeom>
            <a:avLst/>
            <a:gdLst/>
            <a:ahLst/>
            <a:cxnLst/>
            <a:rect l="l" t="t" r="r" b="b"/>
            <a:pathLst>
              <a:path w="38100" h="1562100">
                <a:moveTo>
                  <a:pt x="0" y="0"/>
                </a:moveTo>
                <a:lnTo>
                  <a:pt x="38100" y="0"/>
                </a:lnTo>
                <a:lnTo>
                  <a:pt x="38100" y="1562100"/>
                </a:lnTo>
                <a:lnTo>
                  <a:pt x="0" y="1562100"/>
                </a:lnTo>
                <a:lnTo>
                  <a:pt x="0" y="0"/>
                </a:lnTo>
                <a:close/>
              </a:path>
            </a:pathLst>
          </a:custGeom>
          <a:solidFill>
            <a:srgbClr val="C49A2C"/>
          </a:solidFill>
          <a:ln/>
        </p:spPr>
      </p:sp>
      <p:sp>
        <p:nvSpPr>
          <p:cNvPr id="12" name="Shape 10"/>
          <p:cNvSpPr/>
          <p:nvPr/>
        </p:nvSpPr>
        <p:spPr>
          <a:xfrm>
            <a:off x="533400" y="25717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C49A2C"/>
          </a:solidFill>
          <a:ln/>
        </p:spPr>
      </p:sp>
      <p:sp>
        <p:nvSpPr>
          <p:cNvPr id="13" name="Text 11"/>
          <p:cNvSpPr/>
          <p:nvPr/>
        </p:nvSpPr>
        <p:spPr>
          <a:xfrm>
            <a:off x="485775" y="257175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2</a:t>
            </a:r>
            <a:endParaRPr lang="en-US" sz="1600" dirty="0"/>
          </a:p>
        </p:txBody>
      </p:sp>
      <p:sp>
        <p:nvSpPr>
          <p:cNvPr id="14" name="Text 12"/>
          <p:cNvSpPr/>
          <p:nvPr/>
        </p:nvSpPr>
        <p:spPr>
          <a:xfrm>
            <a:off x="1028700" y="257175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Three-Strand Interdependence</a:t>
            </a:r>
            <a:endParaRPr lang="en-US" sz="1600" dirty="0"/>
          </a:p>
        </p:txBody>
      </p:sp>
      <p:sp>
        <p:nvSpPr>
          <p:cNvPr id="15" name="Text 13"/>
          <p:cNvSpPr/>
          <p:nvPr/>
        </p:nvSpPr>
        <p:spPr>
          <a:xfrm>
            <a:off x="1028700" y="2914650"/>
            <a:ext cx="4972050" cy="9906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three-strand model (structured curriculum sequencing, formative assessment integration, professional development) is </a:t>
            </a:r>
            <a:pPr>
              <a:lnSpc>
                <a:spcPct val="140000"/>
              </a:lnSpc>
            </a:pPr>
            <a:r>
              <a:rPr lang="en-US" sz="1200" b="1" dirty="0">
                <a:solidFill>
                  <a:srgbClr val="2D3436"/>
                </a:solidFill>
                <a:latin typeface="MiSans" pitchFamily="34" charset="0"/>
                <a:ea typeface="MiSans" pitchFamily="34" charset="-122"/>
                <a:cs typeface="MiSans" pitchFamily="34" charset="-120"/>
              </a:rPr>
              <a:t>interdependent</a:t>
            </a:r>
            <a:pPr>
              <a:lnSpc>
                <a:spcPct val="140000"/>
              </a:lnSpc>
            </a:pPr>
            <a:r>
              <a:rPr lang="en-US" sz="1200" dirty="0">
                <a:solidFill>
                  <a:srgbClr val="2D3436"/>
                </a:solidFill>
                <a:latin typeface="MiSans" pitchFamily="34" charset="0"/>
                <a:ea typeface="MiSans" pitchFamily="34" charset="-122"/>
                <a:cs typeface="MiSans" pitchFamily="34" charset="-120"/>
              </a:rPr>
              <a:t>. Partial implementation is not recognised as valid programme delivery.</a:t>
            </a:r>
            <a:endParaRPr lang="en-US" sz="1600" dirty="0"/>
          </a:p>
        </p:txBody>
      </p:sp>
      <p:sp>
        <p:nvSpPr>
          <p:cNvPr id="16" name="Shape 14"/>
          <p:cNvSpPr/>
          <p:nvPr/>
        </p:nvSpPr>
        <p:spPr>
          <a:xfrm>
            <a:off x="400050" y="4095750"/>
            <a:ext cx="5638800" cy="1562100"/>
          </a:xfrm>
          <a:custGeom>
            <a:avLst/>
            <a:gdLst/>
            <a:ahLst/>
            <a:cxnLst/>
            <a:rect l="l" t="t" r="r" b="b"/>
            <a:pathLst>
              <a:path w="5638800" h="1562100">
                <a:moveTo>
                  <a:pt x="0" y="0"/>
                </a:moveTo>
                <a:lnTo>
                  <a:pt x="5638800" y="0"/>
                </a:lnTo>
                <a:lnTo>
                  <a:pt x="5638800" y="1562100"/>
                </a:lnTo>
                <a:lnTo>
                  <a:pt x="0" y="1562100"/>
                </a:lnTo>
                <a:lnTo>
                  <a:pt x="0" y="0"/>
                </a:lnTo>
                <a:close/>
              </a:path>
            </a:pathLst>
          </a:custGeom>
          <a:solidFill>
            <a:srgbClr val="FFFFFF"/>
          </a:solidFill>
          <a:ln/>
        </p:spPr>
      </p:sp>
      <p:sp>
        <p:nvSpPr>
          <p:cNvPr id="17" name="Shape 15"/>
          <p:cNvSpPr/>
          <p:nvPr/>
        </p:nvSpPr>
        <p:spPr>
          <a:xfrm>
            <a:off x="400050" y="4095750"/>
            <a:ext cx="38100" cy="1562100"/>
          </a:xfrm>
          <a:custGeom>
            <a:avLst/>
            <a:gdLst/>
            <a:ahLst/>
            <a:cxnLst/>
            <a:rect l="l" t="t" r="r" b="b"/>
            <a:pathLst>
              <a:path w="38100" h="1562100">
                <a:moveTo>
                  <a:pt x="0" y="0"/>
                </a:moveTo>
                <a:lnTo>
                  <a:pt x="38100" y="0"/>
                </a:lnTo>
                <a:lnTo>
                  <a:pt x="38100" y="1562100"/>
                </a:lnTo>
                <a:lnTo>
                  <a:pt x="0" y="1562100"/>
                </a:lnTo>
                <a:lnTo>
                  <a:pt x="0" y="0"/>
                </a:lnTo>
                <a:close/>
              </a:path>
            </a:pathLst>
          </a:custGeom>
          <a:solidFill>
            <a:srgbClr val="1E3A5F"/>
          </a:solidFill>
          <a:ln/>
        </p:spPr>
      </p:sp>
      <p:sp>
        <p:nvSpPr>
          <p:cNvPr id="18" name="Shape 16"/>
          <p:cNvSpPr/>
          <p:nvPr/>
        </p:nvSpPr>
        <p:spPr>
          <a:xfrm>
            <a:off x="533400" y="42100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19" name="Text 17"/>
          <p:cNvSpPr/>
          <p:nvPr/>
        </p:nvSpPr>
        <p:spPr>
          <a:xfrm>
            <a:off x="485775" y="421005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3</a:t>
            </a:r>
            <a:endParaRPr lang="en-US" sz="1600" dirty="0"/>
          </a:p>
        </p:txBody>
      </p:sp>
      <p:sp>
        <p:nvSpPr>
          <p:cNvPr id="20" name="Text 18"/>
          <p:cNvSpPr/>
          <p:nvPr/>
        </p:nvSpPr>
        <p:spPr>
          <a:xfrm>
            <a:off x="1028700" y="421005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The 0.4 Hinge Point</a:t>
            </a:r>
            <a:endParaRPr lang="en-US" sz="1600" dirty="0"/>
          </a:p>
        </p:txBody>
      </p:sp>
      <p:sp>
        <p:nvSpPr>
          <p:cNvPr id="21" name="Text 19"/>
          <p:cNvSpPr/>
          <p:nvPr/>
        </p:nvSpPr>
        <p:spPr>
          <a:xfrm>
            <a:off x="1028700" y="4552950"/>
            <a:ext cx="4972050" cy="9906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Hattie's effect size hinge point of 0.4 is the benchmark against which the MPI's published effect size of </a:t>
            </a:r>
            <a:pPr>
              <a:lnSpc>
                <a:spcPct val="140000"/>
              </a:lnSpc>
            </a:pPr>
            <a:r>
              <a:rPr lang="en-US" sz="1200" b="1" dirty="0">
                <a:solidFill>
                  <a:srgbClr val="2D3436"/>
                </a:solidFill>
                <a:latin typeface="MiSans" pitchFamily="34" charset="0"/>
                <a:ea typeface="MiSans" pitchFamily="34" charset="-122"/>
                <a:cs typeface="MiSans" pitchFamily="34" charset="-120"/>
              </a:rPr>
              <a:t>0.61</a:t>
            </a:r>
            <a:pPr>
              <a:lnSpc>
                <a:spcPct val="140000"/>
              </a:lnSpc>
            </a:pPr>
            <a:r>
              <a:rPr lang="en-US" sz="1200" dirty="0">
                <a:solidFill>
                  <a:srgbClr val="2D3436"/>
                </a:solidFill>
                <a:latin typeface="MiSans" pitchFamily="34" charset="0"/>
                <a:ea typeface="MiSans" pitchFamily="34" charset="-122"/>
                <a:cs typeface="MiSans" pitchFamily="34" charset="-120"/>
              </a:rPr>
              <a:t> should be evaluated. This is a substantial effect, but it applies to schools meeting programme fidelity standards and should not be generalised beyond that scope.</a:t>
            </a:r>
            <a:endParaRPr lang="en-US" sz="1600" dirty="0"/>
          </a:p>
        </p:txBody>
      </p:sp>
      <p:sp>
        <p:nvSpPr>
          <p:cNvPr id="22" name="Shape 20"/>
          <p:cNvSpPr/>
          <p:nvPr/>
        </p:nvSpPr>
        <p:spPr>
          <a:xfrm>
            <a:off x="6172200" y="1066800"/>
            <a:ext cx="5638800" cy="1562100"/>
          </a:xfrm>
          <a:custGeom>
            <a:avLst/>
            <a:gdLst/>
            <a:ahLst/>
            <a:cxnLst/>
            <a:rect l="l" t="t" r="r" b="b"/>
            <a:pathLst>
              <a:path w="5638800" h="1562100">
                <a:moveTo>
                  <a:pt x="0" y="0"/>
                </a:moveTo>
                <a:lnTo>
                  <a:pt x="5638800" y="0"/>
                </a:lnTo>
                <a:lnTo>
                  <a:pt x="5638800" y="1562100"/>
                </a:lnTo>
                <a:lnTo>
                  <a:pt x="0" y="1562100"/>
                </a:lnTo>
                <a:lnTo>
                  <a:pt x="0" y="0"/>
                </a:lnTo>
                <a:close/>
              </a:path>
            </a:pathLst>
          </a:custGeom>
          <a:solidFill>
            <a:srgbClr val="FFFFFF"/>
          </a:solidFill>
          <a:ln/>
        </p:spPr>
      </p:sp>
      <p:sp>
        <p:nvSpPr>
          <p:cNvPr id="23" name="Shape 21"/>
          <p:cNvSpPr/>
          <p:nvPr/>
        </p:nvSpPr>
        <p:spPr>
          <a:xfrm>
            <a:off x="6172200" y="1066800"/>
            <a:ext cx="38100" cy="1562100"/>
          </a:xfrm>
          <a:custGeom>
            <a:avLst/>
            <a:gdLst/>
            <a:ahLst/>
            <a:cxnLst/>
            <a:rect l="l" t="t" r="r" b="b"/>
            <a:pathLst>
              <a:path w="38100" h="1562100">
                <a:moveTo>
                  <a:pt x="0" y="0"/>
                </a:moveTo>
                <a:lnTo>
                  <a:pt x="38100" y="0"/>
                </a:lnTo>
                <a:lnTo>
                  <a:pt x="38100" y="1562100"/>
                </a:lnTo>
                <a:lnTo>
                  <a:pt x="0" y="1562100"/>
                </a:lnTo>
                <a:lnTo>
                  <a:pt x="0" y="0"/>
                </a:lnTo>
                <a:close/>
              </a:path>
            </a:pathLst>
          </a:custGeom>
          <a:solidFill>
            <a:srgbClr val="C49A2C"/>
          </a:solidFill>
          <a:ln/>
        </p:spPr>
      </p:sp>
      <p:sp>
        <p:nvSpPr>
          <p:cNvPr id="24" name="Shape 22"/>
          <p:cNvSpPr/>
          <p:nvPr/>
        </p:nvSpPr>
        <p:spPr>
          <a:xfrm>
            <a:off x="6305550" y="11811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C49A2C"/>
          </a:solidFill>
          <a:ln/>
        </p:spPr>
      </p:sp>
      <p:sp>
        <p:nvSpPr>
          <p:cNvPr id="25" name="Text 23"/>
          <p:cNvSpPr/>
          <p:nvPr/>
        </p:nvSpPr>
        <p:spPr>
          <a:xfrm>
            <a:off x="6257925" y="11811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4</a:t>
            </a:r>
            <a:endParaRPr lang="en-US" sz="1600" dirty="0"/>
          </a:p>
        </p:txBody>
      </p:sp>
      <p:sp>
        <p:nvSpPr>
          <p:cNvPr id="26" name="Text 24"/>
          <p:cNvSpPr/>
          <p:nvPr/>
        </p:nvSpPr>
        <p:spPr>
          <a:xfrm>
            <a:off x="6800850" y="118110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Progress vs Attainment</a:t>
            </a:r>
            <a:endParaRPr lang="en-US" sz="1600" dirty="0"/>
          </a:p>
        </p:txBody>
      </p:sp>
      <p:sp>
        <p:nvSpPr>
          <p:cNvPr id="27" name="Text 25"/>
          <p:cNvSpPr/>
          <p:nvPr/>
        </p:nvSpPr>
        <p:spPr>
          <a:xfrm>
            <a:off x="6800850" y="1524000"/>
            <a:ext cx="4972050" cy="99060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distinction between progress and attainment is </a:t>
            </a:r>
            <a:pPr>
              <a:lnSpc>
                <a:spcPct val="140000"/>
              </a:lnSpc>
            </a:pPr>
            <a:r>
              <a:rPr lang="en-US" sz="1200" b="1" dirty="0">
                <a:solidFill>
                  <a:srgbClr val="2D3436"/>
                </a:solidFill>
                <a:latin typeface="MiSans" pitchFamily="34" charset="0"/>
                <a:ea typeface="MiSans" pitchFamily="34" charset="-122"/>
                <a:cs typeface="MiSans" pitchFamily="34" charset="-120"/>
              </a:rPr>
              <a:t>methodologically consequential</a:t>
            </a:r>
            <a:pPr>
              <a:lnSpc>
                <a:spcPct val="140000"/>
              </a:lnSpc>
            </a:pPr>
            <a:r>
              <a:rPr lang="en-US" sz="1200" dirty="0">
                <a:solidFill>
                  <a:srgbClr val="2D3436"/>
                </a:solidFill>
                <a:latin typeface="MiSans" pitchFamily="34" charset="0"/>
                <a:ea typeface="MiSans" pitchFamily="34" charset="-122"/>
                <a:cs typeface="MiSans" pitchFamily="34" charset="-120"/>
              </a:rPr>
              <a:t>. Progress measures account for prior attainment; attainment measures do not. Programme impact should be evaluated using progress measures.</a:t>
            </a:r>
            <a:endParaRPr lang="en-US" sz="1600" dirty="0"/>
          </a:p>
        </p:txBody>
      </p:sp>
      <p:sp>
        <p:nvSpPr>
          <p:cNvPr id="28" name="Shape 26"/>
          <p:cNvSpPr/>
          <p:nvPr/>
        </p:nvSpPr>
        <p:spPr>
          <a:xfrm>
            <a:off x="6172200" y="2705100"/>
            <a:ext cx="5638800" cy="1314450"/>
          </a:xfrm>
          <a:custGeom>
            <a:avLst/>
            <a:gdLst/>
            <a:ahLst/>
            <a:cxnLst/>
            <a:rect l="l" t="t" r="r" b="b"/>
            <a:pathLst>
              <a:path w="5638800" h="1314450">
                <a:moveTo>
                  <a:pt x="0" y="0"/>
                </a:moveTo>
                <a:lnTo>
                  <a:pt x="5638800" y="0"/>
                </a:lnTo>
                <a:lnTo>
                  <a:pt x="5638800" y="1314450"/>
                </a:lnTo>
                <a:lnTo>
                  <a:pt x="0" y="1314450"/>
                </a:lnTo>
                <a:lnTo>
                  <a:pt x="0" y="0"/>
                </a:lnTo>
                <a:close/>
              </a:path>
            </a:pathLst>
          </a:custGeom>
          <a:solidFill>
            <a:srgbClr val="FFFFFF"/>
          </a:solidFill>
          <a:ln/>
        </p:spPr>
      </p:sp>
      <p:sp>
        <p:nvSpPr>
          <p:cNvPr id="29" name="Shape 27"/>
          <p:cNvSpPr/>
          <p:nvPr/>
        </p:nvSpPr>
        <p:spPr>
          <a:xfrm>
            <a:off x="6172200" y="2705100"/>
            <a:ext cx="38100" cy="1314450"/>
          </a:xfrm>
          <a:custGeom>
            <a:avLst/>
            <a:gdLst/>
            <a:ahLst/>
            <a:cxnLst/>
            <a:rect l="l" t="t" r="r" b="b"/>
            <a:pathLst>
              <a:path w="38100" h="1314450">
                <a:moveTo>
                  <a:pt x="0" y="0"/>
                </a:moveTo>
                <a:lnTo>
                  <a:pt x="38100" y="0"/>
                </a:lnTo>
                <a:lnTo>
                  <a:pt x="38100" y="1314450"/>
                </a:lnTo>
                <a:lnTo>
                  <a:pt x="0" y="1314450"/>
                </a:lnTo>
                <a:lnTo>
                  <a:pt x="0" y="0"/>
                </a:lnTo>
                <a:close/>
              </a:path>
            </a:pathLst>
          </a:custGeom>
          <a:solidFill>
            <a:srgbClr val="1E3A5F"/>
          </a:solidFill>
          <a:ln/>
        </p:spPr>
      </p:sp>
      <p:sp>
        <p:nvSpPr>
          <p:cNvPr id="30" name="Shape 28"/>
          <p:cNvSpPr/>
          <p:nvPr/>
        </p:nvSpPr>
        <p:spPr>
          <a:xfrm>
            <a:off x="6305550" y="28194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31" name="Text 29"/>
          <p:cNvSpPr/>
          <p:nvPr/>
        </p:nvSpPr>
        <p:spPr>
          <a:xfrm>
            <a:off x="6257925" y="28194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5</a:t>
            </a:r>
            <a:endParaRPr lang="en-US" sz="1600" dirty="0"/>
          </a:p>
        </p:txBody>
      </p:sp>
      <p:sp>
        <p:nvSpPr>
          <p:cNvPr id="32" name="Text 30"/>
          <p:cNvSpPr/>
          <p:nvPr/>
        </p:nvSpPr>
        <p:spPr>
          <a:xfrm>
            <a:off x="6800850" y="281940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Bounded Evidence Base</a:t>
            </a:r>
            <a:endParaRPr lang="en-US" sz="1600" dirty="0"/>
          </a:p>
        </p:txBody>
      </p:sp>
      <p:sp>
        <p:nvSpPr>
          <p:cNvPr id="33" name="Text 31"/>
          <p:cNvSpPr/>
          <p:nvPr/>
        </p:nvSpPr>
        <p:spPr>
          <a:xfrm>
            <a:off x="6800850" y="3162300"/>
            <a:ext cx="497205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The MPI's evidence base is </a:t>
            </a:r>
            <a:pPr>
              <a:lnSpc>
                <a:spcPct val="140000"/>
              </a:lnSpc>
            </a:pPr>
            <a:r>
              <a:rPr lang="en-US" sz="1200" b="1" dirty="0">
                <a:solidFill>
                  <a:srgbClr val="2D3436"/>
                </a:solidFill>
                <a:latin typeface="MiSans" pitchFamily="34" charset="0"/>
                <a:ea typeface="MiSans" pitchFamily="34" charset="-122"/>
                <a:cs typeface="MiSans" pitchFamily="34" charset="-120"/>
              </a:rPr>
              <a:t>legitimate but bounded</a:t>
            </a:r>
            <a:pPr>
              <a:lnSpc>
                <a:spcPct val="140000"/>
              </a:lnSpc>
            </a:pPr>
            <a:r>
              <a:rPr lang="en-US" sz="1200" dirty="0">
                <a:solidFill>
                  <a:srgbClr val="2D3436"/>
                </a:solidFill>
                <a:latin typeface="MiSans" pitchFamily="34" charset="0"/>
                <a:ea typeface="MiSans" pitchFamily="34" charset="-122"/>
                <a:cs typeface="MiSans" pitchFamily="34" charset="-120"/>
              </a:rPr>
              <a:t>. Staff should be confident in communicating what the data supports and cautious about claims that exceed those bounds.</a:t>
            </a:r>
            <a:endParaRPr lang="en-US" sz="1600" dirty="0"/>
          </a:p>
        </p:txBody>
      </p:sp>
      <p:sp>
        <p:nvSpPr>
          <p:cNvPr id="34" name="Shape 32"/>
          <p:cNvSpPr/>
          <p:nvPr/>
        </p:nvSpPr>
        <p:spPr>
          <a:xfrm>
            <a:off x="6172200" y="4095750"/>
            <a:ext cx="5638800" cy="1314450"/>
          </a:xfrm>
          <a:custGeom>
            <a:avLst/>
            <a:gdLst/>
            <a:ahLst/>
            <a:cxnLst/>
            <a:rect l="l" t="t" r="r" b="b"/>
            <a:pathLst>
              <a:path w="5638800" h="1314450">
                <a:moveTo>
                  <a:pt x="0" y="0"/>
                </a:moveTo>
                <a:lnTo>
                  <a:pt x="5638800" y="0"/>
                </a:lnTo>
                <a:lnTo>
                  <a:pt x="5638800" y="1314450"/>
                </a:lnTo>
                <a:lnTo>
                  <a:pt x="0" y="1314450"/>
                </a:lnTo>
                <a:lnTo>
                  <a:pt x="0" y="0"/>
                </a:lnTo>
                <a:close/>
              </a:path>
            </a:pathLst>
          </a:custGeom>
          <a:solidFill>
            <a:srgbClr val="FFFFFF"/>
          </a:solidFill>
          <a:ln/>
        </p:spPr>
      </p:sp>
      <p:sp>
        <p:nvSpPr>
          <p:cNvPr id="35" name="Shape 33"/>
          <p:cNvSpPr/>
          <p:nvPr/>
        </p:nvSpPr>
        <p:spPr>
          <a:xfrm>
            <a:off x="6172200" y="4095750"/>
            <a:ext cx="38100" cy="1314450"/>
          </a:xfrm>
          <a:custGeom>
            <a:avLst/>
            <a:gdLst/>
            <a:ahLst/>
            <a:cxnLst/>
            <a:rect l="l" t="t" r="r" b="b"/>
            <a:pathLst>
              <a:path w="38100" h="1314450">
                <a:moveTo>
                  <a:pt x="0" y="0"/>
                </a:moveTo>
                <a:lnTo>
                  <a:pt x="38100" y="0"/>
                </a:lnTo>
                <a:lnTo>
                  <a:pt x="38100" y="1314450"/>
                </a:lnTo>
                <a:lnTo>
                  <a:pt x="0" y="1314450"/>
                </a:lnTo>
                <a:lnTo>
                  <a:pt x="0" y="0"/>
                </a:lnTo>
                <a:close/>
              </a:path>
            </a:pathLst>
          </a:custGeom>
          <a:solidFill>
            <a:srgbClr val="C49A2C"/>
          </a:solidFill>
          <a:ln/>
        </p:spPr>
      </p:sp>
      <p:sp>
        <p:nvSpPr>
          <p:cNvPr id="36" name="Shape 34"/>
          <p:cNvSpPr/>
          <p:nvPr/>
        </p:nvSpPr>
        <p:spPr>
          <a:xfrm>
            <a:off x="6305550" y="42100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C49A2C"/>
          </a:solidFill>
          <a:ln/>
        </p:spPr>
      </p:sp>
      <p:sp>
        <p:nvSpPr>
          <p:cNvPr id="37" name="Text 35"/>
          <p:cNvSpPr/>
          <p:nvPr/>
        </p:nvSpPr>
        <p:spPr>
          <a:xfrm>
            <a:off x="6257925" y="421005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6</a:t>
            </a:r>
            <a:endParaRPr lang="en-US" sz="1600" dirty="0"/>
          </a:p>
        </p:txBody>
      </p:sp>
      <p:sp>
        <p:nvSpPr>
          <p:cNvPr id="38" name="Text 36"/>
          <p:cNvSpPr/>
          <p:nvPr/>
        </p:nvSpPr>
        <p:spPr>
          <a:xfrm>
            <a:off x="6800850" y="421005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Implementation Quality Varies</a:t>
            </a:r>
            <a:endParaRPr lang="en-US" sz="1600" dirty="0"/>
          </a:p>
        </p:txBody>
      </p:sp>
      <p:sp>
        <p:nvSpPr>
          <p:cNvPr id="39" name="Text 37"/>
          <p:cNvSpPr/>
          <p:nvPr/>
        </p:nvSpPr>
        <p:spPr>
          <a:xfrm>
            <a:off x="6800850" y="4552950"/>
            <a:ext cx="497205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Implementation quality varies across partner schools. </a:t>
            </a:r>
            <a:pPr>
              <a:lnSpc>
                <a:spcPct val="140000"/>
              </a:lnSpc>
            </a:pPr>
            <a:r>
              <a:rPr lang="en-US" sz="1200" b="1" dirty="0">
                <a:solidFill>
                  <a:srgbClr val="2D3436"/>
                </a:solidFill>
                <a:latin typeface="MiSans" pitchFamily="34" charset="0"/>
                <a:ea typeface="MiSans" pitchFamily="34" charset="-122"/>
                <a:cs typeface="MiSans" pitchFamily="34" charset="-120"/>
              </a:rPr>
              <a:t>Aggregate data conceals this variation</a:t>
            </a:r>
            <a:pPr>
              <a:lnSpc>
                <a:spcPct val="140000"/>
              </a:lnSpc>
            </a:pPr>
            <a:r>
              <a:rPr lang="en-US" sz="1200" dirty="0">
                <a:solidFill>
                  <a:srgbClr val="2D3436"/>
                </a:solidFill>
                <a:latin typeface="MiSans" pitchFamily="34" charset="0"/>
                <a:ea typeface="MiSans" pitchFamily="34" charset="-122"/>
                <a:cs typeface="MiSans" pitchFamily="34" charset="-120"/>
              </a:rPr>
              <a:t>. School-level case studies provide necessary context.</a:t>
            </a:r>
            <a:endParaRPr lang="en-US" sz="1600" dirty="0"/>
          </a:p>
        </p:txBody>
      </p:sp>
      <p:sp>
        <p:nvSpPr>
          <p:cNvPr id="40" name="Shape 38"/>
          <p:cNvSpPr/>
          <p:nvPr/>
        </p:nvSpPr>
        <p:spPr>
          <a:xfrm>
            <a:off x="6172200" y="5486400"/>
            <a:ext cx="5638800" cy="1314450"/>
          </a:xfrm>
          <a:custGeom>
            <a:avLst/>
            <a:gdLst/>
            <a:ahLst/>
            <a:cxnLst/>
            <a:rect l="l" t="t" r="r" b="b"/>
            <a:pathLst>
              <a:path w="5638800" h="1314450">
                <a:moveTo>
                  <a:pt x="0" y="0"/>
                </a:moveTo>
                <a:lnTo>
                  <a:pt x="5638800" y="0"/>
                </a:lnTo>
                <a:lnTo>
                  <a:pt x="5638800" y="1314450"/>
                </a:lnTo>
                <a:lnTo>
                  <a:pt x="0" y="1314450"/>
                </a:lnTo>
                <a:lnTo>
                  <a:pt x="0" y="0"/>
                </a:lnTo>
                <a:close/>
              </a:path>
            </a:pathLst>
          </a:custGeom>
          <a:solidFill>
            <a:srgbClr val="FFFFFF"/>
          </a:solidFill>
          <a:ln/>
        </p:spPr>
      </p:sp>
      <p:sp>
        <p:nvSpPr>
          <p:cNvPr id="41" name="Shape 39"/>
          <p:cNvSpPr/>
          <p:nvPr/>
        </p:nvSpPr>
        <p:spPr>
          <a:xfrm>
            <a:off x="6172200" y="5486400"/>
            <a:ext cx="38100" cy="1314450"/>
          </a:xfrm>
          <a:custGeom>
            <a:avLst/>
            <a:gdLst/>
            <a:ahLst/>
            <a:cxnLst/>
            <a:rect l="l" t="t" r="r" b="b"/>
            <a:pathLst>
              <a:path w="38100" h="1314450">
                <a:moveTo>
                  <a:pt x="0" y="0"/>
                </a:moveTo>
                <a:lnTo>
                  <a:pt x="38100" y="0"/>
                </a:lnTo>
                <a:lnTo>
                  <a:pt x="38100" y="1314450"/>
                </a:lnTo>
                <a:lnTo>
                  <a:pt x="0" y="1314450"/>
                </a:lnTo>
                <a:lnTo>
                  <a:pt x="0" y="0"/>
                </a:lnTo>
                <a:close/>
              </a:path>
            </a:pathLst>
          </a:custGeom>
          <a:solidFill>
            <a:srgbClr val="1E3A5F"/>
          </a:solidFill>
          <a:ln/>
        </p:spPr>
      </p:sp>
      <p:sp>
        <p:nvSpPr>
          <p:cNvPr id="42" name="Shape 40"/>
          <p:cNvSpPr/>
          <p:nvPr/>
        </p:nvSpPr>
        <p:spPr>
          <a:xfrm>
            <a:off x="6305550" y="56007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1E3A5F"/>
          </a:solidFill>
          <a:ln/>
        </p:spPr>
      </p:sp>
      <p:sp>
        <p:nvSpPr>
          <p:cNvPr id="43" name="Text 41"/>
          <p:cNvSpPr/>
          <p:nvPr/>
        </p:nvSpPr>
        <p:spPr>
          <a:xfrm>
            <a:off x="6257925" y="5600700"/>
            <a:ext cx="476250" cy="381000"/>
          </a:xfrm>
          <a:prstGeom prst="rect">
            <a:avLst/>
          </a:prstGeom>
          <a:noFill/>
          <a:ln/>
        </p:spPr>
        <p:txBody>
          <a:bodyPr wrap="square" lIns="0" tIns="0" rIns="0" bIns="0" rtlCol="0" anchor="ctr"/>
          <a:lstStyle/>
          <a:p>
            <a:pPr algn="ctr">
              <a:lnSpc>
                <a:spcPct val="120000"/>
              </a:lnSpc>
            </a:pPr>
            <a:r>
              <a:rPr lang="en-US" sz="1500" b="1" dirty="0">
                <a:solidFill>
                  <a:srgbClr val="F8F9FA"/>
                </a:solidFill>
                <a:latin typeface="MiSans" pitchFamily="34" charset="0"/>
                <a:ea typeface="MiSans" pitchFamily="34" charset="-122"/>
                <a:cs typeface="MiSans" pitchFamily="34" charset="-120"/>
              </a:rPr>
              <a:t>7</a:t>
            </a:r>
            <a:endParaRPr lang="en-US" sz="1600" dirty="0"/>
          </a:p>
        </p:txBody>
      </p:sp>
      <p:sp>
        <p:nvSpPr>
          <p:cNvPr id="44" name="Text 42"/>
          <p:cNvSpPr/>
          <p:nvPr/>
        </p:nvSpPr>
        <p:spPr>
          <a:xfrm>
            <a:off x="6800850" y="5600700"/>
            <a:ext cx="4981575" cy="266700"/>
          </a:xfrm>
          <a:prstGeom prst="rect">
            <a:avLst/>
          </a:prstGeom>
          <a:noFill/>
          <a:ln/>
        </p:spPr>
        <p:txBody>
          <a:bodyPr wrap="square" lIns="0" tIns="0" rIns="0" bIns="0" rtlCol="0" anchor="ctr"/>
          <a:lstStyle/>
          <a:p>
            <a:pPr>
              <a:lnSpc>
                <a:spcPct val="130000"/>
              </a:lnSpc>
            </a:pPr>
            <a:r>
              <a:rPr lang="en-US" sz="1350" b="1" dirty="0">
                <a:solidFill>
                  <a:srgbClr val="1E3A5F"/>
                </a:solidFill>
                <a:latin typeface="MiSans" pitchFamily="34" charset="0"/>
                <a:ea typeface="MiSans" pitchFamily="34" charset="-122"/>
                <a:cs typeface="MiSans" pitchFamily="34" charset="-120"/>
              </a:rPr>
              <a:t>Data Quality Assurance</a:t>
            </a:r>
            <a:endParaRPr lang="en-US" sz="1600" dirty="0"/>
          </a:p>
        </p:txBody>
      </p:sp>
      <p:sp>
        <p:nvSpPr>
          <p:cNvPr id="45" name="Text 43"/>
          <p:cNvSpPr/>
          <p:nvPr/>
        </p:nvSpPr>
        <p:spPr>
          <a:xfrm>
            <a:off x="6800850" y="5943600"/>
            <a:ext cx="4972050" cy="742950"/>
          </a:xfrm>
          <a:prstGeom prst="rect">
            <a:avLst/>
          </a:prstGeom>
          <a:noFill/>
          <a:ln/>
        </p:spPr>
        <p:txBody>
          <a:bodyPr wrap="square" lIns="0" tIns="0" rIns="0" bIns="0" rtlCol="0" anchor="ctr"/>
          <a:lstStyle/>
          <a:p>
            <a:pPr>
              <a:lnSpc>
                <a:spcPct val="140000"/>
              </a:lnSpc>
            </a:pPr>
            <a:r>
              <a:rPr lang="en-US" sz="1200" dirty="0">
                <a:solidFill>
                  <a:srgbClr val="2D3436"/>
                </a:solidFill>
                <a:latin typeface="MiSans" pitchFamily="34" charset="0"/>
                <a:ea typeface="MiSans" pitchFamily="34" charset="-122"/>
                <a:cs typeface="MiSans" pitchFamily="34" charset="-120"/>
              </a:rPr>
              <a:t>Data quality assurance is </a:t>
            </a:r>
            <a:pPr>
              <a:lnSpc>
                <a:spcPct val="140000"/>
              </a:lnSpc>
            </a:pPr>
            <a:r>
              <a:rPr lang="en-US" sz="1200" b="1" dirty="0">
                <a:solidFill>
                  <a:srgbClr val="2D3436"/>
                </a:solidFill>
                <a:latin typeface="MiSans" pitchFamily="34" charset="0"/>
                <a:ea typeface="MiSans" pitchFamily="34" charset="-122"/>
                <a:cs typeface="MiSans" pitchFamily="34" charset="-120"/>
              </a:rPr>
              <a:t>central to the credibility</a:t>
            </a:r>
            <a:pPr>
              <a:lnSpc>
                <a:spcPct val="140000"/>
              </a:lnSpc>
            </a:pPr>
            <a:r>
              <a:rPr lang="en-US" sz="1200" dirty="0">
                <a:solidFill>
                  <a:srgbClr val="2D3436"/>
                </a:solidFill>
                <a:latin typeface="MiSans" pitchFamily="34" charset="0"/>
                <a:ea typeface="MiSans" pitchFamily="34" charset="-122"/>
                <a:cs typeface="MiSans" pitchFamily="34" charset="-120"/>
              </a:rPr>
              <a:t> of the MPI's evidence base. Shortcuts in this area have consequences that extend beyond the immediate task.</a:t>
            </a:r>
            <a:endParaRPr lang="en-US" sz="1600" dirty="0"/>
          </a:p>
        </p:txBody>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9FA"/>
        </a:solidFill>
      </p:bgPr>
    </p:bg>
    <p:spTree>
      <p:nvGrpSpPr>
        <p:cNvPr id="1" name=""/>
        <p:cNvGrpSpPr/>
        <p:nvPr/>
      </p:nvGrpSpPr>
      <p:grpSpPr>
        <a:xfrm>
          <a:off x="0" y="0"/>
          <a:ext cx="0" cy="0"/>
          <a:chOff x="0" y="0"/>
          <a:chExt cx="0" cy="0"/>
        </a:xfrm>
      </p:grpSpPr>
      <p:pic>
        <p:nvPicPr>
          <p:cNvPr id="2" name="Image 0" descr="https://images.stockcake.com/public/e/f/3/ef308318-1f64-472a-b4a2-4610f7d18966/geometric-corporate-pattern-stockcake.jpg">    </p:cNvPr>
          <p:cNvPicPr>
            <a:picLocks noChangeAspect="1"/>
          </p:cNvPicPr>
          <p:nvPr/>
        </p:nvPicPr>
        <p:blipFill>
          <a:blip r:embed="rId1">
            <a:alphaModFix amt="15000"/>
          </a:blip>
          <a:stretch>
            <a:fillRect/>
          </a:stretch>
        </p:blipFill>
        <p:spPr>
          <a:xfrm>
            <a:off x="0" y="0"/>
            <a:ext cx="12192000" cy="6859037"/>
          </a:xfrm>
          <a:prstGeom prst="roundRect">
            <a:avLst>
              <a:gd name="adj" fmla="val 0"/>
            </a:avLst>
          </a:prstGeom>
        </p:spPr>
      </p:pic>
      <p:sp>
        <p:nvSpPr>
          <p:cNvPr id="3" name="Shape 0"/>
          <p:cNvSpPr/>
          <p:nvPr/>
        </p:nvSpPr>
        <p:spPr>
          <a:xfrm>
            <a:off x="0" y="0"/>
            <a:ext cx="12192000" cy="6859037"/>
          </a:xfrm>
          <a:custGeom>
            <a:avLst/>
            <a:gdLst/>
            <a:ahLst/>
            <a:cxnLst/>
            <a:rect l="l" t="t" r="r" b="b"/>
            <a:pathLst>
              <a:path w="12192000" h="6859037">
                <a:moveTo>
                  <a:pt x="0" y="0"/>
                </a:moveTo>
                <a:lnTo>
                  <a:pt x="12192000" y="0"/>
                </a:lnTo>
                <a:lnTo>
                  <a:pt x="12192000" y="6859037"/>
                </a:lnTo>
                <a:lnTo>
                  <a:pt x="0" y="6859037"/>
                </a:lnTo>
                <a:lnTo>
                  <a:pt x="0" y="0"/>
                </a:lnTo>
                <a:close/>
              </a:path>
            </a:pathLst>
          </a:custGeom>
          <a:gradFill rotWithShape="1" flip="none">
            <a:gsLst>
              <a:gs pos="0">
                <a:srgbClr val="1E3A5F">
                  <a:alpha val="95000"/>
                </a:srgbClr>
              </a:gs>
              <a:gs pos="50000">
                <a:srgbClr val="1E3A5F">
                  <a:alpha val="90000"/>
                </a:srgbClr>
              </a:gs>
              <a:gs pos="100000">
                <a:srgbClr val="1E3A5F">
                  <a:alpha val="85000"/>
                </a:srgbClr>
              </a:gs>
            </a:gsLst>
            <a:lin ang="2700000" scaled="1"/>
          </a:gradFill>
          <a:ln/>
        </p:spPr>
      </p:sp>
      <p:sp>
        <p:nvSpPr>
          <p:cNvPr id="4" name="Shape 1"/>
          <p:cNvSpPr/>
          <p:nvPr/>
        </p:nvSpPr>
        <p:spPr>
          <a:xfrm>
            <a:off x="331755" y="331755"/>
            <a:ext cx="2156408" cy="331755"/>
          </a:xfrm>
          <a:custGeom>
            <a:avLst/>
            <a:gdLst/>
            <a:ahLst/>
            <a:cxnLst/>
            <a:rect l="l" t="t" r="r" b="b"/>
            <a:pathLst>
              <a:path w="2156408" h="331755">
                <a:moveTo>
                  <a:pt x="0" y="0"/>
                </a:moveTo>
                <a:lnTo>
                  <a:pt x="2156408" y="0"/>
                </a:lnTo>
                <a:lnTo>
                  <a:pt x="2156408" y="331755"/>
                </a:lnTo>
                <a:lnTo>
                  <a:pt x="0" y="331755"/>
                </a:lnTo>
                <a:lnTo>
                  <a:pt x="0" y="0"/>
                </a:lnTo>
                <a:close/>
              </a:path>
            </a:pathLst>
          </a:custGeom>
          <a:solidFill>
            <a:srgbClr val="C49A2C"/>
          </a:solidFill>
          <a:ln/>
        </p:spPr>
      </p:sp>
      <p:sp>
        <p:nvSpPr>
          <p:cNvPr id="5" name="Text 2"/>
          <p:cNvSpPr/>
          <p:nvPr/>
        </p:nvSpPr>
        <p:spPr>
          <a:xfrm>
            <a:off x="331755" y="331755"/>
            <a:ext cx="2222759" cy="331755"/>
          </a:xfrm>
          <a:prstGeom prst="rect">
            <a:avLst/>
          </a:prstGeom>
          <a:noFill/>
          <a:ln/>
        </p:spPr>
        <p:txBody>
          <a:bodyPr wrap="square" lIns="165878" tIns="66351" rIns="165878" bIns="66351" rtlCol="0" anchor="ctr"/>
          <a:lstStyle/>
          <a:p>
            <a:pPr>
              <a:lnSpc>
                <a:spcPct val="130000"/>
              </a:lnSpc>
            </a:pPr>
            <a:r>
              <a:rPr lang="en-US" sz="1045" b="1" spc="104" kern="0" dirty="0">
                <a:solidFill>
                  <a:srgbClr val="F8F9FA"/>
                </a:solidFill>
                <a:latin typeface="MiSans" pitchFamily="34" charset="0"/>
                <a:ea typeface="MiSans" pitchFamily="34" charset="-122"/>
                <a:cs typeface="MiSans" pitchFamily="34" charset="-120"/>
              </a:rPr>
              <a:t>CONCLUDING REMARKS</a:t>
            </a:r>
            <a:endParaRPr lang="en-US" sz="1600" dirty="0"/>
          </a:p>
        </p:txBody>
      </p:sp>
      <p:sp>
        <p:nvSpPr>
          <p:cNvPr id="6" name="Text 3"/>
          <p:cNvSpPr/>
          <p:nvPr/>
        </p:nvSpPr>
        <p:spPr>
          <a:xfrm>
            <a:off x="331755" y="862563"/>
            <a:ext cx="11727543" cy="995265"/>
          </a:xfrm>
          <a:prstGeom prst="rect">
            <a:avLst/>
          </a:prstGeom>
          <a:noFill/>
          <a:ln/>
        </p:spPr>
        <p:txBody>
          <a:bodyPr wrap="square" lIns="0" tIns="0" rIns="0" bIns="0" rtlCol="0" anchor="ctr"/>
          <a:lstStyle/>
          <a:p>
            <a:pPr>
              <a:lnSpc>
                <a:spcPct val="100000"/>
              </a:lnSpc>
            </a:pPr>
            <a:r>
              <a:rPr lang="en-US" sz="3135" b="1" dirty="0">
                <a:solidFill>
                  <a:srgbClr val="F8F9FA"/>
                </a:solidFill>
                <a:latin typeface="MiSans" pitchFamily="34" charset="0"/>
                <a:ea typeface="MiSans" pitchFamily="34" charset="-122"/>
                <a:cs typeface="MiSans" pitchFamily="34" charset="-120"/>
              </a:rPr>
              <a:t>A Final Thought on</a:t>
            </a:r>
            <a:endParaRPr lang="en-US" sz="1600" dirty="0"/>
          </a:p>
          <a:p>
            <a:pPr>
              <a:lnSpc>
                <a:spcPct val="100000"/>
              </a:lnSpc>
            </a:pPr>
            <a:r>
              <a:rPr lang="en-US" sz="3135" b="1" dirty="0">
                <a:solidFill>
                  <a:srgbClr val="C49A2C"/>
                </a:solidFill>
                <a:latin typeface="MiSans" pitchFamily="34" charset="0"/>
                <a:ea typeface="MiSans" pitchFamily="34" charset="-122"/>
                <a:cs typeface="MiSans" pitchFamily="34" charset="-120"/>
              </a:rPr>
              <a:t>Evidence and Practice</a:t>
            </a:r>
            <a:endParaRPr lang="en-US" sz="1600" dirty="0"/>
          </a:p>
        </p:txBody>
      </p:sp>
      <p:sp>
        <p:nvSpPr>
          <p:cNvPr id="7" name="Shape 4"/>
          <p:cNvSpPr/>
          <p:nvPr/>
        </p:nvSpPr>
        <p:spPr>
          <a:xfrm>
            <a:off x="331755" y="2056882"/>
            <a:ext cx="1327020" cy="49763"/>
          </a:xfrm>
          <a:custGeom>
            <a:avLst/>
            <a:gdLst/>
            <a:ahLst/>
            <a:cxnLst/>
            <a:rect l="l" t="t" r="r" b="b"/>
            <a:pathLst>
              <a:path w="1327020" h="49763">
                <a:moveTo>
                  <a:pt x="0" y="0"/>
                </a:moveTo>
                <a:lnTo>
                  <a:pt x="1327020" y="0"/>
                </a:lnTo>
                <a:lnTo>
                  <a:pt x="1327020" y="49763"/>
                </a:lnTo>
                <a:lnTo>
                  <a:pt x="0" y="49763"/>
                </a:lnTo>
                <a:lnTo>
                  <a:pt x="0" y="0"/>
                </a:lnTo>
                <a:close/>
              </a:path>
            </a:pathLst>
          </a:custGeom>
          <a:solidFill>
            <a:srgbClr val="C49A2C"/>
          </a:solidFill>
          <a:ln/>
        </p:spPr>
      </p:sp>
      <p:sp>
        <p:nvSpPr>
          <p:cNvPr id="8" name="Text 5"/>
          <p:cNvSpPr/>
          <p:nvPr/>
        </p:nvSpPr>
        <p:spPr>
          <a:xfrm>
            <a:off x="331755" y="2305698"/>
            <a:ext cx="7514253" cy="812800"/>
          </a:xfrm>
          <a:prstGeom prst="rect">
            <a:avLst/>
          </a:prstGeom>
          <a:noFill/>
          <a:ln/>
        </p:spPr>
        <p:txBody>
          <a:bodyPr wrap="square" lIns="0" tIns="0" rIns="0" bIns="0" rtlCol="0" anchor="ctr"/>
          <a:lstStyle/>
          <a:p>
            <a:pPr>
              <a:lnSpc>
                <a:spcPct val="140000"/>
              </a:lnSpc>
            </a:pPr>
            <a:r>
              <a:rPr lang="en-US" sz="1306" dirty="0">
                <a:solidFill>
                  <a:srgbClr val="F8F9FA"/>
                </a:solidFill>
                <a:latin typeface="MiSans" pitchFamily="34" charset="0"/>
                <a:ea typeface="MiSans" pitchFamily="34" charset="-122"/>
                <a:cs typeface="MiSans" pitchFamily="34" charset="-120"/>
              </a:rPr>
              <a:t>The MPI represents a serious attempt to ground educational practice in evidence. It is not perfect. Its evidence base has boundaries that should be respected. Its implementation is vulnerable to contextual factors that Meridian does not control.</a:t>
            </a:r>
            <a:endParaRPr lang="en-US" sz="1600" dirty="0"/>
          </a:p>
        </p:txBody>
      </p:sp>
      <p:sp>
        <p:nvSpPr>
          <p:cNvPr id="9" name="Text 6"/>
          <p:cNvSpPr/>
          <p:nvPr/>
        </p:nvSpPr>
        <p:spPr>
          <a:xfrm>
            <a:off x="331755" y="3247053"/>
            <a:ext cx="7514253" cy="812800"/>
          </a:xfrm>
          <a:prstGeom prst="rect">
            <a:avLst/>
          </a:prstGeom>
          <a:noFill/>
          <a:ln/>
        </p:spPr>
        <p:txBody>
          <a:bodyPr wrap="square" lIns="0" tIns="0" rIns="0" bIns="0" rtlCol="0" anchor="ctr"/>
          <a:lstStyle/>
          <a:p>
            <a:pPr>
              <a:lnSpc>
                <a:spcPct val="140000"/>
              </a:lnSpc>
            </a:pPr>
            <a:r>
              <a:rPr lang="en-US" sz="1306" dirty="0">
                <a:solidFill>
                  <a:srgbClr val="F8F9FA"/>
                </a:solidFill>
                <a:latin typeface="MiSans" pitchFamily="34" charset="0"/>
                <a:ea typeface="MiSans" pitchFamily="34" charset="-122"/>
                <a:cs typeface="MiSans" pitchFamily="34" charset="-120"/>
              </a:rPr>
              <a:t>But it is, in its design and in its intentions, a framework that takes the improvement of educational outcomes seriously — not as a slogan or a sales pitch, but as a technical problem requiring technical solutions.</a:t>
            </a:r>
            <a:endParaRPr lang="en-US" sz="1600" dirty="0"/>
          </a:p>
        </p:txBody>
      </p:sp>
      <p:sp>
        <p:nvSpPr>
          <p:cNvPr id="10" name="Text 7"/>
          <p:cNvSpPr/>
          <p:nvPr/>
        </p:nvSpPr>
        <p:spPr>
          <a:xfrm>
            <a:off x="331755" y="4188408"/>
            <a:ext cx="7514253" cy="812800"/>
          </a:xfrm>
          <a:prstGeom prst="rect">
            <a:avLst/>
          </a:prstGeom>
          <a:noFill/>
          <a:ln/>
        </p:spPr>
        <p:txBody>
          <a:bodyPr wrap="square" lIns="0" tIns="0" rIns="0" bIns="0" rtlCol="0" anchor="ctr"/>
          <a:lstStyle/>
          <a:p>
            <a:pPr>
              <a:lnSpc>
                <a:spcPct val="140000"/>
              </a:lnSpc>
            </a:pPr>
            <a:r>
              <a:rPr lang="en-US" sz="1306" dirty="0">
                <a:solidFill>
                  <a:srgbClr val="F8F9FA"/>
                </a:solidFill>
                <a:latin typeface="MiSans" pitchFamily="34" charset="0"/>
                <a:ea typeface="MiSans" pitchFamily="34" charset="-122"/>
                <a:cs typeface="MiSans" pitchFamily="34" charset="-120"/>
              </a:rPr>
              <a:t>The theoretical foundations you have studied today are not decorative. They are the reason the MPI's claims are coherent, and they are the defence against the charge that educational consultancy is merely the repackaging of common sense at consultancy rates.</a:t>
            </a:r>
            <a:endParaRPr lang="en-US" sz="1600" dirty="0"/>
          </a:p>
        </p:txBody>
      </p:sp>
      <p:sp>
        <p:nvSpPr>
          <p:cNvPr id="11" name="Shape 8"/>
          <p:cNvSpPr/>
          <p:nvPr/>
        </p:nvSpPr>
        <p:spPr>
          <a:xfrm>
            <a:off x="348343" y="5196114"/>
            <a:ext cx="11511902" cy="1069910"/>
          </a:xfrm>
          <a:custGeom>
            <a:avLst/>
            <a:gdLst/>
            <a:ahLst/>
            <a:cxnLst/>
            <a:rect l="l" t="t" r="r" b="b"/>
            <a:pathLst>
              <a:path w="11511902" h="1069910">
                <a:moveTo>
                  <a:pt x="0" y="0"/>
                </a:moveTo>
                <a:lnTo>
                  <a:pt x="11511902" y="0"/>
                </a:lnTo>
                <a:lnTo>
                  <a:pt x="11511902" y="1069910"/>
                </a:lnTo>
                <a:lnTo>
                  <a:pt x="0" y="1069910"/>
                </a:lnTo>
                <a:lnTo>
                  <a:pt x="0" y="0"/>
                </a:lnTo>
                <a:close/>
              </a:path>
            </a:pathLst>
          </a:custGeom>
          <a:solidFill>
            <a:srgbClr val="C49A2C">
              <a:alpha val="20000"/>
            </a:srgbClr>
          </a:solidFill>
          <a:ln/>
        </p:spPr>
      </p:sp>
      <p:sp>
        <p:nvSpPr>
          <p:cNvPr id="12" name="Shape 9"/>
          <p:cNvSpPr/>
          <p:nvPr/>
        </p:nvSpPr>
        <p:spPr>
          <a:xfrm>
            <a:off x="348343" y="5196114"/>
            <a:ext cx="33176" cy="1069910"/>
          </a:xfrm>
          <a:custGeom>
            <a:avLst/>
            <a:gdLst/>
            <a:ahLst/>
            <a:cxnLst/>
            <a:rect l="l" t="t" r="r" b="b"/>
            <a:pathLst>
              <a:path w="33176" h="1069910">
                <a:moveTo>
                  <a:pt x="0" y="0"/>
                </a:moveTo>
                <a:lnTo>
                  <a:pt x="33176" y="0"/>
                </a:lnTo>
                <a:lnTo>
                  <a:pt x="33176" y="1069910"/>
                </a:lnTo>
                <a:lnTo>
                  <a:pt x="0" y="1069910"/>
                </a:lnTo>
                <a:lnTo>
                  <a:pt x="0" y="0"/>
                </a:lnTo>
                <a:close/>
              </a:path>
            </a:pathLst>
          </a:custGeom>
          <a:solidFill>
            <a:srgbClr val="C49A2C"/>
          </a:solidFill>
          <a:ln/>
        </p:spPr>
      </p:sp>
      <p:sp>
        <p:nvSpPr>
          <p:cNvPr id="13" name="Text 10"/>
          <p:cNvSpPr/>
          <p:nvPr/>
        </p:nvSpPr>
        <p:spPr>
          <a:xfrm>
            <a:off x="497633" y="5328816"/>
            <a:ext cx="11312849" cy="273698"/>
          </a:xfrm>
          <a:prstGeom prst="rect">
            <a:avLst/>
          </a:prstGeom>
          <a:noFill/>
          <a:ln/>
        </p:spPr>
        <p:txBody>
          <a:bodyPr wrap="square" lIns="0" tIns="0" rIns="0" bIns="0" rtlCol="0" anchor="ctr"/>
          <a:lstStyle/>
          <a:p>
            <a:pPr>
              <a:lnSpc>
                <a:spcPct val="140000"/>
              </a:lnSpc>
            </a:pPr>
            <a:r>
              <a:rPr lang="en-US" sz="1306" dirty="0">
                <a:solidFill>
                  <a:srgbClr val="F8F9FA"/>
                </a:solidFill>
                <a:latin typeface="思源宋体" pitchFamily="34" charset="0"/>
                <a:ea typeface="思源宋体" pitchFamily="34" charset="-122"/>
                <a:cs typeface="思源宋体" pitchFamily="34" charset="-120"/>
              </a:rPr>
              <a:t>"Through others, we become ourselves."</a:t>
            </a:r>
            <a:endParaRPr lang="en-US" sz="1600" dirty="0"/>
          </a:p>
        </p:txBody>
      </p:sp>
      <p:sp>
        <p:nvSpPr>
          <p:cNvPr id="14" name="Text 11"/>
          <p:cNvSpPr/>
          <p:nvPr/>
        </p:nvSpPr>
        <p:spPr>
          <a:xfrm>
            <a:off x="497633" y="5664718"/>
            <a:ext cx="11296261" cy="199053"/>
          </a:xfrm>
          <a:prstGeom prst="rect">
            <a:avLst/>
          </a:prstGeom>
          <a:noFill/>
          <a:ln/>
        </p:spPr>
        <p:txBody>
          <a:bodyPr wrap="square" lIns="0" tIns="0" rIns="0" bIns="0" rtlCol="0" anchor="ctr"/>
          <a:lstStyle/>
          <a:p>
            <a:pPr>
              <a:lnSpc>
                <a:spcPct val="130000"/>
              </a:lnSpc>
            </a:pPr>
            <a:r>
              <a:rPr lang="en-US" sz="1045" dirty="0">
                <a:solidFill>
                  <a:srgbClr val="F8F9FA">
                    <a:alpha val="70000"/>
                  </a:srgbClr>
                </a:solidFill>
                <a:latin typeface="MiSans" pitchFamily="34" charset="0"/>
                <a:ea typeface="MiSans" pitchFamily="34" charset="-122"/>
                <a:cs typeface="MiSans" pitchFamily="34" charset="-120"/>
              </a:rPr>
              <a:t>— Lev Vygotsky</a:t>
            </a:r>
            <a:endParaRPr lang="en-US" sz="1600" dirty="0"/>
          </a:p>
        </p:txBody>
      </p:sp>
      <p:sp>
        <p:nvSpPr>
          <p:cNvPr id="15" name="Text 12"/>
          <p:cNvSpPr/>
          <p:nvPr/>
        </p:nvSpPr>
        <p:spPr>
          <a:xfrm>
            <a:off x="497633" y="5930122"/>
            <a:ext cx="11296261" cy="199053"/>
          </a:xfrm>
          <a:prstGeom prst="rect">
            <a:avLst/>
          </a:prstGeom>
          <a:noFill/>
          <a:ln/>
        </p:spPr>
        <p:txBody>
          <a:bodyPr wrap="square" lIns="0" tIns="0" rIns="0" bIns="0" rtlCol="0" anchor="ctr"/>
          <a:lstStyle/>
          <a:p>
            <a:pPr>
              <a:lnSpc>
                <a:spcPct val="130000"/>
              </a:lnSpc>
            </a:pPr>
            <a:r>
              <a:rPr lang="en-US" sz="1045" dirty="0">
                <a:solidFill>
                  <a:srgbClr val="F8F9FA">
                    <a:alpha val="70000"/>
                  </a:srgbClr>
                </a:solidFill>
                <a:latin typeface="MiSans" pitchFamily="34" charset="0"/>
                <a:ea typeface="MiSans" pitchFamily="34" charset="-122"/>
                <a:cs typeface="MiSans" pitchFamily="34" charset="-120"/>
              </a:rPr>
              <a:t>The quality of the "others" — the teachers, the frameworks, the assessments — determines the direction of that becoming. It is not a small responsibility.</a:t>
            </a:r>
            <a:endParaRPr lang="en-US" sz="1600" dirty="0"/>
          </a:p>
        </p:txBody>
      </p:sp>
      <p:sp>
        <p:nvSpPr>
          <p:cNvPr id="16" name="Text 13"/>
          <p:cNvSpPr/>
          <p:nvPr/>
        </p:nvSpPr>
        <p:spPr>
          <a:xfrm>
            <a:off x="331755" y="6261878"/>
            <a:ext cx="2065176" cy="199053"/>
          </a:xfrm>
          <a:prstGeom prst="rect">
            <a:avLst/>
          </a:prstGeom>
          <a:noFill/>
          <a:ln/>
        </p:spPr>
        <p:txBody>
          <a:bodyPr wrap="square" lIns="0" tIns="0" rIns="0" bIns="0" rtlCol="0" anchor="ctr"/>
          <a:lstStyle/>
          <a:p>
            <a:pPr>
              <a:lnSpc>
                <a:spcPct val="130000"/>
              </a:lnSpc>
            </a:pPr>
            <a:r>
              <a:rPr lang="en-US" sz="1045" b="1" dirty="0">
                <a:solidFill>
                  <a:srgbClr val="F8F9FA"/>
                </a:solidFill>
                <a:latin typeface="MiSans" pitchFamily="34" charset="0"/>
                <a:ea typeface="MiSans" pitchFamily="34" charset="-122"/>
                <a:cs typeface="MiSans" pitchFamily="34" charset="-120"/>
              </a:rPr>
              <a:t>Dr Paul Axel Hart</a:t>
            </a:r>
            <a:endParaRPr lang="en-US" sz="1600" dirty="0"/>
          </a:p>
        </p:txBody>
      </p:sp>
      <p:sp>
        <p:nvSpPr>
          <p:cNvPr id="17" name="Text 14"/>
          <p:cNvSpPr/>
          <p:nvPr/>
        </p:nvSpPr>
        <p:spPr>
          <a:xfrm>
            <a:off x="331755" y="6460931"/>
            <a:ext cx="2065176" cy="199053"/>
          </a:xfrm>
          <a:prstGeom prst="rect">
            <a:avLst/>
          </a:prstGeom>
          <a:noFill/>
          <a:ln/>
        </p:spPr>
        <p:txBody>
          <a:bodyPr wrap="square" lIns="0" tIns="0" rIns="0" bIns="0" rtlCol="0" anchor="ctr"/>
          <a:lstStyle/>
          <a:p>
            <a:pPr>
              <a:lnSpc>
                <a:spcPct val="130000"/>
              </a:lnSpc>
            </a:pPr>
            <a:r>
              <a:rPr lang="en-US" sz="1045" dirty="0">
                <a:solidFill>
                  <a:srgbClr val="F8F9FA">
                    <a:alpha val="70000"/>
                  </a:srgbClr>
                </a:solidFill>
                <a:latin typeface="MiSans" pitchFamily="34" charset="0"/>
                <a:ea typeface="MiSans" pitchFamily="34" charset="-122"/>
                <a:cs typeface="MiSans" pitchFamily="34" charset="-120"/>
              </a:rPr>
              <a:t>Head of Training &amp; Development</a:t>
            </a:r>
            <a:endParaRPr lang="en-US" sz="1600" dirty="0"/>
          </a:p>
        </p:txBody>
      </p:sp>
      <p:sp>
        <p:nvSpPr>
          <p:cNvPr id="18" name="Text 15"/>
          <p:cNvSpPr/>
          <p:nvPr/>
        </p:nvSpPr>
        <p:spPr>
          <a:xfrm>
            <a:off x="331755" y="6659984"/>
            <a:ext cx="2065176" cy="199053"/>
          </a:xfrm>
          <a:prstGeom prst="rect">
            <a:avLst/>
          </a:prstGeom>
          <a:noFill/>
          <a:ln/>
        </p:spPr>
        <p:txBody>
          <a:bodyPr wrap="square" lIns="0" tIns="0" rIns="0" bIns="0" rtlCol="0" anchor="ctr"/>
          <a:lstStyle/>
          <a:p>
            <a:pPr>
              <a:lnSpc>
                <a:spcPct val="130000"/>
              </a:lnSpc>
            </a:pPr>
            <a:r>
              <a:rPr lang="en-US" sz="1045" dirty="0">
                <a:solidFill>
                  <a:srgbClr val="F8F9FA">
                    <a:alpha val="70000"/>
                  </a:srgbClr>
                </a:solidFill>
                <a:latin typeface="MiSans" pitchFamily="34" charset="0"/>
                <a:ea typeface="MiSans" pitchFamily="34" charset="-122"/>
                <a:cs typeface="MiSans" pitchFamily="34" charset="-120"/>
              </a:rPr>
              <a:t>Meridian Education Group</a:t>
            </a:r>
            <a:endParaRPr lang="en-US" sz="1600" dirty="0"/>
          </a:p>
        </p:txBody>
      </p:sp>
      <p:sp>
        <p:nvSpPr>
          <p:cNvPr id="19" name="Text 16"/>
          <p:cNvSpPr/>
          <p:nvPr/>
        </p:nvSpPr>
        <p:spPr>
          <a:xfrm>
            <a:off x="8264020" y="6427755"/>
            <a:ext cx="3599543" cy="199053"/>
          </a:xfrm>
          <a:prstGeom prst="rect">
            <a:avLst/>
          </a:prstGeom>
          <a:noFill/>
          <a:ln/>
        </p:spPr>
        <p:txBody>
          <a:bodyPr wrap="square" lIns="0" tIns="0" rIns="0" bIns="0" rtlCol="0" anchor="ctr"/>
          <a:lstStyle/>
          <a:p>
            <a:pPr algn="r">
              <a:lnSpc>
                <a:spcPct val="130000"/>
              </a:lnSpc>
            </a:pPr>
            <a:r>
              <a:rPr lang="en-US" sz="1045" dirty="0">
                <a:solidFill>
                  <a:srgbClr val="F8F9FA">
                    <a:alpha val="70000"/>
                  </a:srgbClr>
                </a:solidFill>
                <a:latin typeface="MiSans" pitchFamily="34" charset="0"/>
                <a:ea typeface="MiSans" pitchFamily="34" charset="-122"/>
                <a:cs typeface="MiSans" pitchFamily="34" charset="-120"/>
              </a:rPr>
              <a:t>"Transforming Outcomes Through Evidence-Led Practice"</a:t>
            </a:r>
            <a:endParaRPr lang="en-US" sz="1600" dirty="0"/>
          </a:p>
        </p:txBody>
      </p:sp>
      <p:sp>
        <p:nvSpPr>
          <p:cNvPr id="20" name="Text 17"/>
          <p:cNvSpPr/>
          <p:nvPr/>
        </p:nvSpPr>
        <p:spPr>
          <a:xfrm>
            <a:off x="8264020" y="6659984"/>
            <a:ext cx="3599543" cy="199053"/>
          </a:xfrm>
          <a:prstGeom prst="rect">
            <a:avLst/>
          </a:prstGeom>
          <a:noFill/>
          <a:ln/>
        </p:spPr>
        <p:txBody>
          <a:bodyPr wrap="square" lIns="0" tIns="0" rIns="0" bIns="0" rtlCol="0" anchor="ctr"/>
          <a:lstStyle/>
          <a:p>
            <a:pPr algn="r">
              <a:lnSpc>
                <a:spcPct val="130000"/>
              </a:lnSpc>
            </a:pPr>
            <a:r>
              <a:rPr lang="en-US" sz="1045" dirty="0">
                <a:solidFill>
                  <a:srgbClr val="F8F9FA">
                    <a:alpha val="50000"/>
                  </a:srgbClr>
                </a:solidFill>
                <a:latin typeface="MiSans" pitchFamily="34" charset="0"/>
                <a:ea typeface="MiSans" pitchFamily="34" charset="-122"/>
                <a:cs typeface="MiSans" pitchFamily="34" charset="-120"/>
              </a:rPr>
              <a:t>— Meridian Education Group</a:t>
            </a:r>
            <a:endParaRPr lang="en-US" sz="16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881529" y="2431256"/>
            <a:ext cx="428625" cy="571500"/>
          </a:xfrm>
          <a:custGeom>
            <a:avLst/>
            <a:gdLst/>
            <a:ahLst/>
            <a:cxnLst/>
            <a:rect l="l" t="t" r="r" b="b"/>
            <a:pathLst>
              <a:path w="428625" h="571500">
                <a:moveTo>
                  <a:pt x="0" y="71438"/>
                </a:moveTo>
                <a:cubicBezTo>
                  <a:pt x="0" y="32035"/>
                  <a:pt x="32035" y="0"/>
                  <a:pt x="71438" y="0"/>
                </a:cubicBezTo>
                <a:lnTo>
                  <a:pt x="238311" y="0"/>
                </a:lnTo>
                <a:cubicBezTo>
                  <a:pt x="257287" y="0"/>
                  <a:pt x="275481" y="7479"/>
                  <a:pt x="288875" y="20873"/>
                </a:cubicBezTo>
                <a:lnTo>
                  <a:pt x="407752" y="139861"/>
                </a:lnTo>
                <a:cubicBezTo>
                  <a:pt x="421146" y="153256"/>
                  <a:pt x="428625" y="171450"/>
                  <a:pt x="428625" y="190426"/>
                </a:cubicBezTo>
                <a:lnTo>
                  <a:pt x="428625" y="500063"/>
                </a:lnTo>
                <a:cubicBezTo>
                  <a:pt x="428625" y="539465"/>
                  <a:pt x="396590" y="571500"/>
                  <a:pt x="357188" y="571500"/>
                </a:cubicBezTo>
                <a:lnTo>
                  <a:pt x="71438" y="571500"/>
                </a:lnTo>
                <a:cubicBezTo>
                  <a:pt x="32035" y="571500"/>
                  <a:pt x="0" y="539465"/>
                  <a:pt x="0" y="500063"/>
                </a:cubicBezTo>
                <a:lnTo>
                  <a:pt x="0" y="71438"/>
                </a:lnTo>
                <a:close/>
                <a:moveTo>
                  <a:pt x="232172" y="65298"/>
                </a:moveTo>
                <a:lnTo>
                  <a:pt x="232172" y="169664"/>
                </a:lnTo>
                <a:cubicBezTo>
                  <a:pt x="232172" y="184510"/>
                  <a:pt x="244115" y="196453"/>
                  <a:pt x="258961" y="196453"/>
                </a:cubicBezTo>
                <a:lnTo>
                  <a:pt x="363327" y="196453"/>
                </a:lnTo>
                <a:lnTo>
                  <a:pt x="232172" y="65298"/>
                </a:lnTo>
                <a:close/>
                <a:moveTo>
                  <a:pt x="133945" y="285750"/>
                </a:moveTo>
                <a:cubicBezTo>
                  <a:pt x="119100" y="285750"/>
                  <a:pt x="107156" y="297693"/>
                  <a:pt x="107156" y="312539"/>
                </a:cubicBezTo>
                <a:cubicBezTo>
                  <a:pt x="107156" y="327385"/>
                  <a:pt x="119100" y="339328"/>
                  <a:pt x="133945" y="339328"/>
                </a:cubicBezTo>
                <a:lnTo>
                  <a:pt x="294680" y="339328"/>
                </a:lnTo>
                <a:cubicBezTo>
                  <a:pt x="309525" y="339328"/>
                  <a:pt x="321469" y="327385"/>
                  <a:pt x="321469" y="312539"/>
                </a:cubicBezTo>
                <a:cubicBezTo>
                  <a:pt x="321469" y="297693"/>
                  <a:pt x="309525" y="285750"/>
                  <a:pt x="294680" y="285750"/>
                </a:cubicBezTo>
                <a:lnTo>
                  <a:pt x="133945" y="285750"/>
                </a:lnTo>
                <a:close/>
                <a:moveTo>
                  <a:pt x="133945" y="392906"/>
                </a:moveTo>
                <a:cubicBezTo>
                  <a:pt x="119100" y="392906"/>
                  <a:pt x="107156" y="404850"/>
                  <a:pt x="107156" y="419695"/>
                </a:cubicBezTo>
                <a:cubicBezTo>
                  <a:pt x="107156" y="434541"/>
                  <a:pt x="119100" y="446484"/>
                  <a:pt x="133945" y="446484"/>
                </a:cubicBezTo>
                <a:lnTo>
                  <a:pt x="294680" y="446484"/>
                </a:lnTo>
                <a:cubicBezTo>
                  <a:pt x="309525" y="446484"/>
                  <a:pt x="321469" y="434541"/>
                  <a:pt x="321469" y="419695"/>
                </a:cubicBezTo>
                <a:cubicBezTo>
                  <a:pt x="321469" y="404850"/>
                  <a:pt x="309525" y="392906"/>
                  <a:pt x="294680" y="392906"/>
                </a:cubicBezTo>
                <a:lnTo>
                  <a:pt x="133945" y="392906"/>
                </a:lnTo>
                <a:close/>
              </a:path>
            </a:pathLst>
          </a:custGeom>
          <a:solidFill>
            <a:srgbClr val="6C757D"/>
          </a:solidFill>
          <a:ln/>
        </p:spPr>
      </p:sp>
      <p:sp>
        <p:nvSpPr>
          <p:cNvPr id="3" name="Text 1"/>
          <p:cNvSpPr/>
          <p:nvPr/>
        </p:nvSpPr>
        <p:spPr>
          <a:xfrm>
            <a:off x="3839845" y="3231356"/>
            <a:ext cx="4514850" cy="381000"/>
          </a:xfrm>
          <a:prstGeom prst="rect">
            <a:avLst/>
          </a:prstGeom>
          <a:noFill/>
          <a:ln/>
        </p:spPr>
        <p:txBody>
          <a:bodyPr wrap="square" lIns="0" tIns="0" rIns="0" bIns="0" rtlCol="0" anchor="ctr"/>
          <a:lstStyle/>
          <a:p>
            <a:pPr algn="ctr">
              <a:lnSpc>
                <a:spcPct val="90000"/>
              </a:lnSpc>
            </a:pPr>
            <a:r>
              <a:rPr lang="en-US" sz="2700" b="1" dirty="0">
                <a:solidFill>
                  <a:srgbClr val="6C757D"/>
                </a:solidFill>
                <a:latin typeface="MiSans" pitchFamily="34" charset="0"/>
                <a:ea typeface="MiSans" pitchFamily="34" charset="-122"/>
                <a:cs typeface="MiSans" pitchFamily="34" charset="-120"/>
              </a:rPr>
              <a:t>Click to add content</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Progress Index: Theoretical Foundations and Implementation Framework</dc:title>
  <dc:subject>Meridian Progress Index: Theoretical Foundations and Implementation Framework</dc:subject>
  <dc:creator>Kimi</dc:creator>
  <cp:lastModifiedBy>Kimi</cp:lastModifiedBy>
  <cp:revision>1</cp:revision>
  <dcterms:created xsi:type="dcterms:W3CDTF">2026-04-19T16:13:29Z</dcterms:created>
  <dcterms:modified xsi:type="dcterms:W3CDTF">2026-04-19T16:13:29Z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{"Label":"Meridian Progress Index: Theoretical Foundations and Implementation Framework","ContentProducer":"001191110108MACG2KBH8F10000","ProduceID":"19da6611-9462-8587-8000-00002a3a4ca7","ReservedCode1":"","ContentPropagator":"001191110108MACG2KBH8F20000","PropagateID":"19da6611-9462-8587-8000-00002a3a4ca7","ReservedCode2":""}</vt:lpwstr>
  </property>
</Properties>
</file>